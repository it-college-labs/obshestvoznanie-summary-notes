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4" r:id="rId12"/>
    <p:sldId id="269" r:id="rId13"/>
    <p:sldId id="270" r:id="rId14"/>
    <p:sldId id="266" r:id="rId15"/>
    <p:sldId id="267" r:id="rId16"/>
    <p:sldId id="268" r:id="rId17"/>
    <p:sldId id="271" r:id="rId18"/>
    <p:sldId id="272" r:id="rId19"/>
    <p:sldId id="273" r:id="rId20"/>
    <p:sldId id="275" r:id="rId21"/>
    <p:sldId id="277" r:id="rId22"/>
    <p:sldId id="278" r:id="rId23"/>
    <p:sldId id="279" r:id="rId24"/>
    <p:sldId id="280" r:id="rId25"/>
    <p:sldId id="276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309" autoAdjust="0"/>
    <p:restoredTop sz="94660"/>
  </p:normalViewPr>
  <p:slideViewPr>
    <p:cSldViewPr snapToGrid="0">
      <p:cViewPr varScale="1">
        <p:scale>
          <a:sx n="67" d="100"/>
          <a:sy n="67" d="100"/>
        </p:scale>
        <p:origin x="3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175" indent="-384175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hyperlink" Target="https://cyberleninka.ru/article/n/tsifrovaya-kontrkultura" TargetMode="External"/><Relationship Id="rId2" Type="http://schemas.openxmlformats.org/officeDocument/2006/relationships/hyperlink" Target="https://www.youtube.com/watch?v=qpTEVXqYMMU&amp;ysclid=ltga138m5j628001179" TargetMode="External"/><Relationship Id="rId1" Type="http://schemas.openxmlformats.org/officeDocument/2006/relationships/hyperlink" Target="https://yandex.ru/video/preview/13804510600685553734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915385" y="1599960"/>
            <a:ext cx="8361229" cy="3658080"/>
          </a:xfrm>
        </p:spPr>
        <p:txBody>
          <a:bodyPr/>
          <a:lstStyle/>
          <a:p>
            <a:r>
              <a:rPr lang="ru-RU" sz="3600" b="1" dirty="0">
                <a:effectLst/>
                <a:latin typeface="Times New Roman" panose="02020603050405020304" pitchFamily="18" charset="0"/>
                <a:ea typeface="OfficinaSansBoldITC"/>
              </a:rPr>
              <a:t>Духовная деятельность человека. </a:t>
            </a:r>
            <a:br>
              <a:rPr lang="ru-RU" sz="3600" b="1" dirty="0">
                <a:effectLst/>
                <a:latin typeface="Times New Roman" panose="02020603050405020304" pitchFamily="18" charset="0"/>
                <a:ea typeface="OfficinaSansBoldITC"/>
              </a:rPr>
            </a:br>
            <a:br>
              <a:rPr lang="ru-RU" sz="3600" b="1" dirty="0">
                <a:effectLst/>
                <a:latin typeface="Times New Roman" panose="02020603050405020304" pitchFamily="18" charset="0"/>
                <a:ea typeface="OfficinaSansBoldITC"/>
              </a:rPr>
            </a:br>
            <a:r>
              <a:rPr lang="ru-RU" sz="3600" b="1" dirty="0">
                <a:effectLst/>
                <a:latin typeface="Times New Roman" panose="02020603050405020304" pitchFamily="18" charset="0"/>
                <a:ea typeface="OfficinaSansBoldITC"/>
              </a:rPr>
              <a:t>Материальная и духовная культура. </a:t>
            </a:r>
            <a:br>
              <a:rPr lang="ru-RU" sz="3600" b="1" dirty="0">
                <a:effectLst/>
                <a:latin typeface="Times New Roman" panose="02020603050405020304" pitchFamily="18" charset="0"/>
                <a:ea typeface="OfficinaSansBoldITC"/>
              </a:rPr>
            </a:br>
            <a:br>
              <a:rPr lang="ru-RU" sz="3600" b="1" dirty="0">
                <a:effectLst/>
                <a:latin typeface="Times New Roman" panose="02020603050405020304" pitchFamily="18" charset="0"/>
                <a:ea typeface="OfficinaSansBoldITC"/>
              </a:rPr>
            </a:br>
            <a:r>
              <a:rPr lang="ru-RU" sz="3600" b="1" dirty="0">
                <a:effectLst/>
                <a:latin typeface="Times New Roman" panose="02020603050405020304" pitchFamily="18" charset="0"/>
                <a:ea typeface="OfficinaSansBoldITC"/>
              </a:rPr>
              <a:t>Формы и функции культуры. Субкультура, контркультура.</a:t>
            </a:r>
            <a:endParaRPr lang="ru-RU" sz="36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1" i="0" dirty="0">
                <a:solidFill>
                  <a:srgbClr val="333333"/>
                </a:solidFill>
                <a:effectLst/>
                <a:latin typeface="Helvetica Neue"/>
              </a:rPr>
              <a:t>Духовная деятельность: ключевой фактор в формировании социальной сферы</a:t>
            </a:r>
            <a:br>
              <a:rPr lang="ru-RU" sz="3600" b="1" i="0" dirty="0">
                <a:solidFill>
                  <a:srgbClr val="333333"/>
                </a:solidFill>
                <a:effectLst/>
                <a:latin typeface="Helvetica Neue"/>
              </a:rPr>
            </a:b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434343"/>
                </a:solidFill>
                <a:effectLst/>
                <a:latin typeface="Helvetica Neue"/>
              </a:rPr>
              <a:t>Духовная деятельность – это сфера человеческой жизни, связанная с </a:t>
            </a:r>
            <a:r>
              <a:rPr lang="ru-RU" b="1" i="0" dirty="0">
                <a:solidFill>
                  <a:srgbClr val="434343"/>
                </a:solidFill>
                <a:effectLst/>
                <a:latin typeface="Helvetica Neue"/>
              </a:rPr>
              <a:t>поиском смысла, ценностей и истины</a:t>
            </a:r>
            <a:r>
              <a:rPr lang="ru-RU" b="0" i="0" dirty="0">
                <a:solidFill>
                  <a:srgbClr val="434343"/>
                </a:solidFill>
                <a:effectLst/>
                <a:latin typeface="Helvetica Neue"/>
              </a:rPr>
              <a:t>, а также с развитием </a:t>
            </a:r>
            <a:r>
              <a:rPr lang="ru-RU" b="1" i="0" dirty="0">
                <a:solidFill>
                  <a:srgbClr val="434343"/>
                </a:solidFill>
                <a:effectLst/>
                <a:latin typeface="Helvetica Neue"/>
              </a:rPr>
              <a:t>духовных и этических</a:t>
            </a:r>
            <a:r>
              <a:rPr lang="ru-RU" b="0" i="0" dirty="0">
                <a:solidFill>
                  <a:srgbClr val="434343"/>
                </a:solidFill>
                <a:effectLst/>
                <a:latin typeface="Helvetica Neue"/>
              </a:rPr>
              <a:t> качеств. </a:t>
            </a:r>
            <a:endParaRPr lang="ru-RU" b="0" i="0" dirty="0">
              <a:solidFill>
                <a:srgbClr val="434343"/>
              </a:solidFill>
              <a:effectLst/>
              <a:latin typeface="Helvetica Neue"/>
            </a:endParaRPr>
          </a:p>
          <a:p>
            <a:r>
              <a:rPr lang="ru-RU" b="0" i="0" dirty="0">
                <a:solidFill>
                  <a:srgbClr val="434343"/>
                </a:solidFill>
                <a:effectLst/>
                <a:latin typeface="Helvetica Neue"/>
              </a:rPr>
              <a:t>Она </a:t>
            </a:r>
            <a:r>
              <a:rPr lang="ru-RU" b="1" i="0" dirty="0">
                <a:solidFill>
                  <a:srgbClr val="434343"/>
                </a:solidFill>
                <a:effectLst/>
                <a:latin typeface="Helvetica Neue"/>
              </a:rPr>
              <a:t>отличается от материальной </a:t>
            </a:r>
            <a:r>
              <a:rPr lang="ru-RU" b="0" i="0" dirty="0">
                <a:solidFill>
                  <a:srgbClr val="434343"/>
                </a:solidFill>
                <a:effectLst/>
                <a:latin typeface="Helvetica Neue"/>
              </a:rPr>
              <a:t>деятельности, которая связана с удовлетворением физических потребностей и достижением материальных целей.</a:t>
            </a: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Практика поиска духовных ценностей: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434343"/>
                </a:solidFill>
                <a:effectLst/>
                <a:latin typeface="Helvetica Neue"/>
              </a:rPr>
              <a:t>религиозная практика</a:t>
            </a:r>
            <a:endParaRPr lang="ru-RU" b="0" i="0" dirty="0">
              <a:solidFill>
                <a:srgbClr val="434343"/>
              </a:solidFill>
              <a:effectLst/>
              <a:latin typeface="Helvetica Neue"/>
            </a:endParaRPr>
          </a:p>
          <a:p>
            <a:r>
              <a:rPr lang="ru-RU" b="0" i="0" dirty="0">
                <a:solidFill>
                  <a:srgbClr val="434343"/>
                </a:solidFill>
                <a:effectLst/>
                <a:latin typeface="Helvetica Neue"/>
              </a:rPr>
              <a:t>Медитация</a:t>
            </a:r>
            <a:endParaRPr lang="ru-RU" b="0" i="0" dirty="0">
              <a:solidFill>
                <a:srgbClr val="434343"/>
              </a:solidFill>
              <a:effectLst/>
              <a:latin typeface="Helvetica Neue"/>
            </a:endParaRPr>
          </a:p>
          <a:p>
            <a:r>
              <a:rPr lang="ru-RU" b="0" i="0" dirty="0">
                <a:solidFill>
                  <a:srgbClr val="434343"/>
                </a:solidFill>
                <a:effectLst/>
                <a:latin typeface="Helvetica Neue"/>
              </a:rPr>
              <a:t>философские размышления</a:t>
            </a:r>
            <a:endParaRPr lang="ru-RU" b="0" i="0" dirty="0">
              <a:solidFill>
                <a:srgbClr val="434343"/>
              </a:solidFill>
              <a:effectLst/>
              <a:latin typeface="Helvetica Neue"/>
            </a:endParaRPr>
          </a:p>
          <a:p>
            <a:r>
              <a:rPr lang="ru-RU" b="0" i="0" dirty="0">
                <a:solidFill>
                  <a:srgbClr val="434343"/>
                </a:solidFill>
                <a:effectLst/>
                <a:latin typeface="Helvetica Neue"/>
              </a:rPr>
              <a:t>Творчество</a:t>
            </a:r>
            <a:endParaRPr lang="ru-RU" b="0" i="0" dirty="0">
              <a:solidFill>
                <a:srgbClr val="434343"/>
              </a:solidFill>
              <a:effectLst/>
              <a:latin typeface="Helvetica Neue"/>
            </a:endParaRPr>
          </a:p>
          <a:p>
            <a:r>
              <a:rPr lang="ru-RU" b="0" i="0" dirty="0">
                <a:solidFill>
                  <a:srgbClr val="434343"/>
                </a:solidFill>
                <a:effectLst/>
                <a:latin typeface="Helvetica Neue"/>
              </a:rPr>
              <a:t>Саморазвитие</a:t>
            </a:r>
            <a:endParaRPr lang="ru-RU" b="0" i="0" dirty="0">
              <a:solidFill>
                <a:srgbClr val="434343"/>
              </a:solidFill>
              <a:effectLst/>
              <a:latin typeface="Helvetica Neue"/>
            </a:endParaRPr>
          </a:p>
          <a:p>
            <a:r>
              <a:rPr lang="ru-RU" b="0" i="0" dirty="0">
                <a:solidFill>
                  <a:srgbClr val="434343"/>
                </a:solidFill>
                <a:effectLst/>
                <a:latin typeface="Helvetica Neue"/>
              </a:rPr>
              <a:t>поиск гармонии с собой и окружающим миром. </a:t>
            </a:r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Поиск ценностей: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434343"/>
                </a:solidFill>
                <a:effectLst/>
                <a:latin typeface="Helvetica Neue"/>
              </a:rPr>
              <a:t>Любовь</a:t>
            </a:r>
            <a:endParaRPr lang="ru-RU" b="0" i="0" dirty="0">
              <a:solidFill>
                <a:srgbClr val="434343"/>
              </a:solidFill>
              <a:effectLst/>
              <a:latin typeface="Helvetica Neue"/>
            </a:endParaRPr>
          </a:p>
          <a:p>
            <a:r>
              <a:rPr lang="ru-RU" b="0" i="0" dirty="0">
                <a:solidFill>
                  <a:srgbClr val="434343"/>
                </a:solidFill>
                <a:effectLst/>
                <a:latin typeface="Helvetica Neue"/>
              </a:rPr>
              <a:t>Сострадание</a:t>
            </a:r>
            <a:endParaRPr lang="ru-RU" b="0" i="0" dirty="0">
              <a:solidFill>
                <a:srgbClr val="434343"/>
              </a:solidFill>
              <a:effectLst/>
              <a:latin typeface="Helvetica Neue"/>
            </a:endParaRPr>
          </a:p>
          <a:p>
            <a:r>
              <a:rPr lang="ru-RU" b="0" i="0" dirty="0">
                <a:solidFill>
                  <a:srgbClr val="434343"/>
                </a:solidFill>
                <a:effectLst/>
                <a:latin typeface="Helvetica Neue"/>
              </a:rPr>
              <a:t>Справедливость</a:t>
            </a:r>
            <a:endParaRPr lang="ru-RU" b="0" i="0" dirty="0">
              <a:solidFill>
                <a:srgbClr val="434343"/>
              </a:solidFill>
              <a:effectLst/>
              <a:latin typeface="Helvetica Neue"/>
            </a:endParaRPr>
          </a:p>
          <a:p>
            <a:r>
              <a:rPr lang="ru-RU" b="0" i="0" dirty="0">
                <a:solidFill>
                  <a:srgbClr val="434343"/>
                </a:solidFill>
                <a:effectLst/>
                <a:latin typeface="Helvetica Neue"/>
              </a:rPr>
              <a:t>мудрость </a:t>
            </a:r>
            <a:endParaRPr lang="ru-RU" dirty="0">
              <a:solidFill>
                <a:srgbClr val="434343"/>
              </a:solidFill>
              <a:latin typeface="Helvetica Neue"/>
            </a:endParaRPr>
          </a:p>
          <a:p>
            <a:r>
              <a:rPr lang="ru-RU" b="0" i="0" dirty="0">
                <a:solidFill>
                  <a:srgbClr val="434343"/>
                </a:solidFill>
                <a:effectLst/>
                <a:latin typeface="Helvetica Neue"/>
              </a:rPr>
              <a:t>духовное просвещение.</a:t>
            </a:r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 поиска духовных ценностей: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solidFill>
                  <a:srgbClr val="434343"/>
                </a:solidFill>
                <a:latin typeface="Helvetica Neue"/>
              </a:rPr>
              <a:t>поиск</a:t>
            </a:r>
            <a:r>
              <a:rPr lang="ru-RU" b="0" i="0" dirty="0">
                <a:solidFill>
                  <a:srgbClr val="434343"/>
                </a:solidFill>
                <a:effectLst/>
                <a:latin typeface="Helvetica Neue"/>
              </a:rPr>
              <a:t> смысла и цели в своей жизни </a:t>
            </a:r>
            <a:endParaRPr lang="ru-RU" b="0" i="0" dirty="0">
              <a:solidFill>
                <a:srgbClr val="434343"/>
              </a:solidFill>
              <a:effectLst/>
              <a:latin typeface="Helvetica Neue"/>
            </a:endParaRPr>
          </a:p>
          <a:p>
            <a:r>
              <a:rPr lang="ru-RU" b="0" i="0" dirty="0">
                <a:solidFill>
                  <a:srgbClr val="434343"/>
                </a:solidFill>
                <a:effectLst/>
                <a:latin typeface="Helvetica Neue"/>
              </a:rPr>
              <a:t>развитие духовных и моральных качеств</a:t>
            </a:r>
            <a:endParaRPr lang="ru-RU" b="0" i="0" dirty="0">
              <a:solidFill>
                <a:srgbClr val="434343"/>
              </a:solidFill>
              <a:effectLst/>
              <a:latin typeface="Helvetica Neue"/>
            </a:endParaRPr>
          </a:p>
          <a:p>
            <a:r>
              <a:rPr lang="ru-RU" b="0" i="0" dirty="0">
                <a:solidFill>
                  <a:srgbClr val="434343"/>
                </a:solidFill>
                <a:effectLst/>
                <a:latin typeface="Helvetica Neue"/>
              </a:rPr>
              <a:t>формирование социальных связей и общности, основанных на общих ценностях и </a:t>
            </a:r>
            <a:r>
              <a:rPr lang="ru-RU" b="0" i="0" dirty="0" err="1">
                <a:solidFill>
                  <a:srgbClr val="434343"/>
                </a:solidFill>
                <a:effectLst/>
                <a:latin typeface="Helvetica Neue"/>
              </a:rPr>
              <a:t>вероубеждениях</a:t>
            </a:r>
            <a:r>
              <a:rPr lang="ru-RU" b="0" i="0" dirty="0">
                <a:solidFill>
                  <a:srgbClr val="434343"/>
                </a:solidFill>
                <a:effectLst/>
                <a:latin typeface="Helvetica Neue"/>
              </a:rPr>
              <a:t>.</a:t>
            </a:r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Вопрос: назовите примеры совпадения и расхождения в ценностях из жизни:</a:t>
            </a:r>
            <a:endParaRPr lang="ru-RU" dirty="0"/>
          </a:p>
        </p:txBody>
      </p:sp>
      <p:graphicFrame>
        <p:nvGraphicFramePr>
          <p:cNvPr id="8" name="Таблица 8"/>
          <p:cNvGraphicFramePr>
            <a:graphicFrameLocks noGrp="1"/>
          </p:cNvGraphicFramePr>
          <p:nvPr>
            <p:ph idx="1"/>
          </p:nvPr>
        </p:nvGraphicFramePr>
        <p:xfrm>
          <a:off x="1371600" y="2286000"/>
          <a:ext cx="960119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399"/>
                <a:gridCol w="3200399"/>
                <a:gridCol w="3200399"/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Ценности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Совпало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Разошлись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66850" y="209550"/>
            <a:ext cx="9601200" cy="1485900"/>
          </a:xfrm>
        </p:spPr>
        <p:txBody>
          <a:bodyPr>
            <a:normAutofit fontScale="90000"/>
          </a:bodyPr>
          <a:lstStyle/>
          <a:p>
            <a:r>
              <a:rPr lang="ru-RU" b="1" i="0" dirty="0">
                <a:solidFill>
                  <a:srgbClr val="434343"/>
                </a:solidFill>
                <a:effectLst/>
                <a:latin typeface="Helvetica Neue"/>
              </a:rPr>
              <a:t>Духовная деятельность и социальные изменения</a:t>
            </a:r>
            <a:br>
              <a:rPr lang="ru-RU" b="1" i="0" dirty="0">
                <a:solidFill>
                  <a:srgbClr val="434343"/>
                </a:solidFill>
                <a:effectLst/>
                <a:latin typeface="Helvetica Neue"/>
              </a:rPr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66850" y="1438275"/>
            <a:ext cx="9601200" cy="3581400"/>
          </a:xfrm>
        </p:spPr>
        <p:txBody>
          <a:bodyPr>
            <a:noAutofit/>
          </a:bodyPr>
          <a:lstStyle/>
          <a:p>
            <a:pPr algn="l"/>
            <a:r>
              <a:rPr lang="ru-RU" sz="1800" dirty="0">
                <a:solidFill>
                  <a:srgbClr val="434343"/>
                </a:solidFill>
                <a:latin typeface="Helvetica Neue"/>
              </a:rPr>
              <a:t>1. С</a:t>
            </a:r>
            <a:r>
              <a:rPr lang="ru-RU" sz="1800" b="0" i="0" dirty="0">
                <a:solidFill>
                  <a:srgbClr val="434343"/>
                </a:solidFill>
                <a:effectLst/>
                <a:latin typeface="Helvetica Neue"/>
              </a:rPr>
              <a:t>тимулирование социальных </a:t>
            </a:r>
            <a:r>
              <a:rPr lang="ru-RU" sz="1800" b="1" i="0" dirty="0">
                <a:solidFill>
                  <a:srgbClr val="434343"/>
                </a:solidFill>
                <a:effectLst/>
                <a:latin typeface="Helvetica Neue"/>
              </a:rPr>
              <a:t>изменений</a:t>
            </a:r>
            <a:r>
              <a:rPr lang="ru-RU" sz="1800" b="0" i="0" dirty="0">
                <a:solidFill>
                  <a:srgbClr val="434343"/>
                </a:solidFill>
                <a:effectLst/>
                <a:latin typeface="Helvetica Neue"/>
              </a:rPr>
              <a:t> через </a:t>
            </a:r>
            <a:r>
              <a:rPr lang="ru-RU" sz="1800" b="1" i="0" dirty="0">
                <a:solidFill>
                  <a:srgbClr val="434343"/>
                </a:solidFill>
                <a:effectLst/>
                <a:latin typeface="Helvetica Neue"/>
              </a:rPr>
              <a:t>формирование новых ценностей и идеалов</a:t>
            </a:r>
            <a:r>
              <a:rPr lang="ru-RU" sz="1800" b="0" i="0" dirty="0">
                <a:solidFill>
                  <a:srgbClr val="434343"/>
                </a:solidFill>
                <a:effectLst/>
                <a:latin typeface="Helvetica Neue"/>
              </a:rPr>
              <a:t>. Религиозные и философские убеждения, моральные принципы и этические нормы, которые формируются в рамках духовной сферы, могут влиять на поведение и выборы людей. Например, вера в равенство и справедливость может вдохновить людей на борьбу за права и свободы, а этические принципы могут способствовать развитию благотворительности и </a:t>
            </a:r>
            <a:r>
              <a:rPr lang="ru-RU" sz="1800" b="0" i="0" dirty="0" err="1">
                <a:solidFill>
                  <a:srgbClr val="434343"/>
                </a:solidFill>
                <a:effectLst/>
                <a:latin typeface="Helvetica Neue"/>
              </a:rPr>
              <a:t>волонтерства</a:t>
            </a:r>
            <a:r>
              <a:rPr lang="ru-RU" sz="1800" b="0" i="0" dirty="0">
                <a:solidFill>
                  <a:srgbClr val="434343"/>
                </a:solidFill>
                <a:effectLst/>
                <a:latin typeface="Helvetica Neue"/>
              </a:rPr>
              <a:t>.</a:t>
            </a:r>
            <a:endParaRPr lang="ru-RU" sz="1800" b="0" i="0" dirty="0">
              <a:solidFill>
                <a:srgbClr val="434343"/>
              </a:solidFill>
              <a:effectLst/>
              <a:latin typeface="Helvetica Neue"/>
            </a:endParaRPr>
          </a:p>
          <a:p>
            <a:pPr algn="l"/>
            <a:r>
              <a:rPr lang="ru-RU" sz="1800" b="0" i="0" dirty="0">
                <a:solidFill>
                  <a:srgbClr val="434343"/>
                </a:solidFill>
                <a:effectLst/>
                <a:latin typeface="Helvetica Neue"/>
              </a:rPr>
              <a:t>2. Способствование социальным изменениям </a:t>
            </a:r>
            <a:r>
              <a:rPr lang="ru-RU" sz="1800" b="1" i="0" dirty="0">
                <a:solidFill>
                  <a:srgbClr val="434343"/>
                </a:solidFill>
                <a:effectLst/>
                <a:latin typeface="Helvetica Neue"/>
              </a:rPr>
              <a:t>через мобилизацию и организацию людей</a:t>
            </a:r>
            <a:r>
              <a:rPr lang="ru-RU" sz="1800" b="0" i="0" dirty="0">
                <a:solidFill>
                  <a:srgbClr val="434343"/>
                </a:solidFill>
                <a:effectLst/>
                <a:latin typeface="Helvetica Neue"/>
              </a:rPr>
              <a:t>. Религиозные общины, </a:t>
            </a:r>
            <a:r>
              <a:rPr lang="ru-RU" sz="1800" b="1" i="0" dirty="0">
                <a:solidFill>
                  <a:srgbClr val="434343"/>
                </a:solidFill>
                <a:effectLst/>
                <a:latin typeface="Helvetica Neue"/>
              </a:rPr>
              <a:t>духовные лидеры </a:t>
            </a:r>
            <a:r>
              <a:rPr lang="ru-RU" sz="1800" b="0" i="0" dirty="0">
                <a:solidFill>
                  <a:srgbClr val="434343"/>
                </a:solidFill>
                <a:effectLst/>
                <a:latin typeface="Helvetica Neue"/>
              </a:rPr>
              <a:t>и организации могут играть активную роль в социальных движениях и протестах, направленных на изменение политической, экономической или социальной ситуации. Они могут объединять людей вокруг общих целей и идеалов, формировать солидарность и содействовать изменениям в обществе.</a:t>
            </a:r>
            <a:endParaRPr lang="ru-RU" sz="1800" b="0" i="0" dirty="0">
              <a:solidFill>
                <a:srgbClr val="434343"/>
              </a:solidFill>
              <a:effectLst/>
              <a:latin typeface="Helvetica Neue"/>
            </a:endParaRPr>
          </a:p>
          <a:p>
            <a:pPr algn="l"/>
            <a:r>
              <a:rPr lang="ru-RU" sz="1800" b="0" i="0" dirty="0">
                <a:solidFill>
                  <a:srgbClr val="434343"/>
                </a:solidFill>
                <a:effectLst/>
                <a:latin typeface="Helvetica Neue"/>
              </a:rPr>
              <a:t>3. Способствование социальным изменениям </a:t>
            </a:r>
            <a:r>
              <a:rPr lang="ru-RU" sz="1800" b="1" i="0" dirty="0">
                <a:solidFill>
                  <a:srgbClr val="434343"/>
                </a:solidFill>
                <a:effectLst/>
                <a:latin typeface="Helvetica Neue"/>
              </a:rPr>
              <a:t>через личностное развитие и трансформацию</a:t>
            </a:r>
            <a:r>
              <a:rPr lang="ru-RU" sz="1800" b="0" i="0" dirty="0">
                <a:solidFill>
                  <a:srgbClr val="434343"/>
                </a:solidFill>
                <a:effectLst/>
                <a:latin typeface="Helvetica Neue"/>
              </a:rPr>
              <a:t>. Медитация, молитва, ритуалы и другие практики духовности могут помочь людям осознать свои потребности, ценности и цели, а также преодолеть внутренние преграды и ограничения. Это может привести к изменению отношения к себе и окружающему миру, к развитию эмпатии и сострадания, к более гармоничным и созидательным взаимодействиям с другими людьми.</a:t>
            </a:r>
            <a:endParaRPr lang="ru-RU" sz="1800" b="0" i="0" dirty="0">
              <a:solidFill>
                <a:srgbClr val="434343"/>
              </a:solidFill>
              <a:effectLst/>
              <a:latin typeface="Helvetica Neue"/>
            </a:endParaRPr>
          </a:p>
          <a:p>
            <a:endParaRPr lang="ru-RU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>
          <a:xfrm>
            <a:off x="1915127" y="2769529"/>
            <a:ext cx="8361229" cy="2098226"/>
          </a:xfrm>
        </p:spPr>
        <p:txBody>
          <a:bodyPr/>
          <a:lstStyle/>
          <a:p>
            <a:r>
              <a:rPr lang="ru-RU" sz="7200" b="1" dirty="0">
                <a:effectLst/>
                <a:latin typeface="Times New Roman" panose="02020603050405020304" pitchFamily="18" charset="0"/>
                <a:ea typeface="OfficinaSansBoldITC"/>
              </a:rPr>
              <a:t>Материальная и духовная культура.</a:t>
            </a:r>
            <a:endParaRPr lang="ru-RU" dirty="0"/>
          </a:p>
        </p:txBody>
      </p:sp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Вопрос: назовите что такое культура?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КУЛЬТУРА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— КУЛЬТУРА от лат. </a:t>
            </a:r>
            <a:r>
              <a:rPr lang="ru-RU" dirty="0" err="1"/>
              <a:t>cultura</a:t>
            </a:r>
            <a:r>
              <a:rPr lang="ru-RU" dirty="0"/>
              <a:t> — возделывание, воспитание, образование, развитие, почитание</a:t>
            </a:r>
            <a:br>
              <a:rPr lang="ru-RU" dirty="0"/>
            </a:br>
            <a:endParaRPr lang="ru-RU" dirty="0"/>
          </a:p>
          <a:p>
            <a:pPr algn="l"/>
            <a:r>
              <a:rPr lang="ru-RU" sz="1800" b="1" i="0" dirty="0">
                <a:solidFill>
                  <a:srgbClr val="0D0D0D"/>
                </a:solidFill>
                <a:effectLst/>
                <a:latin typeface="Arial" panose="02080604020202020204" pitchFamily="34" charset="0"/>
              </a:rPr>
              <a:t>Культура</a:t>
            </a:r>
            <a:r>
              <a:rPr lang="ru-RU" sz="1800" b="0" i="0" dirty="0">
                <a:solidFill>
                  <a:srgbClr val="0D0D0D"/>
                </a:solidFill>
                <a:effectLst/>
                <a:latin typeface="Arial" panose="02080604020202020204" pitchFamily="34" charset="0"/>
              </a:rPr>
              <a:t> — совокупность результатов человеческой деятельности, а также способов и инструментов, посредством которых осуществляется преобразование человеком окружающей среды и регуляция общественной жизни.</a:t>
            </a:r>
            <a:endParaRPr lang="ru-RU" b="0" i="0" dirty="0">
              <a:solidFill>
                <a:srgbClr val="272F3D"/>
              </a:solidFill>
              <a:effectLst/>
              <a:latin typeface="Rostelecom Basis"/>
            </a:endParaRPr>
          </a:p>
          <a:p>
            <a:endParaRPr lang="ru-RU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Культура в узком смысле– это: 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выращивание какого-либо растения, само возделываемое растение; возделывание и обработка сельскохозяйственных угодий. (Именно это значение ближе всего к первоначальной этимологии слова);- </a:t>
            </a:r>
            <a:endParaRPr lang="ru-RU" dirty="0"/>
          </a:p>
          <a:p>
            <a:r>
              <a:rPr lang="ru-RU" dirty="0"/>
              <a:t>набор правил (формальных и неформальных), стереотипов и норм поведения;- степень развития, присущая кому-либо;- </a:t>
            </a:r>
            <a:endParaRPr lang="ru-RU" dirty="0"/>
          </a:p>
          <a:p>
            <a:r>
              <a:rPr lang="ru-RU" dirty="0"/>
              <a:t>уровень нравственного состояния человека и общества;- </a:t>
            </a:r>
            <a:endParaRPr lang="ru-RU" dirty="0"/>
          </a:p>
          <a:p>
            <a:r>
              <a:rPr lang="ru-RU" dirty="0"/>
              <a:t>уровень, достигнутый в какой-либо области знания или деятельности; </a:t>
            </a:r>
            <a:endParaRPr lang="ru-RU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Культура в широком смысле – это: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деятельность человека во всех ее проявлениях, в том числе все формы и способы самовыражения и самопознания человека, а также накопление им и обществом в целом знаний, навыков и умений. </a:t>
            </a:r>
            <a:endParaRPr lang="ru-RU" dirty="0"/>
          </a:p>
          <a:p>
            <a:r>
              <a:rPr lang="ru-RU" dirty="0"/>
              <a:t>В данном контексте культура – это то, что </a:t>
            </a:r>
            <a:r>
              <a:rPr lang="ru-RU" b="1" dirty="0"/>
              <a:t>выделяет человека из природы</a:t>
            </a:r>
            <a:r>
              <a:rPr lang="ru-RU" dirty="0"/>
              <a:t>, движет его по пути развития.</a:t>
            </a:r>
            <a:endParaRPr lang="ru-RU" dirty="0"/>
          </a:p>
          <a:p>
            <a:r>
              <a:rPr lang="ru-RU" dirty="0"/>
              <a:t>Культура – результат созидательной, творческой деятельности человека, накопленный и переданный из поколения в поколение опыт, а также его оценка и осмысление.</a:t>
            </a:r>
            <a:endParaRPr lang="ru-RU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71600" y="152400"/>
            <a:ext cx="9601200" cy="704850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434343"/>
                </a:solidFill>
                <a:latin typeface="Helvetica Neue"/>
              </a:rPr>
              <a:t>Основные типы культур:</a:t>
            </a:r>
            <a:br>
              <a:rPr lang="ru-RU" b="1" dirty="0">
                <a:solidFill>
                  <a:srgbClr val="434343"/>
                </a:solidFill>
                <a:latin typeface="Helvetica Neue"/>
              </a:rPr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71600" y="857250"/>
            <a:ext cx="9601200" cy="4476750"/>
          </a:xfrm>
        </p:spPr>
        <p:txBody>
          <a:bodyPr>
            <a:noAutofit/>
          </a:bodyPr>
          <a:lstStyle/>
          <a:p>
            <a:pPr algn="l"/>
            <a:r>
              <a:rPr lang="ru-RU" sz="1200" b="1" i="0" dirty="0">
                <a:solidFill>
                  <a:srgbClr val="434343"/>
                </a:solidFill>
                <a:effectLst/>
                <a:latin typeface="Helvetica Neue"/>
              </a:rPr>
              <a:t>Материальная культура</a:t>
            </a:r>
            <a:endParaRPr lang="ru-RU" sz="1200" b="1" i="0" dirty="0">
              <a:solidFill>
                <a:srgbClr val="434343"/>
              </a:solidFill>
              <a:effectLst/>
              <a:latin typeface="Helvetica Neue"/>
            </a:endParaRPr>
          </a:p>
          <a:p>
            <a:pPr algn="l"/>
            <a:r>
              <a:rPr lang="ru-RU" sz="1200" b="0" i="0" dirty="0">
                <a:solidFill>
                  <a:srgbClr val="434343"/>
                </a:solidFill>
                <a:effectLst/>
                <a:latin typeface="Helvetica Neue"/>
              </a:rPr>
              <a:t>Материальная культура включает в себя все видимые и осязаемые объекты, созданные человеком. Это могут быть предметы быта, архитектурные сооружения, произведения искусства, технические изобретения и многое другое. Материальная культура отражает уровень развития общества, его технологические возможности и культурные ценности.</a:t>
            </a:r>
            <a:endParaRPr lang="ru-RU" sz="1200" b="0" i="0" dirty="0">
              <a:solidFill>
                <a:srgbClr val="434343"/>
              </a:solidFill>
              <a:effectLst/>
              <a:latin typeface="Helvetica Neue"/>
            </a:endParaRPr>
          </a:p>
          <a:p>
            <a:pPr algn="l"/>
            <a:r>
              <a:rPr lang="ru-RU" sz="1200" b="1" i="0" dirty="0">
                <a:solidFill>
                  <a:srgbClr val="434343"/>
                </a:solidFill>
                <a:effectLst/>
                <a:latin typeface="Helvetica Neue"/>
              </a:rPr>
              <a:t>Духовная культура</a:t>
            </a:r>
            <a:endParaRPr lang="ru-RU" sz="1200" b="1" i="0" dirty="0">
              <a:solidFill>
                <a:srgbClr val="434343"/>
              </a:solidFill>
              <a:effectLst/>
              <a:latin typeface="Helvetica Neue"/>
            </a:endParaRPr>
          </a:p>
          <a:p>
            <a:pPr algn="l"/>
            <a:r>
              <a:rPr lang="ru-RU" sz="1200" b="0" i="0" dirty="0">
                <a:solidFill>
                  <a:srgbClr val="434343"/>
                </a:solidFill>
                <a:effectLst/>
                <a:latin typeface="Helvetica Neue"/>
              </a:rPr>
              <a:t>Духовная культура включает в себя нематериальные аспекты культуры, такие как язык, религия, философия, наука, искусство, моральные и этические нормы, обычаи и традиции. Духовная культура формирует систему ценностей и убеждений общества, определяет его идентичность и способы взаимодействия.</a:t>
            </a:r>
            <a:endParaRPr lang="ru-RU" sz="1200" b="0" i="0" dirty="0">
              <a:solidFill>
                <a:srgbClr val="434343"/>
              </a:solidFill>
              <a:effectLst/>
              <a:latin typeface="Helvetica Neue"/>
            </a:endParaRPr>
          </a:p>
          <a:p>
            <a:pPr algn="l"/>
            <a:r>
              <a:rPr lang="ru-RU" sz="1200" b="1" i="0" dirty="0">
                <a:solidFill>
                  <a:srgbClr val="434343"/>
                </a:solidFill>
                <a:effectLst/>
                <a:latin typeface="Helvetica Neue"/>
              </a:rPr>
              <a:t>Социальная культура</a:t>
            </a:r>
            <a:endParaRPr lang="ru-RU" sz="1200" b="1" i="0" dirty="0">
              <a:solidFill>
                <a:srgbClr val="434343"/>
              </a:solidFill>
              <a:effectLst/>
              <a:latin typeface="Helvetica Neue"/>
            </a:endParaRPr>
          </a:p>
          <a:p>
            <a:pPr algn="l"/>
            <a:r>
              <a:rPr lang="ru-RU" sz="1200" b="0" i="0" dirty="0">
                <a:solidFill>
                  <a:srgbClr val="434343"/>
                </a:solidFill>
                <a:effectLst/>
                <a:latin typeface="Helvetica Neue"/>
              </a:rPr>
              <a:t>Социальная культура связана с организацией общества, его социальными институтами и отношениями. Она включает в себя правовую систему, политическую структуру, экономические отношения, систему образования и другие аспекты социальной жизни. Социальная культура определяет способы взаимодействия людей в обществе и формирует его социальные нормы и ценности.</a:t>
            </a:r>
            <a:endParaRPr lang="ru-RU" sz="1200" b="0" i="0" dirty="0">
              <a:solidFill>
                <a:srgbClr val="434343"/>
              </a:solidFill>
              <a:effectLst/>
              <a:latin typeface="Helvetica Neue"/>
            </a:endParaRPr>
          </a:p>
          <a:p>
            <a:pPr algn="l"/>
            <a:r>
              <a:rPr lang="ru-RU" sz="1200" b="1" i="0" dirty="0">
                <a:solidFill>
                  <a:srgbClr val="434343"/>
                </a:solidFill>
                <a:effectLst/>
                <a:latin typeface="Helvetica Neue"/>
              </a:rPr>
              <a:t>Популярная культура</a:t>
            </a:r>
            <a:endParaRPr lang="ru-RU" sz="1200" b="1" i="0" dirty="0">
              <a:solidFill>
                <a:srgbClr val="434343"/>
              </a:solidFill>
              <a:effectLst/>
              <a:latin typeface="Helvetica Neue"/>
            </a:endParaRPr>
          </a:p>
          <a:p>
            <a:pPr algn="l"/>
            <a:r>
              <a:rPr lang="ru-RU" sz="1200" b="0" i="0" dirty="0">
                <a:solidFill>
                  <a:srgbClr val="434343"/>
                </a:solidFill>
                <a:effectLst/>
                <a:latin typeface="Helvetica Neue"/>
              </a:rPr>
              <a:t>Популярная культура отражает массовые предпочтения и интересы общества. Она включает в себя развлекательные программы, музыку, кино, телевидение, спорт, моду и другие аспекты массовой культуры. Популярная культура часто меняется и подвержена влиянию моды и трендов, она отражает текущие социальные и культурные процессы.</a:t>
            </a:r>
            <a:endParaRPr lang="ru-RU" sz="1200" b="0" i="0" dirty="0">
              <a:solidFill>
                <a:srgbClr val="434343"/>
              </a:solidFill>
              <a:effectLst/>
              <a:latin typeface="Helvetica Neue"/>
            </a:endParaRPr>
          </a:p>
          <a:p>
            <a:pPr algn="l"/>
            <a:r>
              <a:rPr lang="ru-RU" sz="1200" b="1" i="0" dirty="0">
                <a:solidFill>
                  <a:srgbClr val="434343"/>
                </a:solidFill>
                <a:effectLst/>
                <a:latin typeface="Helvetica Neue"/>
              </a:rPr>
              <a:t>Национальная культура</a:t>
            </a:r>
            <a:endParaRPr lang="ru-RU" sz="1200" b="1" i="0" dirty="0">
              <a:solidFill>
                <a:srgbClr val="434343"/>
              </a:solidFill>
              <a:effectLst/>
              <a:latin typeface="Helvetica Neue"/>
            </a:endParaRPr>
          </a:p>
          <a:p>
            <a:pPr algn="l"/>
            <a:r>
              <a:rPr lang="ru-RU" sz="1200" b="0" i="0" dirty="0">
                <a:solidFill>
                  <a:srgbClr val="434343"/>
                </a:solidFill>
                <a:effectLst/>
                <a:latin typeface="Helvetica Neue"/>
              </a:rPr>
              <a:t>Национальная культура связана с идентичностью и культурными особенностями определенной нации или этнической группы. Она включает в себя язык, традиции, обычаи, религию, искусство и другие аспекты, которые характерны для данной нации. Национальная культура формируется и развивается в течение длительного времени и является важной частью идентичности народа.</a:t>
            </a:r>
            <a:endParaRPr lang="ru-RU" sz="1200" b="0" i="0" dirty="0">
              <a:solidFill>
                <a:srgbClr val="434343"/>
              </a:solidFill>
              <a:effectLst/>
              <a:latin typeface="Helvetica Neu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71600" y="361950"/>
            <a:ext cx="9601200" cy="771525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434343"/>
                </a:solidFill>
                <a:latin typeface="Helvetica Neue"/>
              </a:rPr>
              <a:t>Примеры типов культур</a:t>
            </a:r>
            <a:br>
              <a:rPr lang="ru-RU" b="1" dirty="0">
                <a:solidFill>
                  <a:srgbClr val="434343"/>
                </a:solidFill>
                <a:latin typeface="Helvetica Neue"/>
              </a:rPr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47800" y="1133475"/>
            <a:ext cx="9601200" cy="3581400"/>
          </a:xfrm>
        </p:spPr>
        <p:txBody>
          <a:bodyPr>
            <a:noAutofit/>
          </a:bodyPr>
          <a:lstStyle/>
          <a:p>
            <a:pPr algn="l"/>
            <a:r>
              <a:rPr lang="ru-RU" sz="1200" b="1" i="0" dirty="0">
                <a:solidFill>
                  <a:srgbClr val="434343"/>
                </a:solidFill>
                <a:effectLst/>
                <a:latin typeface="Helvetica Neue"/>
              </a:rPr>
              <a:t>Национальные культуры</a:t>
            </a:r>
            <a:endParaRPr lang="ru-RU" sz="1200" b="1" i="0" dirty="0">
              <a:solidFill>
                <a:srgbClr val="434343"/>
              </a:solidFill>
              <a:effectLst/>
              <a:latin typeface="Helvetica Neue"/>
            </a:endParaRPr>
          </a:p>
          <a:p>
            <a:pPr algn="l"/>
            <a:r>
              <a:rPr lang="ru-RU" sz="1200" b="0" i="0" dirty="0">
                <a:solidFill>
                  <a:srgbClr val="434343"/>
                </a:solidFill>
                <a:effectLst/>
                <a:latin typeface="Helvetica Neue"/>
              </a:rPr>
              <a:t>Национальные культуры – это культуры, связанные с определенной нацией или государством. Они включают в себя язык, традиции, обычаи, религию и историю этой нации. Например, французская культура, японская культура, немецкая культура и т.д. Каждая из этих культур имеет свои уникальные черты и особенности, которые отражают идентичность и ценности нации.</a:t>
            </a:r>
            <a:endParaRPr lang="ru-RU" sz="1200" b="0" i="0" dirty="0">
              <a:solidFill>
                <a:srgbClr val="434343"/>
              </a:solidFill>
              <a:effectLst/>
              <a:latin typeface="Helvetica Neue"/>
            </a:endParaRPr>
          </a:p>
          <a:p>
            <a:pPr algn="l"/>
            <a:r>
              <a:rPr lang="ru-RU" sz="1200" b="1" i="0" dirty="0">
                <a:solidFill>
                  <a:srgbClr val="434343"/>
                </a:solidFill>
                <a:effectLst/>
                <a:latin typeface="Helvetica Neue"/>
              </a:rPr>
              <a:t>Религиозные культуры</a:t>
            </a:r>
            <a:endParaRPr lang="ru-RU" sz="1200" b="1" i="0" dirty="0">
              <a:solidFill>
                <a:srgbClr val="434343"/>
              </a:solidFill>
              <a:effectLst/>
              <a:latin typeface="Helvetica Neue"/>
            </a:endParaRPr>
          </a:p>
          <a:p>
            <a:pPr algn="l"/>
            <a:r>
              <a:rPr lang="ru-RU" sz="1200" b="0" i="0" dirty="0">
                <a:solidFill>
                  <a:srgbClr val="434343"/>
                </a:solidFill>
                <a:effectLst/>
                <a:latin typeface="Helvetica Neue"/>
              </a:rPr>
              <a:t>Религиозные культуры – это культуры, связанные с определенной религией или вероисповеданием. Они включают в себя верования, обряды, ритуалы и ценности, связанные с этой религией. Например, христианская культура, исламская культура, буддийская культура и т.д. Каждая из этих культур имеет свои особенности, которые определяются религиозными учениями и практиками.</a:t>
            </a:r>
            <a:endParaRPr lang="ru-RU" sz="1200" b="0" i="0" dirty="0">
              <a:solidFill>
                <a:srgbClr val="434343"/>
              </a:solidFill>
              <a:effectLst/>
              <a:latin typeface="Helvetica Neue"/>
            </a:endParaRPr>
          </a:p>
          <a:p>
            <a:pPr algn="l"/>
            <a:r>
              <a:rPr lang="ru-RU" sz="1200" b="1" i="0" dirty="0">
                <a:solidFill>
                  <a:srgbClr val="434343"/>
                </a:solidFill>
                <a:effectLst/>
                <a:latin typeface="Helvetica Neue"/>
              </a:rPr>
              <a:t>Популярные культуры</a:t>
            </a:r>
            <a:endParaRPr lang="ru-RU" sz="1200" b="1" i="0" dirty="0">
              <a:solidFill>
                <a:srgbClr val="434343"/>
              </a:solidFill>
              <a:effectLst/>
              <a:latin typeface="Helvetica Neue"/>
            </a:endParaRPr>
          </a:p>
          <a:p>
            <a:pPr algn="l"/>
            <a:r>
              <a:rPr lang="ru-RU" sz="1200" b="0" i="0" dirty="0">
                <a:solidFill>
                  <a:srgbClr val="434343"/>
                </a:solidFill>
                <a:effectLst/>
                <a:latin typeface="Helvetica Neue"/>
              </a:rPr>
              <a:t>Популярные культуры – это культуры, которые широко распространены и популярны в современном обществе. Они включают в себя музыку, фильмы, телевизионные шоу, моду, спорт и другие формы развлечений. Например, голливудская культура, музыкальная культура поп-музыки, культура видеоигр и т.д. Популярные культуры часто отражают современные тенденции и вкусы общества.</a:t>
            </a:r>
            <a:endParaRPr lang="ru-RU" sz="1200" b="0" i="0" dirty="0">
              <a:solidFill>
                <a:srgbClr val="434343"/>
              </a:solidFill>
              <a:effectLst/>
              <a:latin typeface="Helvetica Neue"/>
            </a:endParaRPr>
          </a:p>
          <a:p>
            <a:pPr algn="l"/>
            <a:r>
              <a:rPr lang="ru-RU" sz="1200" b="1" i="0" dirty="0">
                <a:solidFill>
                  <a:srgbClr val="434343"/>
                </a:solidFill>
                <a:effectLst/>
                <a:latin typeface="Helvetica Neue"/>
              </a:rPr>
              <a:t>Массовая культура</a:t>
            </a:r>
            <a:endParaRPr lang="ru-RU" sz="1200" b="1" i="0" dirty="0">
              <a:solidFill>
                <a:srgbClr val="434343"/>
              </a:solidFill>
              <a:effectLst/>
              <a:latin typeface="Helvetica Neue"/>
            </a:endParaRPr>
          </a:p>
          <a:p>
            <a:pPr algn="l"/>
            <a:r>
              <a:rPr lang="ru-RU" sz="1200" b="0" i="0" dirty="0">
                <a:solidFill>
                  <a:srgbClr val="434343"/>
                </a:solidFill>
                <a:effectLst/>
                <a:latin typeface="Helvetica Neue"/>
              </a:rPr>
              <a:t>Массовая культура – это культура, которая создается и распространяется с помощью средств массовой коммуникации, таких как телевидение, радио, интернет и пресса. Она включает в себя различные формы развлечений, информации и коммуникации, которые доступны широкой аудитории. Например, киноиндустрия, музыкальная индустрия, медиа-компании и т.д. Массовая культура имеет большое влияние на формирование общественного мнения и стандартов потребления.</a:t>
            </a:r>
            <a:endParaRPr lang="ru-RU" sz="1200" b="0" i="0" dirty="0">
              <a:solidFill>
                <a:srgbClr val="434343"/>
              </a:solidFill>
              <a:effectLst/>
              <a:latin typeface="Helvetica Neue"/>
            </a:endParaRPr>
          </a:p>
          <a:p>
            <a:endParaRPr lang="ru-RU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Еще варианты разделения культур: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 принадлежности к тому или иному историческому типу общества можно выделить культуры традиционную, индустриальную и постиндустриальную, а также античную, средневековую, культуру Ренессанса,  Нового времени и т.д.</a:t>
            </a:r>
            <a:endParaRPr lang="ru-RU" dirty="0"/>
          </a:p>
          <a:p>
            <a:r>
              <a:rPr lang="ru-RU" dirty="0"/>
              <a:t>Если положить в основу деления национально-этнический принцип, то, например, можно выделить культуру русскую, итальянскую, японскую, китайскую и т.д.</a:t>
            </a:r>
            <a:endParaRPr lang="ru-RU" dirty="0"/>
          </a:p>
          <a:p>
            <a:r>
              <a:rPr lang="ru-RU" dirty="0"/>
              <a:t>В соответствии с территориальным признаком выделяют культуры городскую и сельскую, а также столичную и провинциальную.</a:t>
            </a:r>
            <a:endParaRPr lang="ru-RU" dirty="0"/>
          </a:p>
          <a:p>
            <a:r>
              <a:rPr lang="ru-RU" dirty="0"/>
              <a:t>В зависимости от сферы жизни общества и определенного вида деятельности можно выделить культуру политическую, экономическую, правовую, художественную, педагогическую, телевизионную, культуру труда и т.д.</a:t>
            </a:r>
            <a:endParaRPr lang="ru-RU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71600" y="142875"/>
            <a:ext cx="9601200" cy="1485900"/>
          </a:xfrm>
        </p:spPr>
        <p:txBody>
          <a:bodyPr>
            <a:noAutofit/>
          </a:bodyPr>
          <a:lstStyle/>
          <a:p>
            <a:r>
              <a:rPr lang="ru-RU" sz="2800" dirty="0"/>
              <a:t>В культурологии приято выделять три основные формы, которые максимально охватывают всю многоплановость и многообразие феномена культуры: народную, элитарную и массовую;</a:t>
            </a:r>
            <a:endParaRPr lang="ru-RU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95400" y="2047875"/>
            <a:ext cx="9601200" cy="3581400"/>
          </a:xfrm>
        </p:spPr>
        <p:txBody>
          <a:bodyPr>
            <a:normAutofit lnSpcReduction="10000"/>
          </a:bodyPr>
          <a:lstStyle/>
          <a:p>
            <a:r>
              <a:rPr lang="ru-RU" b="1" dirty="0"/>
              <a:t>Народная культура:</a:t>
            </a:r>
            <a:r>
              <a:rPr lang="ru-RU" dirty="0"/>
              <a:t> фольклор, декоративно-прикладное искусство и т. д.	- анонимность; - коллективный характер творческих процессов; - авторы народной культуры обычно не являются профессионалами.</a:t>
            </a:r>
            <a:endParaRPr lang="ru-RU" dirty="0"/>
          </a:p>
          <a:p>
            <a:r>
              <a:rPr lang="ru-RU" b="1" dirty="0"/>
              <a:t>Элитарная культура</a:t>
            </a:r>
            <a:r>
              <a:rPr lang="ru-RU" dirty="0"/>
              <a:t>: классическое академическое искусство, авангардное искусство и т. д.	- создается профессиональными творцами; - произведения сложны по форме и содержанию; - часто понятны только узкому кругу знатоков и профессионалов. - восприятие требует высокого уровня образования и специальной подготовки.</a:t>
            </a:r>
            <a:endParaRPr lang="ru-RU" dirty="0"/>
          </a:p>
          <a:p>
            <a:r>
              <a:rPr lang="ru-RU" b="1" dirty="0"/>
              <a:t>Массовая культура</a:t>
            </a:r>
            <a:r>
              <a:rPr lang="ru-RU" dirty="0"/>
              <a:t>: телевизионные сериалы, шоу, «легкая» музыка, реклама, бестселлеры и т. д.	- общедоступность; - ориентация на средний вкус;- стандартизация формы и содержания;- коммерческая направленность;- развлекательный характер;</a:t>
            </a:r>
            <a:endParaRPr lang="ru-RU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Универсальная культура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Культуру называют </a:t>
            </a:r>
            <a:r>
              <a:rPr lang="ru-RU" b="1" dirty="0"/>
              <a:t>универсальной </a:t>
            </a:r>
            <a:r>
              <a:rPr lang="ru-RU" dirty="0"/>
              <a:t>в том случае, когда ее произведения </a:t>
            </a:r>
            <a:r>
              <a:rPr lang="ru-RU" b="1" dirty="0"/>
              <a:t>понятны всем</a:t>
            </a:r>
            <a:r>
              <a:rPr lang="ru-RU" dirty="0"/>
              <a:t>, независимо от возраста, уровня образования, социального статуса и т.д. Сюда относятся те образцы, которые стали общепризнанным достоянием мировой культуры (например,  произведения А.С. Пушкина и Л.Н. Толстого, музыка Моцарта и П.И. Чайковского, песни Битлз, танец танго и проч.).</a:t>
            </a:r>
            <a:endParaRPr lang="ru-RU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Типология культур по охвату: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- Доминирующая культура представляет собой культуру большинства населения, в которой представлены господствующие духовные ценности.</a:t>
            </a:r>
            <a:endParaRPr lang="ru-RU" dirty="0"/>
          </a:p>
          <a:p>
            <a:r>
              <a:rPr lang="ru-RU" dirty="0"/>
              <a:t>- Субкультура – это культура социальной группы. Субкультура является частью общей культуры. Выделяют молодежную субкультуру (субкультуры), различные половозрастные (женская, детская, пенсионеров и т.д.), профессиональные субкультуры. </a:t>
            </a:r>
            <a:endParaRPr lang="ru-RU" dirty="0"/>
          </a:p>
          <a:p>
            <a:r>
              <a:rPr lang="ru-RU" dirty="0"/>
              <a:t>- Контркультура представляет собой субкультуру, противостоящую доминирующей культуре. Контркультура вырабатывает свои нормы и ценности, способы коммуникации, которые противостоят общепринятым. Она всегда находится в оппозиции (иногда жесткой) по отношению к господствующей культуре. Типичные примеры контркультуры: хиппи, панки, андеграунд, антиглобалисты, «зеленые», левые радикалы и проч.</a:t>
            </a:r>
            <a:endParaRPr lang="ru-RU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Выбрать объект культуры и придумать как его можно доработать с помощью дополненной или виртуальной реальности. </a:t>
            </a:r>
            <a:endParaRPr lang="ru-RU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solidFill>
                  <a:srgbClr val="000000"/>
                </a:solidFill>
                <a:latin typeface="Lora" pitchFamily="2" charset="-52"/>
              </a:rPr>
              <a:t>Опишите культуру организации, в которой вы работали, были волонтером или посещали школу.</a:t>
            </a:r>
            <a:br>
              <a:rPr lang="ru-RU" dirty="0">
                <a:solidFill>
                  <a:srgbClr val="000000"/>
                </a:solidFill>
                <a:latin typeface="Lora" pitchFamily="2" charset="-52"/>
              </a:rPr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80604020202020204" pitchFamily="34" charset="0"/>
              <a:buChar char="•"/>
            </a:pPr>
            <a:r>
              <a:rPr lang="ru-RU" b="0" i="0" dirty="0">
                <a:solidFill>
                  <a:srgbClr val="000000"/>
                </a:solidFill>
                <a:effectLst/>
                <a:latin typeface="Lora" pitchFamily="2" charset="-52"/>
              </a:rPr>
              <a:t>Какие истории и символы знают все, кто работает, является волонтером или посещает эти заведения?</a:t>
            </a:r>
            <a:endParaRPr lang="ru-RU" b="0" i="0" dirty="0">
              <a:solidFill>
                <a:srgbClr val="000000"/>
              </a:solidFill>
              <a:effectLst/>
              <a:latin typeface="Lora" pitchFamily="2" charset="-52"/>
            </a:endParaRPr>
          </a:p>
          <a:p>
            <a:pPr algn="l">
              <a:buFont typeface="Arial" panose="02080604020202020204" pitchFamily="34" charset="0"/>
              <a:buChar char="•"/>
            </a:pPr>
            <a:r>
              <a:rPr lang="ru-RU" b="0" i="0" dirty="0">
                <a:solidFill>
                  <a:srgbClr val="000000"/>
                </a:solidFill>
                <a:effectLst/>
                <a:latin typeface="Lora" pitchFamily="2" charset="-52"/>
              </a:rPr>
              <a:t>Какие субкультурные группы существуют внутри организации и какие формы конфликта имеют место между подразделениями или классификациями?</a:t>
            </a:r>
            <a:endParaRPr lang="ru-RU" b="0" i="0" dirty="0">
              <a:solidFill>
                <a:srgbClr val="000000"/>
              </a:solidFill>
              <a:effectLst/>
              <a:latin typeface="Lora" pitchFamily="2" charset="-52"/>
            </a:endParaRPr>
          </a:p>
          <a:p>
            <a:pPr algn="l">
              <a:buFont typeface="Arial" panose="02080604020202020204" pitchFamily="34" charset="0"/>
              <a:buChar char="•"/>
            </a:pPr>
            <a:r>
              <a:rPr lang="ru-RU" b="0" i="0" dirty="0">
                <a:solidFill>
                  <a:srgbClr val="000000"/>
                </a:solidFill>
                <a:effectLst/>
                <a:latin typeface="Lora" pitchFamily="2" charset="-52"/>
              </a:rPr>
              <a:t>Как руководители организации используют символическую власть для мотивации людей?</a:t>
            </a:r>
            <a:endParaRPr lang="ru-RU" b="0" i="0" dirty="0">
              <a:solidFill>
                <a:srgbClr val="000000"/>
              </a:solidFill>
              <a:effectLst/>
              <a:latin typeface="Lora" pitchFamily="2" charset="-52"/>
            </a:endParaRPr>
          </a:p>
          <a:p>
            <a:endParaRPr lang="ru-RU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Культура и искусство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3200" b="0" i="0" dirty="0">
                <a:solidFill>
                  <a:srgbClr val="000000"/>
                </a:solidFill>
                <a:effectLst/>
                <a:latin typeface="REG"/>
              </a:rPr>
              <a:t>«Искусство всегда было системой раннего оповещения, которая может предупредить культуру о том, что с ней должно произойти» (Маршал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REG"/>
              </a:rPr>
              <a:t>МакЛюен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REG"/>
              </a:rPr>
              <a:t>)</a:t>
            </a:r>
            <a:endParaRPr lang="ru-RU" sz="3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325" y="108038"/>
            <a:ext cx="10687050" cy="6749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hlinkClick r:id="rId1"/>
              </a:rPr>
              <a:t>Культурные It-технологии в культуре и искусстве. Культура будущего. - поиск Яндекса по видео (yandex.ru)</a:t>
            </a:r>
            <a:endParaRPr lang="ru-RU" dirty="0"/>
          </a:p>
          <a:p>
            <a:r>
              <a:rPr lang="ru-RU" dirty="0">
                <a:hlinkClick r:id="rId2"/>
              </a:rPr>
              <a:t>«Лепота»: киноальманах об истории русской культуры и дизайна – YouTube</a:t>
            </a:r>
            <a:endParaRPr lang="ru-RU" dirty="0"/>
          </a:p>
          <a:p>
            <a:r>
              <a:rPr lang="en-US" dirty="0">
                <a:hlinkClick r:id="rId3"/>
              </a:rPr>
              <a:t>https://cyberleninka.ru/article/n/tsifrovaya-kontrkultura</a:t>
            </a:r>
            <a:r>
              <a:rPr lang="ru-RU" dirty="0"/>
              <a:t> Цифровая контркультура</a:t>
            </a:r>
            <a:endParaRPr lang="ru-RU" dirty="0"/>
          </a:p>
          <a:p>
            <a:r>
              <a:rPr lang="ru-RU" dirty="0"/>
              <a:t>https://www.youtube.com/watch?v=yKmfV7r3DiM</a:t>
            </a:r>
            <a:endParaRPr lang="ru-RU" dirty="0"/>
          </a:p>
          <a:p>
            <a:endParaRPr lang="ru-RU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000000"/>
                </a:solidFill>
                <a:latin typeface="Cormorant Garamond"/>
              </a:rPr>
              <a:t>Анализ культурного конструирования</a:t>
            </a:r>
            <a:br>
              <a:rPr lang="ru-RU" dirty="0">
                <a:solidFill>
                  <a:srgbClr val="000000"/>
                </a:solidFill>
                <a:latin typeface="Cormorant Garamond"/>
              </a:rPr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l"/>
            <a:r>
              <a:rPr lang="ru-RU" b="0" i="0" dirty="0">
                <a:solidFill>
                  <a:srgbClr val="000000"/>
                </a:solidFill>
                <a:effectLst/>
                <a:latin typeface="Lora" pitchFamily="2" charset="-52"/>
              </a:rPr>
              <a:t>Рассмотрим социальную проблему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Lora" pitchFamily="2" charset="-52"/>
              </a:rPr>
              <a:t>киберзапугивания</a:t>
            </a:r>
            <a:endParaRPr lang="ru-RU" b="0" i="0" dirty="0">
              <a:solidFill>
                <a:srgbClr val="000000"/>
              </a:solidFill>
              <a:effectLst/>
              <a:latin typeface="Lora" pitchFamily="2" charset="-52"/>
            </a:endParaRPr>
          </a:p>
          <a:p>
            <a:pPr algn="l">
              <a:buFont typeface="Arial" panose="02080604020202020204" pitchFamily="34" charset="0"/>
              <a:buChar char="•"/>
            </a:pPr>
            <a:r>
              <a:rPr lang="ru-RU" b="0" i="0" dirty="0">
                <a:solidFill>
                  <a:srgbClr val="000000"/>
                </a:solidFill>
                <a:effectLst/>
                <a:latin typeface="Lora" pitchFamily="2" charset="-52"/>
              </a:rPr>
              <a:t>Опишите социальный контекст или окружение, которое привело к развитию и разрастанию этой проблемы.</a:t>
            </a:r>
            <a:endParaRPr lang="ru-RU" b="0" i="0" dirty="0">
              <a:solidFill>
                <a:srgbClr val="000000"/>
              </a:solidFill>
              <a:effectLst/>
              <a:latin typeface="Lora" pitchFamily="2" charset="-52"/>
            </a:endParaRPr>
          </a:p>
          <a:p>
            <a:pPr algn="l">
              <a:buFont typeface="Arial" panose="02080604020202020204" pitchFamily="34" charset="0"/>
              <a:buChar char="•"/>
            </a:pPr>
            <a:r>
              <a:rPr lang="ru-RU" b="0" i="0" dirty="0">
                <a:solidFill>
                  <a:srgbClr val="000000"/>
                </a:solidFill>
                <a:effectLst/>
                <a:latin typeface="Lora" pitchFamily="2" charset="-52"/>
              </a:rPr>
              <a:t>Какие культурные элементы мы ассоциируем с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Lora" pitchFamily="2" charset="-52"/>
              </a:rPr>
              <a:t>киберзапугиванием</a:t>
            </a:r>
            <a:r>
              <a:rPr lang="ru-RU" b="0" i="0" dirty="0">
                <a:solidFill>
                  <a:srgbClr val="000000"/>
                </a:solidFill>
                <a:effectLst/>
                <a:latin typeface="Lora" pitchFamily="2" charset="-52"/>
              </a:rPr>
              <a:t>? Какие ценности, убеждения, нормы, символические выражения, артефакты или материалы используются преступниками для создания культуры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Lora" pitchFamily="2" charset="-52"/>
              </a:rPr>
              <a:t>киберзапугивания</a:t>
            </a:r>
            <a:r>
              <a:rPr lang="ru-RU" b="0" i="0" dirty="0">
                <a:solidFill>
                  <a:srgbClr val="000000"/>
                </a:solidFill>
                <a:effectLst/>
                <a:latin typeface="Lora" pitchFamily="2" charset="-52"/>
              </a:rPr>
              <a:t>?</a:t>
            </a:r>
            <a:endParaRPr lang="ru-RU" b="0" i="0" dirty="0">
              <a:solidFill>
                <a:srgbClr val="000000"/>
              </a:solidFill>
              <a:effectLst/>
              <a:latin typeface="Lora" pitchFamily="2" charset="-52"/>
            </a:endParaRPr>
          </a:p>
          <a:p>
            <a:pPr algn="l">
              <a:buFont typeface="Arial" panose="02080604020202020204" pitchFamily="34" charset="0"/>
              <a:buChar char="•"/>
            </a:pPr>
            <a:r>
              <a:rPr lang="ru-RU" b="0" i="0" dirty="0">
                <a:solidFill>
                  <a:srgbClr val="000000"/>
                </a:solidFill>
                <a:effectLst/>
                <a:latin typeface="Lora" pitchFamily="2" charset="-52"/>
              </a:rPr>
              <a:t>Как жертвы, наблюдатели и общественность воспринимают эту культуру? Какие значения люди вкладывают в выражения, используемые преступниками, которые делают проблему “реальной”?</a:t>
            </a:r>
            <a:endParaRPr lang="ru-RU" b="0" i="0" dirty="0">
              <a:solidFill>
                <a:srgbClr val="000000"/>
              </a:solidFill>
              <a:effectLst/>
              <a:latin typeface="Lora" pitchFamily="2" charset="-52"/>
            </a:endParaRPr>
          </a:p>
          <a:p>
            <a:pPr algn="l">
              <a:buFont typeface="Arial" panose="02080604020202020204" pitchFamily="34" charset="0"/>
              <a:buChar char="•"/>
            </a:pPr>
            <a:r>
              <a:rPr lang="ru-RU" b="0" i="0" dirty="0">
                <a:solidFill>
                  <a:srgbClr val="000000"/>
                </a:solidFill>
                <a:effectLst/>
                <a:latin typeface="Lora" pitchFamily="2" charset="-52"/>
              </a:rPr>
              <a:t>Размышляя над своими ответами на вопросы 1-3, объясните, как социальный контекст, культурное творчество и культурное принятие способствуют превращению проблемы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Lora" pitchFamily="2" charset="-52"/>
              </a:rPr>
              <a:t>киберзапугивания</a:t>
            </a:r>
            <a:r>
              <a:rPr lang="ru-RU" b="0" i="0" dirty="0">
                <a:solidFill>
                  <a:srgbClr val="000000"/>
                </a:solidFill>
                <a:effectLst/>
                <a:latin typeface="Lora" pitchFamily="2" charset="-52"/>
              </a:rPr>
              <a:t> в объект культуры.</a:t>
            </a:r>
            <a:endParaRPr lang="ru-RU" b="0" i="0" dirty="0">
              <a:solidFill>
                <a:srgbClr val="000000"/>
              </a:solidFill>
              <a:effectLst/>
              <a:latin typeface="Lora" pitchFamily="2" charset="-52"/>
            </a:endParaRPr>
          </a:p>
          <a:p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Уголки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TM10001105[[fn=Уголки]]</Template>
  <TotalTime>0</TotalTime>
  <Words>11497</Words>
  <Application>WPS Presentation</Application>
  <PresentationFormat>Широкоэкранный</PresentationFormat>
  <Paragraphs>146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47" baseType="lpstr">
      <vt:lpstr>Arial</vt:lpstr>
      <vt:lpstr>SimSun</vt:lpstr>
      <vt:lpstr>Wingdings</vt:lpstr>
      <vt:lpstr>Franklin Gothic Book</vt:lpstr>
      <vt:lpstr>Liberation Sans</vt:lpstr>
      <vt:lpstr>Times New Roman</vt:lpstr>
      <vt:lpstr>Nimbus Roman No9 L</vt:lpstr>
      <vt:lpstr>OfficinaSansBoldITC</vt:lpstr>
      <vt:lpstr>Helvetica Neue</vt:lpstr>
      <vt:lpstr>Poppins ExtraLight</vt:lpstr>
      <vt:lpstr>Rostelecom Basis</vt:lpstr>
      <vt:lpstr>Lora</vt:lpstr>
      <vt:lpstr>REG</vt:lpstr>
      <vt:lpstr>Cormorant Garamond</vt:lpstr>
      <vt:lpstr>Microsoft YaHei</vt:lpstr>
      <vt:lpstr>Droid Sans Fallback</vt:lpstr>
      <vt:lpstr>Arial Unicode MS</vt:lpstr>
      <vt:lpstr>Calibri</vt:lpstr>
      <vt:lpstr>DejaVu Sans</vt:lpstr>
      <vt:lpstr>Adobe Utopia</vt:lpstr>
      <vt:lpstr>Roboto</vt:lpstr>
      <vt:lpstr>Adobe Symbol</vt:lpstr>
      <vt:lpstr>Уголки</vt:lpstr>
      <vt:lpstr>Духовная деятельность человека.   Материальная и духовная культура.   Формы и функции культуры. Субкультура, контркультура.</vt:lpstr>
      <vt:lpstr>Духовная деятельность: ключевой фактор в формировании социальной сферы </vt:lpstr>
      <vt:lpstr>Практика поиска духовных ценностей:</vt:lpstr>
      <vt:lpstr>Поиск ценностей:</vt:lpstr>
      <vt:lpstr>Цели поиска духовных ценностей:</vt:lpstr>
      <vt:lpstr>Вопрос: назовите примеры совпадения и расхождения в ценностях из жизни:</vt:lpstr>
      <vt:lpstr>Духовная деятельность и социальные изменения </vt:lpstr>
      <vt:lpstr>Материальная и духовная культура.</vt:lpstr>
      <vt:lpstr>Вопрос: назовите что такое культура?</vt:lpstr>
      <vt:lpstr>КУЛЬТУРА</vt:lpstr>
      <vt:lpstr>Культура в узком смысле– это:  </vt:lpstr>
      <vt:lpstr>Культура в широком смысле – это: </vt:lpstr>
      <vt:lpstr>Основные типы культур: </vt:lpstr>
      <vt:lpstr>Примеры типов культур </vt:lpstr>
      <vt:lpstr>Еще варианты разделения культур:</vt:lpstr>
      <vt:lpstr>В культурологии приято выделять три основные формы, которые максимально охватывают всю многоплановость и многообразие феномена культуры: народную, элитарную и массовую;</vt:lpstr>
      <vt:lpstr>Универсальная культура</vt:lpstr>
      <vt:lpstr>Типология культур по охвату:</vt:lpstr>
      <vt:lpstr>Задание</vt:lpstr>
      <vt:lpstr>Опишите культуру организации, в которой вы работали, были волонтером или посещали школу. </vt:lpstr>
      <vt:lpstr>Культура и искусство</vt:lpstr>
      <vt:lpstr>PowerPoint 演示文稿</vt:lpstr>
      <vt:lpstr>PowerPoint 演示文稿</vt:lpstr>
      <vt:lpstr>Анализ культурного конструирования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Понятие общества, Общественные отношения.  Связи между подсистемами и элементами общества. Общественные потребности и социальные институты.</dc:title>
  <dc:creator>Шумилова Полина Андреевна</dc:creator>
  <cp:lastModifiedBy>t143</cp:lastModifiedBy>
  <cp:revision>108</cp:revision>
  <dcterms:created xsi:type="dcterms:W3CDTF">2024-03-07T07:18:50Z</dcterms:created>
  <dcterms:modified xsi:type="dcterms:W3CDTF">2024-03-07T07:18:50Z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1033-11.1.0.10920</vt:lpwstr>
  </property>
</Properties>
</file>