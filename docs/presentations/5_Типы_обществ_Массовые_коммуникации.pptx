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1371600" y="685800"/>
            <a:ext cx="9600840" cy="68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358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1371600" y="4156560"/>
            <a:ext cx="96008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91360" y="228600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137160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6291360" y="4156560"/>
            <a:ext cx="468504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461772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7864200" y="228600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13716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461772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7864200" y="4156560"/>
            <a:ext cx="3091320" cy="17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915200" y="1788480"/>
            <a:ext cx="8361000" cy="209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89000"/>
              </a:lnSpc>
              <a:buNone/>
            </a:pPr>
            <a:r>
              <a:rPr b="0" lang="ru-RU" sz="7200" spc="-1" strike="noStrike" cap="all">
                <a:solidFill>
                  <a:srgbClr val="191b0e"/>
                </a:solidFill>
                <a:latin typeface="Franklin Gothic Book"/>
              </a:rPr>
              <a:t>Образец </a:t>
            </a:r>
            <a:r>
              <a:rPr b="0" lang="ru-RU" sz="7200" spc="-1" strike="noStrike" cap="all">
                <a:solidFill>
                  <a:srgbClr val="191b0e"/>
                </a:solidFill>
                <a:latin typeface="Franklin Gothic Book"/>
              </a:rPr>
              <a:t>заголовка</a:t>
            </a:r>
            <a:endParaRPr b="0" lang="en-US" sz="72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/>
          </p:nvPr>
        </p:nvSpPr>
        <p:spPr>
          <a:xfrm>
            <a:off x="752760" y="6453360"/>
            <a:ext cx="16077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fld id="{A827A49C-87CC-4DEB-A76C-BAB19CBF5532}" type="datetime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2/15/24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2584080" y="6453360"/>
            <a:ext cx="7022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/>
          </p:nvPr>
        </p:nvSpPr>
        <p:spPr>
          <a:xfrm>
            <a:off x="983052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DD80B1DA-D89E-49C6-8D7E-C0D86A3D6321}" type="slidenum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5" name="Group 6"/>
          <p:cNvGrpSpPr/>
          <p:nvPr/>
        </p:nvGrpSpPr>
        <p:grpSpPr>
          <a:xfrm>
            <a:off x="752760" y="744120"/>
            <a:ext cx="10673640" cy="5349600"/>
            <a:chOff x="752760" y="744120"/>
            <a:chExt cx="10673640" cy="5349600"/>
          </a:xfrm>
        </p:grpSpPr>
        <p:sp>
          <p:nvSpPr>
            <p:cNvPr id="6" name="Freeform 6"/>
            <p:cNvSpPr/>
            <p:nvPr/>
          </p:nvSpPr>
          <p:spPr>
            <a:xfrm>
              <a:off x="8151840" y="1685520"/>
              <a:ext cx="3274560" cy="4408200"/>
            </a:xfrm>
            <a:custGeom>
              <a:avLst/>
              <a:gdLst/>
              <a:ah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6"/>
            <p:cNvSpPr/>
            <p:nvPr/>
          </p:nvSpPr>
          <p:spPr>
            <a:xfrm flipH="1" flipV="1">
              <a:off x="752400" y="743760"/>
              <a:ext cx="3275280" cy="4408200"/>
            </a:xfrm>
            <a:custGeom>
              <a:avLst/>
              <a:gdLst/>
              <a:ah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Click to edit the outline text format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191b0e"/>
                </a:solidFill>
                <a:latin typeface="Franklin Gothic Book"/>
              </a:rPr>
              <a:t>Second Outline Level</a:t>
            </a: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1800" spc="-1" strike="noStrike">
                <a:solidFill>
                  <a:srgbClr val="191b0e"/>
                </a:solidFill>
                <a:latin typeface="Franklin Gothic Book"/>
              </a:rPr>
              <a:t>Third Outline Level</a:t>
            </a:r>
            <a:endParaRPr b="0" i="1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191b0e"/>
                </a:solidFill>
                <a:latin typeface="Franklin Gothic Book"/>
              </a:rPr>
              <a:t>Fourth Outline Level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Fifth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Sixth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Seventh Outline Level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8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Образец заголовка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2000" spc="-1" strike="noStrike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800" spc="-1" strike="noStrike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b="0" i="1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1800" spc="-1" strike="noStrike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600" spc="-1" strike="noStrike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/>
          </p:nvPr>
        </p:nvSpPr>
        <p:spPr>
          <a:xfrm>
            <a:off x="1390680" y="6453360"/>
            <a:ext cx="120420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fld id="{CF12D53F-FA7E-46B4-A0C1-BAC3EAC8DAB9}" type="datetime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2/15/24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/>
          </p:nvPr>
        </p:nvSpPr>
        <p:spPr>
          <a:xfrm>
            <a:off x="2893680" y="6453360"/>
            <a:ext cx="62805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/>
          </p:nvPr>
        </p:nvSpPr>
        <p:spPr>
          <a:xfrm>
            <a:off x="947268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C322EAD7-3DA1-4E5E-BBEC-521F315EF978}" type="slidenum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"/>
          <p:cNvSpPr/>
          <p:nvPr/>
        </p:nvSpPr>
        <p:spPr>
          <a:xfrm>
            <a:off x="478080" y="360"/>
            <a:ext cx="2282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Образец заголовка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1371600" y="2340720"/>
            <a:ext cx="444348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84000"/>
              </a:lnSpc>
              <a:buNone/>
              <a:tabLst>
                <a:tab algn="l" pos="0"/>
              </a:tabLst>
            </a:pPr>
            <a:r>
              <a:rPr b="0" lang="ru-RU" sz="3000" spc="-1" strike="noStrike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b="0" lang="en-US" sz="3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1371600" y="3305160"/>
            <a:ext cx="4443480" cy="256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2000" spc="-1" strike="noStrike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800" spc="-1" strike="noStrike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b="0" i="1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1800" spc="-1" strike="noStrike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600" spc="-1" strike="noStrike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525000" y="2340720"/>
            <a:ext cx="444348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84000"/>
              </a:lnSpc>
              <a:buNone/>
              <a:tabLst>
                <a:tab algn="l" pos="0"/>
              </a:tabLst>
            </a:pPr>
            <a:r>
              <a:rPr b="0" lang="ru-RU" sz="3000" spc="-1" strike="noStrike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b="0" lang="en-US" sz="3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6525000" y="3305160"/>
            <a:ext cx="4443480" cy="256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Образец текста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1" marL="9144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2000" spc="-1" strike="noStrike">
                <a:solidFill>
                  <a:srgbClr val="191b0e"/>
                </a:solidFill>
                <a:latin typeface="Franklin Gothic Book"/>
              </a:rPr>
              <a:t>Второй уровень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lvl="2" marL="13716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800" spc="-1" strike="noStrike">
                <a:solidFill>
                  <a:srgbClr val="191b0e"/>
                </a:solidFill>
                <a:latin typeface="Franklin Gothic Book"/>
              </a:rPr>
              <a:t>Третий уровень</a:t>
            </a:r>
            <a:endParaRPr b="0" i="1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3" marL="18288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–"/>
            </a:pPr>
            <a:r>
              <a:rPr b="0" i="1" lang="ru-RU" sz="1800" spc="-1" strike="noStrike">
                <a:solidFill>
                  <a:srgbClr val="191b0e"/>
                </a:solidFill>
                <a:latin typeface="Franklin Gothic Book"/>
              </a:rPr>
              <a:t>Четвертый уровень</a:t>
            </a:r>
            <a:endParaRPr b="0" lang="en-US" sz="1800" spc="-1" strike="noStrike">
              <a:solidFill>
                <a:srgbClr val="191b0e"/>
              </a:solidFill>
              <a:latin typeface="Franklin Gothic Book"/>
            </a:endParaRPr>
          </a:p>
          <a:p>
            <a:pPr lvl="4" marL="2286000" indent="-384120">
              <a:lnSpc>
                <a:spcPct val="94000"/>
              </a:lnSpc>
              <a:spcBef>
                <a:spcPts val="499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1600" spc="-1" strike="noStrike">
                <a:solidFill>
                  <a:srgbClr val="191b0e"/>
                </a:solidFill>
                <a:latin typeface="Franklin Gothic Book"/>
              </a:rPr>
              <a:t>Пятый уровень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dt"/>
          </p:nvPr>
        </p:nvSpPr>
        <p:spPr>
          <a:xfrm>
            <a:off x="1390680" y="6453360"/>
            <a:ext cx="120420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fld id="{33926229-C544-40A8-ABAB-522556FCE3F8}" type="datetime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2/15/24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ftr"/>
          </p:nvPr>
        </p:nvSpPr>
        <p:spPr>
          <a:xfrm>
            <a:off x="2893680" y="6453360"/>
            <a:ext cx="628056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/>
          </p:nvPr>
        </p:nvSpPr>
        <p:spPr>
          <a:xfrm>
            <a:off x="9472680" y="6453360"/>
            <a:ext cx="1595880" cy="40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AF0A673D-4AD9-4A29-8C6D-057D1BADCBA6}" type="slidenum">
              <a:rPr b="0" lang="en-US" sz="1200" spc="-1" strike="noStrike">
                <a:solidFill>
                  <a:srgbClr val="191b0e"/>
                </a:solidFill>
                <a:latin typeface="Franklin Gothic Book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ru.wikipedia.org/wiki/&#1056;&#1091;&#1095;&#1085;&#1086;&#1081;_&#1090;&#1088;&#1091;&#1076;" TargetMode="External"/><Relationship Id="rId2" Type="http://schemas.openxmlformats.org/officeDocument/2006/relationships/hyperlink" Target="https://ru.wikipedia.org/wiki/&#1052;&#1072;&#1096;&#1080;&#1085;&#1085;&#1086;&#1077;_&#1087;&#1088;&#1086;&#1080;&#1079;&#1074;&#1086;&#1076;&#1089;&#1090;&#1074;&#1086;" TargetMode="External"/><Relationship Id="rId3" Type="http://schemas.openxmlformats.org/officeDocument/2006/relationships/hyperlink" Target="https://ru.wikipedia.org/wiki/&#1052;&#1072;&#1085;&#1091;&#1092;&#1072;&#1082;&#1090;&#1091;&#1088;&#1072;" TargetMode="External"/><Relationship Id="rId4" Type="http://schemas.openxmlformats.org/officeDocument/2006/relationships/hyperlink" Target="https://ru.wikipedia.org/wiki/&#1060;&#1072;&#1073;&#1088;&#1080;&#1082;&#1072;" TargetMode="External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bigenc.ru/c/sotsial-nyi-institut-84cf38" TargetMode="External"/><Relationship Id="rId2" Type="http://schemas.openxmlformats.org/officeDocument/2006/relationships/hyperlink" Target="https://bigenc.ru/c/massy-a4d04f" TargetMode="External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639080" y="2314440"/>
            <a:ext cx="8361000" cy="2610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89000"/>
              </a:lnSpc>
              <a:buNone/>
            </a:pPr>
            <a:r>
              <a:rPr b="1" lang="ru-RU" sz="2800" spc="-1" strike="noStrike" cap="all">
                <a:solidFill>
                  <a:srgbClr val="191b0e"/>
                </a:solidFill>
                <a:latin typeface="Times New Roman"/>
                <a:ea typeface="OfficinaSansBoldITC"/>
              </a:rPr>
              <a:t>Типы обществ. </a:t>
            </a:r>
            <a:br/>
            <a:r>
              <a:rPr b="1" lang="ru-RU" sz="2800" spc="-1" strike="noStrike" cap="all">
                <a:solidFill>
                  <a:srgbClr val="191b0e"/>
                </a:solidFill>
                <a:latin typeface="Times New Roman"/>
                <a:ea typeface="OfficinaSansBoldITC"/>
              </a:rPr>
              <a:t>Постиндустриальное (информационное) </a:t>
            </a:r>
            <a:br/>
            <a:r>
              <a:rPr b="1" lang="ru-RU" sz="2800" spc="-1" strike="noStrike" cap="all">
                <a:solidFill>
                  <a:srgbClr val="191b0e"/>
                </a:solidFill>
                <a:latin typeface="Times New Roman"/>
                <a:ea typeface="OfficinaSansBoldITC"/>
              </a:rPr>
              <a:t>общество и ег  о особенности. </a:t>
            </a:r>
            <a:br/>
            <a:r>
              <a:rPr b="1" lang="ru-RU" sz="2800" spc="-1" strike="noStrike" cap="all">
                <a:solidFill>
                  <a:srgbClr val="191b0e"/>
                </a:solidFill>
                <a:latin typeface="Times New Roman"/>
                <a:ea typeface="OfficinaSansBoldITC"/>
              </a:rPr>
              <a:t>Роль массовой коммуникации в современном обществе</a:t>
            </a:r>
            <a:endParaRPr b="0" lang="en-US" sz="28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Напоминание:</a:t>
            </a:r>
            <a:br/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Общество - это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800" spc="-1" strike="noStrike">
                <a:solidFill>
                  <a:srgbClr val="191b0e"/>
                </a:solidFill>
                <a:latin typeface="Times New Roman"/>
                <a:ea typeface="Calibri"/>
              </a:rPr>
              <a:t>обособившаяся от природы, но тесно с ней связанная часть материально мира, включающая в себя </a:t>
            </a:r>
            <a:r>
              <a:rPr b="1" lang="ru-RU" sz="2800" spc="-1" strike="noStrike">
                <a:solidFill>
                  <a:srgbClr val="191b0e"/>
                </a:solidFill>
                <a:latin typeface="Times New Roman"/>
                <a:ea typeface="Calibri"/>
              </a:rPr>
              <a:t>совокупность всех способов взаимодействия и форм объединения людей</a:t>
            </a:r>
            <a:r>
              <a:rPr b="0" lang="ru-RU" sz="2800" spc="-1" strike="noStrike">
                <a:solidFill>
                  <a:srgbClr val="191b0e"/>
                </a:solidFill>
                <a:latin typeface="Times New Roman"/>
                <a:ea typeface="Calibri"/>
              </a:rPr>
              <a:t>, в которых выражается их всесторонняя зависимость друг от друга.</a:t>
            </a:r>
            <a:endParaRPr b="0" lang="en-US" sz="28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8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Типология обществ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Типология обществ – это классификация общественных формаций на основе их основных характеристик и структурных особенностей.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Основные отличия: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социально-экономические характеристики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Политические характеристики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культурные характеристики.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69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47000"/>
          </a:bodyPr>
          <a:p>
            <a:pPr>
              <a:lnSpc>
                <a:spcPct val="89000"/>
              </a:lnSpc>
              <a:buNone/>
            </a:pPr>
            <a:r>
              <a:rPr b="1" lang="ru-RU" sz="4400" spc="-1" strike="noStrike">
                <a:solidFill>
                  <a:srgbClr val="434343"/>
                </a:solidFill>
                <a:latin typeface="Helvetica Neue"/>
              </a:rPr>
              <a:t>Традиционное общество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295280" y="1476360"/>
            <a:ext cx="9600840" cy="495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400" spc="-1" strike="noStrike">
                <a:solidFill>
                  <a:srgbClr val="434343"/>
                </a:solidFill>
                <a:latin typeface="Helvetica Neue"/>
              </a:rPr>
              <a:t>Традиционное общество – это тип общества, основанный на </a:t>
            </a:r>
            <a:r>
              <a:rPr b="1" lang="ru-RU" sz="2400" spc="-1" strike="noStrike">
                <a:solidFill>
                  <a:srgbClr val="434343"/>
                </a:solidFill>
                <a:latin typeface="Helvetica Neue"/>
              </a:rPr>
              <a:t>традициях, обычаях и религиозных верованиях</a:t>
            </a:r>
            <a:r>
              <a:rPr b="0" lang="ru-RU" sz="2400" spc="-1" strike="noStrike">
                <a:solidFill>
                  <a:srgbClr val="434343"/>
                </a:solidFill>
                <a:latin typeface="Helvetica Neue"/>
              </a:rPr>
              <a:t>. 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400" spc="-1" strike="noStrike">
                <a:solidFill>
                  <a:srgbClr val="434343"/>
                </a:solidFill>
                <a:latin typeface="Helvetica Neue"/>
              </a:rPr>
              <a:t>Оно характеризуется стабильностью и низким уровнем изменений. 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400" spc="-1" strike="noStrike">
                <a:solidFill>
                  <a:srgbClr val="434343"/>
                </a:solidFill>
                <a:latin typeface="Helvetica Neue"/>
              </a:rPr>
              <a:t>В таком обществе важную роль играют семья, родственные связи и община.</a:t>
            </a: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  <a:p>
            <a:pPr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4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1" i="1" lang="ru-RU" sz="4000" spc="-1" strike="noStrike">
                <a:solidFill>
                  <a:srgbClr val="000000"/>
                </a:solidFill>
                <a:latin typeface="Arial"/>
              </a:rPr>
              <a:t>Характерные особенности традиционного общества:</a:t>
            </a:r>
            <a:br/>
            <a:endParaRPr b="0" lang="en-US" sz="40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зависимость организации социальной жизни от религиозных или мифологических представлений;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цикличность (а не поступательность) развития;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коллективистский характер общества и притупление персонального (личностного) начала;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авторитарный характер власти;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отсутствие способности производить не для насущных потребностей, а ради будущего;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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преобладание традиции над нововведениями (инновациями).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371600" y="30492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1" lang="ru-RU" sz="2400" spc="-1" strike="noStrike">
                <a:solidFill>
                  <a:srgbClr val="191b0e"/>
                </a:solidFill>
                <a:latin typeface="Franklin Gothic Book"/>
              </a:rPr>
              <a:t>Чувство времени в традиционном обществе</a:t>
            </a:r>
            <a:br/>
            <a:r>
              <a:rPr b="0" lang="ru-RU" sz="2400" spc="-1" strike="noStrike">
                <a:solidFill>
                  <a:srgbClr val="191b0e"/>
                </a:solidFill>
                <a:latin typeface="Franklin Gothic Book"/>
              </a:rPr>
              <a:t>Наиболее важный аспект восприятия времени в традиционном обществе — </a:t>
            </a:r>
            <a:r>
              <a:rPr b="1" lang="ru-RU" sz="2400" spc="-1" strike="noStrike">
                <a:solidFill>
                  <a:srgbClr val="191b0e"/>
                </a:solidFill>
                <a:latin typeface="Franklin Gothic Book"/>
              </a:rPr>
              <a:t>это связь с природой</a:t>
            </a:r>
            <a:r>
              <a:rPr b="0" lang="ru-RU" sz="2400" spc="-1" strike="noStrike">
                <a:solidFill>
                  <a:srgbClr val="191b0e"/>
                </a:solidFill>
                <a:latin typeface="Franklin Gothic Book"/>
              </a:rPr>
              <a:t>. Человек чувствовал себя частью природы и </a:t>
            </a:r>
            <a:r>
              <a:rPr b="1" lang="ru-RU" sz="2400" spc="-1" strike="noStrike">
                <a:solidFill>
                  <a:srgbClr val="191b0e"/>
                </a:solidFill>
                <a:latin typeface="Franklin Gothic Book"/>
              </a:rPr>
              <a:t>замечал регулярные преемственные </a:t>
            </a:r>
            <a:r>
              <a:rPr b="0" lang="ru-RU" sz="2400" spc="-1" strike="noStrike">
                <a:solidFill>
                  <a:srgbClr val="191b0e"/>
                </a:solidFill>
                <a:latin typeface="Franklin Gothic Book"/>
              </a:rPr>
              <a:t>изменения в окружающем мире</a:t>
            </a:r>
            <a:endParaRPr b="0" lang="en-US" sz="2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1371600" y="2340720"/>
            <a:ext cx="444348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1371600" y="3305160"/>
            <a:ext cx="4443480" cy="256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210360" y="2340720"/>
            <a:ext cx="4758480" cy="352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4000"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Восприятие времени в традиционном обществе базировалось </a:t>
            </a: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на опыте, передаче знаний и образцах поведения от поколения к поколению.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Люди учились распознавать и понимать цикличность процессов, что помогало им приспособиться к окружающей среде и общественным требованиям.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Время представлялось как </a:t>
            </a: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естественная и необходимая составляющая жизни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, что вносило чувство </a:t>
            </a:r>
            <a:r>
              <a:rPr b="1" lang="ru-RU" sz="2000" spc="-1" strike="noStrike">
                <a:solidFill>
                  <a:srgbClr val="191b0e"/>
                </a:solidFill>
                <a:latin typeface="Franklin Gothic Book"/>
              </a:rPr>
              <a:t>стабильности и предсказуемости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 повседневную рутины традиционной культуры.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  <p:graphicFrame>
        <p:nvGraphicFramePr>
          <p:cNvPr id="145" name="Таблица 4"/>
          <p:cNvGraphicFramePr/>
          <p:nvPr/>
        </p:nvGraphicFramePr>
        <p:xfrm>
          <a:off x="1228680" y="2340720"/>
          <a:ext cx="4586400" cy="3611880"/>
        </p:xfrm>
        <a:graphic>
          <a:graphicData uri="http://schemas.openxmlformats.org/drawingml/2006/table">
            <a:tbl>
              <a:tblPr/>
              <a:tblGrid>
                <a:gridCol w="1819080"/>
                <a:gridCol w="2767320"/>
              </a:tblGrid>
              <a:tr h="807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Franklin Gothic Book"/>
                        </a:rPr>
                        <a:t>Фактор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Franklin Gothic Book"/>
                        </a:rPr>
                        <a:t>Описание</a:t>
                      </a:r>
                      <a:endParaRPr b="0" lang="en-US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</a:tr>
              <a:tr h="117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Природные циклы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adad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Смена дня и ночи, сезоны, фазы луны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adad9"/>
                    </a:solidFill>
                  </a:tcPr>
                </a:tc>
              </a:tr>
              <a:tr h="1628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Социальные события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Franklin Gothic Book"/>
                        </a:rPr>
                        <a:t>Свадьбы, похороны, ежедневные ритуалы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1" lang="ru-RU" sz="4400" spc="-1" strike="noStrike">
                <a:solidFill>
                  <a:srgbClr val="434343"/>
                </a:solidFill>
                <a:latin typeface="Helvetica Neue"/>
              </a:rPr>
              <a:t>Промышленное общество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Промышленное общество – это тип общества, в котором основным источником </a:t>
            </a: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экономической</a:t>
            </a: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 деятельности является </a:t>
            </a: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промышленность</a:t>
            </a: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. 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В промышленном обществе происходит переход от ручного труда к массовому производству с использованием </a:t>
            </a: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машин и технологий.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Переход через п</a:t>
            </a:r>
            <a:r>
              <a:rPr b="1" lang="ru-RU" sz="2000" spc="-1" strike="noStrike">
                <a:solidFill>
                  <a:srgbClr val="202122"/>
                </a:solidFill>
                <a:latin typeface="Arial"/>
              </a:rPr>
              <a:t>ромы́шленную револю́цию</a:t>
            </a:r>
            <a:r>
              <a:rPr b="0" lang="ru-RU" sz="2000" spc="-1" strike="noStrike">
                <a:solidFill>
                  <a:srgbClr val="202122"/>
                </a:solidFill>
                <a:latin typeface="Arial"/>
              </a:rPr>
              <a:t> (</a:t>
            </a:r>
            <a:r>
              <a:rPr b="1" lang="ru-RU" sz="2000" spc="-1" strike="noStrike">
                <a:solidFill>
                  <a:srgbClr val="202122"/>
                </a:solidFill>
                <a:latin typeface="Arial"/>
              </a:rPr>
              <a:t>промы́шленный переворо́т</a:t>
            </a:r>
            <a:r>
              <a:rPr b="0" lang="ru-RU" sz="2000" spc="-1" strike="noStrike">
                <a:solidFill>
                  <a:srgbClr val="202122"/>
                </a:solidFill>
                <a:latin typeface="Arial"/>
              </a:rPr>
              <a:t>, </a:t>
            </a:r>
            <a:r>
              <a:rPr b="1" lang="ru-RU" sz="2000" spc="-1" strike="noStrike">
                <a:solidFill>
                  <a:srgbClr val="202122"/>
                </a:solidFill>
                <a:latin typeface="Arial"/>
              </a:rPr>
              <a:t>Вели́кая индустриа́льная револю́ция</a:t>
            </a:r>
            <a:r>
              <a:rPr b="0" lang="ru-RU" sz="2000" spc="-1" strike="noStrike">
                <a:solidFill>
                  <a:srgbClr val="202122"/>
                </a:solidFill>
                <a:latin typeface="Arial"/>
              </a:rPr>
              <a:t> или </a:t>
            </a:r>
            <a:r>
              <a:rPr b="1" lang="ru-RU" sz="2000" spc="-1" strike="noStrike">
                <a:solidFill>
                  <a:srgbClr val="202122"/>
                </a:solidFill>
                <a:latin typeface="Arial"/>
              </a:rPr>
              <a:t>Пе́рвая промы́шленная револю́ция</a:t>
            </a:r>
            <a:r>
              <a:rPr b="0" lang="ru-RU" sz="2000" spc="-1" strike="noStrike">
                <a:solidFill>
                  <a:srgbClr val="202122"/>
                </a:solidFill>
                <a:latin typeface="Arial"/>
              </a:rPr>
              <a:t>) 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— массовый переход от 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hlinkClick r:id="rId1"/>
              </a:rPr>
              <a:t>ручного труда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 к 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hlinkClick r:id="rId2"/>
              </a:rPr>
              <a:t>машинному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, от 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hlinkClick r:id="rId3"/>
              </a:rPr>
              <a:t>мануфактуры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 к 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hlinkClick r:id="rId4"/>
              </a:rPr>
              <a:t>фабрике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, произошедший в ведущих государствах мира в XVIII—XIX веках.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390680" y="10476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000"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434343"/>
                </a:solidFill>
                <a:latin typeface="Helvetica Neue"/>
              </a:rPr>
              <a:t>Основные характеристики промышленного общества: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1200240" y="131436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Индустриализация: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Промышленное общество характеризуется интенсивным развитием промышленности и производства. Происходит массовое производство товаров и услуг с использованием механизации и автоматизации.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Разделение труда: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В промышленном обществе труд становится все более специализированным. Работники выполняют узкоспециализированные задачи, что повышает эффективность производства.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Урбанизация: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В промышленном обществе происходит массовая миграция населения из сельской местности в города в поисках работы в промышленных предприятиях. Города становятся центрами экономической и социальной активности.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Развитие технологий: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Промышленное общество характеризуется инновациями и развитием технологий. Новые изобретения и открытия улучшают производственные процессы и повышают уровень жизни.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Рационализация: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В промышленном обществе рациональность и эффективность становятся важными ценностями. Принятие решений основывается на логике и научных принципах, а не на традициях и обычаях.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Промышленное общество приводит к существенным изменениям в социальной структуре и культуре общества. Оно отличается от традиционного общества и является промежуточным этапом в развитии общества перед переходом к постиндустриальному обществу.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Разделение труда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373d3f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373d3f"/>
                </a:solidFill>
                <a:latin typeface="Lora"/>
              </a:rPr>
              <a:t>А.ситВот как в книге "Исследование о природе и причинах богатства народов" А. Смит описывает производство булавок: "Один человек вытягивает проволоку, другой выпрямляет ее, третий отрезает, четвертый затачивает, пятый расплющивает ее верхушку для получения шляпки; для того, чтобы сделать шляпку, требуется два или три отдельных действия; надень ее — следующая операция, побелить булавки — еще одна; целое ремесло — завернуть их в бумагу; таким образом, важное дело производства булавок подразделяется примерно на восемнадцать отдельных операций, которые в одних мануфактурах выполняются разными рабочими, а в других — две или три из них могут выполняться одним и тем же человеком". (</a:t>
            </a:r>
            <a:r>
              <a:rPr b="0" lang="ru-RU" sz="2000" spc="-1" strike="noStrike">
                <a:solidFill>
                  <a:srgbClr val="4f4f4f"/>
                </a:solidFill>
                <a:latin typeface="Lora"/>
              </a:rPr>
              <a:t> Смит А. Исследование о природе и причинах богатства народов.)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Трансформация времени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000"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Экономическая теория (Дж.Р.Кейнс)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Экономич.трансформация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высвобождение свободного времени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смена социальных институтов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Техноутопическая теория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Научный прогресс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экономическая трансформация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высвобождение свобоного времени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смена социальных институтов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 u="sng">
                <a:solidFill>
                  <a:srgbClr val="191b0e"/>
                </a:solidFill>
                <a:uFillTx/>
                <a:latin typeface="Franklin Gothic Book"/>
              </a:rPr>
              <a:t>Социалистическая теория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(В.И.Ленин)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Перестройка социальных институтов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освобождение времени -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 изменение технологического уклада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ВЫВОД:  жесткое структурирование времени трансформировало время на нормированное  занятое и свободное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1" i="1" lang="ru-RU" sz="4400" spc="-1" strike="noStrike">
                <a:solidFill>
                  <a:srgbClr val="000000"/>
                </a:solidFill>
                <a:latin typeface="Arial"/>
              </a:rPr>
              <a:t>Постиндустриальное общество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 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Постиндустриальное общество – это социально-экономическая формация, которая характеризуется переходом от преобладания промышленного производства к преобладанию информационных технологий, услуг и знаний.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33333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Главные </a:t>
            </a:r>
            <a:r>
              <a:rPr b="1" lang="ru-RU" sz="2000" spc="-1" strike="noStrike">
                <a:solidFill>
                  <a:srgbClr val="333333"/>
                </a:solidFill>
                <a:latin typeface="YS Text"/>
              </a:rPr>
              <a:t>отличительные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 черты: 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333333"/>
                </a:solidFill>
                <a:latin typeface="YS Text"/>
              </a:rPr>
              <a:t>постиндустриального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 общества </a:t>
            </a:r>
            <a:r>
              <a:rPr b="1" lang="ru-RU" sz="2000" spc="-1" strike="noStrike">
                <a:solidFill>
                  <a:srgbClr val="333333"/>
                </a:solidFill>
                <a:latin typeface="YS Text"/>
              </a:rPr>
              <a:t>от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 </a:t>
            </a:r>
            <a:r>
              <a:rPr b="1" lang="ru-RU" sz="2000" spc="-1" strike="noStrike">
                <a:solidFill>
                  <a:srgbClr val="333333"/>
                </a:solidFill>
                <a:latin typeface="YS Text"/>
              </a:rPr>
              <a:t>индустриального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 — очень высокая производительность труда, высокое качество жизни, преобладающий сектор инновационной экономики с высокими технологиями и венчурным бизнесом. 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371600" y="24768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000"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434343"/>
                </a:solidFill>
                <a:latin typeface="Helvetica Neue"/>
              </a:rPr>
              <a:t>Основные характеристики постиндустриального общества: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1371600" y="1733400"/>
            <a:ext cx="9600840" cy="4723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1000"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Информационная экономика: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В постиндустриальном обществе информация становится основным ресурсом и источником производства. Компьютеры, интернет и другие технологии информации играют важную роль в экономике и обществе.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Сервисная индустрия: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Вместо производства товаров, в постиндустриальном обществе основное внимание уделяется предоставлению услуг. Работники в сфере образования, здравоохранения, финансов и других сферах услуг становятся основной рабочей силой.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Глобализация: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В постиндустриальном обществе происходит интенсивная международная торговля и обмен информацией. Границы между странами становятся менее значимыми, а мировая экономика становится все более взаимозависимой.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Информационные технологии: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Компьютеры, смартфоны, интернет и другие технологии позволяют людям обмениваться информацией, работать удаленно и получать доступ к различным услугам.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2000" spc="-1" strike="noStrike">
                <a:solidFill>
                  <a:srgbClr val="434343"/>
                </a:solidFill>
                <a:latin typeface="Helvetica Neue"/>
              </a:rPr>
              <a:t>Изменение социальной структуры: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Рост сервисной индустрии и информационных технологий приводит к изменению профессиональных ролей и требований к навыкам.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1" lang="ru-RU" sz="4400" spc="-1" strike="noStrike">
                <a:solidFill>
                  <a:srgbClr val="434343"/>
                </a:solidFill>
                <a:latin typeface="Helvetica Neue"/>
              </a:rPr>
              <a:t>Информационное общество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434343"/>
                </a:solidFill>
                <a:latin typeface="Helvetica Neue"/>
              </a:rPr>
              <a:t>Информационное общество – это тип общества, в котором информационные технологии играют ключевую роль в экономике, культуре и социальной организации. Оно характеризуется высокой степенью развития информационных технологий и широким доступом к информации.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>
              <a:lnSpc>
                <a:spcPct val="89000"/>
              </a:lnSpc>
              <a:buNone/>
            </a:pPr>
            <a:r>
              <a:rPr b="1" lang="ru-RU" sz="4400" spc="-1" strike="noStrike">
                <a:solidFill>
                  <a:srgbClr val="434343"/>
                </a:solidFill>
                <a:latin typeface="Helvetica Neue"/>
              </a:rPr>
              <a:t>Особенности информационного общества: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Информационные технологии:</a:t>
            </a: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 В информационном обществе информационные технологии играют важную роль. Они позволяют обрабатывать, хранить и передавать информацию с высокой скоростью и эффективностью. Примеры информационных технологий включают компьютеры, интернет, мобильные устройства и т.д.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Цифровая экономика:</a:t>
            </a: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 В информационном обществе цифровая экономика становится основным источником экономического роста. Она основана на производстве и обработке информации, а также на развитии информационных услуг и продуктов.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Глобализация:</a:t>
            </a: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 Информационное общество характеризуется глобализацией, то есть интеграцией различных стран и регионов через информационные технологии. Это позволяет людям свободно обмениваться информацией, работать удаленно и получать доступ к различным услугам.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Arial"/>
              <a:buChar char="•"/>
            </a:pPr>
            <a:r>
              <a:rPr b="1" lang="ru-RU" sz="1400" spc="-1" strike="noStrike">
                <a:solidFill>
                  <a:srgbClr val="434343"/>
                </a:solidFill>
                <a:latin typeface="Helvetica Neue"/>
              </a:rPr>
              <a:t>Изменение социальной структуры:</a:t>
            </a: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 В информационном обществе происходят изменения в социальной структуре. Рост сервисной индустрии и информационных технологий приводит к изменению профессиональных ролей и требований к навыкам.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1400" spc="-1" strike="noStrike">
                <a:solidFill>
                  <a:srgbClr val="434343"/>
                </a:solidFill>
                <a:latin typeface="Helvetica Neue"/>
              </a:rPr>
              <a:t>Информационное общество отличается от промышленного общества и является следующим этапом в развитии общества. Оно имеет свои особенности и вызывает изменения в экономике, культуре и социальной структуре.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771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p>
            <a:pPr>
              <a:lnSpc>
                <a:spcPct val="89000"/>
              </a:lnSpc>
              <a:buNone/>
            </a:pPr>
            <a:r>
              <a:rPr b="0" lang="ru-RU" sz="1800" spc="-1" strike="noStrike">
                <a:solidFill>
                  <a:srgbClr val="333333"/>
                </a:solidFill>
                <a:latin typeface="Verdana"/>
                <a:ea typeface="Times New Roman"/>
              </a:rPr>
              <a:t>Анализ данных WVS, проведенный политологами Рональдом Инглхартом и Кристианом Вельцелем, утверждает, что в мире существует два основных измерения межкультурной изменчивости:</a:t>
            </a:r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 algn="just">
              <a:lnSpc>
                <a:spcPts val="1536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Franklin Gothic Book"/>
              <a:buChar char="■"/>
            </a:pPr>
            <a:r>
              <a:rPr b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1) Традиционные ценности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против </a:t>
            </a:r>
            <a:r>
              <a:rPr b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секулярно-рациональных ценностей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и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 algn="just">
              <a:lnSpc>
                <a:spcPts val="1536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Franklin Gothic Book"/>
              <a:buChar char="■"/>
            </a:pPr>
            <a:r>
              <a:rPr b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2) Ценности выживания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в сравнении </a:t>
            </a:r>
            <a:r>
              <a:rPr b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с ценностями самовыражения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ts val="1440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Symbol"/>
              <a:buChar char=""/>
              <a:tabLst>
                <a:tab algn="l" pos="457200"/>
              </a:tabLst>
            </a:pPr>
            <a:r>
              <a:rPr b="0" i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Традиционные ценности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подчеркивают важность религии, детско-родительских связей, уважения к авторитетам и традиционных семейных ценностей. Люди, которые разделяют эти ценности, также отвергают разводы, аборты, эвтаназию и самоубийства. Эти общества отличаются высоким уровнем национальной гордости и националистическими взглядами.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ts val="1440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Symbol"/>
              <a:buChar char=""/>
              <a:tabLst>
                <a:tab algn="l" pos="457200"/>
              </a:tabLst>
            </a:pPr>
            <a:r>
              <a:rPr b="0" i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Секулярно-рациональные ценности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имеют противоположные предпочтения традиционным ценностям. В этих обществах меньше внимания уделяется религии, традиционным семейным ценностям и авторитету. Развод, аборт, эвтаназия и самоубийство считаются относительно приемлемыми. (Самоубийство не обязательно является более распространенным явлением.)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ts val="1440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Symbol"/>
              <a:buChar char=""/>
              <a:tabLst>
                <a:tab algn="l" pos="457200"/>
              </a:tabLst>
            </a:pPr>
            <a:r>
              <a:rPr b="0" i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Ценности выживания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делают акцент на экономической и физической безопасности. Это связано с относительно этноцентрическим мировоззрением и низким уровнем доверия и толерантности.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 marL="343080" indent="-343080" algn="just">
              <a:lnSpc>
                <a:spcPts val="1440"/>
              </a:lnSpc>
              <a:spcBef>
                <a:spcPts val="1001"/>
              </a:spcBef>
              <a:spcAft>
                <a:spcPts val="799"/>
              </a:spcAft>
              <a:buClr>
                <a:srgbClr val="333333"/>
              </a:buClr>
              <a:buFont typeface="Symbol"/>
              <a:buChar char=""/>
              <a:tabLst>
                <a:tab algn="l" pos="457200"/>
              </a:tabLst>
            </a:pPr>
            <a:r>
              <a:rPr b="0" i="1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Ценности самовыражения</a:t>
            </a:r>
            <a:r>
              <a:rPr b="0" lang="ru-RU" sz="1400" spc="-1" strike="noStrike">
                <a:solidFill>
                  <a:srgbClr val="333333"/>
                </a:solidFill>
                <a:latin typeface="Arial"/>
                <a:ea typeface="Times New Roman"/>
              </a:rPr>
              <a:t> придают большое значение защите окружающей среды, растущей терпимости к иностранцам, геям и лесбиянкам и гендерному равенству, а также растущим требованиям участия в принятии решений в экономической и политической жизни.</a:t>
            </a: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457200"/>
              </a:tabLst>
            </a:pPr>
            <a:endParaRPr b="0" lang="en-US" sz="14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pic>
        <p:nvPicPr>
          <p:cNvPr id="165" name="Объект 3" descr=""/>
          <p:cNvPicPr/>
          <p:nvPr/>
        </p:nvPicPr>
        <p:blipFill>
          <a:blip r:embed="rId1"/>
          <a:stretch/>
        </p:blipFill>
        <p:spPr>
          <a:xfrm>
            <a:off x="2208240" y="295200"/>
            <a:ext cx="8687880" cy="640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915560" y="3540960"/>
            <a:ext cx="8361000" cy="20977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89000"/>
              </a:lnSpc>
              <a:buNone/>
            </a:pPr>
            <a:r>
              <a:rPr b="0" lang="ru-RU" sz="7200" spc="-1" strike="noStrike" cap="all">
                <a:solidFill>
                  <a:srgbClr val="191b0e"/>
                </a:solidFill>
                <a:latin typeface="Franklin Gothic Book"/>
              </a:rPr>
              <a:t>Роль массовых коммуникаций в современном обществе</a:t>
            </a:r>
            <a:endParaRPr b="0" lang="en-US" sz="7200" spc="-1" strike="noStrike">
              <a:solidFill>
                <a:srgbClr val="000000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333333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КОММУНИКАЦИЯ (лат. communicatio, от communico – делать общим, делать сообща, связывать, общаться), </a:t>
            </a:r>
            <a:r>
              <a:rPr b="1" lang="ru-RU" sz="2000" spc="-1" strike="noStrike">
                <a:solidFill>
                  <a:srgbClr val="333333"/>
                </a:solidFill>
                <a:latin typeface="YS Text"/>
              </a:rPr>
              <a:t>взаимодействие людей и животных, предполагающее обмен информацией с помощью специализир. сигналов-посредников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d2126"/>
              </a:buClr>
              <a:buFont typeface="Franklin Gothic Book"/>
              <a:buChar char="■"/>
            </a:pPr>
            <a:r>
              <a:rPr b="1" lang="ru-RU" sz="2000" spc="-1" strike="noStrike">
                <a:solidFill>
                  <a:srgbClr val="1d2126"/>
                </a:solidFill>
                <a:latin typeface="HelveticaMac"/>
              </a:rPr>
              <a:t>Ма́ссовая коммуника́ция,</a:t>
            </a:r>
            <a:r>
              <a:rPr b="0" lang="ru-RU" sz="2000" spc="-1" strike="noStrike">
                <a:solidFill>
                  <a:srgbClr val="1d2126"/>
                </a:solidFill>
                <a:latin typeface="HelveticaMac"/>
              </a:rPr>
              <a:t> распространение информации специально предназначенными для этого </a:t>
            </a:r>
            <a:r>
              <a:rPr b="0" lang="ru-RU" sz="2000" spc="-1" strike="noStrike">
                <a:solidFill>
                  <a:srgbClr val="77a2bb"/>
                </a:solidFill>
                <a:latin typeface="HelveticaMac"/>
                <a:hlinkClick r:id="rId1"/>
              </a:rPr>
              <a:t>социальными институтами</a:t>
            </a:r>
            <a:r>
              <a:rPr b="0" lang="ru-RU" sz="2000" spc="-1" strike="noStrike">
                <a:solidFill>
                  <a:srgbClr val="1d2126"/>
                </a:solidFill>
                <a:latin typeface="HelveticaMac"/>
              </a:rPr>
              <a:t> (издательствами, агентствами, редакциями, студиями) среди </a:t>
            </a:r>
            <a:r>
              <a:rPr b="0" lang="ru-RU" sz="2000" spc="-1" strike="noStrike">
                <a:solidFill>
                  <a:srgbClr val="77a2bb"/>
                </a:solidFill>
                <a:latin typeface="HelveticaMac"/>
                <a:hlinkClick r:id="rId2"/>
              </a:rPr>
              <a:t>массовой аудитории</a:t>
            </a:r>
            <a:r>
              <a:rPr b="0" lang="ru-RU" sz="2000" spc="-1" strike="noStrike">
                <a:solidFill>
                  <a:srgbClr val="1d2126"/>
                </a:solidFill>
                <a:latin typeface="HelveticaMac"/>
              </a:rPr>
              <a:t> – анонимной, разнородной и рассредоточенной в пространстве.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Предпосылки: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Всеобщая грамотность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Технологии (от дешевой бумаги до интернета)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3200" spc="-1" strike="noStrike">
                <a:solidFill>
                  <a:srgbClr val="28363b"/>
                </a:solidFill>
                <a:latin typeface="Tahoma"/>
              </a:rPr>
              <a:t>Как важнейший социальный институт современного общества массовая коммуникация выполняет определенные функции:</a:t>
            </a:r>
            <a:endParaRPr b="0" lang="en-US" sz="32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22860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8363b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28363b"/>
                </a:solidFill>
                <a:latin typeface="Tahoma"/>
              </a:rPr>
              <a:t>1. Информирование населения.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22860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8363b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28363b"/>
                </a:solidFill>
                <a:latin typeface="Tahoma"/>
              </a:rPr>
              <a:t>2. Идеологическое и политическое воздействие на массы.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22860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8363b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28363b"/>
                </a:solidFill>
                <a:latin typeface="Tahoma"/>
              </a:rPr>
              <a:t>3. Социальный контроль.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22860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8363b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28363b"/>
                </a:solidFill>
                <a:latin typeface="Tahoma"/>
              </a:rPr>
              <a:t>4. Создание и распространение новейших систем коллективной и индивидуальной связи.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228600" algn="just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28363b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28363b"/>
                </a:solidFill>
                <a:latin typeface="Tahoma"/>
              </a:rPr>
              <a:t>5. Просвещение и развлечение.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Особенности: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Односторонняя направленность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Или Асинхронность (реципиенты могут отреагировать позже на сообщение)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Обезличенность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Публичность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=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влияние на восприятие общественных паттернов и обобщенного другого =</a:t>
            </a:r>
            <a:r>
              <a:rPr b="0" lang="en-US" sz="2000" spc="-1" strike="noStrike">
                <a:solidFill>
                  <a:srgbClr val="191b0e"/>
                </a:solidFill>
                <a:latin typeface="Franklin Gothic Book"/>
              </a:rPr>
              <a:t>&gt; </a:t>
            </a: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соответствующая реакция на информацию.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Опосредованность (через спец средства – технологии, бумагу)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Неоднородность аудитории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ct val="89000"/>
              </a:lnSpc>
              <a:buNone/>
            </a:pPr>
            <a:r>
              <a:rPr b="1" lang="ru-RU" sz="4400" spc="-1" strike="noStrike">
                <a:solidFill>
                  <a:srgbClr val="434343"/>
                </a:solidFill>
                <a:latin typeface="Helvetica Neue"/>
              </a:rPr>
              <a:t>Средства массовой коммуникации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1371600" y="1428840"/>
            <a:ext cx="9600840" cy="5095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0" lang="ru-RU" sz="1200" spc="-1" strike="noStrike">
                <a:solidFill>
                  <a:srgbClr val="434343"/>
                </a:solidFill>
                <a:latin typeface="Helvetica Neue"/>
              </a:rPr>
              <a:t>Средства массовой коммуникации – это различные каналы и инструменты, которые используются для передачи информации и коммуникации с большим количеством людей. Они играют важную роль в современном обществе, позволяя людям получать новости, развлекаться, обмениваться мнениями и влиять на общественное мнение.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Телевидение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Радио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Пресса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■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Интернет: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Пресса, сайты и пр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ТВ, радио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+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Социальные сети 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Месенджеры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Игры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Подкасты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434343"/>
              </a:buClr>
              <a:buFont typeface="Franklin Gothic Book"/>
              <a:buChar char="-"/>
            </a:pPr>
            <a:r>
              <a:rPr b="1" lang="ru-RU" sz="1200" spc="-1" strike="noStrike">
                <a:solidFill>
                  <a:srgbClr val="434343"/>
                </a:solidFill>
                <a:latin typeface="Helvetica Neue"/>
              </a:rPr>
              <a:t>Блоги</a:t>
            </a: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Теории массового сознания: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000"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Спираль молчания 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— это концепция, согласно которой человек с большей вероятностью не будет публично выражать свое мнение, если он убежден, что оно в меньшинстве. И наоборот — если мы верим, что какая-то идея популярна, то, скорее всего, мы будем открыто эту ее поддерживать.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Окно Овертона 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– это концепция, которая подразумевает, что есть определенный круг мнений, убеждений, которые общество одобряет или отрицает. Это теория, которая позволяет внедрить в массовое сознание определенный образ, любую идею, какая б она не была глупая, любое правило за 6 шагов.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Теория информационных пузырей - </a:t>
            </a:r>
            <a:r>
              <a:rPr b="0" lang="ru-RU" sz="2000" spc="-1" strike="noStrike">
                <a:solidFill>
                  <a:srgbClr val="333333"/>
                </a:solidFill>
                <a:latin typeface="YS Text"/>
              </a:rPr>
              <a:t>— это эффект, который создается в персональных лентах новостей и рекомендаций каждого пользователя соцсетей или онлайн-сервисов из-за специальных алгоритмов. Лента автоматически подстраивается под предпочтения пользователя и в итоге наполняется контентом, к которому он проявляет наибольший интерес. 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000"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-apple-system"/>
              </a:rPr>
              <a:t>Как понимать и анализировать информацию, которую нам подают СМИ :</a:t>
            </a:r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1371600" y="195264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AutoNum type="arabicPeriod"/>
            </a:pPr>
            <a:r>
              <a:rPr b="1" lang="ru-RU" sz="1600" spc="-1" strike="noStrike">
                <a:solidFill>
                  <a:srgbClr val="000000"/>
                </a:solidFill>
                <a:latin typeface="-apple-system"/>
              </a:rPr>
              <a:t>Используйте разные источники информации</a:t>
            </a:r>
            <a:r>
              <a:rPr b="0" lang="ru-RU" sz="1600" spc="-1" strike="noStrike">
                <a:solidFill>
                  <a:srgbClr val="000000"/>
                </a:solidFill>
                <a:latin typeface="-apple-system"/>
              </a:rPr>
              <a:t>. Первый шаг к пониманию и анализу информации, которую нам подают СМИ, заключается в использовании различных источников информации. Это помогает узнать различные точки зрения и подходы к рассматриваемой теме и сделать собственные выводы. Вы можете использовать как традиционные СМИ, так и альтернативные источники, такие как блоги, подкасты и социальные сети.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AutoNum type="arabicPeriod"/>
            </a:pPr>
            <a:r>
              <a:rPr b="0" lang="ru-RU" sz="1600" spc="-1" strike="noStrike">
                <a:solidFill>
                  <a:srgbClr val="000000"/>
                </a:solidFill>
                <a:latin typeface="-apple-system"/>
              </a:rPr>
              <a:t>Оценивайте надежность и достоверность источников. Некоторые СМИ могут представлять определенные политические и коммерческие интересы, которые могут влиять на содержание информации Важно проверять факты и сравнивать различные источники, чтобы убедиться в достоверности информации.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AutoNum type="arabicPeriod"/>
            </a:pPr>
            <a:r>
              <a:rPr b="0" lang="ru-RU" sz="1600" spc="-1" strike="noStrike">
                <a:solidFill>
                  <a:srgbClr val="000000"/>
                </a:solidFill>
                <a:latin typeface="-apple-system"/>
              </a:rPr>
              <a:t>Учитесь распознавать манипуляции. Многие СМИ могут использовать различные приемы, чтобы повлиять на наши взгляды и мнения. Некоторые из них могут быть очевидными, такими как использование ярких картинок и заголовков, а некоторые могут быть более тонкими и скрытыми. К таким манипулятивным приемам относятся выбор определенных слов и фраз, использование эмоциональных подтекстов, игнорирование определенных фактов и т.д.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000000"/>
              </a:buClr>
              <a:buFont typeface="Franklin Gothic Book"/>
              <a:buAutoNum type="arabicPeriod"/>
            </a:pPr>
            <a:r>
              <a:rPr b="0" lang="ru-RU" sz="1600" spc="-1" strike="noStrike">
                <a:solidFill>
                  <a:srgbClr val="000000"/>
                </a:solidFill>
                <a:latin typeface="-apple-system"/>
              </a:rPr>
              <a:t>Разберитесь в терминах</a:t>
            </a: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  <a:p>
            <a:pPr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None/>
            </a:pPr>
            <a:endParaRPr b="0" lang="en-US" sz="16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0840" cy="1485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89000"/>
              </a:lnSpc>
              <a:buNone/>
            </a:pPr>
            <a:r>
              <a:rPr b="0" lang="ru-RU" sz="4400" spc="-1" strike="noStrike">
                <a:solidFill>
                  <a:srgbClr val="191b0e"/>
                </a:solidFill>
                <a:latin typeface="Franklin Gothic Book"/>
              </a:rPr>
              <a:t>Задание:</a:t>
            </a:r>
            <a:br/>
            <a:endParaRPr b="0" lang="en-US" sz="4400" spc="-1" strike="noStrike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371600" y="2286000"/>
            <a:ext cx="9600840" cy="3580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■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Выбрать сообщение в СМИ и проанализировать: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Тип сообщения (информационное, политическое, реклама, пропаганда)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Выразительные средства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Альтернативная инфа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  <a:p>
            <a:pPr marL="384120" indent="-384120">
              <a:lnSpc>
                <a:spcPct val="94000"/>
              </a:lnSpc>
              <a:spcBef>
                <a:spcPts val="1001"/>
              </a:spcBef>
              <a:spcAft>
                <a:spcPts val="201"/>
              </a:spcAft>
              <a:buClr>
                <a:srgbClr val="191b0e"/>
              </a:buClr>
              <a:buFont typeface="Franklin Gothic Book"/>
              <a:buChar char="-"/>
            </a:pPr>
            <a:r>
              <a:rPr b="0" lang="ru-RU" sz="2000" spc="-1" strike="noStrike">
                <a:solidFill>
                  <a:srgbClr val="191b0e"/>
                </a:solidFill>
                <a:latin typeface="Franklin Gothic Book"/>
              </a:rPr>
              <a:t>Свое мнение</a:t>
            </a:r>
            <a:endParaRPr b="0" lang="en-US" sz="2000" spc="-1" strike="noStrike">
              <a:solidFill>
                <a:srgbClr val="191b0e"/>
              </a:solidFill>
              <a:latin typeface="Franklin Gothic Boo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821</TotalTime>
  <Application>LibreOffice/7.2.5.1$Linux_X86_64 LibreOffice_project/20$Build-1</Application>
  <AppVersion>15.0000</AppVersion>
  <Words>1945</Words>
  <Paragraphs>140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2024-01-31T14:12:12Z</dcterms:created>
  <dc:creator>Шумилова Полина Андреевна</dc:creator>
  <dc:description/>
  <dc:language>en-US</dc:language>
  <cp:lastModifiedBy/>
  <dcterms:modified xsi:type="dcterms:W3CDTF">2024-02-15T12:19:47Z</dcterms:modified>
  <cp:revision>70</cp:revision>
  <dc:subject/>
  <dc:title>Понятие общества, Общественные отношения.  Связи между подсистемами и элементами общества. Общественные потребности и социальные институты.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25</vt:i4>
  </property>
</Properties>
</file>