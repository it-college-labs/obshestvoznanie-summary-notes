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  <p:sldId id="262" r:id="rId5"/>
    <p:sldId id="263" r:id="rId6"/>
    <p:sldId id="257" r:id="rId7"/>
    <p:sldId id="264" r:id="rId8"/>
    <p:sldId id="265" r:id="rId9"/>
    <p:sldId id="266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69" r:id="rId19"/>
    <p:sldId id="271" r:id="rId20"/>
    <p:sldId id="272" r:id="rId21"/>
    <p:sldId id="273" r:id="rId22"/>
    <p:sldId id="275" r:id="rId23"/>
    <p:sldId id="278" r:id="rId24"/>
    <p:sldId id="270" r:id="rId25"/>
    <p:sldId id="287" r:id="rId26"/>
    <p:sldId id="288" r:id="rId27"/>
    <p:sldId id="289" r:id="rId28"/>
    <p:sldId id="290" r:id="rId29"/>
    <p:sldId id="291" r:id="rId30"/>
    <p:sldId id="293" r:id="rId31"/>
    <p:sldId id="294" r:id="rId32"/>
    <p:sldId id="292" r:id="rId33"/>
    <p:sldId id="267" r:id="rId34"/>
    <p:sldId id="268" r:id="rId35"/>
    <p:sldId id="295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09" autoAdjust="0"/>
    <p:restoredTop sz="94660"/>
  </p:normalViewPr>
  <p:slideViewPr>
    <p:cSldViewPr snapToGrid="0">
      <p:cViewPr varScale="1">
        <p:scale>
          <a:sx n="64" d="100"/>
          <a:sy n="64" d="100"/>
        </p:scale>
        <p:origin x="4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exicography.online/etymology/krylov/%D0%BE/%D0%BE%D0%B1%D1%89%D0%B5%D1%81%D1%82%D0%B2%D0%B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478778-FCC6-4572-92A0-BD2FCE73D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276350"/>
            <a:ext cx="8361229" cy="2610330"/>
          </a:xfrm>
        </p:spPr>
        <p:txBody>
          <a:bodyPr/>
          <a:lstStyle/>
          <a:p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Понятие общества,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OfficinaSansBoldITC"/>
              </a:rPr>
              <a:t>Общественные отношения. </a:t>
            </a:r>
            <a:br>
              <a:rPr lang="ru-RU" sz="2800" b="1" dirty="0">
                <a:effectLst/>
                <a:latin typeface="Times New Roman" panose="02020603050405020304" pitchFamily="18" charset="0"/>
                <a:ea typeface="OfficinaSansBoldITC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OfficinaSansBoldITC"/>
              </a:rPr>
              <a:t>Связи между подсистемами и элементами общества. Общественные потребности и социальные институты.</a:t>
            </a:r>
            <a:endParaRPr lang="ru-RU" sz="28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2476857-516D-4604-9810-0A5916C51F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5389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449CD-1921-4EEF-B92B-78DB4C8E4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«Общество» или «Социум»?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858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00E913F-7AAE-4CF9-A596-569A832E7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Общество - этимология</a:t>
            </a:r>
            <a:br>
              <a:rPr lang="ru-RU" dirty="0"/>
            </a:br>
            <a:br>
              <a:rPr lang="ru-RU" dirty="0"/>
            </a:br>
            <a:r>
              <a:rPr lang="ru-RU" sz="2000" i="1" dirty="0">
                <a:solidFill>
                  <a:srgbClr val="337AB7"/>
                </a:solidFill>
                <a:latin typeface="times new roman" panose="02020603050405020304" pitchFamily="18" charset="0"/>
              </a:rPr>
              <a:t>В</a:t>
            </a:r>
            <a:r>
              <a:rPr lang="ru-RU" sz="2000" i="1" dirty="0">
                <a:solidFill>
                  <a:srgbClr val="337AB7"/>
                </a:solidFill>
                <a:latin typeface="times new roman" panose="02020603050405020304" pitchFamily="18" charset="0"/>
                <a:hlinkClick r:id="rId2"/>
              </a:rPr>
              <a:t> этимологическом словаре Крылова Г. А</a:t>
            </a:r>
            <a:br>
              <a:rPr lang="ru-RU" sz="2000" dirty="0">
                <a:solidFill>
                  <a:srgbClr val="212529"/>
                </a:solidFill>
                <a:latin typeface="times new roman" panose="02020603050405020304" pitchFamily="18" charset="0"/>
              </a:rPr>
            </a:br>
            <a:endParaRPr lang="ru-RU" sz="20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A1873E-E428-4E0E-8FAA-42E862ABC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ru-RU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Заимствование из старославянского, где было образовано как калька с греческого </a:t>
            </a:r>
            <a:r>
              <a:rPr lang="ru-RU" b="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koinonia</a:t>
            </a:r>
            <a:r>
              <a:rPr lang="ru-RU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 — «общность» от </a:t>
            </a:r>
            <a:r>
              <a:rPr lang="ru-RU" b="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koinos</a:t>
            </a:r>
            <a:r>
              <a:rPr lang="ru-RU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 — «общий».</a:t>
            </a:r>
          </a:p>
          <a:p>
            <a:r>
              <a:rPr lang="ru-RU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Древнерусское</a:t>
            </a:r>
            <a:r>
              <a:rPr lang="ru-RU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 — </a:t>
            </a:r>
            <a:r>
              <a:rPr lang="ru-RU" b="0" i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обчество</a:t>
            </a:r>
            <a:r>
              <a:rPr lang="ru-RU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 (от </a:t>
            </a:r>
            <a:r>
              <a:rPr lang="ru-RU" b="0" i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обчий</a:t>
            </a:r>
            <a:r>
              <a:rPr lang="ru-RU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).</a:t>
            </a:r>
            <a:r>
              <a:rPr lang="ru-RU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 В русских литературных памятниках слово «общество» встречается с конца XI в., однако возникло оно значительно раньше.</a:t>
            </a:r>
          </a:p>
          <a:p>
            <a:r>
              <a:rPr lang="ru-RU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</a:rPr>
              <a:t>Я</a:t>
            </a:r>
            <a:r>
              <a:rPr lang="ru-RU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вляется производным от прилагательного </a:t>
            </a:r>
            <a:r>
              <a:rPr lang="ru-RU" b="0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«общий»,</a:t>
            </a:r>
            <a:r>
              <a:rPr lang="ru-RU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 которое употреблялось (и сейчас употребляется в некоторых диалектах) с буквой «ч». </a:t>
            </a:r>
          </a:p>
          <a:p>
            <a:r>
              <a:rPr lang="ru-RU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Последнее, в свою очередь, образовано от глагола «общаться» (разговаривать, </a:t>
            </a:r>
            <a:r>
              <a:rPr lang="ru-RU" b="1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обмениваться словами и мыслями</a:t>
            </a:r>
            <a:r>
              <a:rPr lang="ru-RU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), в котором сохранилась общеславянская основа </a:t>
            </a:r>
            <a:r>
              <a:rPr lang="ru-RU" b="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obьtjь</a:t>
            </a:r>
            <a:r>
              <a:rPr lang="ru-RU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 со значением «распространенный». </a:t>
            </a:r>
          </a:p>
          <a:p>
            <a:r>
              <a:rPr lang="ru-RU" b="1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Родственным является</a:t>
            </a:r>
            <a:r>
              <a:rPr lang="ru-RU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: Чешское — </a:t>
            </a:r>
            <a:r>
              <a:rPr lang="ru-RU" b="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obecenstvo</a:t>
            </a:r>
            <a:r>
              <a:rPr lang="ru-RU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 (публика). </a:t>
            </a:r>
          </a:p>
          <a:p>
            <a:r>
              <a:rPr lang="ru-RU" b="1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Производные</a:t>
            </a:r>
            <a:r>
              <a:rPr lang="ru-RU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</a:rPr>
              <a:t>: общественный, общность.</a:t>
            </a:r>
            <a:r>
              <a:rPr lang="ru-RU" i="1" dirty="0">
                <a:solidFill>
                  <a:srgbClr val="212529"/>
                </a:solidFill>
                <a:latin typeface="times new roman" panose="02020603050405020304" pitchFamily="18" charset="0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246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D75FC9-9946-4C80-A85B-DA0FAF610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Общество - определение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413972-1ED8-4942-886D-C3192FAD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9601200" cy="3581400"/>
          </a:xfrm>
        </p:spPr>
        <p:txBody>
          <a:bodyPr>
            <a:noAutofit/>
          </a:bodyPr>
          <a:lstStyle/>
          <a:p>
            <a:pPr indent="342900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Общество в 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узком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смысле – это: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группа людей, объединенных общими 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интересами и целями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(общество собаководов, общество спасения на водах, общество охраны природы);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группа людей, объединенных 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общностью происхождения, социальным положением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т.д.; в этом смысле понятие «общество» тождественно какой-либо социальной группе (дворянское общество, крестьянское общество);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исторический этап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развитии человечества (рабовладельческое общество, средневековое общество, капиталистическое общество);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отдельное конкретное общество, регион, государство (российское общество, китайское общество).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9868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B3BD5F-37D8-4296-B95B-F9429E2F4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Общество – это: 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Общество в </a:t>
            </a:r>
            <a:r>
              <a:rPr lang="ru-RU" sz="2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широком смысле </a:t>
            </a:r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представляет собой все человечество в целом в его прошлом, настоящем и будущем, включая все то, что было им создано. </a:t>
            </a:r>
            <a:b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Классическое определение понятия «общество»:</a:t>
            </a:r>
            <a:br>
              <a:rPr lang="ru-RU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84F857-C29D-4557-BCD7-615D1EEE7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895601"/>
            <a:ext cx="9601200" cy="3581400"/>
          </a:xfrm>
        </p:spPr>
        <p:txBody>
          <a:bodyPr/>
          <a:lstStyle/>
          <a:p>
            <a: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обособившаяся от природы, но тесно с ней связанная часть материально мира, включающая в себя совокупность всех способов взаимодействия и форм объединения людей, в которых выражается их всесторонняя зависимость друг от друга.</a:t>
            </a:r>
            <a:endParaRPr lang="ru-RU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378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8E719C-EECE-4EC4-BBF7-59D38EC24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95325"/>
            <a:ext cx="9601200" cy="1485900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Социум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2700" dirty="0">
                <a:latin typeface="Times New Roman" panose="02020603050405020304" pitchFamily="18" charset="0"/>
                <a:ea typeface="Calibri" panose="020F0502020204030204" pitchFamily="34" charset="0"/>
              </a:rPr>
              <a:t>(от лат. </a:t>
            </a:r>
            <a:r>
              <a:rPr lang="en-US" sz="2700" dirty="0">
                <a:latin typeface="Times New Roman" panose="02020603050405020304" pitchFamily="18" charset="0"/>
                <a:ea typeface="Calibri" panose="020F0502020204030204" pitchFamily="34" charset="0"/>
              </a:rPr>
              <a:t>socio </a:t>
            </a:r>
            <a:r>
              <a:rPr lang="ru-RU" sz="2700" dirty="0">
                <a:latin typeface="Times New Roman" panose="02020603050405020304" pitchFamily="18" charset="0"/>
                <a:ea typeface="Calibri" panose="020F0502020204030204" pitchFamily="34" charset="0"/>
              </a:rPr>
              <a:t>– соединение, объединение, совместный труд)</a:t>
            </a:r>
            <a:br>
              <a:rPr lang="ru-RU" sz="2700" dirty="0"/>
            </a:br>
            <a:endParaRPr lang="ru-RU" sz="27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F306CF-0E9D-49C2-B050-E17F6CCEC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800" b="1" dirty="0">
                <a:solidFill>
                  <a:srgbClr val="000000"/>
                </a:solidFill>
                <a:latin typeface="arial" panose="020B0604020202020204" pitchFamily="34" charset="0"/>
              </a:rPr>
              <a:t>Социум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</a:rPr>
              <a:t> - это термин, который используется для описания социальных отношений и структур в обществе. Социум охватывает взаимодействие между индивидуальными и социальными группами, а также социальные институты и нормы, которые регулируют это взаимодействие. Социум нацелен на изучение социальных структур, социальной организации и социального движения в обществе</a:t>
            </a:r>
            <a:endParaRPr lang="ru-RU" sz="1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ru-RU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Общество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определяется как группа людей, которые живут и работают вместе и имеют общие культурные, социальные, экономические и политические аспекты. Общество может быть как местным, так и глобальным и охватывает различные социальные группы, как рабочие, капиталисты, женщины, меньшинства и т.д.</a:t>
            </a:r>
          </a:p>
          <a:p>
            <a:pPr algn="l"/>
            <a:r>
              <a:rPr lang="ru-RU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Таким образом, можно сказать, что общество является 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широким понятием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которое охватывает группу людей и их общую культуру, социальные, экономические и политические структуры. Социум же фокусируется на 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изучении социальных отношений, структур и норм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которые представляют общество.</a:t>
            </a:r>
          </a:p>
          <a:p>
            <a:pPr marL="0" indent="0">
              <a:buNone/>
            </a:pPr>
            <a:r>
              <a:rPr lang="ru-RU" sz="1800" b="0" i="0" dirty="0">
                <a:solidFill>
                  <a:srgbClr val="333333"/>
                </a:solidFill>
                <a:effectLst/>
                <a:latin typeface="YS Text"/>
              </a:rPr>
              <a:t> 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538721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6067AC-E73E-4C88-82D2-ED0EAE85E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общества: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025E6F-77A4-4F26-B9DB-852278665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342900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производство необходимых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людям материальных благ и услуг;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распределение продуктов труда;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регламентация и управление совместной деятельностью людей;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воспроизводство и социализация человека;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духовное производство и удовлетворение духовных запросов людей.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26888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AB8A7-AC5A-4729-B46A-8B1E3C80E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Общественные отношения: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9D4FD1-EE0C-40D8-8A74-B09990DE6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342900" algn="just"/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Поскольку общество неизбежно предполагает организацию совместной деятельности людей, то его также можно понимать как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совокупность разнообразных  общественных отношений.</a:t>
            </a:r>
            <a:endParaRPr lang="ru-RU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sz="2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Общественные отношения </a:t>
            </a:r>
            <a:r>
              <a:rPr lang="ru-RU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это многообразные формы взаимодействия людей, а также </a:t>
            </a:r>
            <a:r>
              <a:rPr lang="ru-RU" sz="2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связи</a:t>
            </a:r>
            <a:r>
              <a:rPr lang="ru-RU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которые возникают между </a:t>
            </a:r>
            <a:r>
              <a:rPr lang="ru-RU" sz="2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социальными элементами</a:t>
            </a:r>
            <a:r>
              <a:rPr lang="ru-RU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общественными институтами </a:t>
            </a:r>
            <a:r>
              <a:rPr lang="ru-RU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ru-RU" sz="2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внутри них </a:t>
            </a:r>
            <a:r>
              <a:rPr lang="ru-RU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процессе экономической, социальной, политической и культурной деятельности.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84534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85842-E2FF-4FBD-A2B8-CB9E41CD4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уровне социальных общностей выделяют </a:t>
            </a: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национальные, классовые, групповые и семейные 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общественные отношения. </a:t>
            </a:r>
            <a:b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Особым видом общественных отношений будут </a:t>
            </a: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межличностные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отношения, которые проявляются на уровне взаимодействия между людьми в группе. </a:t>
            </a:r>
            <a:br>
              <a:rPr lang="ru-RU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4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D30548-77FC-4A3D-AA41-76B09F48D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971800"/>
            <a:ext cx="9601200" cy="3581400"/>
          </a:xfrm>
        </p:spPr>
        <p:txBody>
          <a:bodyPr>
            <a:normAutofit/>
          </a:bodyPr>
          <a:lstStyle/>
          <a:p>
            <a:pPr indent="342900" algn="just"/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этой связи общественные отношения возникают: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как отношения человека с обществом и общества с человеком;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между индивидами как представителями общества;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между элементами, компонентами, подсистемами внутри общества;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sz="18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между различными обществами;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между индивидами как представителями различных социальных групп, общностей и организаций, а также между индивидами с каждой и внутри каждой из них.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4127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455A9C-E539-4392-B4FB-05FA8AAB5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Cormorant Garamond"/>
              </a:rPr>
              <a:t>Модели общества </a:t>
            </a:r>
            <a:br>
              <a:rPr lang="ru-RU" b="1" i="0" dirty="0">
                <a:solidFill>
                  <a:srgbClr val="000000"/>
                </a:solidFill>
                <a:effectLst/>
                <a:latin typeface="Cormorant Garamond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C23B65-66AA-4A46-AD8B-D28F46ACE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Модель – это </a:t>
            </a:r>
            <a:r>
              <a:rPr lang="ru-RU" b="1" i="0" dirty="0">
                <a:solidFill>
                  <a:srgbClr val="373D3F"/>
                </a:solidFill>
                <a:effectLst/>
                <a:latin typeface="Lora" pitchFamily="2" charset="-52"/>
              </a:rPr>
              <a:t>абстрактное</a:t>
            </a: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 представление отношений между социальными </a:t>
            </a:r>
            <a:r>
              <a:rPr lang="ru-RU" b="1" i="0" dirty="0">
                <a:solidFill>
                  <a:srgbClr val="373D3F"/>
                </a:solidFill>
                <a:effectLst/>
                <a:latin typeface="Lora" pitchFamily="2" charset="-52"/>
              </a:rPr>
              <a:t>феноменами</a:t>
            </a:r>
            <a:r>
              <a:rPr lang="ru-RU" dirty="0">
                <a:solidFill>
                  <a:srgbClr val="373D3F"/>
                </a:solidFill>
                <a:latin typeface="Lora" pitchFamily="2" charset="-52"/>
              </a:rPr>
              <a:t> (явлениями общественной жизни</a:t>
            </a: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 = элементы социальной реальности).</a:t>
            </a:r>
          </a:p>
          <a:p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Модели социальных процессов не обязательно точно представляют реальный социальный мир, однако они </a:t>
            </a:r>
            <a:r>
              <a:rPr lang="ru-RU" b="1" i="0" dirty="0">
                <a:solidFill>
                  <a:srgbClr val="373D3F"/>
                </a:solidFill>
                <a:effectLst/>
                <a:latin typeface="Lora" pitchFamily="2" charset="-52"/>
              </a:rPr>
              <a:t>упрощают</a:t>
            </a: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 и облегчают </a:t>
            </a:r>
            <a:r>
              <a:rPr lang="ru-RU" b="1" i="0" dirty="0">
                <a:solidFill>
                  <a:srgbClr val="373D3F"/>
                </a:solidFill>
                <a:effectLst/>
                <a:latin typeface="Lora" pitchFamily="2" charset="-52"/>
              </a:rPr>
              <a:t>понимание</a:t>
            </a: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 его основных механизмов.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6590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E9FD4F-019C-4505-B8E5-429A076D3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9601200" cy="1066800"/>
          </a:xfrm>
        </p:spPr>
        <p:txBody>
          <a:bodyPr>
            <a:normAutofit/>
          </a:bodyPr>
          <a:lstStyle/>
          <a:p>
            <a:r>
              <a:rPr lang="ru-RU" sz="44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Органическая парадигма </a:t>
            </a:r>
            <a:br>
              <a:rPr lang="ru-RU" sz="44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(О. Конт, Г. Спенсер, Э. Дюркгейм</a:t>
            </a:r>
            <a:r>
              <a:rPr lang="ru-RU" sz="2400" dirty="0">
                <a:effectLst/>
              </a:rPr>
              <a:t>)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C7C832-A391-40DF-86BD-723FF69FB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71600"/>
            <a:ext cx="9601200" cy="4514850"/>
          </a:xfrm>
        </p:spPr>
        <p:txBody>
          <a:bodyPr>
            <a:normAutofit fontScale="92500" lnSpcReduction="10000"/>
          </a:bodyPr>
          <a:lstStyle/>
          <a:p>
            <a:r>
              <a:rPr lang="ru-RU" sz="18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Суть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Рационалистическое допущение подобия природных и социальных процессов.</a:t>
            </a:r>
          </a:p>
          <a:p>
            <a:r>
              <a:rPr lang="ru-RU" sz="1800" dirty="0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ризнание возможности и необходимости экстраполяции методов познания природных явлений на социальное познание. 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373D3F"/>
                </a:solidFill>
                <a:latin typeface="Lora" pitchFamily="2" charset="-52"/>
                <a:cs typeface="Times New Roman" panose="02020603050405020304" pitchFamily="18" charset="0"/>
              </a:rPr>
              <a:t>Эвристика: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Создание модели общества как социального </a:t>
            </a:r>
            <a:r>
              <a:rPr lang="ru-RU" sz="18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организма 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800" dirty="0">
              <a:solidFill>
                <a:srgbClr val="373D3F"/>
              </a:solidFill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указывает на </a:t>
            </a:r>
            <a:r>
              <a:rPr lang="ru-RU" sz="18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естественность 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складывания </a:t>
            </a:r>
            <a:r>
              <a:rPr lang="ru-RU" sz="18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общества в ходе эволюции 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природы. </a:t>
            </a:r>
            <a:endParaRPr lang="en-US" sz="1800" dirty="0">
              <a:solidFill>
                <a:srgbClr val="373D3F"/>
              </a:solidFill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организм обязательно предполагает целостность в функционировании и развитии. </a:t>
            </a:r>
            <a:endParaRPr lang="en-US" sz="1800" dirty="0">
              <a:solidFill>
                <a:srgbClr val="373D3F"/>
              </a:solidFill>
              <a:effectLst/>
              <a:latin typeface="Lora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ru-RU" sz="1800" dirty="0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Ц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елостность организма обеспечивается </a:t>
            </a:r>
            <a:r>
              <a:rPr lang="ru-RU" sz="18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разделением функций между органами 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и их взаимодействием в структуре. 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Критика:</a:t>
            </a:r>
          </a:p>
          <a:p>
            <a:pPr marL="0" indent="0"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Социальные процессы отличаются от физических: они не конечны, не применимы термины важные части организма и не важные, термины болезни и т.д.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4886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EC101-631C-4473-9573-296A2B4E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32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арадигма социального конфликта</a:t>
            </a:r>
            <a:br>
              <a:rPr lang="ru-RU" sz="32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32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3200" dirty="0" err="1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К</a:t>
            </a:r>
            <a:r>
              <a:rPr lang="ru-RU" sz="3200" dirty="0" err="1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.Маркс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4FEFD5-316F-4C82-BEB5-29248ACA4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638300"/>
            <a:ext cx="9601200" cy="3581400"/>
          </a:xfrm>
        </p:spPr>
        <p:txBody>
          <a:bodyPr>
            <a:noAutofit/>
          </a:bodyPr>
          <a:lstStyle/>
          <a:p>
            <a:r>
              <a:rPr lang="ru-RU" sz="18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Суть:</a:t>
            </a:r>
          </a:p>
          <a:p>
            <a:r>
              <a:rPr lang="ru-RU" sz="1800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конфликт - это режим развития социальной системы, движущейся от одного конфликта к другому и обретающей на данном пути новое качество.</a:t>
            </a:r>
            <a:endParaRPr lang="ru-RU" sz="1800" b="1" dirty="0">
              <a:solidFill>
                <a:srgbClr val="333333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ru-RU" sz="1800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Конфликт - как одна из форм социального взаимодействия, как процесс, который при определенных условиях может иметь для «социального организма» не только деструктивные, но и конструктивные последствия. </a:t>
            </a:r>
          </a:p>
          <a:p>
            <a:r>
              <a:rPr lang="ru-RU"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Определение</a:t>
            </a:r>
          </a:p>
          <a:p>
            <a:pPr marL="0" indent="0">
              <a:buNone/>
            </a:pPr>
            <a:r>
              <a:rPr lang="ru-RU" sz="18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Социальный конфликт (по </a:t>
            </a:r>
            <a:r>
              <a:rPr lang="ru-RU" sz="18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Козеру</a:t>
            </a:r>
            <a:r>
              <a:rPr lang="ru-RU" sz="18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sz="1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столкновение между коллективными </a:t>
            </a:r>
            <a:r>
              <a:rPr lang="ru-RU" sz="18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акторами</a:t>
            </a:r>
            <a:r>
              <a:rPr lang="ru-RU" sz="1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по поводу ценностей, статусов, власти или редких ресурсов, в котором цели каждой из сторон состоят в том, чтобы нейтрализовать, ослабить или устранить своих соперников.</a:t>
            </a:r>
            <a:r>
              <a:rPr lang="ru-RU"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ru-RU"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Основное внимание теории направлено на </a:t>
            </a:r>
            <a:r>
              <a:rPr lang="ru-RU"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выявление причин</a:t>
            </a:r>
            <a:r>
              <a:rPr lang="ru-RU"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при которых конфликт </a:t>
            </a:r>
            <a:r>
              <a:rPr lang="ru-RU"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сохраняет или восстанавливает интеграцию </a:t>
            </a:r>
            <a:r>
              <a:rPr lang="ru-RU"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системы и ее </a:t>
            </a:r>
            <a:r>
              <a:rPr lang="ru-RU"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приспособляемость</a:t>
            </a:r>
            <a:r>
              <a:rPr lang="ru-RU"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 изменяющимся условиям.</a:t>
            </a:r>
            <a:endParaRPr lang="ru-RU" sz="18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618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465D0-52E2-4427-B60E-1A1FEBCF4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28600"/>
            <a:ext cx="9601200" cy="1485900"/>
          </a:xfrm>
        </p:spPr>
        <p:txBody>
          <a:bodyPr/>
          <a:lstStyle/>
          <a:p>
            <a:r>
              <a:rPr lang="ru-RU" dirty="0"/>
              <a:t>Исторический материализм </a:t>
            </a:r>
            <a:br>
              <a:rPr lang="ru-RU" dirty="0"/>
            </a:br>
            <a:r>
              <a:rPr lang="ru-RU" dirty="0"/>
              <a:t>(</a:t>
            </a:r>
            <a:r>
              <a:rPr lang="ru-RU" dirty="0" err="1"/>
              <a:t>К.Маркс</a:t>
            </a:r>
            <a:r>
              <a:rPr lang="ru-RU" dirty="0"/>
              <a:t>, </a:t>
            </a:r>
            <a:r>
              <a:rPr lang="ru-RU" dirty="0" err="1"/>
              <a:t>Ф.Энгельс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CEA59C-8D12-46A4-8CA6-196D31ED1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09700"/>
            <a:ext cx="9601200" cy="5219700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 dirty="0"/>
              <a:t>Суть: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Принцип историзма 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- рассмотрение социальной системы как этапа, стадии развития общественных отношений, характеризующегося определенным историческим качеством. 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Принцип диалектики – изучение социальных процессов 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единстве и борьбе противоречий;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Принцип материализма, 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согласно которому общественное бытие определяет общественное сознание, а определяющим фактором развития общественных отношений выступают экономические, производственные отношения, объективно складывающиеся и изменяющиеся под влиянием совершенствования производительных сил общества. 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Принцип системности, 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полагающий взаимозависимость и взаимодействие всех видов общественных отношений между собой, которые обусловливают их функционирование и развитие в качестве социальной системы.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 dirty="0"/>
              <a:t>Эвристика: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Создание </a:t>
            </a:r>
            <a:r>
              <a:rPr lang="ru-RU" sz="18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модели общества 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через </a:t>
            </a:r>
            <a:r>
              <a:rPr lang="ru-RU" sz="18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историю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изменения общественно-экономических формаций, социальный </a:t>
            </a:r>
            <a:r>
              <a:rPr lang="ru-RU" sz="18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прогноз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развития капиталистической системы общественных отношений.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sz="1800" dirty="0">
              <a:solidFill>
                <a:srgbClr val="373D3F"/>
              </a:solidFill>
              <a:latin typeface="Lora" pitchFamily="2" charset="-52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u="sng" dirty="0">
                <a:solidFill>
                  <a:srgbClr val="373D3F"/>
                </a:solidFill>
                <a:latin typeface="Lora" pitchFamily="2" charset="-52"/>
                <a:cs typeface="Times New Roman" panose="02020603050405020304" pitchFamily="18" charset="0"/>
              </a:rPr>
              <a:t>Критика: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373D3F"/>
                </a:solidFill>
                <a:latin typeface="Lora" pitchFamily="2" charset="-52"/>
                <a:cs typeface="Times New Roman" panose="02020603050405020304" pitchFamily="18" charset="0"/>
              </a:rPr>
              <a:t>Не чувствительна </a:t>
            </a:r>
            <a:r>
              <a:rPr lang="ru-RU" sz="1800" dirty="0">
                <a:solidFill>
                  <a:srgbClr val="373D3F"/>
                </a:solidFill>
                <a:latin typeface="Lora" pitchFamily="2" charset="-52"/>
                <a:cs typeface="Times New Roman" panose="02020603050405020304" pitchFamily="18" charset="0"/>
              </a:rPr>
              <a:t>к исследованию отдельных социальных сфер.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4041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E78BB6-D300-487B-B19B-7911763E3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36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арадигма структурно-функционального анализа</a:t>
            </a:r>
            <a:b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800" dirty="0" err="1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Т.Парсонс</a:t>
            </a:r>
            <a: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0918F3-629F-4235-9C12-CF3C72C8E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065866"/>
            <a:ext cx="10490200" cy="4563533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u="sng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Суть:</a:t>
            </a: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бщество - это социальная </a:t>
            </a:r>
            <a:r>
              <a:rPr lang="ru-RU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система</a:t>
            </a:r>
            <a:r>
              <a:rPr lang="ru-RU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имеющая свою </a:t>
            </a:r>
            <a:r>
              <a:rPr lang="ru-RU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структуру и механизмы </a:t>
            </a:r>
            <a:r>
              <a:rPr lang="ru-RU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взаимодействия структурных элементов, каждый из которых выполняет собственную </a:t>
            </a:r>
            <a:r>
              <a:rPr lang="ru-RU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функцию</a:t>
            </a:r>
            <a:r>
              <a:rPr lang="ru-RU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дея «социального порядка», то есть имманентное стремление любой системы поддержать собственное </a:t>
            </a:r>
            <a:r>
              <a:rPr lang="ru-RU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равновесие</a:t>
            </a:r>
            <a:r>
              <a:rPr lang="ru-RU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согласовать между собой различные её элементы, добиться согласия между ними.</a:t>
            </a:r>
            <a:endParaRPr lang="ru-RU" sz="1600" dirty="0">
              <a:solidFill>
                <a:srgbClr val="373D3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u="sng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Эвристика:</a:t>
            </a: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1. Социальная система как </a:t>
            </a:r>
            <a:r>
              <a:rPr lang="ru-RU" sz="1600" b="1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взаимодействие различных структур</a:t>
            </a:r>
            <a:r>
              <a:rPr lang="ru-RU" sz="1600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представляющих собой в свою очередь взаимодействие различных элементов.</a:t>
            </a:r>
            <a:endParaRPr lang="ru-RU" sz="1600" dirty="0">
              <a:solidFill>
                <a:srgbClr val="373D3F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 Описание механизма функционирования социальной системы как </a:t>
            </a:r>
            <a:r>
              <a:rPr lang="ru-RU" sz="1600" b="1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взаимодействия индивидов</a:t>
            </a:r>
            <a:r>
              <a:rPr lang="ru-RU" sz="1600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ru-RU" sz="1600" b="1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включенных в систему </a:t>
            </a:r>
            <a:r>
              <a:rPr lang="ru-RU" sz="1600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посредством процесса </a:t>
            </a:r>
            <a:r>
              <a:rPr lang="ru-RU" sz="1600" b="1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ролевой</a:t>
            </a:r>
            <a:r>
              <a:rPr lang="ru-RU" sz="1600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социализации.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u="sng" dirty="0">
                <a:solidFill>
                  <a:srgbClr val="373D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Критика:</a:t>
            </a:r>
            <a:r>
              <a:rPr lang="ru-RU" sz="1600" b="0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Переоценка </a:t>
            </a:r>
            <a:r>
              <a:rPr lang="ru-RU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нормативного</a:t>
            </a:r>
            <a:r>
              <a:rPr lang="ru-RU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элемента в общественной жизни.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Преуменьшение значения в ней противоречий и конфликтов.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Подчёркивание общественного </a:t>
            </a:r>
            <a:r>
              <a:rPr lang="ru-RU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согласия</a:t>
            </a:r>
            <a:r>
              <a:rPr lang="ru-RU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гармонической природы социальных систем, что в условиях капитализма оборачивается проповедью классового сотрудничества и мира.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Неспособность объяснить социальные </a:t>
            </a:r>
            <a:r>
              <a:rPr lang="ru-RU" sz="1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изменения</a:t>
            </a:r>
            <a:r>
              <a:rPr lang="ru-RU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1600" dirty="0">
              <a:solidFill>
                <a:srgbClr val="373D3F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482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DE607-341E-4D49-8601-6C78D4C8E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rgbClr val="373D3F"/>
                </a:solidFill>
                <a:latin typeface="Lora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3600" dirty="0">
                <a:solidFill>
                  <a:srgbClr val="373D3F"/>
                </a:solidFill>
                <a:effectLst/>
                <a:latin typeface="Lora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арадигма социального бихевиоризма</a:t>
            </a:r>
            <a:br>
              <a:rPr lang="ru-RU" sz="3600" dirty="0">
                <a:solidFill>
                  <a:srgbClr val="373D3F"/>
                </a:solidFill>
                <a:effectLst/>
                <a:latin typeface="Lora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rgbClr val="373D3F"/>
                </a:solidFill>
                <a:effectLst/>
                <a:latin typeface="Lora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400" dirty="0" err="1">
                <a:solidFill>
                  <a:srgbClr val="373D3F"/>
                </a:solidFill>
                <a:effectLst/>
                <a:latin typeface="Lora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М.Вебер</a:t>
            </a:r>
            <a:r>
              <a:rPr lang="ru-RU" sz="2400" dirty="0">
                <a:solidFill>
                  <a:srgbClr val="373D3F"/>
                </a:solidFill>
                <a:effectLst/>
                <a:latin typeface="Lora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D9FEF8-912C-430D-9CEA-0DA1B9E1C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752600"/>
            <a:ext cx="9601200" cy="3581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u="sng" dirty="0">
                <a:latin typeface="Arial" panose="020B0604020202020204" pitchFamily="34" charset="0"/>
                <a:cs typeface="Arial" panose="020B0604020202020204" pitchFamily="34" charset="0"/>
              </a:rPr>
              <a:t>Суть:</a:t>
            </a:r>
          </a:p>
          <a:p>
            <a:r>
              <a:rPr lang="ru-RU" sz="1800" dirty="0" err="1">
                <a:solidFill>
                  <a:srgbClr val="373D3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</a:t>
            </a:r>
            <a:r>
              <a:rPr lang="ru-RU" sz="1800" dirty="0" err="1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опьтка</a:t>
            </a:r>
            <a:r>
              <a:rPr lang="ru-RU" sz="1800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интерпретации и понимания </a:t>
            </a:r>
            <a:r>
              <a:rPr lang="ru-RU" sz="1800" b="1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социального действия </a:t>
            </a:r>
            <a:r>
              <a:rPr lang="ru-RU" sz="1800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для того, чтобы найти причинное </a:t>
            </a:r>
            <a:r>
              <a:rPr lang="ru-RU" sz="1800" b="1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объяснение</a:t>
            </a:r>
            <a:r>
              <a:rPr lang="ru-RU" sz="1800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его направлению и последствиям.</a:t>
            </a:r>
          </a:p>
          <a:p>
            <a:r>
              <a:rPr lang="ru-RU" sz="1800" dirty="0">
                <a:solidFill>
                  <a:srgbClr val="373D3F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</a:t>
            </a:r>
            <a:r>
              <a:rPr lang="ru-RU" sz="1800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редметом социологии является социальное действие, методом выступает </a:t>
            </a:r>
            <a:r>
              <a:rPr lang="ru-RU" sz="1800" b="1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интерпретация его мотивов</a:t>
            </a:r>
            <a:r>
              <a:rPr lang="ru-RU" sz="1800" dirty="0">
                <a:solidFill>
                  <a:srgbClr val="373D3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задачей социологии - найти их объяснения</a:t>
            </a: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ru-RU" sz="1800" u="sng" dirty="0">
                <a:solidFill>
                  <a:srgbClr val="373D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Эвристика:</a:t>
            </a:r>
          </a:p>
          <a:p>
            <a:pPr marL="457200" indent="-457200">
              <a:buAutoNum type="arabicPeriod"/>
            </a:pPr>
            <a:r>
              <a:rPr lang="ru-RU" sz="1800" b="0" i="0" dirty="0"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стремится понять социальные процессы и действия, основываясь </a:t>
            </a:r>
            <a:r>
              <a:rPr lang="ru-RU" sz="1800" b="1" i="0" dirty="0"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 субъективных переживаниях и смыслах</a:t>
            </a:r>
            <a:r>
              <a:rPr lang="ru-RU" sz="1800" b="0" i="0" dirty="0"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которые люди придают своим действиям</a:t>
            </a:r>
          </a:p>
          <a:p>
            <a:pPr marL="0" indent="0">
              <a:buNone/>
            </a:pPr>
            <a:r>
              <a:rPr lang="ru-RU" sz="1800" u="sng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Критика: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Субъективность и недостаток объективности. </a:t>
            </a:r>
          </a:p>
          <a:p>
            <a:pPr marL="0" indent="0">
              <a:buNone/>
            </a:pPr>
            <a:r>
              <a:rPr lang="ru-RU" sz="1800" b="0" i="0" dirty="0"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Понимающая социология, хотя и стремится к глубокому пониманию субъективных переживаний, может быть ограничена в своей способности исследовать более широкие социальные и структурные факторы.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801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E45245-01B6-421A-9054-980B0D89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36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арадигма социального конструирования реальности</a:t>
            </a:r>
            <a:br>
              <a:rPr lang="ru-RU" sz="18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2000" dirty="0" err="1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П.Бергер</a:t>
            </a:r>
            <a:r>
              <a:rPr lang="ru-RU" sz="20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2000" dirty="0" err="1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Т.Лукман</a:t>
            </a:r>
            <a:r>
              <a:rPr lang="ru-RU" sz="20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2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742EDD-3C1B-4D25-AF45-0E4FAFE70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u="sng" dirty="0"/>
              <a:t>Суть: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- М</a:t>
            </a:r>
            <a:r>
              <a:rPr lang="ru-RU" sz="16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еханизм социального взаимодействия - это система актуальных и спонтанных </a:t>
            </a:r>
            <a:r>
              <a:rPr lang="ru-RU" sz="16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межличностных отношений</a:t>
            </a:r>
            <a:r>
              <a:rPr lang="ru-RU" sz="16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sz="1600" b="1" dirty="0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И</a:t>
            </a:r>
            <a:r>
              <a:rPr lang="ru-RU" sz="16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нтерпретация взаимодействия как конструирования общества его </a:t>
            </a:r>
            <a:r>
              <a:rPr lang="ru-RU" sz="1600" b="1" dirty="0" err="1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акторами</a:t>
            </a:r>
            <a:r>
              <a:rPr lang="ru-RU" sz="16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(деятелями), исполняющими определенные </a:t>
            </a:r>
            <a:r>
              <a:rPr lang="ru-RU" sz="16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социальные роли</a:t>
            </a:r>
            <a:r>
              <a:rPr lang="ru-RU" sz="16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, требования которых восприняты в процессе социализации в обществе и группе.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В процессе актуального взаимодействия социальные </a:t>
            </a:r>
            <a:r>
              <a:rPr lang="ru-RU" sz="1600" dirty="0" err="1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акторы</a:t>
            </a:r>
            <a:r>
              <a:rPr lang="ru-RU" sz="16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6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играя предписанные роли</a:t>
            </a:r>
            <a:r>
              <a:rPr lang="ru-RU" sz="16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, одновременно импровизируют в ответ на условия складывающейся в процессе взаимодействия ситуации.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u="sng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Эвристика: 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600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Социальном взаимодействии осуществляется сращивание </a:t>
            </a:r>
            <a:r>
              <a:rPr lang="ru-RU" sz="1600" b="1" dirty="0">
                <a:solidFill>
                  <a:srgbClr val="373D3F"/>
                </a:solidFill>
                <a:effectLst/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социальной преемственности и развития.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2. Объясняет </a:t>
            </a:r>
            <a:r>
              <a:rPr lang="ru-RU" sz="1600" b="1" dirty="0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трансформацию</a:t>
            </a:r>
            <a:r>
              <a:rPr lang="ru-RU" sz="1600" dirty="0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социальных фактов.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3. Мир создается в процессе коллективных интеракций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u="sng" dirty="0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Критика: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Невозможность познать </a:t>
            </a:r>
            <a:r>
              <a:rPr lang="ru-RU" sz="1600" dirty="0">
                <a:solidFill>
                  <a:srgbClr val="373D3F"/>
                </a:solidFill>
                <a:latin typeface="Lora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объективную реальность (истину), так всё – комплекс субъективных историй.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881237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52AF8-DEC8-4F19-85F6-45FDB4B26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EB4EEAF3-DACC-421B-92F0-C4D1127315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734" y="609600"/>
            <a:ext cx="8128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6086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F2EA9-F711-4FF1-8B95-1EEF1439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Социальный институт: структурный элемент общества, поддерживают порядок в обществе.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32C870-3260-49C0-849F-3D2A923F0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771775"/>
            <a:ext cx="9601200" cy="3581400"/>
          </a:xfrm>
        </p:spPr>
        <p:txBody>
          <a:bodyPr>
            <a:normAutofit/>
          </a:bodyPr>
          <a:lstStyle/>
          <a:p>
            <a:pPr indent="342900" algn="just"/>
            <a:r>
              <a:rPr lang="ru-RU" sz="1600" b="1" i="0" dirty="0">
                <a:solidFill>
                  <a:srgbClr val="434343"/>
                </a:solidFill>
                <a:effectLst/>
                <a:latin typeface="Helvetica Neue"/>
              </a:rPr>
              <a:t>Социальные институты </a:t>
            </a:r>
            <a:r>
              <a:rPr lang="ru-RU" sz="1600" b="0" i="0" dirty="0">
                <a:solidFill>
                  <a:srgbClr val="434343"/>
                </a:solidFill>
                <a:effectLst/>
                <a:latin typeface="Helvetica Neue"/>
              </a:rPr>
              <a:t>– это </a:t>
            </a:r>
            <a:r>
              <a:rPr lang="ru-RU" sz="1600" b="1" i="0" dirty="0">
                <a:solidFill>
                  <a:srgbClr val="434343"/>
                </a:solidFill>
                <a:effectLst/>
                <a:latin typeface="Helvetica Neue"/>
              </a:rPr>
              <a:t>устоявшиеся и организованные образцы поведения, нормы и ценности, которые регулируют и организуют жизнь людей в обществе</a:t>
            </a:r>
            <a:r>
              <a:rPr lang="ru-RU" sz="1600" b="0" i="0" dirty="0">
                <a:solidFill>
                  <a:srgbClr val="434343"/>
                </a:solidFill>
                <a:effectLst/>
                <a:latin typeface="Helvetica Neue"/>
              </a:rPr>
              <a:t>. </a:t>
            </a:r>
          </a:p>
          <a:p>
            <a:pPr indent="342900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Общественные институты представляют собой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исторически сложившиеся, устойчивые типы и формы совместной деятельности людей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при помощи которых организуется социальная жизнь, обеспечивается стабильность общества. Социальные институты, являющиеся составными элементами сфер жизни общества, одновременно можно рассматривать и как самостоятельные части общественного организма. </a:t>
            </a:r>
          </a:p>
          <a:p>
            <a:pPr indent="342900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то же время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фундаментальные институты подразделяются на более мелкие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Например, такой общественный институт как государство содержит в себе институты президентства, парламентаризма, местного самоуправления и др.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0418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8F88DD-6454-4EEB-A236-AB58874C9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434343"/>
                </a:solidFill>
                <a:latin typeface="Helvetica Neue"/>
              </a:rPr>
              <a:t>Социальные институты играют важную роль в понимании и анализе общества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0E3C4F-F95D-44AD-8138-F23D3B9A2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dirty="0">
                <a:solidFill>
                  <a:srgbClr val="434343"/>
                </a:solidFill>
                <a:latin typeface="Helvetica Neue"/>
              </a:rPr>
              <a:t>М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огут быть формальными или неформальными:</a:t>
            </a:r>
          </a:p>
          <a:p>
            <a:pPr algn="l"/>
            <a:r>
              <a:rPr lang="ru-RU" b="1" i="0" dirty="0">
                <a:solidFill>
                  <a:srgbClr val="434343"/>
                </a:solidFill>
                <a:effectLst/>
                <a:latin typeface="Helvetica Neue"/>
              </a:rPr>
              <a:t>Формальные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 институты – это официально установленные правила и нормы, такие как правительство, судебная система, образовательные учреждения и религиозные организации. </a:t>
            </a:r>
          </a:p>
          <a:p>
            <a:pPr algn="l"/>
            <a:r>
              <a:rPr lang="ru-RU" b="1" i="0" dirty="0">
                <a:solidFill>
                  <a:srgbClr val="434343"/>
                </a:solidFill>
                <a:effectLst/>
                <a:latin typeface="Helvetica Neue"/>
              </a:rPr>
              <a:t>Неформальные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 институты – это неофициальные общественные нормы и ценности, которые могут варьироваться в разных культурах и сообществ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7046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C99778-5DCC-47C9-B656-194450EA4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434343"/>
                </a:solidFill>
                <a:latin typeface="Helvetica Neue"/>
              </a:rPr>
              <a:t>Свойства социальных институтов: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96E869-5093-47D4-99DB-2D8983813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Стабильность</a:t>
            </a:r>
          </a:p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Нормативность</a:t>
            </a:r>
          </a:p>
          <a:p>
            <a:r>
              <a:rPr lang="ru-RU" dirty="0" err="1">
                <a:solidFill>
                  <a:srgbClr val="434343"/>
                </a:solidFill>
                <a:latin typeface="Helvetica Neue"/>
              </a:rPr>
              <a:t>Р</a:t>
            </a:r>
            <a:r>
              <a:rPr lang="ru-RU" b="0" i="0" dirty="0" err="1">
                <a:solidFill>
                  <a:srgbClr val="434343"/>
                </a:solidFill>
                <a:effectLst/>
                <a:latin typeface="Helvetica Neue"/>
              </a:rPr>
              <a:t>егулятивность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 </a:t>
            </a:r>
            <a:endParaRPr lang="ru-RU" dirty="0">
              <a:solidFill>
                <a:srgbClr val="434343"/>
              </a:solidFill>
              <a:latin typeface="Helvetica Neue"/>
            </a:endParaRPr>
          </a:p>
          <a:p>
            <a:r>
              <a:rPr lang="ru-RU" dirty="0">
                <a:solidFill>
                  <a:srgbClr val="434343"/>
                </a:solidFill>
                <a:latin typeface="Helvetica Neue"/>
              </a:rPr>
              <a:t>Р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епродуктивность. </a:t>
            </a:r>
          </a:p>
          <a:p>
            <a:endParaRPr lang="ru-RU" dirty="0">
              <a:solidFill>
                <a:srgbClr val="434343"/>
              </a:solidFill>
              <a:latin typeface="Helvetica Neue"/>
            </a:endParaRPr>
          </a:p>
          <a:p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Они предоставляют людям определенные роли, ожидания и правила поведения, которые помогают им ориентироваться в обществе и взаимодействовать с другими людьми.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897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2FACB-B9B4-454A-8965-0A1FBFDF2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434343"/>
                </a:solidFill>
                <a:latin typeface="Helvetica Neue"/>
              </a:rPr>
              <a:t>Значение социальных институтов в обществе</a:t>
            </a:r>
            <a:br>
              <a:rPr lang="ru-RU" b="1" dirty="0">
                <a:solidFill>
                  <a:srgbClr val="434343"/>
                </a:solidFill>
                <a:latin typeface="Helvetica Neue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AA1989-B115-4D36-86CC-5B9CF2EBD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>
                <a:solidFill>
                  <a:srgbClr val="434343"/>
                </a:solidFill>
                <a:latin typeface="Helvetica Neue"/>
              </a:rPr>
              <a:t>У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становленные нормы, правила и ожидания, которые </a:t>
            </a:r>
            <a:r>
              <a:rPr lang="ru-RU" b="1" i="0" dirty="0">
                <a:solidFill>
                  <a:srgbClr val="434343"/>
                </a:solidFill>
                <a:effectLst/>
                <a:latin typeface="Helvetica Neue"/>
              </a:rPr>
              <a:t>регулируют поведение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 людей и </a:t>
            </a:r>
            <a:r>
              <a:rPr lang="ru-RU" b="1" i="0" dirty="0">
                <a:solidFill>
                  <a:srgbClr val="434343"/>
                </a:solidFill>
                <a:effectLst/>
                <a:latin typeface="Helvetica Neue"/>
              </a:rPr>
              <a:t>обеспечивают социальный порядок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.</a:t>
            </a:r>
          </a:p>
          <a:p>
            <a:pPr algn="l"/>
            <a:r>
              <a:rPr lang="ru-RU" dirty="0">
                <a:solidFill>
                  <a:srgbClr val="434343"/>
                </a:solidFill>
                <a:latin typeface="Helvetica Neue"/>
              </a:rPr>
              <a:t>О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беспечение </a:t>
            </a:r>
            <a:r>
              <a:rPr lang="ru-RU" b="1" i="0" dirty="0">
                <a:solidFill>
                  <a:srgbClr val="434343"/>
                </a:solidFill>
                <a:effectLst/>
                <a:latin typeface="Helvetica Neue"/>
              </a:rPr>
              <a:t>стабильности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 и предсказуемости в обществе. Они создают определенные рамки и ограничения, которые помогают людям понять, что считается приемлемым и неприемлемым поведением. </a:t>
            </a:r>
          </a:p>
          <a:p>
            <a:pPr algn="l"/>
            <a:r>
              <a:rPr lang="ru-RU" b="1" dirty="0">
                <a:solidFill>
                  <a:srgbClr val="434343"/>
                </a:solidFill>
                <a:latin typeface="Helvetica Neue"/>
              </a:rPr>
              <a:t>С</a:t>
            </a:r>
            <a:r>
              <a:rPr lang="ru-RU" b="1" i="0" dirty="0">
                <a:solidFill>
                  <a:srgbClr val="434343"/>
                </a:solidFill>
                <a:effectLst/>
                <a:latin typeface="Helvetica Neue"/>
              </a:rPr>
              <a:t>оциализация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. Они передают ценности, нормы и знания от одного поколения к другому. Кроме того, социальные институты обеспечивают регуляцию и контроль в обществе. </a:t>
            </a:r>
          </a:p>
          <a:p>
            <a:pPr algn="l"/>
            <a:r>
              <a:rPr lang="ru-RU" b="1" dirty="0">
                <a:solidFill>
                  <a:srgbClr val="434343"/>
                </a:solidFill>
                <a:latin typeface="Helvetica Neue"/>
              </a:rPr>
              <a:t>Р</a:t>
            </a:r>
            <a:r>
              <a:rPr lang="ru-RU" b="1" i="0" dirty="0">
                <a:solidFill>
                  <a:srgbClr val="434343"/>
                </a:solidFill>
                <a:effectLst/>
                <a:latin typeface="Helvetica Neue"/>
              </a:rPr>
              <a:t>епродукция общества</a:t>
            </a:r>
            <a:r>
              <a:rPr lang="ru-RU" b="0" i="0" dirty="0">
                <a:solidFill>
                  <a:srgbClr val="434343"/>
                </a:solidFill>
                <a:effectLst/>
                <a:latin typeface="Helvetica Neue"/>
              </a:rPr>
              <a:t>. Они обеспечивают продолжение и размножение общественных норм, ценностей и институтов через поколения.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9072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F2EA0-935D-4E89-B2EC-4C634FBA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434343"/>
                </a:solidFill>
                <a:latin typeface="Helvetica Neue"/>
              </a:rPr>
              <a:t>Свойства социальных институтов</a:t>
            </a:r>
            <a:br>
              <a:rPr lang="ru-RU" b="1" dirty="0">
                <a:solidFill>
                  <a:srgbClr val="434343"/>
                </a:solidFill>
                <a:latin typeface="Helvetica Neue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1680A9-8EFC-4041-B672-0B8A0B1BF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4277360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1" i="0" dirty="0">
                <a:solidFill>
                  <a:srgbClr val="434343"/>
                </a:solidFill>
                <a:effectLst/>
                <a:latin typeface="Helvetica Neue"/>
              </a:rPr>
              <a:t>Нормативность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 dirty="0">
                <a:solidFill>
                  <a:srgbClr val="434343"/>
                </a:solidFill>
                <a:effectLst/>
                <a:latin typeface="Helvetica Neue"/>
              </a:rPr>
              <a:t>Социальные институты </a:t>
            </a:r>
            <a:r>
              <a:rPr lang="ru-RU" sz="1600" b="1" i="0" dirty="0">
                <a:solidFill>
                  <a:srgbClr val="434343"/>
                </a:solidFill>
                <a:effectLst/>
                <a:latin typeface="Helvetica Neue"/>
              </a:rPr>
              <a:t>устанавливают нормы и правила поведения</a:t>
            </a:r>
            <a:r>
              <a:rPr lang="ru-RU" sz="1600" b="0" i="0" dirty="0">
                <a:solidFill>
                  <a:srgbClr val="434343"/>
                </a:solidFill>
                <a:effectLst/>
                <a:latin typeface="Helvetica Neue"/>
              </a:rPr>
              <a:t>, которые регулируют взаимодействие людей в обществе. Они определяют, что считается приемлемым и неприемлемым, что является правильным и неправильным. Нормы и правила социальных институтов формируют основу для социального контроля и поддержания порядка в обществе.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1" i="0" dirty="0">
                <a:solidFill>
                  <a:srgbClr val="434343"/>
                </a:solidFill>
                <a:effectLst/>
                <a:latin typeface="Helvetica Neue"/>
              </a:rPr>
              <a:t>Устойчивость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 dirty="0">
                <a:solidFill>
                  <a:srgbClr val="434343"/>
                </a:solidFill>
                <a:effectLst/>
                <a:latin typeface="Helvetica Neue"/>
              </a:rPr>
              <a:t>Социальные институты обладают устойчивостью и долговечностью. Они существуют и функционируют в обществе </a:t>
            </a:r>
            <a:r>
              <a:rPr lang="ru-RU" sz="1600" b="1" i="0" dirty="0">
                <a:solidFill>
                  <a:srgbClr val="434343"/>
                </a:solidFill>
                <a:effectLst/>
                <a:latin typeface="Helvetica Neue"/>
              </a:rPr>
              <a:t>на протяжении длительного времени</a:t>
            </a:r>
            <a:r>
              <a:rPr lang="ru-RU" sz="1600" b="0" i="0" dirty="0">
                <a:solidFill>
                  <a:srgbClr val="434343"/>
                </a:solidFill>
                <a:effectLst/>
                <a:latin typeface="Helvetica Neue"/>
              </a:rPr>
              <a:t>. Институты могут изменяться и приспосабливаться к новым условиям, но их основные принципы и ценности остаются стабильными.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1" i="0" dirty="0">
                <a:solidFill>
                  <a:srgbClr val="434343"/>
                </a:solidFill>
                <a:effectLst/>
                <a:latin typeface="Helvetica Neue"/>
              </a:rPr>
              <a:t>Иерархичность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 dirty="0">
                <a:solidFill>
                  <a:srgbClr val="434343"/>
                </a:solidFill>
                <a:effectLst/>
                <a:latin typeface="Helvetica Neue"/>
              </a:rPr>
              <a:t>Социальные институты часто </a:t>
            </a:r>
            <a:r>
              <a:rPr lang="ru-RU" sz="1600" b="1" i="0" dirty="0">
                <a:solidFill>
                  <a:srgbClr val="434343"/>
                </a:solidFill>
                <a:effectLst/>
                <a:latin typeface="Helvetica Neue"/>
              </a:rPr>
              <a:t>имеют иерархическую структуру</a:t>
            </a:r>
            <a:r>
              <a:rPr lang="ru-RU" sz="1600" b="0" i="0" dirty="0">
                <a:solidFill>
                  <a:srgbClr val="434343"/>
                </a:solidFill>
                <a:effectLst/>
                <a:latin typeface="Helvetica Neue"/>
              </a:rPr>
              <a:t>. Они включают в себя различные уровни и подразделения, которые выполняют определенные функции и обладают определенной властью.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1" i="0" dirty="0">
                <a:solidFill>
                  <a:srgbClr val="434343"/>
                </a:solidFill>
                <a:effectLst/>
                <a:latin typeface="Helvetica Neue"/>
              </a:rPr>
              <a:t>Легитимность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 dirty="0">
                <a:solidFill>
                  <a:srgbClr val="434343"/>
                </a:solidFill>
                <a:effectLst/>
                <a:latin typeface="Helvetica Neue"/>
              </a:rPr>
              <a:t>Социальные институты обладают легитимностью, то есть признанием и поддержкой со стороны общества. </a:t>
            </a:r>
            <a:r>
              <a:rPr lang="ru-RU" sz="1600" b="1" i="0" dirty="0">
                <a:solidFill>
                  <a:srgbClr val="434343"/>
                </a:solidFill>
                <a:effectLst/>
                <a:latin typeface="Helvetica Neue"/>
              </a:rPr>
              <a:t>Люди признают и принимают институты </a:t>
            </a:r>
            <a:r>
              <a:rPr lang="ru-RU" sz="1600" b="0" i="0" dirty="0">
                <a:solidFill>
                  <a:srgbClr val="434343"/>
                </a:solidFill>
                <a:effectLst/>
                <a:latin typeface="Helvetica Neue"/>
              </a:rPr>
              <a:t>как необходимые и полезные для общества.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1" i="0" dirty="0">
                <a:solidFill>
                  <a:srgbClr val="434343"/>
                </a:solidFill>
                <a:effectLst/>
                <a:latin typeface="Helvetica Neue"/>
              </a:rPr>
              <a:t>Функциональность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 dirty="0">
                <a:solidFill>
                  <a:srgbClr val="434343"/>
                </a:solidFill>
                <a:effectLst/>
                <a:latin typeface="Helvetica Neue"/>
              </a:rPr>
              <a:t>Социальные институты </a:t>
            </a:r>
            <a:r>
              <a:rPr lang="ru-RU" sz="1600" b="1" i="0" dirty="0">
                <a:solidFill>
                  <a:srgbClr val="434343"/>
                </a:solidFill>
                <a:effectLst/>
                <a:latin typeface="Helvetica Neue"/>
              </a:rPr>
              <a:t>выполняют определенные функции </a:t>
            </a:r>
            <a:r>
              <a:rPr lang="ru-RU" sz="1600" b="0" i="0" dirty="0">
                <a:solidFill>
                  <a:srgbClr val="434343"/>
                </a:solidFill>
                <a:effectLst/>
                <a:latin typeface="Helvetica Neue"/>
              </a:rPr>
              <a:t>в обществе. Они обеспечивают управление, регулирование, защиту прав и свобод граждан, обеспечивают социальную справедливость и развитие общества. Каждый институт имеет свои специфические функции, которые направлены на достижение определенных целей и задач.</a:t>
            </a:r>
          </a:p>
        </p:txBody>
      </p:sp>
    </p:spTree>
    <p:extLst>
      <p:ext uri="{BB962C8B-B14F-4D97-AF65-F5344CB8AC3E}">
        <p14:creationId xmlns:p14="http://schemas.microsoft.com/office/powerpoint/2010/main" val="2753021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E54CA1-F2B7-4335-83FD-02D501E5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434343"/>
                </a:solidFill>
                <a:effectLst/>
                <a:latin typeface="Helvetica Neue"/>
              </a:rPr>
              <a:t>Таблица социальных институтов</a:t>
            </a:r>
            <a:br>
              <a:rPr lang="ru-RU" b="1" i="0" dirty="0">
                <a:solidFill>
                  <a:srgbClr val="434343"/>
                </a:solidFill>
                <a:effectLst/>
                <a:latin typeface="Helvetica Neue"/>
              </a:rPr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34EF716-5A0E-4570-B570-555C289D1E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1628455"/>
              </p:ext>
            </p:extLst>
          </p:nvPr>
        </p:nvGraphicFramePr>
        <p:xfrm>
          <a:off x="965199" y="1693333"/>
          <a:ext cx="10778065" cy="5079998"/>
        </p:xfrm>
        <a:graphic>
          <a:graphicData uri="http://schemas.openxmlformats.org/drawingml/2006/table">
            <a:tbl>
              <a:tblPr/>
              <a:tblGrid>
                <a:gridCol w="2155613">
                  <a:extLst>
                    <a:ext uri="{9D8B030D-6E8A-4147-A177-3AD203B41FA5}">
                      <a16:colId xmlns:a16="http://schemas.microsoft.com/office/drawing/2014/main" val="1852571177"/>
                    </a:ext>
                  </a:extLst>
                </a:gridCol>
                <a:gridCol w="2155613">
                  <a:extLst>
                    <a:ext uri="{9D8B030D-6E8A-4147-A177-3AD203B41FA5}">
                      <a16:colId xmlns:a16="http://schemas.microsoft.com/office/drawing/2014/main" val="2639543427"/>
                    </a:ext>
                  </a:extLst>
                </a:gridCol>
                <a:gridCol w="2155613">
                  <a:extLst>
                    <a:ext uri="{9D8B030D-6E8A-4147-A177-3AD203B41FA5}">
                      <a16:colId xmlns:a16="http://schemas.microsoft.com/office/drawing/2014/main" val="2700139383"/>
                    </a:ext>
                  </a:extLst>
                </a:gridCol>
                <a:gridCol w="2155613">
                  <a:extLst>
                    <a:ext uri="{9D8B030D-6E8A-4147-A177-3AD203B41FA5}">
                      <a16:colId xmlns:a16="http://schemas.microsoft.com/office/drawing/2014/main" val="217769536"/>
                    </a:ext>
                  </a:extLst>
                </a:gridCol>
                <a:gridCol w="2155613">
                  <a:extLst>
                    <a:ext uri="{9D8B030D-6E8A-4147-A177-3AD203B41FA5}">
                      <a16:colId xmlns:a16="http://schemas.microsoft.com/office/drawing/2014/main" val="2970259268"/>
                    </a:ext>
                  </a:extLst>
                </a:gridCol>
              </a:tblGrid>
              <a:tr h="272524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dirty="0">
                          <a:effectLst/>
                        </a:rPr>
                        <a:t>Институт</a:t>
                      </a:r>
                    </a:p>
                  </a:txBody>
                  <a:tcPr marL="9230" marR="9230" marT="9230" marB="9230" anchor="b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E2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>
                          <a:effectLst/>
                        </a:rPr>
                        <a:t>Определение</a:t>
                      </a:r>
                    </a:p>
                  </a:txBody>
                  <a:tcPr marL="9230" marR="9230" marT="9230" marB="9230" anchor="b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>
                          <a:effectLst/>
                        </a:rPr>
                        <a:t>Примеры</a:t>
                      </a:r>
                    </a:p>
                  </a:txBody>
                  <a:tcPr marL="9230" marR="9230" marT="9230" marB="9230" anchor="b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E7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>
                          <a:effectLst/>
                        </a:rPr>
                        <a:t>Свойства</a:t>
                      </a:r>
                    </a:p>
                  </a:txBody>
                  <a:tcPr marL="9230" marR="9230" marT="9230" marB="9230" anchor="b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E5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>
                          <a:effectLst/>
                        </a:rPr>
                        <a:t>Влияние на поведение</a:t>
                      </a:r>
                    </a:p>
                  </a:txBody>
                  <a:tcPr marL="9230" marR="9230" marT="9230" marB="9230" anchor="b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E7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329744"/>
                  </a:ext>
                </a:extLst>
              </a:tr>
              <a:tr h="1594934">
                <a:tc>
                  <a:txBody>
                    <a:bodyPr/>
                    <a:lstStyle/>
                    <a:p>
                      <a:pPr fontAlgn="t"/>
                      <a:r>
                        <a:rPr lang="ru-RU" sz="1200" dirty="0">
                          <a:effectLst/>
                        </a:rPr>
                        <a:t>Семья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Группа людей, связанных браком или кровными узами, которая обеспечивает воспроизводство и социализацию новых поколений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Родители и дети, бабушки и дедушки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Биологическая основа, родственные связи, роли и обязанности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Формирует основы морали, норм и ценностей, влияет на развитие личности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976274"/>
                  </a:ext>
                </a:extLst>
              </a:tr>
              <a:tr h="1145716">
                <a:tc>
                  <a:txBody>
                    <a:bodyPr/>
                    <a:lstStyle/>
                    <a:p>
                      <a:pPr fontAlgn="t"/>
                      <a:r>
                        <a:rPr lang="ru-RU" sz="1200" dirty="0">
                          <a:effectLst/>
                        </a:rPr>
                        <a:t>Образование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Система формального обучения и передачи знаний, навыков и ценностей от одного поколения к другому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Школы, университеты, колледжи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Учебные программы, учителя, структура и организация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 dirty="0">
                          <a:effectLst/>
                        </a:rPr>
                        <a:t>Формирует культурные и профессиональные навыки, определяет возможности для будущей карьеры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429043"/>
                  </a:ext>
                </a:extLst>
              </a:tr>
              <a:tr h="1145716">
                <a:tc>
                  <a:txBody>
                    <a:bodyPr/>
                    <a:lstStyle/>
                    <a:p>
                      <a:pPr fontAlgn="t"/>
                      <a:r>
                        <a:rPr lang="ru-RU" sz="1200" dirty="0">
                          <a:effectLst/>
                        </a:rPr>
                        <a:t>Религия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Система верований, обрядов и ценностей, связанных с верой в сверхъестественное и связанных с ними практик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Христианство, ислам, буддизм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Священные тексты, ритуалы, духовные лидеры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 dirty="0">
                          <a:effectLst/>
                        </a:rPr>
                        <a:t>Определяет моральные и этические нормы, влияет на поведение и мировоззрение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373606"/>
                  </a:ext>
                </a:extLst>
              </a:tr>
              <a:tr h="921108">
                <a:tc>
                  <a:txBody>
                    <a:bodyPr/>
                    <a:lstStyle/>
                    <a:p>
                      <a:pPr fontAlgn="t"/>
                      <a:r>
                        <a:rPr lang="ru-RU" sz="1200" dirty="0">
                          <a:effectLst/>
                        </a:rPr>
                        <a:t>Экономика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 dirty="0">
                          <a:effectLst/>
                        </a:rPr>
                        <a:t>Система производства, распределения и потребления товаров и услуг в обществе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 dirty="0">
                          <a:effectLst/>
                        </a:rPr>
                        <a:t>Компании, банки, рынки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 dirty="0">
                          <a:effectLst/>
                        </a:rPr>
                        <a:t>Рыночные отношения, предпринимательство, деньги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 dirty="0">
                          <a:effectLst/>
                        </a:rPr>
                        <a:t>Определяет доступ к ресурсам, влияет на уровень жизни и социальное положение</a:t>
                      </a:r>
                    </a:p>
                  </a:txBody>
                  <a:tcPr marL="9230" marR="9230" marT="9230" marB="923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539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110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BE05D0-9AF0-451F-AE1F-33B0C5A6A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Группы общественных институтов:</a:t>
            </a:r>
            <a:b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533A68-0F68-4AD9-BE03-C3A58115F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342900" algn="just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институты экономики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которые обеспечивают жизнедеятельность общества путем производства, распределения и обмена благ и услуг. Экономическими институтами являются такие институты, как рынок, деньги, собственность и т.д.;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политические институты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организуют и упорядочивают общественную жизнь, к ним относятся институты государства, разделения властей, выборов и проч.; 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социальные институты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обеспечивают воспроизводство членов общества и их социализацию, к ним относятся институты брака, семьи, отцовства, материнства и т.д.;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институтами духовной сферы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общества будут наука, религия, образование, общественное мнение и т.д.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br>
              <a:rPr lang="ru-RU" dirty="0">
                <a:effectLst/>
                <a:latin typeface="TimesNewRoman"/>
                <a:ea typeface="Calibri" panose="020F0502020204030204" pitchFamily="34" charset="0"/>
                <a:cs typeface="TimesNewRoman"/>
              </a:rPr>
            </a:br>
            <a:r>
              <a:rPr lang="ru-RU" dirty="0">
                <a:effectLst/>
                <a:latin typeface="TimesNewRoman"/>
                <a:ea typeface="Calibri" panose="020F0502020204030204" pitchFamily="34" charset="0"/>
                <a:cs typeface="TimesNewRoman"/>
              </a:rPr>
              <a:t> 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2250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B3E4D6-8493-43DA-AD2B-37D3EDF48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Социальные общности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4BD29F-C179-46A6-8494-5FA8868E6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2400"/>
            <a:ext cx="9601200" cy="47498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Социальная общность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 – это эмпирически (опытным путём) фиксируемая совокупность индивидов, отличающаяся относительной целостностью и выступающая субъектом социального действия.</a:t>
            </a:r>
          </a:p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Виды связи между участниками социальной общности:</a:t>
            </a:r>
            <a:endParaRPr lang="ru-RU" b="1" i="0" dirty="0">
              <a:solidFill>
                <a:srgbClr val="555555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осознанная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 (молодёжь, студенты);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неосознанная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 (пассажиры в транспорте, покупатели в магазине, зрители в зале).</a:t>
            </a:r>
          </a:p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Виды социальных общностей.</a:t>
            </a:r>
            <a:endParaRPr lang="ru-RU" b="1" i="0" dirty="0">
              <a:solidFill>
                <a:srgbClr val="555555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По количественному составу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: от нескольких человек (друзья) до масс (массовое движение антиглобалистов).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По продолжительности существования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: от кратковременных (зрелищное мероприятие) до существующих тысячелетиями этносов.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По характеру связей между индивидами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: от сплочённых коллективов (работники фирмы) до аморфных образований, то есть лишённых чёткости образования (участники клуба фанатов).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В зависимости от признака, по которому образована общность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: демографические, культурные, религиозные и др.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618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507BB-C51B-4CA3-8C25-51750426C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E09BD89-BCE0-43C4-8D9A-1600BAF683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51331"/>
            <a:ext cx="10080226" cy="435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488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EAABEF-D686-4BCD-A5C9-8BC58A3C2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Социальная группа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F6E6A2-C339-4AF8-A40D-78D2CC32A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Социальная группа 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– это объединение людей, которые связано общественно значимым признаком, осознают свою принадлежность к данной группе, следуют определённым правилам, регулирующим устойчивое взаимодействие участников.</a:t>
            </a:r>
          </a:p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Признаки социальной группы:</a:t>
            </a:r>
            <a:endParaRPr lang="ru-RU" b="1" i="0" dirty="0">
              <a:solidFill>
                <a:srgbClr val="555555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наличие общих интересов, целей, видов деятельности;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устойчивое взаимодействие между членами группы;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относительно высокая степень сплочённости;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осознание своей принадлежности к группе;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признание членами данной группы со стороны внешнего окружения.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6528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2EA804B-8BB8-4770-A6EA-00D90D1D7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333" y="639235"/>
            <a:ext cx="9601200" cy="3581400"/>
          </a:xfrm>
        </p:spPr>
        <p:txBody>
          <a:bodyPr>
            <a:noAutofit/>
          </a:bodyPr>
          <a:lstStyle/>
          <a:p>
            <a:pPr algn="l"/>
            <a:r>
              <a:rPr lang="ru-RU" sz="14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Малая группа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 в</a:t>
            </a:r>
            <a:r>
              <a:rPr lang="ru-RU" sz="1400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ключает в себя, согласно разным точкам зрения, от 8-10 до 30-40 человек (такие группы называют иногда </a:t>
            </a:r>
            <a:r>
              <a:rPr lang="ru-RU" sz="1400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средними)</a:t>
            </a:r>
            <a:r>
              <a:rPr lang="ru-RU" sz="1400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, отличается непосредственным личным общением участников, их совместной деятельностью, психологической общностью, воздействием членов друг на друга (школьный класс, семья, друзья, спортивная команда, студенческая группа, производственная бригада).</a:t>
            </a:r>
          </a:p>
          <a:p>
            <a:pPr algn="l"/>
            <a:r>
              <a:rPr lang="ru-RU" sz="14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Характерные особенности малой группы:</a:t>
            </a:r>
            <a:endParaRPr lang="ru-RU" sz="1400" b="1" i="0" dirty="0">
              <a:solidFill>
                <a:srgbClr val="555555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малочисленность (от 2 до 25 человек),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пространственная близость членов,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непосредственность и постоянство контактов,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общность интересов, целей и норм поведения,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неформальный контроль за поведением членов.</a:t>
            </a:r>
          </a:p>
          <a:p>
            <a:pPr algn="l"/>
            <a:r>
              <a:rPr lang="ru-RU" sz="14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Большая группа </a:t>
            </a:r>
            <a:r>
              <a:rPr lang="ru-RU" sz="1400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– это совокупность людей, не имеющих между собой постоянных и непосредственных контактов</a:t>
            </a:r>
            <a:r>
              <a:rPr lang="ru-RU" sz="1400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, </a:t>
            </a:r>
            <a:r>
              <a:rPr lang="ru-RU" sz="1400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но объединённых осознанием принадлежности к группе (профессорско-преподавательский состав вуза, работники предприятия, жители города, классы, нации, молодёжь, пенсионеры и т. д.)</a:t>
            </a:r>
          </a:p>
          <a:p>
            <a:pPr algn="l"/>
            <a:r>
              <a:rPr lang="ru-RU" sz="14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Виды больших групп по характеру взаимодействия.</a:t>
            </a:r>
            <a:endParaRPr lang="ru-RU" sz="1400" b="1" i="0" dirty="0">
              <a:solidFill>
                <a:srgbClr val="555555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Большая группа</a:t>
            </a:r>
            <a:r>
              <a:rPr lang="ru-RU" sz="1400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 может быть 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организованной</a:t>
            </a:r>
            <a:r>
              <a:rPr lang="ru-RU" sz="1400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 (профессиональная группа, общественная или религиозная организация);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и 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неорганизованной </a:t>
            </a:r>
            <a:r>
              <a:rPr lang="ru-RU" sz="1400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(толпа); участники   не имеют общей цели и не взаимодействуют друг с другом (например, учителя. мужчины/женщины, участники шествия «бессмертный полк»).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81611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38EFC0E-2756-4C4C-8947-AF7ADE046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880533"/>
            <a:ext cx="9601200" cy="5613400"/>
          </a:xfrm>
        </p:spPr>
        <p:txBody>
          <a:bodyPr>
            <a:normAutofit/>
          </a:bodyPr>
          <a:lstStyle/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Формальные группы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 – это группы, созданные специально, </a:t>
            </a:r>
            <a:r>
              <a:rPr lang="ru-RU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официально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, в них имеется определённая организация, основанная на иерархии, предполагающая наличие должностей с соответствующими правами и обязанностями. Формальные отношения между людьми обусловлены их должностным положением, а </a:t>
            </a:r>
            <a:r>
              <a:rPr lang="ru-RU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не личными качествами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. Формальные группы чаще всего представляют собой учебные или производственные коллективы.</a:t>
            </a:r>
          </a:p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Неформальные группы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 основываются на непостоянном взаимодействии участников, не имеют установленной иерархии, предполагают свободный вход и выход (например, зрители кинотеатра, компания сверстников, участники фестиваля).</a:t>
            </a:r>
          </a:p>
          <a:p>
            <a:r>
              <a:rPr lang="ru-RU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Неформальные группы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 – это группы, созданные </a:t>
            </a:r>
            <a:r>
              <a:rPr lang="ru-RU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стихийно, неофициально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, в них отсутствуют фиксированные цели и должности, отношений и нормы определяются непосредственно </a:t>
            </a:r>
            <a:r>
              <a:rPr lang="ru-RU" b="1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личными качествами людей</a:t>
            </a: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; нет ясно регулируемых правил членства, вступления и выхода из группы; члены неформальной группы хорошо знают друг друга, часто видятся, встречаются и находятся в отношениях доверия. К неформальным группам относят соседей по общежитию, компании в быту или на работе, объединения по интересам и т. д.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9954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FCF94A-805A-4361-A404-8B7B7B2E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00000"/>
                </a:solidFill>
                <a:latin typeface="Open Sans" panose="020B0606030504020204" pitchFamily="34" charset="0"/>
              </a:rPr>
              <a:t>Роль социальных групп в обществе.</a:t>
            </a:r>
            <a:br>
              <a:rPr lang="ru-RU" b="1" dirty="0">
                <a:solidFill>
                  <a:srgbClr val="555555"/>
                </a:solidFill>
                <a:latin typeface="Open Sans" panose="020B060603050402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A5038E-AD04-4939-B0FC-0DA9C0538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обеспечивают связь человека с обществом; человек усваивает ценности благодаря тому, что его жизнь связана с другими людьми — членами тех групп, в которые он входит.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оказывают влияние на личные качества человека, характер, речь, мышление, интересы, человек формирует эти качества, общаясь с родителями, друзьями, родственниками;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в группе рождаются нормы, правила, обычаи, традиции, ритуалы, церемонии, закладывается фундамент социальной жизни.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группа помогает человеку жить и выживать;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группы — своеобразные «двигатели» общественного развития, без их усилий никакие изменения в обществе происходить не могут;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от того, из каких групп состоит общество, какие из них занимают лидирующие позиции, зависит тип общества, его общественно-политическое и государственное устройство.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8854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89DA9-7DAF-4C84-9A90-061A74618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Идентичность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883D77-6AC9-4FD4-B2A4-2754D2B1C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Идентичность — это тождественность, одинаковость, совпадение чего-нибудь с чем-нибудь.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В социально-гуманитарном знании идентичность — это осознание человеком самого себя через набор устойчивых характеристик, ответ на вопрос «Кто я?».</a:t>
            </a:r>
          </a:p>
          <a:p>
            <a:pPr algn="l"/>
            <a:endParaRPr lang="ru-RU" dirty="0">
              <a:solidFill>
                <a:srgbClr val="333333"/>
              </a:solidFill>
              <a:latin typeface="YS Text"/>
            </a:endParaRP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Индивидуальная идентичность – самосознание, которое выделяет человека из социума.</a:t>
            </a:r>
          </a:p>
          <a:p>
            <a:pPr algn="l"/>
            <a:r>
              <a:rPr lang="ru-RU" dirty="0">
                <a:solidFill>
                  <a:srgbClr val="333333"/>
                </a:solidFill>
                <a:latin typeface="YS Text"/>
              </a:rPr>
              <a:t>Социальная идентичность – </a:t>
            </a:r>
            <a:r>
              <a:rPr lang="ru-RU" dirty="0" err="1">
                <a:solidFill>
                  <a:srgbClr val="333333"/>
                </a:solidFill>
                <a:latin typeface="YS Text"/>
              </a:rPr>
              <a:t>самосохнание</a:t>
            </a:r>
            <a:r>
              <a:rPr lang="ru-RU" dirty="0">
                <a:solidFill>
                  <a:srgbClr val="333333"/>
                </a:solidFill>
                <a:latin typeface="YS Text"/>
              </a:rPr>
              <a:t>, которое объединяет человека </a:t>
            </a:r>
            <a:r>
              <a:rPr lang="ru-RU">
                <a:solidFill>
                  <a:srgbClr val="333333"/>
                </a:solidFill>
                <a:latin typeface="YS Text"/>
              </a:rPr>
              <a:t>с социумом. </a:t>
            </a:r>
            <a:endParaRPr lang="ru-RU" b="0" i="0" dirty="0">
              <a:solidFill>
                <a:srgbClr val="333333"/>
              </a:solidFill>
              <a:effectLst/>
              <a:latin typeface="YS Text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30313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8ABF3-FF81-4A71-9889-77DFAF348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Задание.</a:t>
            </a:r>
            <a:br>
              <a:rPr lang="ru-RU" dirty="0"/>
            </a:br>
            <a:r>
              <a:rPr lang="ru-RU" b="1" i="0" dirty="0">
                <a:solidFill>
                  <a:srgbClr val="222222"/>
                </a:solidFill>
                <a:effectLst/>
                <a:latin typeface="Ubuntu"/>
              </a:rPr>
              <a:t>Тест Куна: а кто вы такой?</a:t>
            </a:r>
            <a:br>
              <a:rPr lang="ru-RU" b="1" i="0" dirty="0">
                <a:solidFill>
                  <a:srgbClr val="222222"/>
                </a:solidFill>
                <a:effectLst/>
                <a:latin typeface="Ubuntu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8AF1D8-629F-433C-BD35-F8F05A1C2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1. Придумать 20 ответов на вопрос «Кто я?» за 12 минут.</a:t>
            </a:r>
          </a:p>
          <a:p>
            <a:r>
              <a:rPr lang="ru-RU" dirty="0"/>
              <a:t>2. Распределить ответы по степени значимости для себя.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dirty="0"/>
              <a:t>3. Напротив каждого ответа поставить: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ru-RU" b="1" i="0" dirty="0">
                <a:solidFill>
                  <a:srgbClr val="222222"/>
                </a:solidFill>
                <a:effectLst/>
                <a:latin typeface="-apple-system"/>
              </a:rPr>
              <a:t>«+»:</a:t>
            </a:r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 значок «плюс» нужно поставить, если самому человеку данная им же самим характеристика нравится (допустим, смелый, решительный, благородный).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22222"/>
                </a:solidFill>
                <a:effectLst/>
                <a:latin typeface="-apple-system"/>
              </a:rPr>
              <a:t>«-»:</a:t>
            </a:r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 значок «минус» нужно поставить, если сам человек воспринимает данную свою характеристику как отрицательную (нерешительный, безработный).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22222"/>
                </a:solidFill>
                <a:effectLst/>
                <a:latin typeface="-apple-system"/>
              </a:rPr>
              <a:t>«±»:</a:t>
            </a:r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 значок «плюс-минус» ставится в случае, если какую-либо характеристику можно рассматривать и как положительную, и как отрицательную (допустим, инженер умный, но зарабатывает мало).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22222"/>
                </a:solidFill>
                <a:effectLst/>
                <a:latin typeface="-apple-system"/>
              </a:rPr>
              <a:t>«?»:</a:t>
            </a:r>
            <a:r>
              <a:rPr lang="ru-RU" b="0" i="0" dirty="0">
                <a:solidFill>
                  <a:srgbClr val="222222"/>
                </a:solidFill>
                <a:effectLst/>
                <a:latin typeface="-apple-system"/>
              </a:rPr>
              <a:t> знак «вопроса» ставится, если человек не знает, как оценить характеристику, которую он сам себе дал (например, женатый человек).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4892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69BFB-7703-47AD-A08D-8C0B5C0F2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Системный подход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2D45A7-FABF-4973-AE36-370E0A872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342900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Системность общества предполагает обязательное наличие и взаимосвязь элементов. При этом общество следует понимать как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динамичную, открытую, сложноорганизованную, саморазвивающуюся систему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связи с этим в обществе принято выделять подсистемы (сферы жизни общества) и элементы (общественные институты). </a:t>
            </a:r>
          </a:p>
          <a:p>
            <a:pPr indent="342900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Жизнедеятельность общества осуществляется в четырех основных сферах (подсистемах): экономической, социальной, политической, духовной.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90387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4F3BA-FC69-416B-9F61-289A6BD4C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1759535-786E-47E1-ADAA-5F853871F5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353545"/>
              </p:ext>
            </p:extLst>
          </p:nvPr>
        </p:nvGraphicFramePr>
        <p:xfrm>
          <a:off x="1233487" y="361950"/>
          <a:ext cx="9877425" cy="593407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576896">
                  <a:extLst>
                    <a:ext uri="{9D8B030D-6E8A-4147-A177-3AD203B41FA5}">
                      <a16:colId xmlns:a16="http://schemas.microsoft.com/office/drawing/2014/main" val="4172087770"/>
                    </a:ext>
                  </a:extLst>
                </a:gridCol>
                <a:gridCol w="4079409">
                  <a:extLst>
                    <a:ext uri="{9D8B030D-6E8A-4147-A177-3AD203B41FA5}">
                      <a16:colId xmlns:a16="http://schemas.microsoft.com/office/drawing/2014/main" val="3783733936"/>
                    </a:ext>
                  </a:extLst>
                </a:gridCol>
                <a:gridCol w="3221120">
                  <a:extLst>
                    <a:ext uri="{9D8B030D-6E8A-4147-A177-3AD203B41FA5}">
                      <a16:colId xmlns:a16="http://schemas.microsoft.com/office/drawing/2014/main" val="1723994264"/>
                    </a:ext>
                  </a:extLst>
                </a:gridCol>
              </a:tblGrid>
              <a:tr h="32887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Сферы жизни общества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567" marR="3056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Удовлетворяемые потребности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567" marR="3056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Учреждения (организации)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567" marR="30567" marT="0" marB="0"/>
                </a:tc>
                <a:extLst>
                  <a:ext uri="{0D108BD9-81ED-4DB2-BD59-A6C34878D82A}">
                    <a16:rowId xmlns:a16="http://schemas.microsoft.com/office/drawing/2014/main" val="1552529496"/>
                  </a:ext>
                </a:extLst>
              </a:tr>
              <a:tr h="834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экономическая 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567" marR="3056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материальные потребности людей. Здесь осуществляется производство, распределение, обмен и потребление материальных благ и услуг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567" marR="3056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Заводы, фирмы, банки, биржи и т.д.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567" marR="30567" marT="0" marB="0"/>
                </a:tc>
                <a:extLst>
                  <a:ext uri="{0D108BD9-81ED-4DB2-BD59-A6C34878D82A}">
                    <a16:rowId xmlns:a16="http://schemas.microsoft.com/office/drawing/2014/main" val="3525187265"/>
                  </a:ext>
                </a:extLst>
              </a:tr>
              <a:tr h="12468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социальная 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567" marR="3056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потребности людей в контактах, общении и взаимодействии с себе подобными.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Основные элементы: этнические общности, страты, классы, социальные группы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567" marR="3056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Системы здравоохранения, социального обеспечения, коммунальные службы и др.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567" marR="30567" marT="0" marB="0"/>
                </a:tc>
                <a:extLst>
                  <a:ext uri="{0D108BD9-81ED-4DB2-BD59-A6C34878D82A}">
                    <a16:rowId xmlns:a16="http://schemas.microsoft.com/office/drawing/2014/main" val="1634047768"/>
                  </a:ext>
                </a:extLst>
              </a:tr>
              <a:tr h="117180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политическая 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567" marR="3056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потребность в безопасности, правопорядке, законе и организованности. Осуществление общего управления общественными процессами через различные властные структуры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567" marR="3056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Государство, парламент, правительство, политические партии, общественные организации и др.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567" marR="30567" marT="0" marB="0"/>
                </a:tc>
                <a:extLst>
                  <a:ext uri="{0D108BD9-81ED-4DB2-BD59-A6C34878D82A}">
                    <a16:rowId xmlns:a16="http://schemas.microsoft.com/office/drawing/2014/main" val="2788137022"/>
                  </a:ext>
                </a:extLst>
              </a:tr>
              <a:tr h="235191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духовная (культурная) 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567" marR="30567" marT="0" marB="0"/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07000"/>
                        </a:lnSpc>
                      </a:pPr>
                      <a:r>
                        <a:rPr lang="ru-RU" sz="1400" dirty="0">
                          <a:effectLst/>
                        </a:rPr>
                        <a:t>потребности в познании, самореализации, нравственном совершенствовании. Элементы: наука, образование, религия, искусство, мораль. 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567" marR="30567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07000"/>
                        </a:lnSpc>
                      </a:pPr>
                      <a:r>
                        <a:rPr lang="ru-RU" sz="1400" dirty="0">
                          <a:effectLst/>
                        </a:rPr>
                        <a:t>Школы, вузы, театры, музеи, библиотеки, архивы</a:t>
                      </a:r>
                      <a:br>
                        <a:rPr lang="ru-RU" sz="1400" dirty="0">
                          <a:effectLst/>
                        </a:rPr>
                      </a:br>
                      <a:r>
                        <a:rPr lang="ru-RU" sz="1400" dirty="0">
                          <a:effectLst/>
                        </a:rPr>
                        <a:t>и др.</a:t>
                      </a:r>
                    </a:p>
                    <a:p>
                      <a:pPr indent="269875" algn="l">
                        <a:lnSpc>
                          <a:spcPct val="107000"/>
                        </a:lnSpc>
                      </a:pPr>
                      <a:r>
                        <a:rPr lang="ru-RU" sz="1400" dirty="0">
                          <a:effectLst/>
                        </a:rPr>
                        <a:t>Также сюда относятся философские, политические, религиозные, художественные и прочие воззрения людей, их представления об окружающем мире, традиции, обычаи и т.д.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567" marR="30567" marT="0" marB="0"/>
                </a:tc>
                <a:extLst>
                  <a:ext uri="{0D108BD9-81ED-4DB2-BD59-A6C34878D82A}">
                    <a16:rowId xmlns:a16="http://schemas.microsoft.com/office/drawing/2014/main" val="144709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1506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8ABCC1-FC05-7004-AD06-D6FDDCD9C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Читать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A3BD41-8885-ADA1-8EF5-C01BB2F9F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Ссылка при </a:t>
            </a:r>
            <a:r>
              <a:rPr lang="ru-RU" dirty="0" err="1"/>
              <a:t>цитировании:Миллс</a:t>
            </a:r>
            <a:r>
              <a:rPr lang="ru-RU" dirty="0"/>
              <a:t> Чарльз Райт. Социологическое воображение/ Пер. с </a:t>
            </a:r>
            <a:r>
              <a:rPr lang="ru-RU" dirty="0" err="1"/>
              <a:t>англ.О.А</a:t>
            </a:r>
            <a:r>
              <a:rPr lang="ru-RU" dirty="0"/>
              <a:t>. </a:t>
            </a:r>
            <a:r>
              <a:rPr lang="ru-RU" dirty="0" err="1"/>
              <a:t>Оберемко</a:t>
            </a:r>
            <a:r>
              <a:rPr lang="ru-RU" dirty="0"/>
              <a:t> под ред. Г.С. </a:t>
            </a:r>
            <a:r>
              <a:rPr lang="ru-RU" dirty="0" err="1"/>
              <a:t>Батыгина</a:t>
            </a:r>
            <a:r>
              <a:rPr lang="ru-RU" dirty="0"/>
              <a:t>. </a:t>
            </a:r>
            <a:r>
              <a:rPr lang="ru-RU"/>
              <a:t>М.: Стратегия, 1998.Источник: https://www.isras.ru/publ.html?id=691</a:t>
            </a:r>
          </a:p>
        </p:txBody>
      </p:sp>
    </p:spTree>
    <p:extLst>
      <p:ext uri="{BB962C8B-B14F-4D97-AF65-F5344CB8AC3E}">
        <p14:creationId xmlns:p14="http://schemas.microsoft.com/office/powerpoint/2010/main" val="1066925849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4621</TotalTime>
  <Words>3434</Words>
  <Application>Microsoft Office PowerPoint</Application>
  <PresentationFormat>Широкоэкранный</PresentationFormat>
  <Paragraphs>242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52" baseType="lpstr">
      <vt:lpstr>-apple-system</vt:lpstr>
      <vt:lpstr>Arial</vt:lpstr>
      <vt:lpstr>Arial</vt:lpstr>
      <vt:lpstr>Calibri</vt:lpstr>
      <vt:lpstr>Cormorant Garamond</vt:lpstr>
      <vt:lpstr>Franklin Gothic Book</vt:lpstr>
      <vt:lpstr>Helvetica Neue</vt:lpstr>
      <vt:lpstr>Lora</vt:lpstr>
      <vt:lpstr>Open Sans</vt:lpstr>
      <vt:lpstr>Source Sans Pro</vt:lpstr>
      <vt:lpstr>Symbol</vt:lpstr>
      <vt:lpstr>times new roman</vt:lpstr>
      <vt:lpstr>times new roman</vt:lpstr>
      <vt:lpstr>TimesNewRoman</vt:lpstr>
      <vt:lpstr>Ubuntu</vt:lpstr>
      <vt:lpstr>YS Text</vt:lpstr>
      <vt:lpstr>Уголки</vt:lpstr>
      <vt:lpstr>Понятие общества, Общественные отношения.  Связи между подсистемами и элементами общества. Общественные потребности и социальные институты.</vt:lpstr>
      <vt:lpstr>«Общество» или «Социум»?</vt:lpstr>
      <vt:lpstr>Общество - этимология  В этимологическом словаре Крылова Г. А </vt:lpstr>
      <vt:lpstr>Общество - определение</vt:lpstr>
      <vt:lpstr>Общество – это:   Общество в широком смысле представляет собой все человечество в целом в его прошлом, настоящем и будущем, включая все то, что было им создано.  Классическое определение понятия «общество»: </vt:lpstr>
      <vt:lpstr>Социум (от лат. socio – соединение, объединение, совместный труд) </vt:lpstr>
      <vt:lpstr>Функции общества:</vt:lpstr>
      <vt:lpstr>Общественные отношения:</vt:lpstr>
      <vt:lpstr>На уровне социальных общностей выделяют национальные, классовые, групповые и семейные общественные отношения.   Особым видом общественных отношений будут межличностные отношения, которые проявляются на уровне взаимодействия между людьми в группе.  </vt:lpstr>
      <vt:lpstr>Модели общества  </vt:lpstr>
      <vt:lpstr>Органическая парадигма  (О. Конт, Г. Спенсер, Э. Дюркгейм)</vt:lpstr>
      <vt:lpstr>Парадигма социального конфликта (К.Маркс</vt:lpstr>
      <vt:lpstr>Исторический материализм  (К.Маркс, Ф.Энгельс)</vt:lpstr>
      <vt:lpstr>Парадигма структурно-функционального анализа (Т.Парсонс)</vt:lpstr>
      <vt:lpstr>Парадигма социального бихевиоризма (М.Вебер)</vt:lpstr>
      <vt:lpstr>Парадигма социального конструирования реальности (П.Бергер и Т.Лукман)</vt:lpstr>
      <vt:lpstr>Презентация PowerPoint</vt:lpstr>
      <vt:lpstr>Социальный институт: структурный элемент общества, поддерживают порядок в обществе.</vt:lpstr>
      <vt:lpstr>Социальные институты играют важную роль в понимании и анализе общества</vt:lpstr>
      <vt:lpstr>Свойства социальных институтов:</vt:lpstr>
      <vt:lpstr>Значение социальных институтов в обществе </vt:lpstr>
      <vt:lpstr>Свойства социальных институтов </vt:lpstr>
      <vt:lpstr>Таблица социальных институтов </vt:lpstr>
      <vt:lpstr>Группы общественных институтов: </vt:lpstr>
      <vt:lpstr>Социальные общности</vt:lpstr>
      <vt:lpstr>Презентация PowerPoint</vt:lpstr>
      <vt:lpstr>Социальная группа</vt:lpstr>
      <vt:lpstr>Презентация PowerPoint</vt:lpstr>
      <vt:lpstr>Презентация PowerPoint</vt:lpstr>
      <vt:lpstr>Роль социальных групп в обществе. </vt:lpstr>
      <vt:lpstr>Идентичность</vt:lpstr>
      <vt:lpstr>Задание. Тест Куна: а кто вы такой? </vt:lpstr>
      <vt:lpstr>Системный подход</vt:lpstr>
      <vt:lpstr>Презентация PowerPoint</vt:lpstr>
      <vt:lpstr>Читать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Понятие общества, Общественные отношения.  Связи между подсистемами и элементами общества. Общественные потребности и социальные институты.</dc:title>
  <dc:creator>Шумилова Полина Андреевна</dc:creator>
  <cp:lastModifiedBy>Полина Шумилова</cp:lastModifiedBy>
  <cp:revision>39</cp:revision>
  <dcterms:created xsi:type="dcterms:W3CDTF">2024-01-31T14:12:12Z</dcterms:created>
  <dcterms:modified xsi:type="dcterms:W3CDTF">2025-01-26T08:06:22Z</dcterms:modified>
</cp:coreProperties>
</file>