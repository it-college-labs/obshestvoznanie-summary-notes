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360" r:id="rId8"/>
    <p:sldId id="257" r:id="rId9"/>
    <p:sldId id="361" r:id="rId10"/>
    <p:sldId id="362" r:id="rId11"/>
    <p:sldId id="363" r:id="rId12"/>
    <p:sldId id="364" r:id="rId13"/>
    <p:sldId id="365" r:id="rId14"/>
    <p:sldId id="374" r:id="rId15"/>
    <p:sldId id="375" r:id="rId16"/>
    <p:sldId id="388" r:id="rId17"/>
    <p:sldId id="376" r:id="rId18"/>
    <p:sldId id="377" r:id="rId19"/>
    <p:sldId id="378" r:id="rId20"/>
    <p:sldId id="366" r:id="rId21"/>
    <p:sldId id="367" r:id="rId22"/>
    <p:sldId id="368" r:id="rId23"/>
    <p:sldId id="369" r:id="rId24"/>
    <p:sldId id="370" r:id="rId25"/>
    <p:sldId id="371" r:id="rId26"/>
    <p:sldId id="373" r:id="rId27"/>
    <p:sldId id="372" r:id="rId28"/>
    <p:sldId id="379" r:id="rId29"/>
    <p:sldId id="380" r:id="rId30"/>
    <p:sldId id="382" r:id="rId31"/>
    <p:sldId id="381" r:id="rId32"/>
    <p:sldId id="383" r:id="rId33"/>
    <p:sldId id="384" r:id="rId34"/>
    <p:sldId id="385" r:id="rId35"/>
    <p:sldId id="387" r:id="rId36"/>
    <p:sldId id="389" r:id="rId37"/>
    <p:sldId id="386" r:id="rId38"/>
    <p:sldId id="39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uslugi.ru/600311/1/form?_=1625826680179" TargetMode="External"/><Relationship Id="rId2" Type="http://schemas.openxmlformats.org/officeDocument/2006/relationships/hyperlink" Target="https://cbr.ru/ckki/registry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youtube.com/watch?v=6UCuWxWiMaQ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4CED2-A2E3-65AF-3BF6-676C1346A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24036"/>
            <a:ext cx="8361229" cy="1209927"/>
          </a:xfrm>
        </p:spPr>
        <p:txBody>
          <a:bodyPr/>
          <a:lstStyle/>
          <a:p>
            <a:r>
              <a:rPr lang="ru-RU" dirty="0"/>
              <a:t>Банковская система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406CCA-DCE8-A081-1683-1D9951D84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315" y="4524154"/>
            <a:ext cx="6831673" cy="1086237"/>
          </a:xfrm>
        </p:spPr>
        <p:txBody>
          <a:bodyPr/>
          <a:lstStyle/>
          <a:p>
            <a:r>
              <a:rPr lang="ru-RU" dirty="0"/>
              <a:t> Кредиты и ипотека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175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260351"/>
            <a:ext cx="853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/>
              <a:t>Финансы</a:t>
            </a: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752600" y="1066801"/>
            <a:ext cx="8686800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200" b="1" dirty="0"/>
              <a:t>Финансы</a:t>
            </a:r>
            <a:r>
              <a:rPr lang="ru-RU" sz="2200" dirty="0"/>
              <a:t> – совокупность экономических отношений между хозяйствующими субъектами, которые возникают в процессе формирования, распределения и использования фондов денежных средств.</a:t>
            </a:r>
          </a:p>
          <a:p>
            <a:r>
              <a:rPr lang="ru-RU" sz="2200" i="1" dirty="0"/>
              <a:t> </a:t>
            </a:r>
            <a:endParaRPr lang="ru-RU" sz="2200" dirty="0"/>
          </a:p>
          <a:p>
            <a:pPr>
              <a:spcAft>
                <a:spcPts val="1200"/>
              </a:spcAft>
            </a:pPr>
            <a:r>
              <a:rPr lang="ru-RU" sz="2200" i="1" dirty="0"/>
              <a:t>Классификация финансов</a:t>
            </a:r>
            <a:r>
              <a:rPr lang="ru-RU" sz="2200" dirty="0"/>
              <a:t> по субъектам экономики:</a:t>
            </a:r>
          </a:p>
          <a:p>
            <a:pPr>
              <a:spcAft>
                <a:spcPts val="1200"/>
              </a:spcAft>
            </a:pPr>
            <a:r>
              <a:rPr lang="ru-RU" sz="2200" dirty="0"/>
              <a:t>1. </a:t>
            </a:r>
            <a:r>
              <a:rPr lang="ru-RU" sz="2200" b="1" i="1" dirty="0"/>
              <a:t>Публичные финансы</a:t>
            </a:r>
            <a:r>
              <a:rPr lang="ru-RU" sz="2200" dirty="0"/>
              <a:t> – централизованные, государственные и муниципальные финансы.</a:t>
            </a:r>
          </a:p>
          <a:p>
            <a:pPr>
              <a:spcAft>
                <a:spcPts val="1200"/>
              </a:spcAft>
            </a:pPr>
            <a:r>
              <a:rPr lang="ru-RU" sz="2200" dirty="0"/>
              <a:t>2. </a:t>
            </a:r>
            <a:r>
              <a:rPr lang="ru-RU" sz="2200" b="1" i="1" dirty="0"/>
              <a:t>Корпоративные финансы</a:t>
            </a:r>
            <a:r>
              <a:rPr lang="ru-RU" sz="2200" dirty="0"/>
              <a:t> – децентрализованные, финансы предприятий и организаций.</a:t>
            </a:r>
          </a:p>
          <a:p>
            <a:pPr>
              <a:spcAft>
                <a:spcPts val="1200"/>
              </a:spcAft>
            </a:pPr>
            <a:r>
              <a:rPr lang="ru-RU" sz="2200" dirty="0"/>
              <a:t>3. </a:t>
            </a:r>
            <a:r>
              <a:rPr lang="ru-RU" sz="2200" b="1" i="1" dirty="0"/>
              <a:t>Финансы домохозяйств</a:t>
            </a:r>
            <a:r>
              <a:rPr lang="ru-RU" sz="2200" dirty="0"/>
              <a:t> – децентрализованные, личные и семейные финансы.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391400" cy="563562"/>
          </a:xfrm>
          <a:solidFill>
            <a:srgbClr val="D262B5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Финансовая система государства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676400" y="1295400"/>
            <a:ext cx="2133600" cy="1066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2000" b="1" dirty="0">
                <a:latin typeface="Book Antiqua" pitchFamily="18" charset="0"/>
              </a:rPr>
              <a:t>Органы управления финансами</a:t>
            </a:r>
            <a:endParaRPr lang="ru-RU" sz="2000" b="1" dirty="0">
              <a:latin typeface="Book Antiqua" pitchFamily="18" charset="0"/>
              <a:ea typeface="+mj-ea"/>
              <a:cs typeface="Arial" pitchFamily="34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3962400" y="1295400"/>
            <a:ext cx="2133600" cy="1066800"/>
          </a:xfrm>
          <a:prstGeom prst="rect">
            <a:avLst/>
          </a:prstGeom>
          <a:solidFill>
            <a:srgbClr val="99EF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2000" b="1" dirty="0">
                <a:latin typeface="Book Antiqua" pitchFamily="18" charset="0"/>
              </a:rPr>
              <a:t>Финансово-кредитные учреждения</a:t>
            </a:r>
            <a:endParaRPr lang="ru-RU" sz="2000" b="1" dirty="0">
              <a:latin typeface="Book Antiqua" pitchFamily="18" charset="0"/>
              <a:ea typeface="+mj-ea"/>
              <a:cs typeface="Arial" pitchFamily="34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1676400" y="2667000"/>
            <a:ext cx="21336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Министерство финансов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 bwMode="auto">
          <a:xfrm>
            <a:off x="3962400" y="2667000"/>
            <a:ext cx="2133600" cy="685800"/>
          </a:xfrm>
          <a:prstGeom prst="rect">
            <a:avLst/>
          </a:prstGeom>
          <a:solidFill>
            <a:srgbClr val="99EF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Центральный банк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 bwMode="auto">
          <a:xfrm>
            <a:off x="3962400" y="3657600"/>
            <a:ext cx="2133600" cy="685800"/>
          </a:xfrm>
          <a:prstGeom prst="rect">
            <a:avLst/>
          </a:prstGeom>
          <a:solidFill>
            <a:srgbClr val="99EF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Коммерческие банки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3581400" y="4572000"/>
            <a:ext cx="2514600" cy="609600"/>
          </a:xfrm>
          <a:prstGeom prst="rect">
            <a:avLst/>
          </a:prstGeom>
          <a:solidFill>
            <a:srgbClr val="99EFA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1600" dirty="0"/>
              <a:t>Специализированные финансовые институты</a:t>
            </a:r>
            <a:endParaRPr lang="ru-RU" sz="1600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 bwMode="auto">
          <a:xfrm>
            <a:off x="6248400" y="1295400"/>
            <a:ext cx="2133600" cy="1066800"/>
          </a:xfrm>
          <a:prstGeom prst="rect">
            <a:avLst/>
          </a:prstGeom>
          <a:solidFill>
            <a:srgbClr val="98F0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2000" b="1" dirty="0">
                <a:latin typeface="Book Antiqua" pitchFamily="18" charset="0"/>
              </a:rPr>
              <a:t>Финансовые ресурсы</a:t>
            </a:r>
            <a:endParaRPr lang="ru-RU" sz="2000" b="1" dirty="0">
              <a:latin typeface="Book Antiqua" pitchFamily="18" charset="0"/>
              <a:ea typeface="+mj-ea"/>
              <a:cs typeface="Arial" pitchFamily="34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 bwMode="auto">
          <a:xfrm>
            <a:off x="6248400" y="2667000"/>
            <a:ext cx="2133600" cy="685800"/>
          </a:xfrm>
          <a:prstGeom prst="rect">
            <a:avLst/>
          </a:prstGeom>
          <a:solidFill>
            <a:srgbClr val="98F0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Бюджетная система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 bwMode="auto">
          <a:xfrm>
            <a:off x="6248400" y="3657600"/>
            <a:ext cx="2133600" cy="685800"/>
          </a:xfrm>
          <a:prstGeom prst="rect">
            <a:avLst/>
          </a:prstGeom>
          <a:solidFill>
            <a:srgbClr val="98F0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Внебюджетные фонды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 bwMode="auto">
          <a:xfrm>
            <a:off x="6248400" y="4572000"/>
            <a:ext cx="2133600" cy="914400"/>
          </a:xfrm>
          <a:prstGeom prst="rect">
            <a:avLst/>
          </a:prstGeom>
          <a:solidFill>
            <a:srgbClr val="98F0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Финансы предприятий и домохозяйств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 bwMode="auto">
          <a:xfrm>
            <a:off x="8534400" y="1295400"/>
            <a:ext cx="2133600" cy="1066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sz="2000" b="1" dirty="0">
                <a:latin typeface="Book Antiqua" pitchFamily="18" charset="0"/>
              </a:rPr>
              <a:t>Нормы финансовой деятельности</a:t>
            </a:r>
            <a:endParaRPr lang="ru-RU" sz="2000" b="1" dirty="0">
              <a:latin typeface="Book Antiqua" pitchFamily="18" charset="0"/>
              <a:ea typeface="+mj-ea"/>
              <a:cs typeface="Arial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 bwMode="auto">
          <a:xfrm>
            <a:off x="8534400" y="2667000"/>
            <a:ext cx="21336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Финансовое право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6" name="Заголовок 1"/>
          <p:cNvSpPr txBox="1">
            <a:spLocks/>
          </p:cNvSpPr>
          <p:nvPr/>
        </p:nvSpPr>
        <p:spPr bwMode="auto">
          <a:xfrm>
            <a:off x="8534400" y="3657600"/>
            <a:ext cx="21336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ru-RU" dirty="0"/>
              <a:t>Финансово-правовые акты</a:t>
            </a:r>
            <a:endParaRPr lang="ru-RU" b="1" dirty="0">
              <a:latin typeface="Arial" pitchFamily="34" charset="0"/>
              <a:ea typeface="+mj-ea"/>
              <a:cs typeface="Arial" pitchFamily="34" charset="0"/>
            </a:endParaRPr>
          </a:p>
        </p:txBody>
      </p:sp>
      <p:cxnSp>
        <p:nvCxnSpPr>
          <p:cNvPr id="27" name="Прямая со стрелкой 26"/>
          <p:cNvCxnSpPr>
            <a:endCxn id="4" idx="0"/>
          </p:cNvCxnSpPr>
          <p:nvPr/>
        </p:nvCxnSpPr>
        <p:spPr>
          <a:xfrm rot="5400000">
            <a:off x="2514600" y="1066800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rot="5400000">
            <a:off x="4801394" y="1066006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rot="5400000">
            <a:off x="7087394" y="1066006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rot="5400000">
            <a:off x="9297194" y="1066006"/>
            <a:ext cx="4572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260351"/>
            <a:ext cx="853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/>
              <a:t>Финансовые институты</a:t>
            </a: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752600" y="1236078"/>
            <a:ext cx="8686800" cy="2646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200" b="1" dirty="0"/>
              <a:t>Финансово-кредитные учреждения (финансовые институты)</a:t>
            </a:r>
            <a:r>
              <a:rPr lang="ru-RU" sz="2200" dirty="0"/>
              <a:t> – это учреждения, выполняющие операции по сбережению, кредитованию, инвестированию и заимствованию денежных средств с помощью различных финансовых инструментов.</a:t>
            </a:r>
          </a:p>
          <a:p>
            <a:endParaRPr lang="ru-RU" sz="1200" dirty="0"/>
          </a:p>
          <a:p>
            <a:r>
              <a:rPr lang="ru-RU" sz="2200" dirty="0"/>
              <a:t>Совокупность действующих в стране финансовых институтов, выполняющих указанные банковские операции называется </a:t>
            </a:r>
            <a:r>
              <a:rPr lang="ru-RU" sz="2200" b="1" dirty="0"/>
              <a:t>банковской системой.</a:t>
            </a:r>
            <a:endParaRPr lang="ru-RU" sz="2200" dirty="0"/>
          </a:p>
        </p:txBody>
      </p:sp>
      <p:pic>
        <p:nvPicPr>
          <p:cNvPr id="34818" name="Picture 2" descr="В ЦБ рассказали о режиме функционирования банков в нерабочие дни - РИА  Новости, 22.10.2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1" y="4648200"/>
            <a:ext cx="2709333" cy="1524000"/>
          </a:xfrm>
          <a:prstGeom prst="rect">
            <a:avLst/>
          </a:prstGeom>
          <a:noFill/>
        </p:spPr>
      </p:pic>
      <p:pic>
        <p:nvPicPr>
          <p:cNvPr id="34820" name="Picture 4" descr="В Казахстане ответили на критику сотрудничества со Сбербанком - РИА  Новости, 14.09.20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1" y="4648200"/>
            <a:ext cx="2709333" cy="1524000"/>
          </a:xfrm>
          <a:prstGeom prst="rect">
            <a:avLst/>
          </a:prstGeom>
          <a:noFill/>
        </p:spPr>
      </p:pic>
      <p:sp>
        <p:nvSpPr>
          <p:cNvPr id="34822" name="AutoShape 6" descr="Микрофинансовая организация в Чайковском незаконно раздавала займы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4824" name="Picture 8" descr="Микрофинансовая организация в Чайковском незаконно раздавала займы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4648200"/>
            <a:ext cx="2286000" cy="15269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260351"/>
            <a:ext cx="853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/>
              <a:t>Функции Центрального банка</a:t>
            </a: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752600" y="1066802"/>
            <a:ext cx="8686800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эмиссия наличных денег;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хранение государственных золотовалютных резервов;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хранение резервных фондов других кредитных учреждений;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денежно-кредитное (монетарное) регулирование экономики;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поддержка стабильности национальной валюты</a:t>
            </a:r>
            <a:r>
              <a:rPr lang="en-US" sz="2200" dirty="0"/>
              <a:t>;</a:t>
            </a:r>
            <a:endParaRPr lang="ru-RU" sz="2200" dirty="0"/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выпуск и погашение государственных ценных бумаг;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кредитование коммерческих банков;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кассовое обслуживание государственных учреждений;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проведение расчетов и переводных операций;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надзор за деятельностью финансово-кредитных учреждений и исполнением финансового законодательства.</a:t>
            </a:r>
          </a:p>
        </p:txBody>
      </p:sp>
      <p:pic>
        <p:nvPicPr>
          <p:cNvPr id="4" name="Picture 2" descr="В ЦБ рассказали о режиме функционирования банков в нерабочие дни - РИА  Новости, 22.10.2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4886326"/>
            <a:ext cx="3505200" cy="1971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8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8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8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8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260351"/>
            <a:ext cx="853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/>
              <a:t>Функции коммерческих банков</a:t>
            </a: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752600" y="1236079"/>
            <a:ext cx="8686800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создание безналичных денег;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прием и хранение депозитов вкладчиков (денег, ценных бумаг);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выдача средств со счетов и выполнение расчетов между клиентами;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кредитование населения и предприятий;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стимулирование накоплений населения и предприятий;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ru-RU" sz="2200" dirty="0"/>
              <a:t>покупка и продажа ценных бумаг, валюты.</a:t>
            </a:r>
          </a:p>
        </p:txBody>
      </p:sp>
      <p:pic>
        <p:nvPicPr>
          <p:cNvPr id="6" name="Picture 4" descr="В Казахстане ответили на критику сотрудничества со Сбербанком - РИА  Новости, 14.09.2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4286249"/>
            <a:ext cx="4572000" cy="25717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8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8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260351"/>
            <a:ext cx="853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/>
              <a:t>Виды коммерческих банков</a:t>
            </a:r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752600" y="1236079"/>
            <a:ext cx="8686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200" u="sng" dirty="0"/>
              <a:t>По форме собственности </a:t>
            </a:r>
            <a:r>
              <a:rPr lang="ru-RU" sz="2200" dirty="0"/>
              <a:t>– государственные муниципальные, частные, акционерные, смешанные.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200" u="sng" dirty="0"/>
              <a:t>По масштабу деятельности </a:t>
            </a:r>
            <a:r>
              <a:rPr lang="ru-RU" sz="2200" dirty="0"/>
              <a:t>– местные, региональные, национальные, международные.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ru-RU" sz="2200" u="sng" dirty="0"/>
              <a:t>По выполняемым функциям </a:t>
            </a:r>
            <a:r>
              <a:rPr lang="ru-RU" sz="2200" dirty="0"/>
              <a:t>– универсальные, инвестиционные, сберегательные, ипотечные, инновационные.</a:t>
            </a:r>
          </a:p>
        </p:txBody>
      </p:sp>
      <p:pic>
        <p:nvPicPr>
          <p:cNvPr id="5" name="Picture 4" descr="В Казахстане ответили на критику сотрудничества со Сбербанком - РИА  Новости, 14.09.2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286250"/>
            <a:ext cx="4572000" cy="2571751"/>
          </a:xfrm>
          <a:prstGeom prst="rect">
            <a:avLst/>
          </a:prstGeom>
          <a:noFill/>
        </p:spPr>
      </p:pic>
      <p:pic>
        <p:nvPicPr>
          <p:cNvPr id="41986" name="Picture 2" descr="Вакансии компании ПАО &amp;quot;СКБ-Банк&amp;quot; в Екатеринбурге, работа в ПАО &amp;quot;СКБ-Банк&amp;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4291014"/>
            <a:ext cx="3429000" cy="25669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09E56-8112-DAF3-8F1D-6F961294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022BF9-735E-5375-502E-D736A8AB89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456" y="0"/>
            <a:ext cx="7999228" cy="633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97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C521BE-79F8-A04E-F51B-AD40F60E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Кредиты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DA2468A-5871-9726-BD2F-44DA4EE35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A05702F-48BB-4A65-A0D9-9476367AB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42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E5C61FB-0AE5-1D4D-151E-EA2AF946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В договоре займа всегда указаны условия: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9B0F67-E845-F424-6CE0-2B0F5DD3C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Сумма кредита — сколько денег банк вам предоставит.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Процентная ставка, по которой будет считаться плата за пользование деньгами.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Срок, на который вам дают деньги и в течение которого надо погасить долг.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На основе этих условий рассчитывают размер ежемесячных платежей и график их внесения. Еще до подачи заявки можно самостоятельно посчитать с помощью кредитного калькулятора, какую сумму нужно будет платить ежемесячно.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Оцените, по карману ли вам это. </a:t>
            </a:r>
            <a:r>
              <a:rPr lang="ru-RU" dirty="0"/>
              <a:t>На кредиты не должно уходить больше </a:t>
            </a:r>
            <a:r>
              <a:rPr lang="ru-RU" dirty="0">
                <a:effectLst/>
              </a:rPr>
              <a:t>30—40%</a:t>
            </a:r>
            <a:r>
              <a:rPr lang="ru-RU" dirty="0"/>
              <a:t> доходов.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 Иначе будет тяжело платить: придется снижать уровень жизни. И есть вероятность попасть в долговую яму.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477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E2602-911A-B583-0213-C289280B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банков по кредитам отличаются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01CCE4-9626-4B52-1E83-2677E4C3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spcAft>
                <a:spcPts val="1875"/>
              </a:spcAft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Условия предоставления кредита могут сильно различаться. Внимательно их изучите, но помните, что точные условия станут известны лишь тогда, когда банк одобрит заявку на кредит.</a:t>
            </a:r>
          </a:p>
          <a:p>
            <a:pPr algn="l">
              <a:spcAft>
                <a:spcPts val="1875"/>
              </a:spcAft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 идеале надо сравнивать полную стоимость кредита, в которой учтены страховки, в виде суммы и процентов годовых. При этом у кредитов должны быть одинаковые срок и сумма.</a:t>
            </a:r>
          </a:p>
          <a:p>
            <a:pPr algn="l">
              <a:spcAft>
                <a:spcPts val="1875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вы хотите получить потребительский кредит, не стоит отправлять сразу много заявок во все банки и тем более в микрофинансовые организации. Так банки могут решить, что у вас серьезные финансовые проблемы и вы пытаетесь получить деньги хоть где-то. Это снизит шансы на одобрение кредита. Но в случае с кредитами на покупку недвижимости банки с пониманием относятся к тому, что клиенты сравнивают предложения.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679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78203-F24B-E54C-749F-75B6698DA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что обратить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6D310E-1540-2A3A-77D2-2E9D4F26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1. На процентную ставку по кредиту, а не на переплаты и ежемесячный платеж. </a:t>
            </a:r>
            <a:r>
              <a:rPr lang="ru-RU" dirty="0">
                <a:solidFill>
                  <a:srgbClr val="000000"/>
                </a:solidFill>
                <a:latin typeface="Charter"/>
              </a:rPr>
              <a:t>Н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а размер кредита в первую очередь влияет процентная ставка по нему. Если она низкая, то даже ипотека на 30 лет с переплатой в несколько миллионов и большим платежом на деле окажется дешевой.</a:t>
            </a:r>
          </a:p>
          <a:p>
            <a:r>
              <a:rPr lang="ru-RU" dirty="0">
                <a:solidFill>
                  <a:srgbClr val="000000"/>
                </a:solidFill>
                <a:latin typeface="Charter"/>
              </a:rPr>
              <a:t>2. Внимательно читать договор – проверить сумму, срок, график платежей, страховку (сколько и за что выплачивают).</a:t>
            </a:r>
          </a:p>
          <a:p>
            <a:r>
              <a:rPr lang="ru-RU" dirty="0">
                <a:solidFill>
                  <a:srgbClr val="000000"/>
                </a:solidFill>
                <a:latin typeface="Charter"/>
              </a:rPr>
              <a:t>Брать кредит в валюте, в которой зарабатываете. </a:t>
            </a:r>
          </a:p>
          <a:p>
            <a:r>
              <a:rPr lang="ru-RU" dirty="0">
                <a:solidFill>
                  <a:srgbClr val="000000"/>
                </a:solidFill>
                <a:latin typeface="Charter"/>
              </a:rPr>
              <a:t>Крупные суммы лучше брать на большой срок. 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Сможете погасить кредит раньше — заплатите проценты лишь за время фактического использования кредита. А если не будете гасить досрочно, то хотя бы ежемесячный платеж будет меньше, чем при коротком сроке.</a:t>
            </a:r>
            <a:endParaRPr lang="ru-RU" dirty="0">
              <a:solidFill>
                <a:srgbClr val="000000"/>
              </a:solidFill>
              <a:latin typeface="Charter"/>
            </a:endParaRPr>
          </a:p>
          <a:p>
            <a:endParaRPr lang="ru-RU" dirty="0">
              <a:solidFill>
                <a:srgbClr val="000000"/>
              </a:solidFill>
              <a:latin typeface="Charter"/>
            </a:endParaRPr>
          </a:p>
        </p:txBody>
      </p:sp>
    </p:spTree>
    <p:extLst>
      <p:ext uri="{BB962C8B-B14F-4D97-AF65-F5344CB8AC3E}">
        <p14:creationId xmlns:p14="http://schemas.microsoft.com/office/powerpoint/2010/main" val="89661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455E3-5ABE-EBA0-3901-BB701BB3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что-то пошло не так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34778A-2D28-0473-DB6C-5BA1838B4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875"/>
              </a:spcAft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Попросите кредитные каникулы.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Это период до шести месяцев, во время которого вы по договоренности с банком можете совсем не выплачивать кредит или платить меньше.</a:t>
            </a:r>
          </a:p>
          <a:p>
            <a:pPr algn="l">
              <a:spcAft>
                <a:spcPts val="1875"/>
              </a:spcAft>
            </a:pP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Реструктуризируйте кредит.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Банк может согласиться на пересмотр условий: например, снизит ежемесячный платеж и увеличит срок погашения. Гарантий, что банк пойдет навстречу, нет. Но вести переговоры — лучше, чем убегать.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5680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7DCAA-952D-B566-C2CA-534213AF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Кредитные карты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BB9975-8637-60DB-4126-3EC87773D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DAA234-577C-3119-EB52-9DAD0AC32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22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B9A27-C25F-E9E0-4994-DD5587037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карт: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713C3A-F906-C463-B128-D1FAC288A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Дебетовая карта - 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это банковская карта, с которой вы можете тратить деньги и накапливать их. </a:t>
            </a:r>
            <a:r>
              <a:rPr lang="ru-RU" dirty="0">
                <a:solidFill>
                  <a:srgbClr val="000000"/>
                </a:solidFill>
                <a:latin typeface="Charter"/>
              </a:rPr>
              <a:t>На ней могут быть только деньги клиента.</a:t>
            </a:r>
          </a:p>
          <a:p>
            <a:r>
              <a:rPr lang="ru-RU" dirty="0">
                <a:solidFill>
                  <a:srgbClr val="000000"/>
                </a:solidFill>
                <a:latin typeface="Charter"/>
              </a:rPr>
              <a:t>2. Кредитная карта - 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это платежная карта, на которой лежат деньги банка. Если оплачиваете что-то кредитной картой, берете у банка в долг — эти деньги нужно вернуть. </a:t>
            </a:r>
          </a:p>
        </p:txBody>
      </p:sp>
    </p:spTree>
    <p:extLst>
      <p:ext uri="{BB962C8B-B14F-4D97-AF65-F5344CB8AC3E}">
        <p14:creationId xmlns:p14="http://schemas.microsoft.com/office/powerpoint/2010/main" val="250275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1A7E8-ABE2-5C1E-6703-D623E9CE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о картах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CFEA84-71F3-5880-B76E-C894F293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Родина банковских карт – США</a:t>
            </a:r>
          </a:p>
          <a:p>
            <a:r>
              <a:rPr lang="ru-RU" dirty="0"/>
              <a:t>Небольшой кредитный лимит на дебетовой карте называется Овердрафт</a:t>
            </a:r>
          </a:p>
          <a:p>
            <a:r>
              <a:rPr lang="ru-RU" dirty="0"/>
              <a:t>Дебетовая карта ребенку, как дополнительная к карте родителей выпускается с 6-14 лет</a:t>
            </a:r>
          </a:p>
          <a:p>
            <a:r>
              <a:rPr lang="ru-RU" dirty="0"/>
              <a:t>Кредитную </a:t>
            </a:r>
            <a:r>
              <a:rPr lang="ru-RU"/>
              <a:t>карту можно получить с 18 лет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390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24F26-702F-D8E5-2E7F-487270A0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кредитных карт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B7B70-15E2-0BEB-BCB7-B8D984A88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Charter"/>
              </a:rPr>
              <a:t>Кредитный лимит по карте - 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максимальная сумма, которую можно потратить с кредитной карты. Она устанавливается банком индивидуально: у вас может быть один лимит, а у вашего соседа в том же самом банке — другой.</a:t>
            </a:r>
            <a:endParaRPr lang="ru-RU" dirty="0"/>
          </a:p>
          <a:p>
            <a:r>
              <a:rPr lang="ru-RU" dirty="0"/>
              <a:t>Кредитная ставка – плата за пользование деньгами банка. Указывается в годовых процентах. Как правило очень высокая.  </a:t>
            </a:r>
          </a:p>
          <a:p>
            <a:r>
              <a:rPr lang="ru-RU" dirty="0"/>
              <a:t>Беспроцентный период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harter"/>
              </a:rPr>
              <a:t>грейс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-периодом)</a:t>
            </a:r>
            <a:r>
              <a:rPr lang="ru-RU" dirty="0"/>
              <a:t>– </a:t>
            </a:r>
            <a:r>
              <a:rPr lang="ru-RU" dirty="0">
                <a:solidFill>
                  <a:srgbClr val="000000"/>
                </a:solidFill>
                <a:latin typeface="Charter"/>
              </a:rPr>
              <a:t>э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то срок, за который нужно погасить задолженность по кредитной карте, чтобы не платить проценты банку.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380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08660-AAFE-A339-AB65-BCDA07A1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Заработок с помощью кредиток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A9001-E2F6-AC14-F116-3DF0C2B4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37414"/>
            <a:ext cx="10388009" cy="4954772"/>
          </a:xfrm>
        </p:spPr>
        <p:txBody>
          <a:bodyPr>
            <a:normAutofit fontScale="92500"/>
          </a:bodyPr>
          <a:lstStyle/>
          <a:p>
            <a:r>
              <a:rPr lang="ru-RU" b="0" i="0" dirty="0">
                <a:solidFill>
                  <a:srgbClr val="162136"/>
                </a:solidFill>
                <a:effectLst/>
                <a:latin typeface="Roboto" panose="02000000000000000000" pitchFamily="2" charset="0"/>
              </a:rPr>
              <a:t>Работает это так: человек получает зарплату и переводит ее на накопительный счет, а свои расходы в течение месяца оплачивает с кредитной карты. Многие кредитки сейчас имеют довольно большой беспроцентный период пользования, утверждает экономист. По истечении этого периода деньги переводятся с накопительного счета на кредитную карту. Таким образом закрывается кредит переплат. А проценты, начисленные по накопительному счету, становятся доходом.</a:t>
            </a:r>
          </a:p>
          <a:p>
            <a:r>
              <a:rPr lang="ru-RU" b="0" i="0" dirty="0">
                <a:solidFill>
                  <a:srgbClr val="162136"/>
                </a:solidFill>
                <a:effectLst/>
                <a:latin typeface="Roboto" panose="02000000000000000000" pitchFamily="2" charset="0"/>
              </a:rPr>
              <a:t>Вы получаете кэш-бэк и бонусы. </a:t>
            </a:r>
          </a:p>
          <a:p>
            <a:r>
              <a:rPr lang="ru-RU" dirty="0">
                <a:solidFill>
                  <a:srgbClr val="162136"/>
                </a:solidFill>
                <a:latin typeface="Roboto" panose="02000000000000000000" pitchFamily="2" charset="0"/>
              </a:rPr>
              <a:t>НО: </a:t>
            </a:r>
            <a:r>
              <a:rPr lang="ru-RU" b="0" i="0" dirty="0">
                <a:solidFill>
                  <a:srgbClr val="162136"/>
                </a:solidFill>
                <a:effectLst/>
                <a:latin typeface="Roboto" panose="02000000000000000000" pitchFamily="2" charset="0"/>
              </a:rPr>
              <a:t>В этой схеме нужно строго соблюдать график погашения кредита, в противном случае проценты и пени не только «съедят» доход, но и приведут к убыткам. Ведь человек может забыть вовремя пополнить кредитную карту или просто заранее не вчитаться в условия банка, которые зачастую прописаны сложно и запутанно.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62136"/>
                </a:solidFill>
                <a:effectLst/>
                <a:latin typeface="Roboto" panose="02000000000000000000" pitchFamily="2" charset="0"/>
              </a:rPr>
              <a:t>К примеру, льготный период может распространяться не на все виды операций, его длительность может различаться, могут возникнуть технические неполадки и так далее.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08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4B05C-D294-2941-9A92-D18FB23E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5390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0000"/>
                </a:solidFill>
                <a:latin typeface="Graphik"/>
              </a:rPr>
              <a:t>Как банк зарабатывает на кредитках</a:t>
            </a:r>
            <a:br>
              <a:rPr lang="ru-RU" b="1" dirty="0">
                <a:solidFill>
                  <a:srgbClr val="000000"/>
                </a:solidFill>
                <a:latin typeface="Graphik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EFB78-A4D4-E7F0-1B10-783A9914F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9702"/>
            <a:ext cx="9601200" cy="3581400"/>
          </a:xfrm>
        </p:spPr>
        <p:txBody>
          <a:bodyPr>
            <a:noAutofit/>
          </a:bodyPr>
          <a:lstStyle/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Graphik"/>
              </a:rPr>
              <a:t>Начисляет кому-то проценты.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 Не все люди успевают вернуть задолженность полностью до конца беспроцентного периода. Многие забывают, не успевают или просто не могут положить нужную сумму на карту в срок. В таких случаях банк начисляет проценты, как будто никакого беспроцентного периода и не было.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Graphik"/>
              </a:rPr>
              <a:t>Берет комиссию за обслуживание карты.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 Клиент платит банку комиссию за возможность пользоваться кредитной картой. Она может начисляться каждый месяц или раз в год.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Graphik"/>
              </a:rPr>
              <a:t>Берет с продавца комиссию за перевод денег.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 При оплате в магазине происходит сложная финансовая магия. Банк снял деньги с вашей карты и перевел их на расчетный счет супермаркета.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За эту услугу платит магазин, а не покупатель. Магазин получает на свой счет сумму за вычетом комиссии, которая в среднем составляет 2—3%. Например, вы купили фруктов на 1000 ₽ — из них супермаркет получит только 970—980 ₽.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Комиссию делят между собой разные посредники и платежные системы типа «Мира». Но большую часть заберет себе банк, чьей картой вы расплатились. А если бы вы отдали наличные, банк ничего бы не заработал. Поэтому он и делится с вами частью полученного дохода ( в том числе КЭШ-бэк)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Graphik"/>
              </a:rPr>
              <a:t>Берет с владельца карты деньги за дополнительные услуги.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 Банки любят автоматически подключать платные услуги, например смс-информирование или страхование. 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Graphik"/>
              </a:rPr>
              <a:t>Берет с владельца кредитки комиссии за отдельные операции.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 Есть платные операции, которые можно совершать по карте, а есть бесплатные. Если оплачиваете покупку кредиткой, банк не возьмет за это комиссию — это бесплатная операция. Банк может потребовать только проценты — и то только если не успеете вернуть деньги до конца беспроцентного периода.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000000"/>
                </a:solidFill>
                <a:effectLst/>
                <a:latin typeface="Graphik"/>
              </a:rPr>
              <a:t>Обычно к платным операциям относятся снятие наличных и перевод денег на другую карту. Это не случайно: банк зарабатывает каждый раз, когда вы оплачиваете покупки кредитной картой. А когда выводите с карты деньги, он ничего не получает.</a:t>
            </a:r>
          </a:p>
          <a:p>
            <a:pPr marL="0" indent="38404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87122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E103487-7C16-B2B5-39F6-00E6DBAF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Кредитная история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96510EA-D2F4-CDBE-89C5-4BD2EEF5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D744CB9-A10A-3498-6A84-3BD092A1B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52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C118A4E-E4D7-A234-D87B-A83B6D33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Кредитная история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— это описание ваших кредитов с 2005 года: сколько занимали и как ровно платили, были вторым заемщиком или поручителем.</a:t>
            </a:r>
            <a:br>
              <a:rPr lang="ru-RU" b="0" i="0" dirty="0">
                <a:solidFill>
                  <a:srgbClr val="000000"/>
                </a:solidFill>
                <a:effectLst/>
              </a:rPr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1906B1-91ED-31C5-F80A-49B53E606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661" y="3276600"/>
            <a:ext cx="9601200" cy="3581400"/>
          </a:xfrm>
        </p:spPr>
        <p:txBody>
          <a:bodyPr/>
          <a:lstStyle/>
          <a:p>
            <a:pPr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 кредитной истории можно увидеть: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Кто ее запрашивал.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Все заявки на кредиты и решения по ним.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Как выплачивали кредиты и были ли просрочки.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281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DA46C-BD24-C92A-5C37-90FCC4A1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что влияет кредитная история?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293DA9-9492-1659-4AB8-883D0D96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1800" dirty="0">
                <a:latin typeface="+mj-lt"/>
              </a:rPr>
              <a:t>На решение об ипотеке и кредитах; 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+mj-lt"/>
              </a:rPr>
              <a:t>На выдачу страховок (на имущество, здоровье, жизнь).</a:t>
            </a:r>
          </a:p>
          <a:p>
            <a:pPr>
              <a:spcBef>
                <a:spcPts val="0"/>
              </a:spcBef>
            </a:pPr>
            <a:r>
              <a:rPr lang="ru-RU" sz="1600" b="1" i="0" dirty="0">
                <a:solidFill>
                  <a:srgbClr val="000000"/>
                </a:solidFill>
                <a:effectLst/>
              </a:rPr>
              <a:t>На каршеринг.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Charter"/>
              </a:rPr>
              <a:t>Если человек плохо платит свои кредиты, выше вероятность, что так же он будет относиться и к арендованному автомобилю, а в случае ДТП будет проблематично взыскать с него ущерб.</a:t>
            </a:r>
            <a:endParaRPr lang="ru-RU" sz="1800" dirty="0">
              <a:latin typeface="+mj-lt"/>
            </a:endParaRPr>
          </a:p>
          <a:p>
            <a:pPr>
              <a:spcBef>
                <a:spcPts val="0"/>
              </a:spcBef>
            </a:pPr>
            <a:r>
              <a:rPr lang="ru-RU" sz="1800" dirty="0">
                <a:latin typeface="+mj-lt"/>
              </a:rPr>
              <a:t>На трудоустройство.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С плохой кредитной историей будет непросто устроиться на работу: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в финансовой отрасли (банки, инвестиции, страхование);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с доступом к финансам (бухгалтерия, управление);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в государственных учреждениях (правительственные структуры, полиция, армия);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в области безопасности (охрана, инкассация, кибербезопасность, монтаж систем безопасности);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40527"/>
                </a:solidFill>
                <a:effectLst/>
                <a:latin typeface="+mj-lt"/>
              </a:rPr>
              <a:t>с доступом к конфиденциальным данным (менеджмент, системное администрирование, администрирование баз данных).</a:t>
            </a:r>
          </a:p>
          <a:p>
            <a:pPr>
              <a:spcBef>
                <a:spcPts val="0"/>
              </a:spcBef>
            </a:pPr>
            <a:endParaRPr lang="ru-RU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2148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9AD8B-EC82-A6DB-9A03-74225476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хранятся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4F9954-1631-FF74-0DB8-4308F7AF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В июле 2023 года </a:t>
            </a:r>
            <a:r>
              <a:rPr lang="ru-RU" b="0" i="0" u="none" strike="noStrike" dirty="0">
                <a:effectLst/>
                <a:latin typeface="Charter"/>
                <a:hlinkClick r:id="rId2"/>
              </a:rPr>
              <a:t>в России работают шесть Бюро Кредитный историй -  БКИ.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 Кредитная история может быть в любом из этих бюро — только в одном, лишь в некоторых или во всех сразу: каждая организация сама решает, с какими бюро сотрудничать.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Чтобы узнать, где именно хранится ваша кредитная история, нужно сделать запрос в Центральный каталог кредитных историй. Эту информацию можно получить бесплатно </a:t>
            </a:r>
            <a:r>
              <a:rPr lang="ru-RU" b="0" i="0" u="none" strike="noStrike" dirty="0">
                <a:effectLst/>
                <a:latin typeface="Charter"/>
                <a:hlinkClick r:id="rId3"/>
              </a:rPr>
              <a:t>на портале госуслуг</a:t>
            </a:r>
            <a:r>
              <a:rPr lang="ru-RU" b="0" i="0" dirty="0">
                <a:solidFill>
                  <a:srgbClr val="000000"/>
                </a:solidFill>
                <a:effectLst/>
                <a:latin typeface="Charter"/>
              </a:rPr>
              <a:t> или за деньги в некоторых бюро.</a:t>
            </a:r>
            <a:endParaRPr lang="ru-RU" dirty="0">
              <a:solidFill>
                <a:srgbClr val="000000"/>
              </a:solidFill>
              <a:latin typeface="Charter"/>
            </a:endParaRPr>
          </a:p>
          <a:p>
            <a:r>
              <a:rPr lang="ru-RU" dirty="0"/>
              <a:t>БКИ могут: выдать информацию об истории, кредитном рейтинге, новых заявках + исправить ошибки, </a:t>
            </a:r>
          </a:p>
          <a:p>
            <a:r>
              <a:rPr lang="ru-RU" dirty="0"/>
              <a:t>Можно запросить бесплатно 2 раза в год (дальше платно)</a:t>
            </a:r>
          </a:p>
        </p:txBody>
      </p:sp>
    </p:spTree>
    <p:extLst>
      <p:ext uri="{BB962C8B-B14F-4D97-AF65-F5344CB8AC3E}">
        <p14:creationId xmlns:p14="http://schemas.microsoft.com/office/powerpoint/2010/main" val="2501090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8495D-1989-24AD-284A-87F88DB4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может посмотреть кредитную историю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B76E4-32DE-7FC7-59A1-DE83A65F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u="sng" dirty="0"/>
              <a:t>Субъект кредитной истории – то есть сам человек.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dirty="0"/>
              <a:t>По ПИСЬМЕННОМУ разрешению субъекта кредитной истории : кредитные организации, работодатели (т.е. </a:t>
            </a:r>
            <a:r>
              <a:rPr lang="ru-RU" sz="1600" dirty="0" err="1"/>
              <a:t>юр.лица</a:t>
            </a:r>
            <a:r>
              <a:rPr lang="ru-RU" sz="1600" dirty="0"/>
              <a:t>).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875"/>
              </a:spcAft>
              <a:buNone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Иногда банки запрашивают ваше согласие на проверку кредитной истории, если вы оформляете дебетовую карту. Это для того, чтобы банк мог оценивать вашу кредитную нагрузку в дальнейшем предлагать вам разные продукты, включая кредиты. При оформлении дебетовой карты можете отказать банку в проверке кредитной истории. Это не может стать причиной отказа в дебетовой карте.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600" b="0" i="0" dirty="0">
                <a:solidFill>
                  <a:srgbClr val="040527"/>
                </a:solidFill>
                <a:effectLst/>
                <a:latin typeface="PTRoot"/>
              </a:rPr>
              <a:t>Кроме бюро кредитных историй, есть открытые источники, из которых любой желающий может узнать, возбуждено ли на субъекта исполнительное производство за неуплату долга и не проходит ли он процедуру банкротства. Для этого достаточно обратиться в ФССП, реестр сведений о банкротстве и картотеку арбитражных дел. 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85905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17352-F710-E368-2BC5-B41A8D6F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666750"/>
          </a:xfrm>
        </p:spPr>
        <p:txBody>
          <a:bodyPr>
            <a:normAutofit/>
          </a:bodyPr>
          <a:lstStyle/>
          <a:p>
            <a:r>
              <a:rPr lang="ru-RU" sz="3600" b="1" dirty="0"/>
              <a:t>Как оценивается хорошая кредитная история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F4804-9E7D-0A3D-EA2D-CD2F32025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7" y="914400"/>
            <a:ext cx="10430540" cy="4346944"/>
          </a:xfrm>
        </p:spPr>
        <p:txBody>
          <a:bodyPr>
            <a:noAutofit/>
          </a:bodyPr>
          <a:lstStyle/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Старше одного года.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Чем она старше, тем больше информации о заемщике может изучить банк. Это помогает лучше оценить его платежеспособность. Этот критерий работает совместно с количеством взятых кредитов. 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Например, если человек взял один кредит в 2015 году, а в 2016 году его выплатил, возраст кредитной истории не будет иметь особого значения: кредит был давно, у заемщика могло измениться финансовое положение и как он сможет выплачивать кредиты в 2024 году — уже не совсем понятно.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Без просрочек.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Желательно, чтобы их не было вообще. Если они были, все будет зависеть от того, как долго не выплачивали кредит и как давно были просрочки. Например, если не платили по кредиту полгода, потом внесли платеж и через месяц подали заявку на новый кредит, скорее всего, банк не готов будет выдать вам кредит: есть риск, что ваше финансовое положение нестабильное.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Без большого количества </a:t>
            </a:r>
            <a:r>
              <a:rPr lang="ru-RU" sz="16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одновременых</a:t>
            </a: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заявок на кредиты.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Если человек одновременно подает заявку на пять кредитных карт или кредитов наличными, банк может подумать, что у человека финансовые проблемы. Из-за этого скоринговая система может выдать отказ в кредите.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Исключение — если речь об ипотеке или автокредите. Эти кредиты обеспечены залогом, и здесь банк точно понимает, что человек просто сравнивает предложения банков, а не планирует одновременно взять пять ипотек.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Сколько было кредитов.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Чем больше заемщик успешно выплатил кредитов, тем лучше. Отдельно будет полезно, если человек брал разные кредиты: кредиты наличными, товары в рассрочку, кредитные карты, ипотеку или автокредит. Так банк будет понимать, что человек может планировать свои деньги для разных видов и сумм кредитов.</a:t>
            </a:r>
          </a:p>
          <a:p>
            <a:pPr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Кредитная нагрузка.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Если у человека много открытых кредитов, с новым кредитом он может не справиться. Банку попросту невыгодно выдавать кредит </a:t>
            </a:r>
            <a:r>
              <a:rPr lang="ru-RU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закредитованному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заемщику.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36379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13093-F2F8-5BDB-B038-67119CD0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Плохая кредитная история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ACAE1-4FC6-EABC-1D77-6350E4465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28750"/>
            <a:ext cx="9601200" cy="3581400"/>
          </a:xfrm>
        </p:spPr>
        <p:txBody>
          <a:bodyPr>
            <a:noAutofit/>
          </a:bodyPr>
          <a:lstStyle/>
          <a:p>
            <a:pPr algn="l">
              <a:spcBef>
                <a:spcPts val="5250"/>
              </a:spcBef>
              <a:spcAft>
                <a:spcPts val="1875"/>
              </a:spcAft>
              <a:buNone/>
            </a:pPr>
            <a:r>
              <a:rPr lang="ru-RU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Какая кредитная история считается плохой</a:t>
            </a:r>
          </a:p>
          <a:p>
            <a:pPr algn="l">
              <a:spcAft>
                <a:spcPts val="1875"/>
              </a:spcAft>
              <a:buNone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Ключевыми показателями плохой кредитной истории являются просрочки и высокая кредитная нагрузка. Особенно негативный фактор — если кредит был продан коллекторам, на заемщика подали в суд или он вообще не выплатил кредит. В таких случаях банк, скорее всего, откажет в кредите. Также на кредитную историю влияет информация о недавнем банкротстве, поскольку банки вряд ли будут готовы выдавать вам кредиты.</a:t>
            </a:r>
          </a:p>
          <a:p>
            <a:pPr algn="l">
              <a:spcAft>
                <a:spcPts val="1875"/>
              </a:spcAft>
              <a:buNone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Все остальные показатели являются второстепенными. Например, частота заявок на кредиты или решения по ним важны для одного банка, а другой к этой информации относится более лояльно.</a:t>
            </a:r>
          </a:p>
          <a:p>
            <a:pPr algn="l">
              <a:spcAft>
                <a:spcPts val="1875"/>
              </a:spcAft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Отдельные банки могут с настороженностью смотреть на заемщиков, у которых еще нет кредитной истории. Поскольку нет информации о том, как человек ранее выплачивал кредиты, непонятно, как он будет выплачивать кредит: погасит его вовремя, выплатит заранее или вообще не выплатит.</a:t>
            </a:r>
          </a:p>
          <a:p>
            <a:pPr algn="l">
              <a:spcAft>
                <a:spcPts val="1875"/>
              </a:spcAft>
            </a:pPr>
            <a:r>
              <a:rPr lang="ru-RU" sz="1600" b="0" i="0" dirty="0">
                <a:solidFill>
                  <a:srgbClr val="000000"/>
                </a:solidFill>
                <a:effectLst/>
                <a:latin typeface="Charter"/>
              </a:rPr>
              <a:t>Дополнительно в кредитной истории могут быть показаны неисполненные требования суда по алиментам, услугам сотовой связи или ЖКХ.</a:t>
            </a: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2533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5D6DD3-F79F-3D80-DF53-18E3F25D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4188342" cy="2157884"/>
          </a:xfrm>
        </p:spPr>
        <p:txBody>
          <a:bodyPr/>
          <a:lstStyle/>
          <a:p>
            <a:r>
              <a:rPr lang="ru-RU" sz="3600" dirty="0"/>
              <a:t>Микрофинансовые</a:t>
            </a:r>
            <a:br>
              <a:rPr lang="ru-RU" sz="3600" dirty="0"/>
            </a:br>
            <a:r>
              <a:rPr lang="ru-RU" sz="3600" dirty="0"/>
              <a:t>организации (МФО)</a:t>
            </a:r>
          </a:p>
        </p:txBody>
      </p:sp>
      <p:pic>
        <p:nvPicPr>
          <p:cNvPr id="1026" name="Picture 2" descr="На раздаче: где берут деньги микрофинансовые организации | Forbes.ru">
            <a:extLst>
              <a:ext uri="{FF2B5EF4-FFF2-40B4-BE49-F238E27FC236}">
                <a16:creationId xmlns:a16="http://schemas.microsoft.com/office/drawing/2014/main" id="{EC908CF2-0526-D908-E6BB-F96D05B2AA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629" y="2843684"/>
            <a:ext cx="5957452" cy="351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43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5DEED51-555E-2F60-9D6F-C7E66468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Истрия микрофинансирования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84693CE-ABE4-59B0-0A2F-3ED2ECCB4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2" y="1690577"/>
            <a:ext cx="5319268" cy="478465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https://www.youtube.com/watch?v=6UCuWxWiMaQ</a:t>
            </a:r>
            <a:r>
              <a:rPr lang="ru-RU" dirty="0"/>
              <a:t> </a:t>
            </a:r>
          </a:p>
          <a:p>
            <a:r>
              <a:rPr lang="ru-RU" b="0" i="0" dirty="0">
                <a:solidFill>
                  <a:srgbClr val="111111"/>
                </a:solidFill>
                <a:effectLst/>
                <a:latin typeface="Noto Sans" panose="020B0502040504020204" pitchFamily="34" charset="0"/>
              </a:rPr>
              <a:t>Банкир, предприниматель, экономист Мухаммад Юнус 6 августа 2024 года был назначен главой временного правительства Бангладеш. Мухаммад Юнус известен как «банкир бедняков», пионер микрофинансирования и микрокредитования. В 2006 году Юнусу и его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Noto Sans" panose="020B0502040504020204" pitchFamily="34" charset="0"/>
              </a:rPr>
              <a:t>Grameen</a:t>
            </a:r>
            <a:r>
              <a:rPr lang="ru-RU" b="0" i="0" dirty="0">
                <a:solidFill>
                  <a:srgbClr val="111111"/>
                </a:solidFill>
                <a:effectLst/>
                <a:latin typeface="Noto Sans" panose="020B0502040504020204" pitchFamily="34" charset="0"/>
              </a:rPr>
              <a:t> Bank, первой в истории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Noto Sans" panose="020B0502040504020204" pitchFamily="34" charset="0"/>
              </a:rPr>
              <a:t>микрокредитной</a:t>
            </a:r>
            <a:r>
              <a:rPr lang="ru-RU" b="0" i="0" dirty="0">
                <a:solidFill>
                  <a:srgbClr val="111111"/>
                </a:solidFill>
                <a:effectLst/>
                <a:latin typeface="Noto Sans" panose="020B0502040504020204" pitchFamily="34" charset="0"/>
              </a:rPr>
              <a:t> организации, была присуждена Нобелевская премия мира — за заслуги в создании социально-экономической системы борьбы с бедностью с низов. На посту главы временного правительства Мухаммад Юнус намерен перестроить финансовую систему Бангладеш с целью справедливого распределения богатства.</a:t>
            </a:r>
            <a:endParaRPr lang="ru-RU" dirty="0"/>
          </a:p>
        </p:txBody>
      </p:sp>
      <p:pic>
        <p:nvPicPr>
          <p:cNvPr id="3076" name="Picture 4" descr="Согласившийся возглавить временное правительство Бангладеш банкир был женат  на потомке русских иммигрантов - МК">
            <a:extLst>
              <a:ext uri="{FF2B5EF4-FFF2-40B4-BE49-F238E27FC236}">
                <a16:creationId xmlns:a16="http://schemas.microsoft.com/office/drawing/2014/main" id="{19BA68AF-6A18-A112-FB79-F96E34ABBD1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66111"/>
            <a:ext cx="5685431" cy="462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19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4ECA7-34E7-B36B-A6F9-88C2AFD7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2395"/>
            <a:ext cx="9601200" cy="1387549"/>
          </a:xfrm>
        </p:spPr>
        <p:txBody>
          <a:bodyPr>
            <a:normAutofit/>
          </a:bodyPr>
          <a:lstStyle/>
          <a:p>
            <a:r>
              <a:rPr lang="ru-RU" dirty="0"/>
              <a:t>Кредиты от 7</a:t>
            </a:r>
            <a:r>
              <a:rPr lang="en-US" dirty="0"/>
              <a:t>$ </a:t>
            </a:r>
            <a:r>
              <a:rPr lang="ru-RU" dirty="0"/>
              <a:t>женщинам с условием отдать по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8981D-F294-35C3-FD3F-C6E257D65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599" y="1751712"/>
            <a:ext cx="5007935" cy="3581401"/>
          </a:xfrm>
        </p:spPr>
        <p:txBody>
          <a:bodyPr>
            <a:noAutofit/>
          </a:bodyPr>
          <a:lstStyle/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Эмигрировав в США и получив там степень доктора экономики, в 1976 году он вернулся на родину – посетив одну из нищих деревень, Юнус обнаружил, что ее жители не могут вырваться из бедности из-за местных ростовщиков, так как те выдавали кредиты под такой высокий процент и на такие короткие сроки, что крестьяне не успевали реализовывать товар на рынке. В результате им приходилось продавать свою продукцию за гроши своим же кредиторам.</a:t>
            </a: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Юнус оплатил долги бедных крестьян и начал сам выдавать им кредиты — маленькими суммами под мизерный процент и без всяких залогов и поручителей, но при условии расширения или открытия бизнеса, как правило, семейного. </a:t>
            </a: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В 1983 году Юнус создал банк «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Грамин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», который занимался выдачей микрокредитов бедным бангладешцам на основании «круговой поруки»; модель оказалось успешной и идею заметили в мире</a:t>
            </a:r>
          </a:p>
          <a:p>
            <a:pPr marL="0" indent="38404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https://www.kommersant.ru/doc/7219526</a:t>
            </a:r>
            <a:endParaRPr lang="ru-RU" sz="1400" dirty="0"/>
          </a:p>
        </p:txBody>
      </p:sp>
      <p:pic>
        <p:nvPicPr>
          <p:cNvPr id="2052" name="Picture 4" descr="Подавляющее большинство заемщиков банка Grameen — женщины">
            <a:extLst>
              <a:ext uri="{FF2B5EF4-FFF2-40B4-BE49-F238E27FC236}">
                <a16:creationId xmlns:a16="http://schemas.microsoft.com/office/drawing/2014/main" id="{9B2D811A-469C-F865-2D05-D49B2A8187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436" y="2325870"/>
            <a:ext cx="5429957" cy="305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438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4030049-D62D-1D2C-3CC4-8FAF43C9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МФО в России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E2CCD-F37B-7D50-71BB-2C0392E2C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МФО – это микрофинансовые организации, занимающиеся выдачей финансовой помощи заемщикам под определенный процент на ограниченный условиями договора срок. Вне зависимости от суммы выданных заемных средств, ставка не превышает 1% в день. Возможность заниматься микрофинансированием населения компания получает только после внесения в государственный реестр и получения свидетельства ЦБ РФ. За деятельностью МФО следит Центральный Банк РФ. Выдавая микрозаймы, МФО обязательно фиксирует все условия в договоре, который подписывает заемщик. Такие организации не имеют права выдавать деньги в долг в иностранной валюте. Также им нельзя менять условия договора в одностороннем порядке (процентные ставки, сроки, размеры комиссий). Существуют ограничения по максимальной сумме заемных средств: до 1 млн рублей для физических лиц, до 5 млн рублей – для ИП. С 2015 года, в соответствии с № 407-ФЗ от 29.12.2015, все микрофинансовые организации были разделены на 2 вида –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микрокредитные</a:t>
            </a: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компании (МКК) и микрофинансовые компании (МФК).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1015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6B6005B-1395-8057-17A4-F642C96D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7D009E17-4D74-06F4-BBA5-7AF9F7EEDFA9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8" name="Picture 12" descr="Что такое МФО, МФК и МКК">
            <a:extLst>
              <a:ext uri="{FF2B5EF4-FFF2-40B4-BE49-F238E27FC236}">
                <a16:creationId xmlns:a16="http://schemas.microsoft.com/office/drawing/2014/main" id="{5079C762-660B-BFD1-119C-0D326C6A4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153" y="895784"/>
            <a:ext cx="9239693" cy="506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047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A282C-BE27-AB4F-BB1B-FA0C8294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Микрокредитная</a:t>
            </a:r>
            <a:r>
              <a:rPr lang="ru-RU" dirty="0"/>
              <a:t> организация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0B2B3-9A19-6CDA-B290-0221E7FD9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Aft>
                <a:spcPts val="1875"/>
              </a:spcAft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МКК – это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микрокредитные</a:t>
            </a: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компании, которые занимаются выдачей микрокредитов физическим лицам на сумму до 500 тысяч рублей и юридическим лицам, ИП на сумму до 5 млн рублей. Организации имеют право привлекать капитал от физических лиц, являющихся соучредителями, и от юридических лиц. С 1 июля 2020 года компания с таким статусом должна иметь собственный капитал не менее 1 млн рублей. В течение следующих четырех лет его размер постепенно увеличится, к 2024 году должен составить 5 млн рублей.</a:t>
            </a:r>
          </a:p>
          <a:p>
            <a:pPr algn="l">
              <a:spcAft>
                <a:spcPts val="1875"/>
              </a:spcAft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МКК обязана создавать резервы с учетом возможных финансовых потерь и быть членом СРО, которая будет контролировать деятельность такой МФО. Центробанк регулирует деятельность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микрокредитных</a:t>
            </a: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компаний, если они не входят в СРО, появились сведения о правонарушениях или саморегулируемая организация является объектом проверки.</a:t>
            </a:r>
          </a:p>
          <a:p>
            <a:pPr algn="l">
              <a:spcAft>
                <a:spcPts val="1875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Для идентификации заемщика при подаче первой заявки он должен посетить офис организации, допускается также, чтобы сотрудник самостоятельно встретился с клиентом.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8270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740CC-DA93-BB34-4C4C-1AEBFA24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Микрофинансовая организация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9CC34-6D76-B662-A63D-89C813746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Aft>
                <a:spcPts val="1875"/>
              </a:spcAft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МФК – это микрофинансовая компания, имеющая собственный уставной капитал не менее 70 млн рублей. Она занимается выдачей займов физическим лицам на сумму до 1 млн рублей и юридическим лицам, ИП – до 5 млн рублей, может выпускать и размещать облигации. Такие предприятия имеют право без ограничений привлекать капитал от учредителей, юридических лиц и от физических лиц, если инвестируемая сумма по договору превышает 1,5 млн рублей.</a:t>
            </a:r>
          </a:p>
          <a:p>
            <a:pPr algn="l">
              <a:spcAft>
                <a:spcPts val="1875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За деятельностью МФК постоянно осуществляется надзор ЦБ, ежегодно проводится аудит. Если размер собственного капитала уменьшится и станет ниже 70 млн рублей, компания будет исключена из государственного реестра и не сможет продолжать свою кредиторскую деятельность. Выдача заемных средств может осуществляться полностью удаленно, в онлайн-режиме.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11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D4348-DE46-4426-CFF4-2E12A5EC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047D9CD-A1C0-0A01-F094-2A1ECC724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0161602"/>
              </p:ext>
            </p:extLst>
          </p:nvPr>
        </p:nvGraphicFramePr>
        <p:xfrm>
          <a:off x="1371599" y="685799"/>
          <a:ext cx="10069032" cy="5693735"/>
        </p:xfrm>
        <a:graphic>
          <a:graphicData uri="http://schemas.openxmlformats.org/drawingml/2006/table">
            <a:tbl>
              <a:tblPr/>
              <a:tblGrid>
                <a:gridCol w="3356261">
                  <a:extLst>
                    <a:ext uri="{9D8B030D-6E8A-4147-A177-3AD203B41FA5}">
                      <a16:colId xmlns:a16="http://schemas.microsoft.com/office/drawing/2014/main" val="928420565"/>
                    </a:ext>
                  </a:extLst>
                </a:gridCol>
                <a:gridCol w="3356261">
                  <a:extLst>
                    <a:ext uri="{9D8B030D-6E8A-4147-A177-3AD203B41FA5}">
                      <a16:colId xmlns:a16="http://schemas.microsoft.com/office/drawing/2014/main" val="2622441422"/>
                    </a:ext>
                  </a:extLst>
                </a:gridCol>
                <a:gridCol w="3356510">
                  <a:extLst>
                    <a:ext uri="{9D8B030D-6E8A-4147-A177-3AD203B41FA5}">
                      <a16:colId xmlns:a16="http://schemas.microsoft.com/office/drawing/2014/main" val="2150283176"/>
                    </a:ext>
                  </a:extLst>
                </a:gridCol>
              </a:tblGrid>
              <a:tr h="427775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666699"/>
                          </a:solidFill>
                          <a:effectLst/>
                        </a:rPr>
                        <a:t>Показатель для сравнения</a:t>
                      </a:r>
                      <a:endParaRPr lang="ru-RU" sz="1800" dirty="0">
                        <a:effectLst/>
                      </a:endParaRP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>
                          <a:solidFill>
                            <a:srgbClr val="666699"/>
                          </a:solidFill>
                          <a:effectLst/>
                        </a:rPr>
                        <a:t>МФК</a:t>
                      </a:r>
                      <a:endParaRPr lang="ru-RU" sz="1800">
                        <a:effectLst/>
                      </a:endParaRP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>
                          <a:solidFill>
                            <a:srgbClr val="666699"/>
                          </a:solidFill>
                          <a:effectLst/>
                        </a:rPr>
                        <a:t>МКК</a:t>
                      </a:r>
                      <a:endParaRPr lang="ru-RU" sz="1800">
                        <a:effectLst/>
                      </a:endParaRP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003962"/>
                  </a:ext>
                </a:extLst>
              </a:tr>
              <a:tr h="94882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Максимальный размер займа для выдачи физическому лицу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До 1 млн. рублей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До 500 тыс. рублей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38245"/>
                  </a:ext>
                </a:extLst>
              </a:tr>
              <a:tr h="775143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Привлечение денежных средств от населения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От 1,5 млн. рублей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Нет возможности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377197"/>
                  </a:ext>
                </a:extLst>
              </a:tr>
              <a:tr h="948827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Минимальный размер собственного капитала компании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От 70 млн. рублей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Нет ограничений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880837"/>
                  </a:ext>
                </a:extLst>
              </a:tr>
              <a:tr h="648485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Возможность выпуска облигаций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Можно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Нельзя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03543"/>
                  </a:ext>
                </a:extLst>
              </a:tr>
              <a:tr h="1296193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Возможность выдавать займы онлайн на электронные кошельки, карты и т.д.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Есть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Нет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304729"/>
                  </a:ext>
                </a:extLst>
              </a:tr>
              <a:tr h="648485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Обязательные аудиторские проверки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</a:rPr>
                        <a:t>На регулярной основе отчетов в ЦБ РФ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Не является обязательным требованием</a:t>
                      </a:r>
                    </a:p>
                  </a:txBody>
                  <a:tcPr marL="25714" marR="25714" marT="25714" marB="2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29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87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4A416-8B43-EA4A-BF15-5EBEA02C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33333"/>
                </a:solidFill>
                <a:latin typeface="Open Sans" panose="020B0606030504020204" pitchFamily="34" charset="0"/>
              </a:rPr>
              <a:t>Виды займов в МФО</a:t>
            </a:r>
            <a:br>
              <a:rPr lang="ru-RU" dirty="0">
                <a:solidFill>
                  <a:srgbClr val="333333"/>
                </a:solidFill>
                <a:latin typeface="Open Sans" panose="020B060603050402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11400B-4123-E51A-0110-85EE27FEE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9824"/>
            <a:ext cx="9601200" cy="3581400"/>
          </a:xfrm>
        </p:spPr>
        <p:txBody>
          <a:bodyPr>
            <a:noAutofit/>
          </a:bodyPr>
          <a:lstStyle/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По видам займов все микрокредиты можно разделить на три группы: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93300"/>
                </a:solidFill>
                <a:effectLst/>
                <a:latin typeface="Open Sans" panose="020B0606030504020204" pitchFamily="34" charset="0"/>
              </a:rPr>
              <a:t>1. Займы малому бизнесу</a:t>
            </a:r>
            <a:endParaRPr lang="ru-RU" sz="1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В данном сегменте работают в основном крупные организации с высоким уровнем капитала. Эффективная ставка по данного вида займам в среднем колеблется от 20% до 40% годовых. Максимальный размер займа составляет 1 млн. рублей.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93300"/>
                </a:solidFill>
                <a:effectLst/>
                <a:latin typeface="Open Sans" panose="020B0606030504020204" pitchFamily="34" charset="0"/>
              </a:rPr>
              <a:t>2. Потребительские займы</a:t>
            </a:r>
            <a:endParaRPr lang="ru-RU" sz="1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В данном сегменте присутствуют компании как с высоким, так и со средним уровнем капитала. Эффективная ставка по данного вида займам в среднем колеблется от 100% до 140% годовых. Стандартный срок выдачи – от полугода до года. Займы как правило составляют десятки и сотни тысяч рублей. МФО может и отказать в выдаче займа, хотя по закону оно должно обосновать просителю отказ в письменной форме.</a:t>
            </a:r>
          </a:p>
          <a:p>
            <a:pPr marL="0" indent="38404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993300"/>
                </a:solidFill>
                <a:effectLst/>
                <a:latin typeface="Open Sans" panose="020B0606030504020204" pitchFamily="34" charset="0"/>
              </a:rPr>
              <a:t>3. Займы до зарплаты (быстрые и краткосрочные займы)</a:t>
            </a:r>
            <a:endParaRPr lang="ru-RU" sz="1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384048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Это займы на небольшую сумму денег и на короткий период времени, которые берутся заёмщиком у финансовой компании (кредитора). Это самый частый вид кредита, который оформляется и выдается в самые сжатые сроки. Понятие “до зарплаты” говорит само за себя.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Займ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до зарплаты – это краткосрочный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займ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как правило, сроком до 30 дней. Эффективная процентная ставка по данным видам займов колеблется в широком диапазоне – от 350 до</a:t>
            </a:r>
            <a:r>
              <a:rPr lang="ru-RU" sz="1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795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(!) процентов годовых.</a:t>
            </a:r>
          </a:p>
          <a:p>
            <a:pPr marL="0" indent="38404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261270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A5774C-686F-6156-5B8B-3DA09955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Ипотека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81BFC3E-FED4-14E1-AA30-37DE5989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См. папку Ипотека в папке Общество:</a:t>
            </a:r>
          </a:p>
          <a:p>
            <a:r>
              <a:rPr lang="ru-RU" dirty="0"/>
              <a:t>1. общая информация - презентация</a:t>
            </a:r>
          </a:p>
          <a:p>
            <a:r>
              <a:rPr lang="ru-RU" dirty="0"/>
              <a:t>2. История в России – презентация</a:t>
            </a:r>
          </a:p>
          <a:p>
            <a:r>
              <a:rPr lang="ru-RU" dirty="0"/>
              <a:t>3. Изменения в ипотечном кредитовании 2024 – видео</a:t>
            </a:r>
          </a:p>
          <a:p>
            <a:r>
              <a:rPr lang="ru-RU" dirty="0"/>
              <a:t>Как взять ипотеку  - текст для самостоятельного чтения</a:t>
            </a:r>
          </a:p>
          <a:p>
            <a:r>
              <a:rPr lang="ru-RU" dirty="0"/>
              <a:t>Тест на знание условий выдачи ипотеки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3722CBB-B9CB-1DBB-4C44-9F46BEA55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599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1C7F989-9DD0-E071-2EDB-6E494B64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для промежуточного контроля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576AD3-BE26-90C8-C4BE-AF04B4AB66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1. Прочесть статью «Как взять ипотеку»</a:t>
            </a:r>
          </a:p>
          <a:p>
            <a:r>
              <a:rPr lang="ru-RU" dirty="0"/>
              <a:t>Проверить свою кредитную историю и кредитный рейтинг</a:t>
            </a:r>
          </a:p>
          <a:p>
            <a:r>
              <a:rPr lang="ru-RU" dirty="0"/>
              <a:t>Написать доклад «Что мне нужно сделать для одобрения ипотеки»</a:t>
            </a:r>
          </a:p>
          <a:p>
            <a:r>
              <a:rPr lang="ru-RU" dirty="0"/>
              <a:t>Прочитать на паре 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478C27-17FD-9C3E-BEDE-184938ABDE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Срок сдачи </a:t>
            </a:r>
            <a:r>
              <a:rPr lang="ru-RU"/>
              <a:t>17 и 19 марта </a:t>
            </a:r>
            <a:r>
              <a:rPr lang="ru-RU" dirty="0"/>
              <a:t>2025 года</a:t>
            </a:r>
          </a:p>
        </p:txBody>
      </p:sp>
    </p:spTree>
    <p:extLst>
      <p:ext uri="{BB962C8B-B14F-4D97-AF65-F5344CB8AC3E}">
        <p14:creationId xmlns:p14="http://schemas.microsoft.com/office/powerpoint/2010/main" val="653592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C07739-2579-D787-1D2E-992063BC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продвинутых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58497D-E09A-0815-9AD7-4B92C203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Ипотека на вторичку – видео в папке Общество – Вторичка текст + задание</a:t>
            </a:r>
          </a:p>
          <a:p>
            <a:r>
              <a:rPr lang="ru-RU" dirty="0"/>
              <a:t>Текст для самостоятельного прочтения</a:t>
            </a:r>
          </a:p>
          <a:p>
            <a:r>
              <a:rPr lang="ru-RU"/>
              <a:t>Тест</a:t>
            </a:r>
          </a:p>
        </p:txBody>
      </p:sp>
    </p:spTree>
    <p:extLst>
      <p:ext uri="{BB962C8B-B14F-4D97-AF65-F5344CB8AC3E}">
        <p14:creationId xmlns:p14="http://schemas.microsoft.com/office/powerpoint/2010/main" val="56642134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484</TotalTime>
  <Words>3484</Words>
  <Application>Microsoft Office PowerPoint</Application>
  <PresentationFormat>Широкоэкранный</PresentationFormat>
  <Paragraphs>207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51" baseType="lpstr">
      <vt:lpstr>Arial</vt:lpstr>
      <vt:lpstr>Book Antiqua</vt:lpstr>
      <vt:lpstr>Charter</vt:lpstr>
      <vt:lpstr>Franklin Gothic Book</vt:lpstr>
      <vt:lpstr>Graphik</vt:lpstr>
      <vt:lpstr>Noto Sans</vt:lpstr>
      <vt:lpstr>Open Sans</vt:lpstr>
      <vt:lpstr>PTRoot</vt:lpstr>
      <vt:lpstr>Roboto</vt:lpstr>
      <vt:lpstr>Segoe UI</vt:lpstr>
      <vt:lpstr>Times New Roman</vt:lpstr>
      <vt:lpstr>Wingdings</vt:lpstr>
      <vt:lpstr>Уголки</vt:lpstr>
      <vt:lpstr>Банковская система</vt:lpstr>
      <vt:lpstr>Презентация PowerPoint</vt:lpstr>
      <vt:lpstr>Финансовая система государства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Кредиты</vt:lpstr>
      <vt:lpstr>В договоре займа всегда указаны условия: </vt:lpstr>
      <vt:lpstr>Условия банков по кредитам отличаются</vt:lpstr>
      <vt:lpstr>На что обратить внимание</vt:lpstr>
      <vt:lpstr>Если что-то пошло не так</vt:lpstr>
      <vt:lpstr>Кредитные карты</vt:lpstr>
      <vt:lpstr>Виды карт:</vt:lpstr>
      <vt:lpstr>Немного о картах</vt:lpstr>
      <vt:lpstr>Характеристики кредитных карт</vt:lpstr>
      <vt:lpstr>Заработок с помощью кредиток</vt:lpstr>
      <vt:lpstr>Как банк зарабатывает на кредитках </vt:lpstr>
      <vt:lpstr>Кредитная история</vt:lpstr>
      <vt:lpstr>Кредитная история— это описание ваших кредитов с 2005 года: сколько занимали и как ровно платили, были вторым заемщиком или поручителем. </vt:lpstr>
      <vt:lpstr>На что влияет кредитная история?</vt:lpstr>
      <vt:lpstr>Где хранятся данные</vt:lpstr>
      <vt:lpstr>Кто может посмотреть кредитную историю</vt:lpstr>
      <vt:lpstr>Как оценивается хорошая кредитная история</vt:lpstr>
      <vt:lpstr>Плохая кредитная история</vt:lpstr>
      <vt:lpstr>Микрофинансовые организации (МФО)</vt:lpstr>
      <vt:lpstr>Истрия микрофинансирования</vt:lpstr>
      <vt:lpstr>Кредиты от 7$ женщинам с условием отдать по возможности</vt:lpstr>
      <vt:lpstr>МФО в России</vt:lpstr>
      <vt:lpstr>Презентация PowerPoint</vt:lpstr>
      <vt:lpstr>Микрокредитная организация</vt:lpstr>
      <vt:lpstr>Микрофинансовая организация</vt:lpstr>
      <vt:lpstr>Презентация PowerPoint</vt:lpstr>
      <vt:lpstr>Виды займов в МФО </vt:lpstr>
      <vt:lpstr>Ипотека</vt:lpstr>
      <vt:lpstr>Задание для промежуточного контроля</vt:lpstr>
      <vt:lpstr>Для продвинутых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Шумилова</dc:creator>
  <cp:lastModifiedBy>Полина Шумилова</cp:lastModifiedBy>
  <cp:revision>46</cp:revision>
  <dcterms:created xsi:type="dcterms:W3CDTF">2025-02-16T09:48:02Z</dcterms:created>
  <dcterms:modified xsi:type="dcterms:W3CDTF">2025-03-02T11:29:49Z</dcterms:modified>
</cp:coreProperties>
</file>