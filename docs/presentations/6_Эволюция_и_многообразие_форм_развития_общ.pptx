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59" r:id="rId9"/>
    <p:sldId id="266" r:id="rId10"/>
    <p:sldId id="270" r:id="rId11"/>
    <p:sldId id="269" r:id="rId12"/>
    <p:sldId id="271" r:id="rId13"/>
    <p:sldId id="268" r:id="rId14"/>
    <p:sldId id="272" r:id="rId15"/>
    <p:sldId id="274" r:id="rId16"/>
    <p:sldId id="273" r:id="rId17"/>
    <p:sldId id="265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9" autoAdjust="0"/>
    <p:restoredTop sz="94660"/>
  </p:normalViewPr>
  <p:slideViewPr>
    <p:cSldViewPr snapToGrid="0">
      <p:cViewPr varScale="1">
        <p:scale>
          <a:sx n="67" d="100"/>
          <a:sy n="67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5DY6dsChZA4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yandex.ru/video/preview/1220165081742300105" TargetMode="External"/><Relationship Id="rId2" Type="http://schemas.openxmlformats.org/officeDocument/2006/relationships/hyperlink" Target="https://www.youtube.com/watch?v=WNo-0HYN3e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xKmZnIHzld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478778-FCC6-4572-92A0-BD2FCE73D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903" y="1266826"/>
            <a:ext cx="8361229" cy="3658080"/>
          </a:xfrm>
        </p:spPr>
        <p:txBody>
          <a:bodyPr/>
          <a:lstStyle/>
          <a:p>
            <a:r>
              <a:rPr lang="ru-RU" sz="3200" b="1" dirty="0">
                <a:effectLst/>
                <a:latin typeface="Times New Roman" panose="02020603050405020304" pitchFamily="18" charset="0"/>
                <a:ea typeface="OfficinaSansBoldITC"/>
              </a:rPr>
              <a:t>Многообразие путей и форм общественного развития.</a:t>
            </a:r>
            <a:br>
              <a:rPr lang="ru-RU" sz="3200" b="1" dirty="0">
                <a:effectLst/>
                <a:latin typeface="Times New Roman" panose="02020603050405020304" pitchFamily="18" charset="0"/>
                <a:ea typeface="OfficinaSansBoldITC"/>
              </a:rPr>
            </a:br>
            <a:r>
              <a:rPr lang="ru-RU" sz="3200" b="1" dirty="0">
                <a:effectLst/>
                <a:latin typeface="Times New Roman" panose="02020603050405020304" pitchFamily="18" charset="0"/>
                <a:ea typeface="OfficinaSansBoldITC"/>
              </a:rPr>
              <a:t> </a:t>
            </a:r>
            <a:br>
              <a:rPr lang="ru-RU" sz="3200" b="1" dirty="0">
                <a:effectLst/>
                <a:latin typeface="Times New Roman" panose="02020603050405020304" pitchFamily="18" charset="0"/>
                <a:ea typeface="OfficinaSansBoldITC"/>
              </a:rPr>
            </a:br>
            <a:r>
              <a:rPr lang="ru-RU" sz="3200" b="1" dirty="0">
                <a:effectLst/>
                <a:latin typeface="Times New Roman" panose="02020603050405020304" pitchFamily="18" charset="0"/>
                <a:ea typeface="OfficinaSansBoldITC"/>
              </a:rPr>
              <a:t>Эволюция, социальная революция. Реформа. </a:t>
            </a:r>
            <a:br>
              <a:rPr lang="ru-RU" sz="3200" b="1" dirty="0">
                <a:effectLst/>
                <a:latin typeface="Times New Roman" panose="02020603050405020304" pitchFamily="18" charset="0"/>
                <a:ea typeface="OfficinaSansBoldITC"/>
              </a:rPr>
            </a:br>
            <a:br>
              <a:rPr lang="ru-RU" sz="3200" b="1" dirty="0">
                <a:effectLst/>
                <a:latin typeface="Times New Roman" panose="02020603050405020304" pitchFamily="18" charset="0"/>
                <a:ea typeface="OfficinaSansBoldITC"/>
              </a:rPr>
            </a:br>
            <a:r>
              <a:rPr lang="ru-RU" sz="3200" b="1" dirty="0">
                <a:effectLst/>
                <a:latin typeface="Times New Roman" panose="02020603050405020304" pitchFamily="18" charset="0"/>
                <a:ea typeface="OfficinaSansBoldITC"/>
              </a:rPr>
              <a:t>Противоречивый характер прогресса. 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2975389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149F9-1B75-4BD2-BCCA-88069EF0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Пути развития общества: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3251C3-82B3-4137-BE3A-608B037D9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Эволюционный</a:t>
            </a:r>
          </a:p>
          <a:p>
            <a:r>
              <a:rPr lang="ru-RU" sz="3200" dirty="0"/>
              <a:t>Революционные</a:t>
            </a:r>
          </a:p>
          <a:p>
            <a:r>
              <a:rPr lang="ru-RU" sz="3200" dirty="0"/>
              <a:t>Реформирование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541555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922AB-6913-4739-9FED-21A8201B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555555"/>
                </a:solidFill>
                <a:latin typeface="Source Sans Pro" panose="020B0503030403020204" pitchFamily="34" charset="0"/>
              </a:rPr>
              <a:t>Эволюция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EDFA76-0BCD-43DD-A9BF-924DE466B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—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 это (от лат. </a:t>
            </a:r>
            <a:r>
              <a:rPr lang="ru-RU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evolutio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— «развёртывание») процесс изменения общества, при котором  возникает социальная форма развития общества, </a:t>
            </a:r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отличающаяся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от предшествующей. </a:t>
            </a:r>
          </a:p>
          <a:p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Эволюционный путь развития — это плавные, </a:t>
            </a:r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постепенные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изменения, которые происходят в обществе  в конкретных исторических условиях.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Эволюция трактуется как процесс, осуществляющийся </a:t>
            </a:r>
            <a:r>
              <a:rPr lang="ru-RU" b="1" i="0" dirty="0">
                <a:solidFill>
                  <a:srgbClr val="000000"/>
                </a:solidFill>
                <a:effectLst/>
                <a:latin typeface="REG"/>
              </a:rPr>
              <a:t>сам по себе </a:t>
            </a:r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и являющийся, таким образом, своеобразным </a:t>
            </a:r>
            <a:r>
              <a:rPr lang="ru-RU" b="1" i="0" dirty="0">
                <a:solidFill>
                  <a:srgbClr val="000000"/>
                </a:solidFill>
                <a:effectLst/>
                <a:latin typeface="REG"/>
              </a:rPr>
              <a:t>саморазвитием</a:t>
            </a:r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Теория эволюции указывает лишь на </a:t>
            </a:r>
            <a:r>
              <a:rPr lang="ru-RU" b="1" i="0" dirty="0">
                <a:solidFill>
                  <a:srgbClr val="000000"/>
                </a:solidFill>
                <a:effectLst/>
                <a:latin typeface="REG"/>
              </a:rPr>
              <a:t>направление</a:t>
            </a:r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 движения </a:t>
            </a:r>
            <a:r>
              <a:rPr lang="ru-RU" b="1" i="0" dirty="0">
                <a:solidFill>
                  <a:srgbClr val="000000"/>
                </a:solidFill>
                <a:effectLst/>
                <a:latin typeface="REG"/>
              </a:rPr>
              <a:t>определенного процесса</a:t>
            </a:r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, результат которого часто зависит от очень большого количества конкретных обстоятельств и факторов. Кроме того, </a:t>
            </a:r>
            <a:r>
              <a:rPr lang="ru-RU" b="1" i="0" dirty="0">
                <a:solidFill>
                  <a:srgbClr val="000000"/>
                </a:solidFill>
                <a:effectLst/>
                <a:latin typeface="REG"/>
              </a:rPr>
              <a:t>эволюция базируется на непостоянстве и случайности</a:t>
            </a:r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, а развитие - на циклическом повторении устойчивости.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1382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B1305-178A-4753-BF69-EBB5EC326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Эволюционная теория </a:t>
            </a:r>
            <a:r>
              <a:rPr lang="ru-RU" dirty="0" err="1"/>
              <a:t>Т.Парсонса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5A7BEE-D8E4-4344-8325-8105488C5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1) Соц. системы выделяются по мере развития общества (дифференциация)</a:t>
            </a:r>
          </a:p>
          <a:p>
            <a:pPr algn="l"/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2) Каждая новая подсистема является </a:t>
            </a:r>
            <a:r>
              <a:rPr lang="ru-RU" b="0" i="0" dirty="0" err="1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адаптивней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 прежней</a:t>
            </a:r>
          </a:p>
          <a:p>
            <a:pPr algn="l"/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3) Процессы дифференциации порождают проблему интеграции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2344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61ACD-94F2-49E0-B32C-10E9B3064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424242"/>
                </a:solidFill>
                <a:latin typeface="Verdana" panose="020B0604030504040204" pitchFamily="34" charset="0"/>
              </a:rPr>
              <a:t>Все общества прошли 3 стадии эволюции:</a:t>
            </a:r>
            <a:br>
              <a:rPr lang="ru-RU" dirty="0">
                <a:solidFill>
                  <a:srgbClr val="424242"/>
                </a:solidFill>
                <a:latin typeface="Verdana" panose="020B060403050404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A48962-1C68-4DD2-A543-A0C82AF1D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1. Примитивная – дифференциации нет</a:t>
            </a:r>
          </a:p>
          <a:p>
            <a:pPr algn="l"/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2. Промежуточная – постепенно проявляется</a:t>
            </a:r>
          </a:p>
          <a:p>
            <a:pPr algn="l"/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3. Современная – максимально развитая дифференциация</a:t>
            </a:r>
          </a:p>
          <a:p>
            <a:pPr algn="l"/>
            <a:endParaRPr lang="ru-RU" dirty="0">
              <a:solidFill>
                <a:srgbClr val="424242"/>
              </a:solidFill>
              <a:latin typeface="Verdana" panose="020B0604030504040204" pitchFamily="34" charset="0"/>
            </a:endParaRPr>
          </a:p>
          <a:p>
            <a:pPr algn="l"/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То есть </a:t>
            </a:r>
            <a:r>
              <a:rPr lang="ru-RU" b="1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поэтапное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 — от примитивного состояния общества (первый этап) через промежуточное (второй этап) к современному (третий этап) — </a:t>
            </a:r>
            <a:r>
              <a:rPr lang="ru-RU" b="1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усложнение со­циальной структуры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, уменьшающее стабильность общества и его подсистем.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192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3CB55-CD74-4234-A7F1-B8E448CA5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Факторы перехода от первобытного общества к промежуточному: 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283BCB-72A9-4C7D-85B5-1E4ED5DE9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ru-RU" b="1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язык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, который является прежде всего </a:t>
            </a:r>
            <a:r>
              <a:rPr lang="ru-RU" b="1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частью культурной системы;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 </a:t>
            </a:r>
          </a:p>
          <a:p>
            <a:pPr algn="l"/>
            <a:r>
              <a:rPr lang="ru-RU" b="1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письменность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, поскольку она «способствует независи­мости культурной системы от более преходящих потребностей общест­ва»</a:t>
            </a:r>
          </a:p>
          <a:p>
            <a:pPr algn="l"/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При пере­ходе от промежуточного к современному обществу такую роль играет институционализация кодов нормативного порядка, присущего </a:t>
            </a:r>
            <a:r>
              <a:rPr lang="ru-RU" b="0" i="0" dirty="0" err="1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социетальной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 струк­туре и связанного с системой права».</a:t>
            </a:r>
          </a:p>
          <a:p>
            <a:pPr algn="l"/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закон же, </a:t>
            </a:r>
            <a:r>
              <a:rPr lang="ru-RU" b="0" i="0" dirty="0" err="1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развившись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 до необходимого уровня при переходе к современному обществу, «содействует независимости нормативных ком­понентов социальной структуры от принуждения политических и эконо­мических интересов».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38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56FD45-9237-4A20-8BA9-F13BBB207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Факторы перехода от промежуточного общества к современному: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AC2491-A77D-4768-9745-CCE6BEF73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Институционализация кодов </a:t>
            </a:r>
            <a:r>
              <a:rPr lang="ru-RU" b="1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нормативного порядка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, присущего </a:t>
            </a:r>
            <a:r>
              <a:rPr lang="ru-RU" b="0" i="0" dirty="0" err="1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социетальной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 струк­туре и связанного с системой права;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Нормативный порядок – это система правил и критериев соответствующая данной социальной ситуации. </a:t>
            </a:r>
          </a:p>
          <a:p>
            <a:r>
              <a:rPr lang="ru-RU" dirty="0">
                <a:solidFill>
                  <a:srgbClr val="000000"/>
                </a:solidFill>
                <a:latin typeface="Helvetica" panose="020B0604020202020204" pitchFamily="34" charset="0"/>
              </a:rPr>
              <a:t>З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акон, </a:t>
            </a:r>
            <a:r>
              <a:rPr lang="ru-RU" b="0" i="0" dirty="0" err="1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развившись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 до необходимого уровня при переходе к современному обществу, «</a:t>
            </a:r>
            <a:r>
              <a:rPr lang="ru-RU" b="1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содействует независимости нормативных ком­понентов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 социальной структуры от принуждения политических и эконо­мических интересов».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268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E44DF0-269A-40E7-9CBA-670338849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Социальная революция.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795DFA-1242-4AF8-B210-A3D507344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(от лат. </a:t>
            </a:r>
            <a:r>
              <a:rPr lang="ru-RU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revolutio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 — поворот, превращение) это коренные, скачкообразные, существенные изменения в обществе, которые приводят к переходу общества из одного качественного состояния в другое.</a:t>
            </a:r>
          </a:p>
          <a:p>
            <a:pPr algn="l"/>
            <a:r>
              <a:rPr lang="ru-RU" dirty="0">
                <a:solidFill>
                  <a:srgbClr val="555555"/>
                </a:solidFill>
                <a:latin typeface="Source Sans Pro" panose="020B0503030403020204" pitchFamily="34" charset="0"/>
              </a:rPr>
              <a:t>Тип коллективного поведения.</a:t>
            </a:r>
            <a:endParaRPr lang="ru-RU" b="0" i="0" dirty="0">
              <a:solidFill>
                <a:srgbClr val="555555"/>
              </a:solidFill>
              <a:effectLst/>
              <a:latin typeface="Source Sans Pro" panose="020B0503030403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4061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35B58-DB47-4ED1-89B2-CE3B071F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000000"/>
                </a:solidFill>
                <a:latin typeface="REG"/>
              </a:rPr>
              <a:t>Подходы к изучению:</a:t>
            </a:r>
            <a:br>
              <a:rPr lang="ru-RU" dirty="0">
                <a:solidFill>
                  <a:srgbClr val="000000"/>
                </a:solidFill>
                <a:latin typeface="REG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F9FC81-54FF-43AF-A50B-1869D2D59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t"/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- классический марксизм, в его основе - организация производства и коллективные интересы;</a:t>
            </a:r>
          </a:p>
          <a:p>
            <a:pPr algn="l" fontAlgn="t"/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-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EG"/>
              </a:rPr>
              <a:t>дюркгеймианский</a:t>
            </a:r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 подход считает разделение труда основой образования рутинных 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EG"/>
              </a:rPr>
              <a:t>нерутинных</a:t>
            </a:r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 практик, вариацией которых, в свою очередь, выступает коллективное поведение;</a:t>
            </a:r>
          </a:p>
          <a:p>
            <a:pPr algn="l" fontAlgn="t"/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- утилитаристский 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EG"/>
              </a:rPr>
              <a:t>миллевский</a:t>
            </a:r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) подход имеет в основе индивидуальные интересы и действия;</a:t>
            </a:r>
          </a:p>
          <a:p>
            <a:pPr algn="l" fontAlgn="t"/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-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EG"/>
              </a:rPr>
              <a:t>веберианский</a:t>
            </a:r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 подход, в основе которого лежат также рутинные 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EG"/>
              </a:rPr>
              <a:t>нерутинные</a:t>
            </a:r>
            <a:r>
              <a:rPr lang="ru-RU" b="0" i="0" dirty="0">
                <a:solidFill>
                  <a:srgbClr val="000000"/>
                </a:solidFill>
                <a:effectLst/>
                <a:latin typeface="REG"/>
              </a:rPr>
              <a:t> практики, но с акцентом на порожденные ими интересы и верования, которые путем организации трансформируются в коллективные действия.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6055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355BA-C941-4405-BD08-94FDD58C6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142875"/>
            <a:ext cx="9601200" cy="1485900"/>
          </a:xfrm>
        </p:spPr>
        <p:txBody>
          <a:bodyPr/>
          <a:lstStyle/>
          <a:p>
            <a:r>
              <a:rPr lang="ru-RU" b="1" dirty="0">
                <a:solidFill>
                  <a:srgbClr val="434343"/>
                </a:solidFill>
                <a:latin typeface="Helvetica Neue"/>
              </a:rPr>
              <a:t>Теории социальной революции</a:t>
            </a:r>
            <a:br>
              <a:rPr lang="ru-RU" b="1" dirty="0">
                <a:solidFill>
                  <a:srgbClr val="434343"/>
                </a:solidFill>
                <a:latin typeface="Helvetica Neu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C30329-4F3B-48D3-A197-4669B90CB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047750"/>
            <a:ext cx="9601200" cy="3581400"/>
          </a:xfrm>
        </p:spPr>
        <p:txBody>
          <a:bodyPr>
            <a:noAutofit/>
          </a:bodyPr>
          <a:lstStyle/>
          <a:p>
            <a:pPr algn="l"/>
            <a:r>
              <a:rPr lang="ru-RU" sz="1400" b="1" i="0" dirty="0">
                <a:solidFill>
                  <a:srgbClr val="434343"/>
                </a:solidFill>
                <a:effectLst/>
                <a:latin typeface="Helvetica Neue"/>
              </a:rPr>
              <a:t>Марксистская теория</a:t>
            </a:r>
          </a:p>
          <a:p>
            <a:pPr algn="l"/>
            <a:r>
              <a:rPr lang="ru-RU" sz="1400" b="0" i="0" dirty="0">
                <a:solidFill>
                  <a:srgbClr val="434343"/>
                </a:solidFill>
                <a:effectLst/>
                <a:latin typeface="Helvetica Neue"/>
              </a:rPr>
              <a:t>Социальные революции возникают из-за классовой борьбы между эксплуатирующими и эксплуатируемыми классами. По марксистской теории, капиталистическое общество создает условия для своего собственного разрушения, и рабочий класс в конечном итоге свергнет буржуазию и установит коммунистическое общество.</a:t>
            </a:r>
          </a:p>
          <a:p>
            <a:pPr algn="l"/>
            <a:r>
              <a:rPr lang="ru-RU" sz="1400" b="1" i="0" dirty="0">
                <a:solidFill>
                  <a:srgbClr val="434343"/>
                </a:solidFill>
                <a:effectLst/>
                <a:latin typeface="Helvetica Neue"/>
              </a:rPr>
              <a:t>Теория революционного </a:t>
            </a:r>
            <a:r>
              <a:rPr lang="ru-RU" sz="1400" b="1" i="0" dirty="0" err="1">
                <a:solidFill>
                  <a:srgbClr val="434343"/>
                </a:solidFill>
                <a:effectLst/>
                <a:latin typeface="Helvetica Neue"/>
              </a:rPr>
              <a:t>элитизма</a:t>
            </a:r>
            <a:endParaRPr lang="ru-RU" sz="1400" b="1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400" b="0" i="0" dirty="0">
                <a:solidFill>
                  <a:srgbClr val="434343"/>
                </a:solidFill>
                <a:effectLst/>
                <a:latin typeface="Helvetica Neue"/>
              </a:rPr>
              <a:t>Теория революционного </a:t>
            </a:r>
            <a:r>
              <a:rPr lang="ru-RU" sz="1400" b="0" i="0" dirty="0" err="1">
                <a:solidFill>
                  <a:srgbClr val="434343"/>
                </a:solidFill>
                <a:effectLst/>
                <a:latin typeface="Helvetica Neue"/>
              </a:rPr>
              <a:t>элитизма</a:t>
            </a:r>
            <a:r>
              <a:rPr lang="ru-RU" sz="1400" b="0" i="0" dirty="0">
                <a:solidFill>
                  <a:srgbClr val="434343"/>
                </a:solidFill>
                <a:effectLst/>
                <a:latin typeface="Helvetica Neue"/>
              </a:rPr>
              <a:t> утверждает, что социальные революции возникают благодаря деятельности революционной элиты, которая стремится к изменению политической и социальной системы. По этой теории, революционная элита обладает особыми навыками, знаниями и ресурсами, которые позволяют им мобилизовать население и провести революцию.</a:t>
            </a:r>
          </a:p>
          <a:p>
            <a:pPr algn="l"/>
            <a:r>
              <a:rPr lang="ru-RU" sz="1400" b="1" i="0" dirty="0">
                <a:solidFill>
                  <a:srgbClr val="434343"/>
                </a:solidFill>
                <a:effectLst/>
                <a:latin typeface="Helvetica Neue"/>
              </a:rPr>
              <a:t>Теория структурного функционализма</a:t>
            </a:r>
          </a:p>
          <a:p>
            <a:pPr algn="l"/>
            <a:r>
              <a:rPr lang="ru-RU" sz="1400" b="0" i="0" dirty="0">
                <a:solidFill>
                  <a:srgbClr val="434343"/>
                </a:solidFill>
                <a:effectLst/>
                <a:latin typeface="Helvetica Neue"/>
              </a:rPr>
              <a:t>Теория структурного функционализма утверждает, что социальные революции возникают из-за дисфункций и несоответствий в социальной структуре общества. По этой теории, революции происходят, когда существующая социальная система неспособна удовлетворить потребности и ожидания населения. Революция служит как средство для изменения и перестройки социальной структуры, чтобы достичь более справедливого и устойчивого общества.</a:t>
            </a:r>
          </a:p>
          <a:p>
            <a:pPr algn="l"/>
            <a:r>
              <a:rPr lang="ru-RU" sz="1400" b="1" i="0" dirty="0">
                <a:solidFill>
                  <a:srgbClr val="434343"/>
                </a:solidFill>
                <a:effectLst/>
                <a:latin typeface="Helvetica Neue"/>
              </a:rPr>
              <a:t>Теория рационального выбора</a:t>
            </a:r>
          </a:p>
          <a:p>
            <a:pPr algn="l"/>
            <a:r>
              <a:rPr lang="ru-RU" sz="1400" b="0" i="0" dirty="0">
                <a:solidFill>
                  <a:srgbClr val="434343"/>
                </a:solidFill>
                <a:effectLst/>
                <a:latin typeface="Helvetica Neue"/>
              </a:rPr>
              <a:t>Теория рационального выбора утверждает, что социальные революции возникают из-за рациональных действий индивидов, которые стремятся к достижению своих собственных интересов и целей. По этой теории, революции происходят, когда люди считают, что революционные действия являются наиболее эффективным способом достижения своих целей, несмотря на возможные риски и потери.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934136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8DE6C-7E4B-46AC-BC60-FED65B43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434343"/>
                </a:solidFill>
                <a:latin typeface="Helvetica Neue"/>
              </a:rPr>
              <a:t>Основные свойства социальной революции</a:t>
            </a:r>
            <a:br>
              <a:rPr lang="ru-RU" b="1" dirty="0">
                <a:solidFill>
                  <a:srgbClr val="434343"/>
                </a:solidFill>
                <a:latin typeface="Helvetica Neu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E6A69F-570A-4301-AEF2-59F6401EB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95475"/>
            <a:ext cx="9601200" cy="3581400"/>
          </a:xfrm>
        </p:spPr>
        <p:txBody>
          <a:bodyPr>
            <a:noAutofit/>
          </a:bodyPr>
          <a:lstStyle/>
          <a:p>
            <a:pPr algn="l"/>
            <a:r>
              <a:rPr lang="ru-RU" sz="1400" b="1" i="0" dirty="0">
                <a:solidFill>
                  <a:srgbClr val="434343"/>
                </a:solidFill>
                <a:effectLst/>
                <a:latin typeface="Helvetica Neue"/>
              </a:rPr>
              <a:t>Радикальные изменения</a:t>
            </a:r>
          </a:p>
          <a:p>
            <a:pPr algn="l"/>
            <a:r>
              <a:rPr lang="ru-RU" sz="1400" b="0" i="0" dirty="0">
                <a:solidFill>
                  <a:srgbClr val="434343"/>
                </a:solidFill>
                <a:effectLst/>
                <a:latin typeface="Helvetica Neue"/>
              </a:rPr>
              <a:t>Революция меняет основные структуры и институты общества, а также влияет на поведение и мировоззрение людей.</a:t>
            </a:r>
          </a:p>
          <a:p>
            <a:pPr algn="l"/>
            <a:r>
              <a:rPr lang="ru-RU" sz="1400" b="1" i="0" dirty="0">
                <a:solidFill>
                  <a:srgbClr val="434343"/>
                </a:solidFill>
                <a:effectLst/>
                <a:latin typeface="Helvetica Neue"/>
              </a:rPr>
              <a:t>Массовое участие</a:t>
            </a:r>
          </a:p>
          <a:p>
            <a:pPr algn="l"/>
            <a:r>
              <a:rPr lang="ru-RU" sz="1400" b="0" i="0" dirty="0">
                <a:solidFill>
                  <a:srgbClr val="434343"/>
                </a:solidFill>
                <a:effectLst/>
                <a:latin typeface="Helvetica Neue"/>
              </a:rPr>
              <a:t>Массовое участие может проявляться в форме митингов, демонстраций, забастовок и других форм протеста.</a:t>
            </a:r>
          </a:p>
          <a:p>
            <a:pPr algn="l"/>
            <a:r>
              <a:rPr lang="ru-RU" sz="1400" b="1" i="0" dirty="0">
                <a:solidFill>
                  <a:srgbClr val="434343"/>
                </a:solidFill>
                <a:effectLst/>
                <a:latin typeface="Helvetica Neue"/>
              </a:rPr>
              <a:t>Конфликт и насилие</a:t>
            </a:r>
          </a:p>
          <a:p>
            <a:pPr algn="l"/>
            <a:r>
              <a:rPr lang="ru-RU" sz="1400" b="0" i="0" dirty="0">
                <a:solidFill>
                  <a:srgbClr val="434343"/>
                </a:solidFill>
                <a:effectLst/>
                <a:latin typeface="Helvetica Neue"/>
              </a:rPr>
              <a:t>Когда люди стремятся изменить установленный порядок вещей, возникают противоречия и столкновения с существующими структурами власти. Это может привести к насилию и потерям жизней.</a:t>
            </a:r>
          </a:p>
          <a:p>
            <a:pPr algn="l"/>
            <a:r>
              <a:rPr lang="ru-RU" sz="1400" b="1" i="0" dirty="0">
                <a:solidFill>
                  <a:srgbClr val="434343"/>
                </a:solidFill>
                <a:effectLst/>
                <a:latin typeface="Helvetica Neue"/>
              </a:rPr>
              <a:t>Идеологическая основа</a:t>
            </a:r>
          </a:p>
          <a:p>
            <a:pPr algn="l"/>
            <a:r>
              <a:rPr lang="ru-RU" sz="1400" b="0" i="0" dirty="0">
                <a:solidFill>
                  <a:srgbClr val="434343"/>
                </a:solidFill>
                <a:effectLst/>
                <a:latin typeface="Helvetica Neue"/>
              </a:rPr>
              <a:t>Идеология может быть связана с политикой, экономикой, социальной справедливостью и другими аспектами общественной жизни.</a:t>
            </a:r>
          </a:p>
          <a:p>
            <a:pPr algn="l"/>
            <a:r>
              <a:rPr lang="ru-RU" sz="1400" b="1" i="0" dirty="0">
                <a:solidFill>
                  <a:srgbClr val="434343"/>
                </a:solidFill>
                <a:effectLst/>
                <a:latin typeface="Helvetica Neue"/>
              </a:rPr>
              <a:t>Изменение власти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041401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E9FEB8-C84E-40A7-8B63-B9D12993A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434343"/>
                </a:solidFill>
                <a:latin typeface="Helvetica Neue"/>
              </a:rPr>
              <a:t>Факторы, способствующие возникновению социальной революции</a:t>
            </a:r>
            <a:br>
              <a:rPr lang="ru-RU" sz="3600" b="1" dirty="0">
                <a:solidFill>
                  <a:srgbClr val="434343"/>
                </a:solidFill>
                <a:latin typeface="Helvetica Neue"/>
              </a:rPr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5E9895-D04E-49BF-AC24-DC8C4F38F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676525"/>
            <a:ext cx="9601200" cy="3581400"/>
          </a:xfrm>
        </p:spPr>
        <p:txBody>
          <a:bodyPr>
            <a:noAutofit/>
          </a:bodyPr>
          <a:lstStyle/>
          <a:p>
            <a:pPr algn="l"/>
            <a:r>
              <a:rPr lang="ru-RU" sz="1800" b="1" i="0" dirty="0">
                <a:solidFill>
                  <a:srgbClr val="434343"/>
                </a:solidFill>
                <a:effectLst/>
                <a:latin typeface="Helvetica Neue"/>
              </a:rPr>
              <a:t>Социальные неравенства</a:t>
            </a:r>
          </a:p>
          <a:p>
            <a:pPr algn="l"/>
            <a:r>
              <a:rPr lang="ru-RU" sz="1800" b="1" i="0" dirty="0">
                <a:solidFill>
                  <a:srgbClr val="434343"/>
                </a:solidFill>
                <a:effectLst/>
                <a:latin typeface="Helvetica Neue"/>
              </a:rPr>
              <a:t>Политическая репрессия</a:t>
            </a:r>
          </a:p>
          <a:p>
            <a:pPr algn="l"/>
            <a:r>
              <a:rPr lang="ru-RU" sz="1800" b="1" i="0" dirty="0">
                <a:solidFill>
                  <a:srgbClr val="434343"/>
                </a:solidFill>
                <a:effectLst/>
                <a:latin typeface="Helvetica Neue"/>
              </a:rPr>
              <a:t>Экономические кризисы</a:t>
            </a:r>
          </a:p>
          <a:p>
            <a:pPr algn="l"/>
            <a:r>
              <a:rPr lang="ru-RU" sz="1800" b="1" i="0" dirty="0">
                <a:solidFill>
                  <a:srgbClr val="434343"/>
                </a:solidFill>
                <a:effectLst/>
                <a:latin typeface="Helvetica Neue"/>
              </a:rPr>
              <a:t>Идеологические движения</a:t>
            </a:r>
          </a:p>
          <a:p>
            <a:pPr algn="l"/>
            <a:r>
              <a:rPr lang="ru-RU" sz="1800" b="1" i="0" dirty="0">
                <a:solidFill>
                  <a:srgbClr val="434343"/>
                </a:solidFill>
                <a:effectLst/>
                <a:latin typeface="Helvetica Neue"/>
              </a:rPr>
              <a:t>Внешние влияния (</a:t>
            </a:r>
            <a:r>
              <a:rPr lang="ru-RU" sz="1800" b="0" i="0" dirty="0">
                <a:solidFill>
                  <a:srgbClr val="434343"/>
                </a:solidFill>
                <a:effectLst/>
                <a:latin typeface="Helvetica Neue"/>
              </a:rPr>
              <a:t>войны, колониализм или глобальные движения)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592845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DBC4C-CF67-4A33-89E8-BFE7A7BF1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Социальная реформа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7EB887-6CAE-494A-8F5A-EC166E0D3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444444"/>
                </a:solidFill>
                <a:latin typeface="Trebuchet MS" panose="020B0603020202020204" pitchFamily="34" charset="0"/>
              </a:rPr>
              <a:t>П</a:t>
            </a:r>
            <a:r>
              <a:rPr lang="ru-RU" b="0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реобразование, изменение, переустройство какой-либо стороны (порядков, институтов, учреждений) или всех сторон общественной жизни при сохранении существующего общественного строя.</a:t>
            </a:r>
          </a:p>
          <a:p>
            <a:r>
              <a:rPr lang="ru-RU" dirty="0">
                <a:solidFill>
                  <a:srgbClr val="444444"/>
                </a:solidFill>
                <a:latin typeface="Trebuchet MS" panose="020B0603020202020204" pitchFamily="34" charset="0"/>
              </a:rPr>
              <a:t>П</a:t>
            </a:r>
            <a:r>
              <a:rPr lang="ru-RU" b="0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олитические и социальные меры, осуществляемые с целью устранения социальных проблем. </a:t>
            </a:r>
          </a:p>
          <a:p>
            <a:r>
              <a:rPr lang="ru-RU" b="0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Движения за последовательные реформы и административные структуры, учрежденные для их осуществления, рассматривается как главная особенность, отличающая современные индустриальные общества от более ранних.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4842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D6DB3-3894-4812-A155-578798E9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8933"/>
          </a:xfrm>
        </p:spPr>
        <p:txBody>
          <a:bodyPr/>
          <a:lstStyle/>
          <a:p>
            <a:r>
              <a:rPr lang="ru-RU" sz="4400" b="1" dirty="0">
                <a:effectLst/>
                <a:latin typeface="Times New Roman" panose="02020603050405020304" pitchFamily="18" charset="0"/>
                <a:ea typeface="OfficinaSansBoldITC"/>
              </a:rPr>
              <a:t>Теория прогресса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79D442-42CE-4137-B9A8-0D12DB984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CustomSerif"/>
              </a:rPr>
              <a:t>Это концепция </a:t>
            </a:r>
            <a:r>
              <a:rPr lang="ru-RU" b="1" i="0" dirty="0">
                <a:effectLst/>
                <a:latin typeface="CustomSerif"/>
              </a:rPr>
              <a:t>линейного поэтапного</a:t>
            </a:r>
            <a:r>
              <a:rPr lang="ru-RU" b="0" i="0" dirty="0">
                <a:effectLst/>
                <a:latin typeface="CustomSerif"/>
              </a:rPr>
              <a:t> культурно-исторического развития человечества от одной формации к другой, от одного, более примитивного строя, - к другому, более развитому и совершенному: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CustomSerif"/>
              </a:rPr>
              <a:t>от невежества к знанию, от варварства к цивилизованности, от деспотии и монархии к демократии, от эксплуатации человека человеком к равноправию и все </a:t>
            </a:r>
            <a:r>
              <a:rPr lang="ru-RU" b="0" i="0" dirty="0" err="1">
                <a:effectLst/>
                <a:latin typeface="CustomSerif"/>
              </a:rPr>
              <a:t>бОльшему</a:t>
            </a:r>
            <a:r>
              <a:rPr lang="ru-RU" b="0" i="0" dirty="0">
                <a:effectLst/>
                <a:latin typeface="CustomSerif"/>
              </a:rPr>
              <a:t> повышению гуманизма.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CustomSerif"/>
              </a:rPr>
              <a:t>Поэтапная </a:t>
            </a:r>
            <a:r>
              <a:rPr lang="ru-RU" b="1" i="0" dirty="0">
                <a:effectLst/>
                <a:latin typeface="CustomSerif"/>
              </a:rPr>
              <a:t>смена мировоззренческой </a:t>
            </a:r>
            <a:r>
              <a:rPr lang="ru-RU" b="0" i="0" dirty="0">
                <a:effectLst/>
                <a:latin typeface="CustomSerif"/>
              </a:rPr>
              <a:t>парадигмы от мифа к религии, от политеизма к монотеизму, от религии к науке. 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CustomSerif"/>
              </a:rPr>
              <a:t>Прогресс объединяет в себе </a:t>
            </a:r>
            <a:r>
              <a:rPr lang="ru-RU" b="1" i="0" dirty="0">
                <a:effectLst/>
                <a:latin typeface="CustomSerif"/>
              </a:rPr>
              <a:t>и развитие технологий, </a:t>
            </a:r>
            <a:r>
              <a:rPr lang="ru-RU" b="0" i="0" dirty="0">
                <a:effectLst/>
                <a:latin typeface="CustomSerif"/>
              </a:rPr>
              <a:t>и постепенное </a:t>
            </a:r>
            <a:r>
              <a:rPr lang="ru-RU" b="1" i="0" dirty="0">
                <a:effectLst/>
                <a:latin typeface="CustomSerif"/>
              </a:rPr>
              <a:t>повышение гуманистических тенденций </a:t>
            </a:r>
            <a:r>
              <a:rPr lang="ru-RU" b="0" i="0" dirty="0">
                <a:effectLst/>
                <a:latin typeface="CustomSerif"/>
              </a:rPr>
              <a:t>- моральное и духовное развитие общества, а также усовершенствование социальных и политических отношений.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CustomSerif"/>
              </a:rPr>
              <a:t>Также для идеи прогресса характерны представления о том, что каждая стадия происходит только один раз в определенной последовательности без повторений. Существует преемственность, т.е. особенности и уровень развития каждой стадии обусловлены особенностями и уровнем развития предшествующей.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CustomSerif"/>
              </a:rPr>
              <a:t>Прогресс имеет всемирно-исторический или универсальный характер, т.е. распространяется на все страны и народы. История «передовых» народов – зеркало для всех остальных.</a:t>
            </a:r>
            <a:endParaRPr lang="ru-RU" dirty="0"/>
          </a:p>
          <a:p>
            <a:pPr marL="0" indent="0">
              <a:buNone/>
            </a:pPr>
            <a:r>
              <a:rPr lang="ru-RU" b="0" i="0" dirty="0">
                <a:effectLst/>
                <a:latin typeface="CustomSerif"/>
              </a:rPr>
              <a:t>Человечество борется за выживание, подчиняясь законам природы. То есть люди в рамках этой идеи не являются субъектами в полном смысле слова.  Ход истории обусловлен фаталистическим влиянием высших сил. Люди, человечество - объекты влияния извне. Источник культуры, традиций, революций, смены одного строя на другой, – не просто люди, а некое предопределение, сценарий, который человечество должно «отыграть».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5275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11FF0-B1CA-454C-AAB0-8DA8DE96F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63600"/>
          </a:xfrm>
        </p:spPr>
        <p:txBody>
          <a:bodyPr/>
          <a:lstStyle/>
          <a:p>
            <a:r>
              <a:rPr lang="ru-RU" dirty="0"/>
              <a:t>Критика теории прогресса: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1525E0-1460-44A9-9D9C-10000D75C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ru-RU" dirty="0">
                <a:latin typeface="CustomSerif"/>
              </a:rPr>
              <a:t>П</a:t>
            </a:r>
            <a:r>
              <a:rPr lang="ru-RU" b="0" i="0" dirty="0">
                <a:effectLst/>
                <a:latin typeface="CustomSerif"/>
              </a:rPr>
              <a:t>редставления о том, что каждая стадия происходит </a:t>
            </a:r>
            <a:r>
              <a:rPr lang="ru-RU" b="1" i="0" dirty="0">
                <a:effectLst/>
                <a:latin typeface="CustomSerif"/>
              </a:rPr>
              <a:t>только один раз </a:t>
            </a:r>
            <a:r>
              <a:rPr lang="ru-RU" b="0" i="0" dirty="0">
                <a:effectLst/>
                <a:latin typeface="CustomSerif"/>
              </a:rPr>
              <a:t>в определенной последовательности без повторений. </a:t>
            </a:r>
          </a:p>
          <a:p>
            <a:pPr>
              <a:buFontTx/>
              <a:buChar char="-"/>
            </a:pPr>
            <a:r>
              <a:rPr lang="ru-RU" b="0" i="0" dirty="0">
                <a:effectLst/>
                <a:latin typeface="CustomSerif"/>
              </a:rPr>
              <a:t>Существует преемственность, т.е. особенности и уровень развития каждой стадии </a:t>
            </a:r>
            <a:r>
              <a:rPr lang="ru-RU" b="1" i="0" dirty="0">
                <a:effectLst/>
                <a:latin typeface="CustomSerif"/>
              </a:rPr>
              <a:t>обусловлены особенностями </a:t>
            </a:r>
            <a:r>
              <a:rPr lang="ru-RU" b="0" i="0" dirty="0">
                <a:effectLst/>
                <a:latin typeface="CustomSerif"/>
              </a:rPr>
              <a:t>и уровнем развития предшествующей.</a:t>
            </a:r>
          </a:p>
          <a:p>
            <a:pPr>
              <a:buFontTx/>
              <a:buChar char="-"/>
            </a:pPr>
            <a:r>
              <a:rPr lang="ru-RU" b="0" i="0" dirty="0">
                <a:effectLst/>
                <a:latin typeface="CustomSerif"/>
              </a:rPr>
              <a:t>Прогресс имеет всемирно-исторический или </a:t>
            </a:r>
            <a:r>
              <a:rPr lang="ru-RU" b="1" i="0" dirty="0">
                <a:effectLst/>
                <a:latin typeface="CustomSerif"/>
              </a:rPr>
              <a:t>универсальный</a:t>
            </a:r>
            <a:r>
              <a:rPr lang="ru-RU" b="0" i="0" dirty="0">
                <a:effectLst/>
                <a:latin typeface="CustomSerif"/>
              </a:rPr>
              <a:t> характер, т.е. распространяется на все страны и народы. История «передовых» народов – зеркало для всех остальных. </a:t>
            </a:r>
          </a:p>
          <a:p>
            <a:pPr>
              <a:buFontTx/>
              <a:buChar char="-"/>
            </a:pPr>
            <a:r>
              <a:rPr lang="ru-RU" b="0" i="0" dirty="0">
                <a:effectLst/>
                <a:latin typeface="CustomSerif"/>
              </a:rPr>
              <a:t>Человечество борется за выживание, подчиняясь законам природы. То есть люди в рамках этой идеи </a:t>
            </a:r>
            <a:r>
              <a:rPr lang="ru-RU" b="1" i="0" dirty="0">
                <a:effectLst/>
                <a:latin typeface="CustomSerif"/>
              </a:rPr>
              <a:t>не являются субъектами </a:t>
            </a:r>
            <a:r>
              <a:rPr lang="ru-RU" b="0" i="0" dirty="0">
                <a:effectLst/>
                <a:latin typeface="CustomSerif"/>
              </a:rPr>
              <a:t>в полном смысле слова.  Ход истории обусловлен фаталистическим влиянием высших сил. </a:t>
            </a:r>
          </a:p>
          <a:p>
            <a:pPr>
              <a:buFontTx/>
              <a:buChar char="-"/>
            </a:pPr>
            <a:r>
              <a:rPr lang="ru-RU" b="0" i="0" dirty="0" err="1">
                <a:effectLst/>
                <a:latin typeface="CustomSerif"/>
              </a:rPr>
              <a:t>Короткоментражка</a:t>
            </a:r>
            <a:r>
              <a:rPr lang="ru-RU" b="0" i="0">
                <a:effectLst/>
                <a:latin typeface="CustomSerif"/>
              </a:rPr>
              <a:t>:   </a:t>
            </a:r>
            <a:r>
              <a:rPr lang="en-US" b="0" i="0" u="none" strike="noStrike">
                <a:solidFill>
                  <a:srgbClr val="FFFFFF"/>
                </a:solidFill>
                <a:effectLst/>
                <a:latin typeface="YouTube Noto"/>
                <a:hlinkClick r:id="rId2"/>
              </a:rPr>
              <a:t>https</a:t>
            </a:r>
            <a:r>
              <a:rPr lang="en-US" b="0" i="0" u="none" strike="noStrike" dirty="0">
                <a:solidFill>
                  <a:srgbClr val="FFFFFF"/>
                </a:solidFill>
                <a:effectLst/>
                <a:latin typeface="YouTube Noto"/>
                <a:hlinkClick r:id="rId2"/>
              </a:rPr>
              <a:t>://youtu.be/5DY6dsChZA4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587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A4D52-5BBC-4DB6-9AA6-EA0783EB7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Обсуждение: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A315CFDA-755A-496B-825F-0B50AFE6F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1254962"/>
              </p:ext>
            </p:extLst>
          </p:nvPr>
        </p:nvGraphicFramePr>
        <p:xfrm>
          <a:off x="1371600" y="2286000"/>
          <a:ext cx="9601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37077228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3425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Каким вы видите будущее страны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Каким вы хотите видеть будущее страны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511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959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499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477D97-B40B-4210-8C4B-CF0846CC4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Домашнее задание: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806844-C42E-4EFD-85CB-A4655F63D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ea typeface="OfficinaSansBoldITC"/>
              </a:rPr>
              <a:t>Письменно: Глобализация и ее противоречивые последствия.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8664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D6B73-4575-4D95-AF13-D525E084A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844C5C-6A7C-4EED-B691-62494505E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hlinkClick r:id="rId2"/>
              </a:rPr>
              <a:t>Комедийная короткометражка «Альтернативная математика» | Озвучка </a:t>
            </a:r>
            <a:r>
              <a:rPr lang="ru-RU" dirty="0" err="1">
                <a:hlinkClick r:id="rId2"/>
              </a:rPr>
              <a:t>DeeAFilm</a:t>
            </a:r>
            <a:r>
              <a:rPr lang="ru-RU" dirty="0">
                <a:hlinkClick r:id="rId2"/>
              </a:rPr>
              <a:t> (youtube.com)</a:t>
            </a:r>
            <a:endParaRPr lang="ru-RU" dirty="0"/>
          </a:p>
          <a:p>
            <a:r>
              <a:rPr lang="ru-RU" dirty="0">
                <a:hlinkClick r:id="rId3"/>
              </a:rPr>
              <a:t>Утопия /2019/ короткометражный фильм - поиск Яндекса по видео (yandex.ru)</a:t>
            </a:r>
            <a:br>
              <a:rPr lang="ru-RU" b="1" dirty="0">
                <a:solidFill>
                  <a:srgbClr val="555555"/>
                </a:solidFill>
                <a:latin typeface="Open Sans" panose="020B0606030504020204" pitchFamily="34" charset="0"/>
              </a:rPr>
            </a:br>
            <a:endParaRPr lang="ru-RU" dirty="0"/>
          </a:p>
          <a:p>
            <a:r>
              <a:rPr lang="ru-RU" dirty="0">
                <a:hlinkClick r:id="rId4"/>
              </a:rPr>
              <a:t>Крепость/</a:t>
            </a:r>
            <a:r>
              <a:rPr lang="en-US" dirty="0">
                <a:hlinkClick r:id="rId4"/>
              </a:rPr>
              <a:t>Fortress - YouTube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0669605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835</TotalTime>
  <Words>1333</Words>
  <Application>Microsoft Office PowerPoint</Application>
  <PresentationFormat>Широкоэкранный</PresentationFormat>
  <Paragraphs>88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30" baseType="lpstr">
      <vt:lpstr>CustomSerif</vt:lpstr>
      <vt:lpstr>Franklin Gothic Book</vt:lpstr>
      <vt:lpstr>Helvetica</vt:lpstr>
      <vt:lpstr>Helvetica Neue</vt:lpstr>
      <vt:lpstr>Open Sans</vt:lpstr>
      <vt:lpstr>REG</vt:lpstr>
      <vt:lpstr>Source Sans Pro</vt:lpstr>
      <vt:lpstr>Times New Roman</vt:lpstr>
      <vt:lpstr>Trebuchet MS</vt:lpstr>
      <vt:lpstr>Verdana</vt:lpstr>
      <vt:lpstr>YouTube Noto</vt:lpstr>
      <vt:lpstr>Уголки</vt:lpstr>
      <vt:lpstr>Многообразие путей и форм общественного развития.   Эволюция, социальная революция. Реформа.   Противоречивый характер прогресса. </vt:lpstr>
      <vt:lpstr>Пути развития общества:</vt:lpstr>
      <vt:lpstr>Эволюция</vt:lpstr>
      <vt:lpstr>Эволюционная теория Т.Парсонса</vt:lpstr>
      <vt:lpstr>Все общества прошли 3 стадии эволюции: </vt:lpstr>
      <vt:lpstr>Факторы перехода от первобытного общества к промежуточному:  </vt:lpstr>
      <vt:lpstr>Факторы перехода от промежуточного общества к современному: </vt:lpstr>
      <vt:lpstr>Социальная революция.</vt:lpstr>
      <vt:lpstr>Подходы к изучению: </vt:lpstr>
      <vt:lpstr>Теории социальной революции </vt:lpstr>
      <vt:lpstr>Основные свойства социальной революции </vt:lpstr>
      <vt:lpstr>Факторы, способствующие возникновению социальной революции </vt:lpstr>
      <vt:lpstr>Социальная реформа</vt:lpstr>
      <vt:lpstr>Теория прогресса</vt:lpstr>
      <vt:lpstr>Критика теории прогресса:</vt:lpstr>
      <vt:lpstr>Обсуждение:</vt:lpstr>
      <vt:lpstr>Домашнее задание: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общества, Общественные отношения.  Связи между подсистемами и элементами общества. Общественные потребности и социальные институты.</dc:title>
  <dc:creator>Шумилова Полина Андреевна</dc:creator>
  <cp:lastModifiedBy>Шумилова Полина Андреевна</cp:lastModifiedBy>
  <cp:revision>89</cp:revision>
  <dcterms:created xsi:type="dcterms:W3CDTF">2024-01-31T14:12:12Z</dcterms:created>
  <dcterms:modified xsi:type="dcterms:W3CDTF">2024-02-20T07:46:02Z</dcterms:modified>
</cp:coreProperties>
</file>