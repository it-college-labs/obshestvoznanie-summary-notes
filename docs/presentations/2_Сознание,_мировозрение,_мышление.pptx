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86" r:id="rId5"/>
    <p:sldId id="285" r:id="rId6"/>
    <p:sldId id="257" r:id="rId7"/>
    <p:sldId id="259" r:id="rId8"/>
    <p:sldId id="260" r:id="rId9"/>
    <p:sldId id="261" r:id="rId10"/>
    <p:sldId id="262" r:id="rId11"/>
    <p:sldId id="263" r:id="rId12"/>
    <p:sldId id="267" r:id="rId13"/>
    <p:sldId id="264" r:id="rId14"/>
    <p:sldId id="290" r:id="rId15"/>
    <p:sldId id="265" r:id="rId16"/>
    <p:sldId id="266" r:id="rId17"/>
    <p:sldId id="277" r:id="rId18"/>
    <p:sldId id="278" r:id="rId19"/>
    <p:sldId id="279" r:id="rId20"/>
    <p:sldId id="280" r:id="rId21"/>
    <p:sldId id="281" r:id="rId22"/>
    <p:sldId id="291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89" r:id="rId33"/>
    <p:sldId id="284" r:id="rId34"/>
    <p:sldId id="293" r:id="rId35"/>
    <p:sldId id="292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3B5E5A-4083-4707-B487-2469830E58CE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3AB99F9-B315-48D8-B4E0-6F38D5AAEC6B}">
      <dgm:prSet phldrT="[Текст]"/>
      <dgm:spPr/>
      <dgm:t>
        <a:bodyPr/>
        <a:lstStyle/>
        <a:p>
          <a:r>
            <a:rPr lang="ru-RU"/>
            <a:t>Мировоззрение</a:t>
          </a:r>
        </a:p>
      </dgm:t>
    </dgm:pt>
    <dgm:pt modelId="{6AFE0604-F702-4A49-9BE0-E056D43EFA0D}" type="parTrans" cxnId="{3A2FC259-93BC-4F94-B941-6D4760FD6C3E}">
      <dgm:prSet/>
      <dgm:spPr/>
      <dgm:t>
        <a:bodyPr/>
        <a:lstStyle/>
        <a:p>
          <a:endParaRPr lang="ru-RU"/>
        </a:p>
      </dgm:t>
    </dgm:pt>
    <dgm:pt modelId="{A1466699-B6E0-4687-A146-1E6B3BBCA723}" type="sibTrans" cxnId="{3A2FC259-93BC-4F94-B941-6D4760FD6C3E}">
      <dgm:prSet/>
      <dgm:spPr/>
      <dgm:t>
        <a:bodyPr/>
        <a:lstStyle/>
        <a:p>
          <a:endParaRPr lang="ru-RU"/>
        </a:p>
      </dgm:t>
    </dgm:pt>
    <dgm:pt modelId="{683F494D-4C6A-419D-8499-E2A18F312713}">
      <dgm:prSet phldrT="[Текст]"/>
      <dgm:spPr/>
      <dgm:t>
        <a:bodyPr/>
        <a:lstStyle/>
        <a:p>
          <a:r>
            <a:rPr lang="ru-RU"/>
            <a:t>Мироощущение</a:t>
          </a:r>
        </a:p>
      </dgm:t>
    </dgm:pt>
    <dgm:pt modelId="{3F63D37F-56DA-4DFB-816F-23DB0668CFA3}" type="parTrans" cxnId="{952DF7A0-2DF6-4AB6-A841-444FDF396562}">
      <dgm:prSet/>
      <dgm:spPr/>
      <dgm:t>
        <a:bodyPr/>
        <a:lstStyle/>
        <a:p>
          <a:endParaRPr lang="ru-RU"/>
        </a:p>
      </dgm:t>
    </dgm:pt>
    <dgm:pt modelId="{686AB574-CAAF-47F8-8172-BBA120B407BE}" type="sibTrans" cxnId="{952DF7A0-2DF6-4AB6-A841-444FDF396562}">
      <dgm:prSet/>
      <dgm:spPr/>
      <dgm:t>
        <a:bodyPr/>
        <a:lstStyle/>
        <a:p>
          <a:endParaRPr lang="ru-RU"/>
        </a:p>
      </dgm:t>
    </dgm:pt>
    <dgm:pt modelId="{F0D8BAAB-1BE9-464E-B695-3FF7DBAB981E}">
      <dgm:prSet phldrT="[Текст]"/>
      <dgm:spPr/>
      <dgm:t>
        <a:bodyPr/>
        <a:lstStyle/>
        <a:p>
          <a:r>
            <a:rPr lang="ru-RU"/>
            <a:t>Мировосприятие</a:t>
          </a:r>
        </a:p>
      </dgm:t>
    </dgm:pt>
    <dgm:pt modelId="{E3C1FBDA-67C0-445C-8923-64D955798864}" type="parTrans" cxnId="{172EF6AD-6DDA-4EC1-BDDF-1D09670F798C}">
      <dgm:prSet/>
      <dgm:spPr/>
      <dgm:t>
        <a:bodyPr/>
        <a:lstStyle/>
        <a:p>
          <a:endParaRPr lang="ru-RU"/>
        </a:p>
      </dgm:t>
    </dgm:pt>
    <dgm:pt modelId="{969D5869-49CF-4FE4-BD65-A89149339ACB}" type="sibTrans" cxnId="{172EF6AD-6DDA-4EC1-BDDF-1D09670F798C}">
      <dgm:prSet/>
      <dgm:spPr/>
      <dgm:t>
        <a:bodyPr/>
        <a:lstStyle/>
        <a:p>
          <a:endParaRPr lang="ru-RU"/>
        </a:p>
      </dgm:t>
    </dgm:pt>
    <dgm:pt modelId="{D78A60B5-3994-4663-BC81-8B9E76628F48}">
      <dgm:prSet phldrT="[Текст]"/>
      <dgm:spPr/>
      <dgm:t>
        <a:bodyPr/>
        <a:lstStyle/>
        <a:p>
          <a:r>
            <a:rPr lang="ru-RU"/>
            <a:t>Миропонимание</a:t>
          </a:r>
        </a:p>
      </dgm:t>
    </dgm:pt>
    <dgm:pt modelId="{28083D0D-5703-405D-8A9E-16357B30386A}" type="parTrans" cxnId="{0164A34F-89C1-43CB-AE57-31CFB0A1D588}">
      <dgm:prSet/>
      <dgm:spPr/>
      <dgm:t>
        <a:bodyPr/>
        <a:lstStyle/>
        <a:p>
          <a:endParaRPr lang="ru-RU"/>
        </a:p>
      </dgm:t>
    </dgm:pt>
    <dgm:pt modelId="{4322E632-3885-4BE3-A38C-67FDA7318F22}" type="sibTrans" cxnId="{0164A34F-89C1-43CB-AE57-31CFB0A1D588}">
      <dgm:prSet/>
      <dgm:spPr/>
      <dgm:t>
        <a:bodyPr/>
        <a:lstStyle/>
        <a:p>
          <a:endParaRPr lang="ru-RU"/>
        </a:p>
      </dgm:t>
    </dgm:pt>
    <dgm:pt modelId="{4E7CC1F4-A9EC-40FA-85DC-CDE58690ACE3}" type="pres">
      <dgm:prSet presAssocID="{C83B5E5A-4083-4707-B487-2469830E58C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CF4D585-C03A-48E5-90B2-F8A22B2AADFB}" type="pres">
      <dgm:prSet presAssocID="{C83B5E5A-4083-4707-B487-2469830E58CE}" presName="hierFlow" presStyleCnt="0"/>
      <dgm:spPr/>
    </dgm:pt>
    <dgm:pt modelId="{F5E3715E-6BAD-44E6-A265-5FB63BCF6898}" type="pres">
      <dgm:prSet presAssocID="{C83B5E5A-4083-4707-B487-2469830E58C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3012FB8-355D-4ABA-B574-85DDFFB5036F}" type="pres">
      <dgm:prSet presAssocID="{33AB99F9-B315-48D8-B4E0-6F38D5AAEC6B}" presName="Name14" presStyleCnt="0"/>
      <dgm:spPr/>
    </dgm:pt>
    <dgm:pt modelId="{F8DE1334-B74B-4FC3-AFA5-01619641288D}" type="pres">
      <dgm:prSet presAssocID="{33AB99F9-B315-48D8-B4E0-6F38D5AAEC6B}" presName="level1Shape" presStyleLbl="node0" presStyleIdx="0" presStyleCnt="1">
        <dgm:presLayoutVars>
          <dgm:chPref val="3"/>
        </dgm:presLayoutVars>
      </dgm:prSet>
      <dgm:spPr/>
    </dgm:pt>
    <dgm:pt modelId="{305FAEA8-CC95-470B-AA18-3F3E621784CD}" type="pres">
      <dgm:prSet presAssocID="{33AB99F9-B315-48D8-B4E0-6F38D5AAEC6B}" presName="hierChild2" presStyleCnt="0"/>
      <dgm:spPr/>
    </dgm:pt>
    <dgm:pt modelId="{66C2AE30-E31B-4495-BAEA-37DE4EC4964C}" type="pres">
      <dgm:prSet presAssocID="{3F63D37F-56DA-4DFB-816F-23DB0668CFA3}" presName="Name19" presStyleLbl="parChTrans1D2" presStyleIdx="0" presStyleCnt="3"/>
      <dgm:spPr/>
    </dgm:pt>
    <dgm:pt modelId="{110F6E20-A49F-4C8A-BE9A-D0A9DC2D4E00}" type="pres">
      <dgm:prSet presAssocID="{683F494D-4C6A-419D-8499-E2A18F312713}" presName="Name21" presStyleCnt="0"/>
      <dgm:spPr/>
    </dgm:pt>
    <dgm:pt modelId="{0CA19E92-260B-48E1-90C8-8F660066E103}" type="pres">
      <dgm:prSet presAssocID="{683F494D-4C6A-419D-8499-E2A18F312713}" presName="level2Shape" presStyleLbl="node2" presStyleIdx="0" presStyleCnt="3"/>
      <dgm:spPr/>
    </dgm:pt>
    <dgm:pt modelId="{C708345A-9F36-46CD-BDF9-515CE3A4D44D}" type="pres">
      <dgm:prSet presAssocID="{683F494D-4C6A-419D-8499-E2A18F312713}" presName="hierChild3" presStyleCnt="0"/>
      <dgm:spPr/>
    </dgm:pt>
    <dgm:pt modelId="{9F4AFD21-800E-4687-BF63-06ED94C4D4F2}" type="pres">
      <dgm:prSet presAssocID="{E3C1FBDA-67C0-445C-8923-64D955798864}" presName="Name19" presStyleLbl="parChTrans1D2" presStyleIdx="1" presStyleCnt="3"/>
      <dgm:spPr/>
    </dgm:pt>
    <dgm:pt modelId="{2815FD11-5EFE-4E7A-B9E2-CA6A424091B4}" type="pres">
      <dgm:prSet presAssocID="{F0D8BAAB-1BE9-464E-B695-3FF7DBAB981E}" presName="Name21" presStyleCnt="0"/>
      <dgm:spPr/>
    </dgm:pt>
    <dgm:pt modelId="{EA724DDE-45EA-4ED3-9C74-80C129D2D803}" type="pres">
      <dgm:prSet presAssocID="{F0D8BAAB-1BE9-464E-B695-3FF7DBAB981E}" presName="level2Shape" presStyleLbl="node2" presStyleIdx="1" presStyleCnt="3"/>
      <dgm:spPr/>
    </dgm:pt>
    <dgm:pt modelId="{DA2259BC-32B6-4A9F-B78C-CE2C83F585A1}" type="pres">
      <dgm:prSet presAssocID="{F0D8BAAB-1BE9-464E-B695-3FF7DBAB981E}" presName="hierChild3" presStyleCnt="0"/>
      <dgm:spPr/>
    </dgm:pt>
    <dgm:pt modelId="{F04549B9-DBA5-416B-940E-BE7B4098068D}" type="pres">
      <dgm:prSet presAssocID="{28083D0D-5703-405D-8A9E-16357B30386A}" presName="Name19" presStyleLbl="parChTrans1D2" presStyleIdx="2" presStyleCnt="3"/>
      <dgm:spPr/>
    </dgm:pt>
    <dgm:pt modelId="{906445A5-A545-4794-9BDE-2321D9B32E45}" type="pres">
      <dgm:prSet presAssocID="{D78A60B5-3994-4663-BC81-8B9E76628F48}" presName="Name21" presStyleCnt="0"/>
      <dgm:spPr/>
    </dgm:pt>
    <dgm:pt modelId="{33657C8A-7AE8-4EA6-8176-D931A758D08F}" type="pres">
      <dgm:prSet presAssocID="{D78A60B5-3994-4663-BC81-8B9E76628F48}" presName="level2Shape" presStyleLbl="node2" presStyleIdx="2" presStyleCnt="3"/>
      <dgm:spPr/>
    </dgm:pt>
    <dgm:pt modelId="{B79D9BB9-6CD6-4010-8AD5-144CB529D0E8}" type="pres">
      <dgm:prSet presAssocID="{D78A60B5-3994-4663-BC81-8B9E76628F48}" presName="hierChild3" presStyleCnt="0"/>
      <dgm:spPr/>
    </dgm:pt>
    <dgm:pt modelId="{C47A62CF-4505-4DF0-9579-7390FD43D790}" type="pres">
      <dgm:prSet presAssocID="{C83B5E5A-4083-4707-B487-2469830E58CE}" presName="bgShapesFlow" presStyleCnt="0"/>
      <dgm:spPr/>
    </dgm:pt>
  </dgm:ptLst>
  <dgm:cxnLst>
    <dgm:cxn modelId="{8FCE5B09-D16C-4951-8520-075AEF8E999E}" type="presOf" srcId="{683F494D-4C6A-419D-8499-E2A18F312713}" destId="{0CA19E92-260B-48E1-90C8-8F660066E103}" srcOrd="0" destOrd="0" presId="urn:microsoft.com/office/officeart/2005/8/layout/hierarchy6"/>
    <dgm:cxn modelId="{EA44B51B-80E8-440F-8D00-6BD8A93E50F4}" type="presOf" srcId="{3F63D37F-56DA-4DFB-816F-23DB0668CFA3}" destId="{66C2AE30-E31B-4495-BAEA-37DE4EC4964C}" srcOrd="0" destOrd="0" presId="urn:microsoft.com/office/officeart/2005/8/layout/hierarchy6"/>
    <dgm:cxn modelId="{29E6092F-3901-42A8-822B-692260A53A6E}" type="presOf" srcId="{C83B5E5A-4083-4707-B487-2469830E58CE}" destId="{4E7CC1F4-A9EC-40FA-85DC-CDE58690ACE3}" srcOrd="0" destOrd="0" presId="urn:microsoft.com/office/officeart/2005/8/layout/hierarchy6"/>
    <dgm:cxn modelId="{0164A34F-89C1-43CB-AE57-31CFB0A1D588}" srcId="{33AB99F9-B315-48D8-B4E0-6F38D5AAEC6B}" destId="{D78A60B5-3994-4663-BC81-8B9E76628F48}" srcOrd="2" destOrd="0" parTransId="{28083D0D-5703-405D-8A9E-16357B30386A}" sibTransId="{4322E632-3885-4BE3-A38C-67FDA7318F22}"/>
    <dgm:cxn modelId="{F9458875-533D-42D0-931E-03BDF341134A}" type="presOf" srcId="{E3C1FBDA-67C0-445C-8923-64D955798864}" destId="{9F4AFD21-800E-4687-BF63-06ED94C4D4F2}" srcOrd="0" destOrd="0" presId="urn:microsoft.com/office/officeart/2005/8/layout/hierarchy6"/>
    <dgm:cxn modelId="{3A2FC259-93BC-4F94-B941-6D4760FD6C3E}" srcId="{C83B5E5A-4083-4707-B487-2469830E58CE}" destId="{33AB99F9-B315-48D8-B4E0-6F38D5AAEC6B}" srcOrd="0" destOrd="0" parTransId="{6AFE0604-F702-4A49-9BE0-E056D43EFA0D}" sibTransId="{A1466699-B6E0-4687-A146-1E6B3BBCA723}"/>
    <dgm:cxn modelId="{53FD9A9A-BC46-434A-AB74-C6280E767F63}" type="presOf" srcId="{D78A60B5-3994-4663-BC81-8B9E76628F48}" destId="{33657C8A-7AE8-4EA6-8176-D931A758D08F}" srcOrd="0" destOrd="0" presId="urn:microsoft.com/office/officeart/2005/8/layout/hierarchy6"/>
    <dgm:cxn modelId="{952DF7A0-2DF6-4AB6-A841-444FDF396562}" srcId="{33AB99F9-B315-48D8-B4E0-6F38D5AAEC6B}" destId="{683F494D-4C6A-419D-8499-E2A18F312713}" srcOrd="0" destOrd="0" parTransId="{3F63D37F-56DA-4DFB-816F-23DB0668CFA3}" sibTransId="{686AB574-CAAF-47F8-8172-BBA120B407BE}"/>
    <dgm:cxn modelId="{172EF6AD-6DDA-4EC1-BDDF-1D09670F798C}" srcId="{33AB99F9-B315-48D8-B4E0-6F38D5AAEC6B}" destId="{F0D8BAAB-1BE9-464E-B695-3FF7DBAB981E}" srcOrd="1" destOrd="0" parTransId="{E3C1FBDA-67C0-445C-8923-64D955798864}" sibTransId="{969D5869-49CF-4FE4-BD65-A89149339ACB}"/>
    <dgm:cxn modelId="{5371ABB2-F28A-41FD-B527-F8E7D0F77871}" type="presOf" srcId="{F0D8BAAB-1BE9-464E-B695-3FF7DBAB981E}" destId="{EA724DDE-45EA-4ED3-9C74-80C129D2D803}" srcOrd="0" destOrd="0" presId="urn:microsoft.com/office/officeart/2005/8/layout/hierarchy6"/>
    <dgm:cxn modelId="{FB97BBDE-0C38-4061-B8B8-91218C2C83F3}" type="presOf" srcId="{33AB99F9-B315-48D8-B4E0-6F38D5AAEC6B}" destId="{F8DE1334-B74B-4FC3-AFA5-01619641288D}" srcOrd="0" destOrd="0" presId="urn:microsoft.com/office/officeart/2005/8/layout/hierarchy6"/>
    <dgm:cxn modelId="{DAE147E6-2C0B-48B0-8038-D3FACF43961E}" type="presOf" srcId="{28083D0D-5703-405D-8A9E-16357B30386A}" destId="{F04549B9-DBA5-416B-940E-BE7B4098068D}" srcOrd="0" destOrd="0" presId="urn:microsoft.com/office/officeart/2005/8/layout/hierarchy6"/>
    <dgm:cxn modelId="{70757562-6F5C-4461-8DF2-26EC4C2CE3CF}" type="presParOf" srcId="{4E7CC1F4-A9EC-40FA-85DC-CDE58690ACE3}" destId="{3CF4D585-C03A-48E5-90B2-F8A22B2AADFB}" srcOrd="0" destOrd="0" presId="urn:microsoft.com/office/officeart/2005/8/layout/hierarchy6"/>
    <dgm:cxn modelId="{CCBF0667-A253-456E-AEB6-3AC23626582E}" type="presParOf" srcId="{3CF4D585-C03A-48E5-90B2-F8A22B2AADFB}" destId="{F5E3715E-6BAD-44E6-A265-5FB63BCF6898}" srcOrd="0" destOrd="0" presId="urn:microsoft.com/office/officeart/2005/8/layout/hierarchy6"/>
    <dgm:cxn modelId="{AA59178E-245E-4C2B-8289-0F70781815F4}" type="presParOf" srcId="{F5E3715E-6BAD-44E6-A265-5FB63BCF6898}" destId="{83012FB8-355D-4ABA-B574-85DDFFB5036F}" srcOrd="0" destOrd="0" presId="urn:microsoft.com/office/officeart/2005/8/layout/hierarchy6"/>
    <dgm:cxn modelId="{3A1762B5-26CD-4113-85E7-7CCD3635E021}" type="presParOf" srcId="{83012FB8-355D-4ABA-B574-85DDFFB5036F}" destId="{F8DE1334-B74B-4FC3-AFA5-01619641288D}" srcOrd="0" destOrd="0" presId="urn:microsoft.com/office/officeart/2005/8/layout/hierarchy6"/>
    <dgm:cxn modelId="{17E9B1B0-FAFC-4FDF-A6D4-E32AC25A47D0}" type="presParOf" srcId="{83012FB8-355D-4ABA-B574-85DDFFB5036F}" destId="{305FAEA8-CC95-470B-AA18-3F3E621784CD}" srcOrd="1" destOrd="0" presId="urn:microsoft.com/office/officeart/2005/8/layout/hierarchy6"/>
    <dgm:cxn modelId="{20E537B1-4B49-473F-A4B0-BE40A11BCCBE}" type="presParOf" srcId="{305FAEA8-CC95-470B-AA18-3F3E621784CD}" destId="{66C2AE30-E31B-4495-BAEA-37DE4EC4964C}" srcOrd="0" destOrd="0" presId="urn:microsoft.com/office/officeart/2005/8/layout/hierarchy6"/>
    <dgm:cxn modelId="{64AFBF28-34FE-427A-AD8C-D3555D585372}" type="presParOf" srcId="{305FAEA8-CC95-470B-AA18-3F3E621784CD}" destId="{110F6E20-A49F-4C8A-BE9A-D0A9DC2D4E00}" srcOrd="1" destOrd="0" presId="urn:microsoft.com/office/officeart/2005/8/layout/hierarchy6"/>
    <dgm:cxn modelId="{6FC51AC0-A4E4-4703-9A8B-5DAF6802AAD2}" type="presParOf" srcId="{110F6E20-A49F-4C8A-BE9A-D0A9DC2D4E00}" destId="{0CA19E92-260B-48E1-90C8-8F660066E103}" srcOrd="0" destOrd="0" presId="urn:microsoft.com/office/officeart/2005/8/layout/hierarchy6"/>
    <dgm:cxn modelId="{B3B57E29-34A7-4171-9EBA-A1987FF609FC}" type="presParOf" srcId="{110F6E20-A49F-4C8A-BE9A-D0A9DC2D4E00}" destId="{C708345A-9F36-46CD-BDF9-515CE3A4D44D}" srcOrd="1" destOrd="0" presId="urn:microsoft.com/office/officeart/2005/8/layout/hierarchy6"/>
    <dgm:cxn modelId="{932A1073-8AD0-409D-B286-7020877BF775}" type="presParOf" srcId="{305FAEA8-CC95-470B-AA18-3F3E621784CD}" destId="{9F4AFD21-800E-4687-BF63-06ED94C4D4F2}" srcOrd="2" destOrd="0" presId="urn:microsoft.com/office/officeart/2005/8/layout/hierarchy6"/>
    <dgm:cxn modelId="{368C86B6-EA02-49EE-9854-7519F1346CAF}" type="presParOf" srcId="{305FAEA8-CC95-470B-AA18-3F3E621784CD}" destId="{2815FD11-5EFE-4E7A-B9E2-CA6A424091B4}" srcOrd="3" destOrd="0" presId="urn:microsoft.com/office/officeart/2005/8/layout/hierarchy6"/>
    <dgm:cxn modelId="{D9CBA4F1-D50D-4A06-92D5-47190A24E7E0}" type="presParOf" srcId="{2815FD11-5EFE-4E7A-B9E2-CA6A424091B4}" destId="{EA724DDE-45EA-4ED3-9C74-80C129D2D803}" srcOrd="0" destOrd="0" presId="urn:microsoft.com/office/officeart/2005/8/layout/hierarchy6"/>
    <dgm:cxn modelId="{488F29B3-D3D2-46C7-A586-B0DF4A62A612}" type="presParOf" srcId="{2815FD11-5EFE-4E7A-B9E2-CA6A424091B4}" destId="{DA2259BC-32B6-4A9F-B78C-CE2C83F585A1}" srcOrd="1" destOrd="0" presId="urn:microsoft.com/office/officeart/2005/8/layout/hierarchy6"/>
    <dgm:cxn modelId="{281F7357-DE99-43DD-9519-A429A8A549CC}" type="presParOf" srcId="{305FAEA8-CC95-470B-AA18-3F3E621784CD}" destId="{F04549B9-DBA5-416B-940E-BE7B4098068D}" srcOrd="4" destOrd="0" presId="urn:microsoft.com/office/officeart/2005/8/layout/hierarchy6"/>
    <dgm:cxn modelId="{625387E0-72E2-49A0-B19E-69595F1B0830}" type="presParOf" srcId="{305FAEA8-CC95-470B-AA18-3F3E621784CD}" destId="{906445A5-A545-4794-9BDE-2321D9B32E45}" srcOrd="5" destOrd="0" presId="urn:microsoft.com/office/officeart/2005/8/layout/hierarchy6"/>
    <dgm:cxn modelId="{3B2F157C-BFA2-48DA-BF64-9DB053D30588}" type="presParOf" srcId="{906445A5-A545-4794-9BDE-2321D9B32E45}" destId="{33657C8A-7AE8-4EA6-8176-D931A758D08F}" srcOrd="0" destOrd="0" presId="urn:microsoft.com/office/officeart/2005/8/layout/hierarchy6"/>
    <dgm:cxn modelId="{30DEA424-5B53-4B7E-BFC2-BD80242EBB72}" type="presParOf" srcId="{906445A5-A545-4794-9BDE-2321D9B32E45}" destId="{B79D9BB9-6CD6-4010-8AD5-144CB529D0E8}" srcOrd="1" destOrd="0" presId="urn:microsoft.com/office/officeart/2005/8/layout/hierarchy6"/>
    <dgm:cxn modelId="{AFD2BA26-19BF-4C8C-91EF-2124C9FBC7CD}" type="presParOf" srcId="{4E7CC1F4-A9EC-40FA-85DC-CDE58690ACE3}" destId="{C47A62CF-4505-4DF0-9579-7390FD43D79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E1334-B74B-4FC3-AFA5-01619641288D}">
      <dsp:nvSpPr>
        <dsp:cNvPr id="0" name=""/>
        <dsp:cNvSpPr/>
      </dsp:nvSpPr>
      <dsp:spPr>
        <a:xfrm>
          <a:off x="3682353" y="1553"/>
          <a:ext cx="2236133" cy="1490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Мировоззрение</a:t>
          </a:r>
        </a:p>
      </dsp:txBody>
      <dsp:txXfrm>
        <a:off x="3726016" y="45216"/>
        <a:ext cx="2148807" cy="1403429"/>
      </dsp:txXfrm>
    </dsp:sp>
    <dsp:sp modelId="{66C2AE30-E31B-4495-BAEA-37DE4EC4964C}">
      <dsp:nvSpPr>
        <dsp:cNvPr id="0" name=""/>
        <dsp:cNvSpPr/>
      </dsp:nvSpPr>
      <dsp:spPr>
        <a:xfrm>
          <a:off x="1893446" y="1492308"/>
          <a:ext cx="2906973" cy="596302"/>
        </a:xfrm>
        <a:custGeom>
          <a:avLst/>
          <a:gdLst/>
          <a:ahLst/>
          <a:cxnLst/>
          <a:rect l="0" t="0" r="0" b="0"/>
          <a:pathLst>
            <a:path>
              <a:moveTo>
                <a:pt x="2906973" y="0"/>
              </a:moveTo>
              <a:lnTo>
                <a:pt x="2906973" y="298151"/>
              </a:lnTo>
              <a:lnTo>
                <a:pt x="0" y="298151"/>
              </a:lnTo>
              <a:lnTo>
                <a:pt x="0" y="596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19E92-260B-48E1-90C8-8F660066E103}">
      <dsp:nvSpPr>
        <dsp:cNvPr id="0" name=""/>
        <dsp:cNvSpPr/>
      </dsp:nvSpPr>
      <dsp:spPr>
        <a:xfrm>
          <a:off x="775380" y="2088611"/>
          <a:ext cx="2236133" cy="1490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Мироощущение</a:t>
          </a:r>
        </a:p>
      </dsp:txBody>
      <dsp:txXfrm>
        <a:off x="819043" y="2132274"/>
        <a:ext cx="2148807" cy="1403429"/>
      </dsp:txXfrm>
    </dsp:sp>
    <dsp:sp modelId="{9F4AFD21-800E-4687-BF63-06ED94C4D4F2}">
      <dsp:nvSpPr>
        <dsp:cNvPr id="0" name=""/>
        <dsp:cNvSpPr/>
      </dsp:nvSpPr>
      <dsp:spPr>
        <a:xfrm>
          <a:off x="4754699" y="1492308"/>
          <a:ext cx="91440" cy="5963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6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724DDE-45EA-4ED3-9C74-80C129D2D803}">
      <dsp:nvSpPr>
        <dsp:cNvPr id="0" name=""/>
        <dsp:cNvSpPr/>
      </dsp:nvSpPr>
      <dsp:spPr>
        <a:xfrm>
          <a:off x="3682353" y="2088611"/>
          <a:ext cx="2236133" cy="1490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Мировосприятие</a:t>
          </a:r>
        </a:p>
      </dsp:txBody>
      <dsp:txXfrm>
        <a:off x="3726016" y="2132274"/>
        <a:ext cx="2148807" cy="1403429"/>
      </dsp:txXfrm>
    </dsp:sp>
    <dsp:sp modelId="{F04549B9-DBA5-416B-940E-BE7B4098068D}">
      <dsp:nvSpPr>
        <dsp:cNvPr id="0" name=""/>
        <dsp:cNvSpPr/>
      </dsp:nvSpPr>
      <dsp:spPr>
        <a:xfrm>
          <a:off x="4800420" y="1492308"/>
          <a:ext cx="2906973" cy="596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151"/>
              </a:lnTo>
              <a:lnTo>
                <a:pt x="2906973" y="298151"/>
              </a:lnTo>
              <a:lnTo>
                <a:pt x="2906973" y="59630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57C8A-7AE8-4EA6-8176-D931A758D08F}">
      <dsp:nvSpPr>
        <dsp:cNvPr id="0" name=""/>
        <dsp:cNvSpPr/>
      </dsp:nvSpPr>
      <dsp:spPr>
        <a:xfrm>
          <a:off x="6589326" y="2088611"/>
          <a:ext cx="2236133" cy="1490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Миропонимание</a:t>
          </a:r>
        </a:p>
      </dsp:txBody>
      <dsp:txXfrm>
        <a:off x="6632989" y="2132274"/>
        <a:ext cx="2148807" cy="1403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915200" y="1788480"/>
            <a:ext cx="8361000" cy="209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9000"/>
              </a:lnSpc>
              <a:buNone/>
            </a:pPr>
            <a:r>
              <a:rPr lang="ru-RU" sz="7200" b="0" strike="noStrike" cap="all" spc="-1">
                <a:solidFill>
                  <a:srgbClr val="191B0E"/>
                </a:solidFill>
                <a:latin typeface="Franklin Gothic Book"/>
              </a:rPr>
              <a:t>Образец заголовка</a:t>
            </a:r>
            <a:endParaRPr lang="en-US" sz="72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/>
          </p:nvPr>
        </p:nvSpPr>
        <p:spPr>
          <a:xfrm>
            <a:off x="752760" y="6453360"/>
            <a:ext cx="16077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913EBB49-F3E3-4C07-9EC6-A1E7FC694E4E}" type="datetime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2/9/2026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2584080" y="6453360"/>
            <a:ext cx="7022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/>
          </p:nvPr>
        </p:nvSpPr>
        <p:spPr>
          <a:xfrm>
            <a:off x="983052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404EA0DA-77C2-4822-A75A-681FA3CA7D6F}" type="slidenum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grpSp>
        <p:nvGrpSpPr>
          <p:cNvPr id="5" name="Group 6"/>
          <p:cNvGrpSpPr/>
          <p:nvPr/>
        </p:nvGrpSpPr>
        <p:grpSpPr>
          <a:xfrm>
            <a:off x="752760" y="744120"/>
            <a:ext cx="10673640" cy="5349600"/>
            <a:chOff x="752760" y="744120"/>
            <a:chExt cx="10673640" cy="5349600"/>
          </a:xfrm>
        </p:grpSpPr>
        <p:sp>
          <p:nvSpPr>
            <p:cNvPr id="6" name="Freeform 6"/>
            <p:cNvSpPr/>
            <p:nvPr/>
          </p:nvSpPr>
          <p:spPr>
            <a:xfrm>
              <a:off x="8151840" y="1685520"/>
              <a:ext cx="3274560" cy="4408200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Freeform 6"/>
            <p:cNvSpPr/>
            <p:nvPr/>
          </p:nvSpPr>
          <p:spPr>
            <a:xfrm flipH="1" flipV="1">
              <a:off x="752400" y="743760"/>
              <a:ext cx="3275280" cy="4408200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191B0E"/>
                </a:solidFill>
                <a:latin typeface="Franklin Gothic Book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i="1" strike="noStrike" spc="-1">
                <a:solidFill>
                  <a:srgbClr val="191B0E"/>
                </a:solidFill>
                <a:latin typeface="Franklin Gothic Book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191B0E"/>
                </a:solidFill>
                <a:latin typeface="Franklin Gothic Book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191B0E"/>
                </a:solidFill>
                <a:latin typeface="Franklin Gothic Book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191B0E"/>
                </a:solidFill>
                <a:latin typeface="Franklin Gothic Book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191B0E"/>
                </a:solidFill>
                <a:latin typeface="Franklin Gothic Book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8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Образец заголовка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914400" lvl="1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2000" b="0" i="1" strike="noStrike" spc="-1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1371600" lvl="2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800" b="0" strike="noStrike" spc="-1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lang="en-US" sz="1800" b="0" i="1" strike="noStrike" spc="-1">
              <a:solidFill>
                <a:srgbClr val="191B0E"/>
              </a:solidFill>
              <a:latin typeface="Franklin Gothic Book"/>
            </a:endParaRPr>
          </a:p>
          <a:p>
            <a:pPr marL="1828800" lvl="3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1800" b="0" i="1" strike="noStrike" spc="-1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2286000" lvl="4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600" b="0" strike="noStrike" spc="-1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/>
          </p:nvPr>
        </p:nvSpPr>
        <p:spPr>
          <a:xfrm>
            <a:off x="1390680" y="6453360"/>
            <a:ext cx="120420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75321EDD-A21F-49D5-BD33-2812EB36609A}" type="datetime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2/9/2026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/>
          </p:nvPr>
        </p:nvSpPr>
        <p:spPr>
          <a:xfrm>
            <a:off x="2893680" y="6453360"/>
            <a:ext cx="62805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/>
          </p:nvPr>
        </p:nvSpPr>
        <p:spPr>
          <a:xfrm>
            <a:off x="947268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DBA21E29-ADDF-4F9A-9077-B4DB907B411C}" type="slidenum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Образец заголовка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371600" y="2340720"/>
            <a:ext cx="444348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4000"/>
              </a:lnSpc>
              <a:buNone/>
              <a:tabLst>
                <a:tab pos="0" algn="l"/>
              </a:tabLst>
            </a:pPr>
            <a:r>
              <a:rPr lang="ru-RU" sz="3000" b="0" strike="noStrike" spc="-1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lang="en-US" sz="3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1371600" y="3305160"/>
            <a:ext cx="4443480" cy="256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914400" lvl="1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2000" b="0" i="1" strike="noStrike" spc="-1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1371600" lvl="2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800" b="0" strike="noStrike" spc="-1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lang="en-US" sz="1800" b="0" i="1" strike="noStrike" spc="-1">
              <a:solidFill>
                <a:srgbClr val="191B0E"/>
              </a:solidFill>
              <a:latin typeface="Franklin Gothic Book"/>
            </a:endParaRPr>
          </a:p>
          <a:p>
            <a:pPr marL="1828800" lvl="3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1800" b="0" i="1" strike="noStrike" spc="-1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2286000" lvl="4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600" b="0" strike="noStrike" spc="-1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525000" y="2340720"/>
            <a:ext cx="444348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4000"/>
              </a:lnSpc>
              <a:buNone/>
              <a:tabLst>
                <a:tab pos="0" algn="l"/>
              </a:tabLst>
            </a:pPr>
            <a:r>
              <a:rPr lang="ru-RU" sz="3000" b="0" strike="noStrike" spc="-1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lang="en-US" sz="30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525000" y="3305160"/>
            <a:ext cx="4443480" cy="256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914400" lvl="1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2000" b="0" i="1" strike="noStrike" spc="-1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1371600" lvl="2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800" b="0" strike="noStrike" spc="-1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lang="en-US" sz="1800" b="0" i="1" strike="noStrike" spc="-1">
              <a:solidFill>
                <a:srgbClr val="191B0E"/>
              </a:solidFill>
              <a:latin typeface="Franklin Gothic Book"/>
            </a:endParaRPr>
          </a:p>
          <a:p>
            <a:pPr marL="1828800" lvl="3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ru-RU" sz="1800" b="0" i="1" strike="noStrike" spc="-1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2286000" lvl="4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600" b="0" strike="noStrike" spc="-1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/>
          </p:nvPr>
        </p:nvSpPr>
        <p:spPr>
          <a:xfrm>
            <a:off x="1390680" y="6453360"/>
            <a:ext cx="120420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B8F43661-D7AF-4C20-A6CD-095653A22C5D}" type="datetime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2/9/2026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/>
          </p:nvPr>
        </p:nvSpPr>
        <p:spPr>
          <a:xfrm>
            <a:off x="2893680" y="6453360"/>
            <a:ext cx="62805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/>
          </p:nvPr>
        </p:nvSpPr>
        <p:spPr>
          <a:xfrm>
            <a:off x="947268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4A08E8ED-7F6B-43E7-BE49-F2528F34528A}" type="slidenum">
              <a:rPr lang="en-US" sz="1200" b="0" strike="noStrike" spc="-1">
                <a:solidFill>
                  <a:srgbClr val="191B0E"/>
                </a:solidFill>
                <a:latin typeface="Franklin Gothic Book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nauka.ru/themes/brain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hologos.ru/articles/view/soznanie" TargetMode="External"/><Relationship Id="rId2" Type="http://schemas.openxmlformats.org/officeDocument/2006/relationships/hyperlink" Target="https://psychologos.ru/articles/view/smysl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psychologos.ru/articles/view/samokontro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086560" y="3102840"/>
            <a:ext cx="8361000" cy="209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9000"/>
              </a:lnSpc>
              <a:buNone/>
            </a:pPr>
            <a:r>
              <a:rPr lang="ru-RU" sz="6600" b="0" strike="noStrike" cap="all" spc="-1" dirty="0">
                <a:solidFill>
                  <a:srgbClr val="191B0E"/>
                </a:solidFill>
                <a:latin typeface="Franklin Gothic Book"/>
              </a:rPr>
              <a:t>сознание,</a:t>
            </a:r>
            <a:br>
              <a:rPr dirty="0"/>
            </a:br>
            <a:r>
              <a:rPr lang="ru-RU" sz="6600" b="0" strike="noStrike" cap="all" spc="-1" dirty="0">
                <a:solidFill>
                  <a:srgbClr val="191B0E"/>
                </a:solidFill>
                <a:latin typeface="Franklin Gothic Book"/>
              </a:rPr>
              <a:t>Мировоззрение,</a:t>
            </a:r>
            <a:br>
              <a:rPr dirty="0"/>
            </a:br>
            <a:r>
              <a:rPr lang="ru-RU" sz="6600" b="0" strike="noStrike" cap="all" spc="-1" dirty="0">
                <a:solidFill>
                  <a:srgbClr val="191B0E"/>
                </a:solidFill>
                <a:latin typeface="Franklin Gothic Book"/>
              </a:rPr>
              <a:t>мышление</a:t>
            </a:r>
            <a:endParaRPr lang="en-US" sz="6600" b="0" strike="noStrike" spc="-1" dirty="0">
              <a:solidFill>
                <a:srgbClr val="000000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6F807-AD76-E0C6-E8B4-C649FEBA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580" y="1943280"/>
            <a:ext cx="9600840" cy="1873808"/>
          </a:xfrm>
        </p:spPr>
        <p:txBody>
          <a:bodyPr/>
          <a:lstStyle/>
          <a:p>
            <a:r>
              <a:rPr lang="ru-RU" sz="3200" dirty="0"/>
              <a:t>Сознание, мировоззрение и мышление </a:t>
            </a:r>
            <a:br>
              <a:rPr lang="ru-RU" sz="3200" dirty="0"/>
            </a:br>
            <a:r>
              <a:rPr lang="ru-RU" sz="3200" dirty="0"/>
              <a:t>— это взаимосвязанные компоненты психической деятельности человека, образующие единую систему восприятия и взаимодействия с миром. </a:t>
            </a:r>
          </a:p>
        </p:txBody>
      </p:sp>
    </p:spTree>
    <p:extLst>
      <p:ext uri="{BB962C8B-B14F-4D97-AF65-F5344CB8AC3E}">
        <p14:creationId xmlns:p14="http://schemas.microsoft.com/office/powerpoint/2010/main" val="193317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B023A-28EC-7643-0036-B6011CD64DA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95580" y="1520456"/>
            <a:ext cx="9600840" cy="3580920"/>
          </a:xfrm>
        </p:spPr>
        <p:txBody>
          <a:bodyPr/>
          <a:lstStyle/>
          <a:p>
            <a:pPr marL="0" indent="0" algn="ctr">
              <a:buNone/>
            </a:pPr>
            <a:r>
              <a:rPr lang="ru-RU" sz="4000" dirty="0"/>
              <a:t>СОЗНАНИЕ</a:t>
            </a:r>
          </a:p>
        </p:txBody>
      </p:sp>
    </p:spTree>
    <p:extLst>
      <p:ext uri="{BB962C8B-B14F-4D97-AF65-F5344CB8AC3E}">
        <p14:creationId xmlns:p14="http://schemas.microsoft.com/office/powerpoint/2010/main" val="8594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lstStyle/>
          <a:p>
            <a:pPr>
              <a:lnSpc>
                <a:spcPct val="89000"/>
              </a:lnSpc>
              <a:buNone/>
            </a:pPr>
            <a:r>
              <a:rPr lang="ru-RU" sz="2800" b="1" strike="noStrike" spc="-1">
                <a:solidFill>
                  <a:srgbClr val="191B0E"/>
                </a:solidFill>
                <a:latin typeface="Franklin Gothic Book"/>
              </a:rPr>
              <a:t>Сознание</a:t>
            </a:r>
            <a:r>
              <a:rPr lang="ru-RU" sz="2800" b="0" strike="noStrike" spc="-1">
                <a:solidFill>
                  <a:srgbClr val="272F3D"/>
                </a:solidFill>
                <a:latin typeface="Rostelecom Basis"/>
              </a:rPr>
              <a:t> – это особое свойство психики, </a:t>
            </a:r>
            <a:r>
              <a:rPr lang="ru-RU" sz="2800" b="1" strike="noStrike" spc="-1">
                <a:solidFill>
                  <a:srgbClr val="272F3D"/>
                </a:solidFill>
                <a:latin typeface="Rostelecom Basis"/>
              </a:rPr>
              <a:t>высшая форма психического отражения действительности</a:t>
            </a:r>
            <a:r>
              <a:rPr lang="ru-RU" sz="2800" b="0" strike="noStrike" spc="-1">
                <a:solidFill>
                  <a:srgbClr val="272F3D"/>
                </a:solidFill>
                <a:latin typeface="Rostelecom Basis"/>
              </a:rPr>
              <a:t>, способность воспроизводить действительность и моделировать ее.</a:t>
            </a:r>
            <a:endParaRPr lang="en-US" sz="2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 lnSpcReduction="10000"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C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C00000"/>
                </a:solidFill>
                <a:latin typeface="Source Sans Pro"/>
              </a:rPr>
              <a:t>Главная функция сознания — сохранение непротиворечащей картины мира.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C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C00000"/>
                </a:solidFill>
                <a:latin typeface="Source Sans Pro"/>
              </a:rPr>
              <a:t>Задача –  построение закономерностей того, что происходит с человеком, вокруг человека и внутри человека.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C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C00000"/>
                </a:solidFill>
                <a:latin typeface="Source Sans Pro"/>
              </a:rPr>
              <a:t>Цель сознания — поддерживать единую картину мира.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333333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333333"/>
                </a:solidFill>
                <a:latin typeface="Source Sans Pro"/>
              </a:rPr>
              <a:t>Сознание формирует слепок реальности из огромного потока информации, которая важна для того, что мы делаем прямо сейчас. Поэтому сознание по определению должно быть ограниченным. Вообще, одна из главных задач </a:t>
            </a:r>
            <a:r>
              <a:rPr lang="ru-RU" sz="2000" b="0" u="sng" strike="noStrike" spc="-1">
                <a:solidFill>
                  <a:srgbClr val="77A2BB"/>
                </a:solidFill>
                <a:uFillTx/>
                <a:latin typeface="Source Sans Pro"/>
                <a:hlinkClick r:id="rId2"/>
              </a:rPr>
              <a:t>мозга</a:t>
            </a:r>
            <a:r>
              <a:rPr lang="ru-RU" sz="2000" b="0" strike="noStrike" spc="-1">
                <a:solidFill>
                  <a:srgbClr val="333333"/>
                </a:solidFill>
                <a:latin typeface="Source Sans Pro"/>
              </a:rPr>
              <a:t> — выделять сигнал в шуме. К нам поступает огромное количество противоречивой информации, и мы должны постоянно ее фильтровать. Оставшиеся данные попадают в сознание. 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333333"/>
              </a:buClr>
              <a:buFont typeface="Franklin Gothic Book"/>
              <a:buChar char="■"/>
            </a:pPr>
            <a:r>
              <a:rPr lang="ru-RU" sz="1600" b="0" i="1" strike="noStrike" spc="-1">
                <a:solidFill>
                  <a:srgbClr val="333333"/>
                </a:solidFill>
                <a:latin typeface="YS Text"/>
              </a:rPr>
              <a:t>ПСИХИКА (от греч. psychikos — душевный) — форма активного отображения субъектом объективной реальности, возникающая в процессе взаимодействия высокоорганизованных живых существ с внешним миром и осуществляющая в их поведении (деятельности) регулятивную функцию.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endParaRPr lang="en-US" sz="4400" b="0" strike="noStrike" spc="-1" dirty="0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38" name="Picture 2" descr="Различные подходы к пониманию сознания"/>
          <p:cNvPicPr/>
          <p:nvPr/>
        </p:nvPicPr>
        <p:blipFill>
          <a:blip r:embed="rId2"/>
          <a:stretch/>
        </p:blipFill>
        <p:spPr>
          <a:xfrm>
            <a:off x="1371599" y="510672"/>
            <a:ext cx="10122195" cy="485876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371600" y="34308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272F3D"/>
                </a:solidFill>
                <a:latin typeface="Rostelecom Basis"/>
              </a:rPr>
              <a:t>Крайний материализм (физикализм) 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371600" y="1733760"/>
            <a:ext cx="8915400" cy="3295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Сознание - есть </a:t>
            </a:r>
            <a:r>
              <a:rPr lang="ru-RU" sz="1600" b="1" strike="noStrike" spc="-1">
                <a:solidFill>
                  <a:srgbClr val="272F3D"/>
                </a:solidFill>
                <a:latin typeface="Rostelecom Basis"/>
              </a:rPr>
              <a:t>порождение материи</a:t>
            </a: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 и объяснимо с точки зрения физики и других естественных наук. 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Духовные процессы отождествляются с другими физиологическими процессами – кровообращением, дыханием, гормонами и пр. 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1600" b="1" strike="noStrike" spc="-1">
                <a:solidFill>
                  <a:srgbClr val="272F3D"/>
                </a:solidFill>
                <a:latin typeface="Rostelecom Basis"/>
              </a:rPr>
              <a:t>Основания теории: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необходимость существования мозга;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Если считать сознание чисто природным явлением, то возможно создать сознание искусственным путем.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медикаментозное влияние на организм может отражаться на сознании.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1600" b="1" strike="noStrike" spc="-1">
                <a:solidFill>
                  <a:srgbClr val="272F3D"/>
                </a:solidFill>
                <a:latin typeface="Rostelecom Basis"/>
              </a:rPr>
              <a:t>Возражения физикалистам: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образы, существующие в уме человека, не имеют материальных характеристик (массы, запаха, четких размеров, формы);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сознание может «господствовать» над образами (увеличивать, уменьшать, вызывать);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1600" b="0" strike="noStrike" spc="-1">
                <a:solidFill>
                  <a:srgbClr val="272F3D"/>
                </a:solidFill>
                <a:latin typeface="Rostelecom Basis"/>
              </a:rPr>
              <a:t>- никому со стороны не удавалось «увидеть» сознание другого человека (хирург, оперирующий мозг, видит нейроны, но не видит образов и мыслей). </a:t>
            </a:r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br/>
            <a:endParaRPr lang="en-US" sz="16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272F3D"/>
                </a:solidFill>
                <a:latin typeface="Rostelecom Basis"/>
              </a:rPr>
              <a:t>Умеренный материализм. 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Сознание – особое проявление материи, способность </a:t>
            </a:r>
            <a:r>
              <a:rPr lang="ru-RU" sz="2000" b="1" u="sng" strike="noStrike" spc="-1">
                <a:solidFill>
                  <a:srgbClr val="272F3D"/>
                </a:solidFill>
                <a:uFillTx/>
                <a:latin typeface="Rostelecom Basis"/>
              </a:rPr>
              <a:t>высокоорганизованной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 материи </a:t>
            </a: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отражать саму себя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.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Наиболее распространено в российской философии.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Сознание не существует в виде отдельного предмета, оно идеально (нематериально).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Объективный и субъективный идеализм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Объективный идеализм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. Признается наличие как сознания, так и материи, однако сознанию отводится первичная (творческая) роль, оно рассматривается в отрыве от личности индивида как </a:t>
            </a: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часть «мирового сознания».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Субъективный идеализм (солипсизм). Сознание - </a:t>
            </a: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единственная достоверная реальность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, а материальный мир – его порождение. Т.е. есть только сознание. 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- Солипсистская концепция довольно популярна в современной культуре. Так, в фильме «Матрица» миллиарды людей воспринимают не действительность, а те образы, которые генерирует для них машина.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272F3D"/>
                </a:solidFill>
                <a:latin typeface="Rostelecom Basis"/>
              </a:rPr>
              <a:t>Основными функциями сознания считаются:</a:t>
            </a:r>
            <a:br/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- функция познания (то есть обобщенного отражения внешнего мира);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- функция переживаний и построения отношения к миру и другим людям;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- функция регулирования поведения (формирование целей, мысленное построение действий, предвидение результатов, достижение поставленных целей);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72F3D"/>
              </a:buClr>
              <a:buFont typeface="Franklin Gothic Book"/>
              <a:buChar char="■"/>
            </a:pP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- творческая (креативная) функция.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371600" y="685799"/>
            <a:ext cx="9600840" cy="115363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1800" b="1" strike="noStrike" spc="-1" dirty="0">
                <a:solidFill>
                  <a:srgbClr val="272F3D"/>
                </a:solidFill>
                <a:latin typeface="Rostelecom Basis"/>
              </a:rPr>
              <a:t>Структура сознания</a:t>
            </a:r>
            <a:br>
              <a:rPr lang="ru-RU" sz="1800" b="0" strike="noStrike" spc="-1" dirty="0">
                <a:solidFill>
                  <a:srgbClr val="272F3D"/>
                </a:solidFill>
                <a:latin typeface="Rostelecom Basis"/>
              </a:rPr>
            </a:br>
            <a:r>
              <a:rPr lang="ru-RU" sz="1800" b="0" strike="noStrike" spc="-1" dirty="0">
                <a:solidFill>
                  <a:srgbClr val="272F3D"/>
                </a:solidFill>
                <a:latin typeface="Rostelecom Basis"/>
              </a:rPr>
              <a:t>Бытийное сознание помогает нам ориентироваться в окружающем мире</a:t>
            </a:r>
            <a:br>
              <a:rPr sz="1800" dirty="0"/>
            </a:br>
            <a:r>
              <a:rPr lang="ru-RU" sz="1800" b="0" strike="noStrike" spc="-1" dirty="0">
                <a:solidFill>
                  <a:srgbClr val="272F3D"/>
                </a:solidFill>
                <a:latin typeface="Rostelecom Basis"/>
              </a:rPr>
              <a:t>Рефлексивное сознание позволяет оценивать и предсказывать действия других людей </a:t>
            </a:r>
            <a:br>
              <a:rPr sz="1800" dirty="0"/>
            </a:br>
            <a:r>
              <a:rPr lang="ru-RU" sz="1800" b="0" strike="noStrike" spc="-1" dirty="0">
                <a:solidFill>
                  <a:srgbClr val="272F3D"/>
                </a:solidFill>
                <a:latin typeface="Rostelecom Basis"/>
              </a:rPr>
              <a:t>Самосознание позволяет оценивать себя. </a:t>
            </a:r>
            <a:br>
              <a:rPr sz="1800" dirty="0"/>
            </a:br>
            <a:endParaRPr lang="en-US" sz="1800" b="0" strike="noStrike" spc="-1" dirty="0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55" name="Picture 2" descr="Структура сознания. Третий вариант"/>
          <p:cNvPicPr/>
          <p:nvPr/>
        </p:nvPicPr>
        <p:blipFill>
          <a:blip r:embed="rId2"/>
          <a:stretch/>
        </p:blipFill>
        <p:spPr>
          <a:xfrm>
            <a:off x="3743280" y="2064273"/>
            <a:ext cx="4443480" cy="4266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467000" y="17892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 dirty="0">
                <a:solidFill>
                  <a:srgbClr val="000000"/>
                </a:solidFill>
                <a:latin typeface="Franklin Gothic Book"/>
              </a:rPr>
              <a:t>Сознание/подсознание</a:t>
            </a:r>
            <a:endParaRPr lang="en-US" sz="4400" b="0" strike="noStrike" spc="-1" dirty="0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48" name="Picture 4" descr="Сознание и возраст"/>
          <p:cNvPicPr/>
          <p:nvPr/>
        </p:nvPicPr>
        <p:blipFill>
          <a:blip r:embed="rId2"/>
          <a:stretch/>
        </p:blipFill>
        <p:spPr>
          <a:xfrm>
            <a:off x="1467000" y="1664640"/>
            <a:ext cx="9686520" cy="4965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32214-BE43-E510-E5B0-8F4206BC3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164804"/>
            <a:ext cx="9600840" cy="1485720"/>
          </a:xfrm>
        </p:spPr>
        <p:txBody>
          <a:bodyPr/>
          <a:lstStyle/>
          <a:p>
            <a:r>
              <a:rPr lang="ru-RU" dirty="0"/>
              <a:t>Бессознательное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F9F354-9243-EDA0-A5DD-4E37CE5703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71600" y="2686140"/>
            <a:ext cx="9600840" cy="1485720"/>
          </a:xfrm>
        </p:spPr>
        <p:txBody>
          <a:bodyPr/>
          <a:lstStyle/>
          <a:p>
            <a:r>
              <a:rPr lang="ru-RU" sz="2400" dirty="0"/>
              <a:t>​​​​​​Подсознание — это имеющие </a:t>
            </a:r>
            <a:r>
              <a:rPr lang="ru-RU" sz="2400" dirty="0">
                <a:hlinkClick r:id="rId2" tooltip="Статья: Смысл"/>
              </a:rPr>
              <a:t>смысл</a:t>
            </a:r>
            <a:r>
              <a:rPr lang="ru-RU" sz="2400" dirty="0"/>
              <a:t> и логику психические структуры и процессы, не ясные </a:t>
            </a:r>
            <a:r>
              <a:rPr lang="ru-RU" sz="2400" dirty="0">
                <a:hlinkClick r:id="rId3" tooltip="Статья: Сознание"/>
              </a:rPr>
              <a:t>сознанию</a:t>
            </a:r>
            <a:r>
              <a:rPr lang="ru-RU" sz="2400" dirty="0"/>
              <a:t>, не </a:t>
            </a:r>
            <a:r>
              <a:rPr lang="ru-RU" sz="2400" dirty="0">
                <a:hlinkClick r:id="rId4" tooltip="Статья: Самоконтроль"/>
              </a:rPr>
              <a:t>контролируемые</a:t>
            </a:r>
            <a:r>
              <a:rPr lang="ru-RU" sz="2400" dirty="0"/>
              <a:t> сознанием. </a:t>
            </a:r>
          </a:p>
          <a:p>
            <a:r>
              <a:rPr lang="ru-RU" sz="2400" dirty="0"/>
              <a:t>В подсознании происходят и разумная ориентировка, и формирование намерений, и принятие решений, но от субъекта это скрыто, и обнаруживаются только результаты. </a:t>
            </a:r>
          </a:p>
          <a:p>
            <a:r>
              <a:rPr lang="ru-RU" sz="2400" dirty="0"/>
              <a:t>Оно состоит из: автоматических навыков (привычки, ходьба), подавленных эмоций и воспоминаний, глубоких убеждений, сформированных в детстве, инстинктов, а также автоматических реакций на стресс или угрозу. </a:t>
            </a:r>
          </a:p>
        </p:txBody>
      </p:sp>
    </p:spTree>
    <p:extLst>
      <p:ext uri="{BB962C8B-B14F-4D97-AF65-F5344CB8AC3E}">
        <p14:creationId xmlns:p14="http://schemas.microsoft.com/office/powerpoint/2010/main" val="338848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50" name="Picture 2" descr="Структура сознания по Фрейду"/>
          <p:cNvPicPr/>
          <p:nvPr/>
        </p:nvPicPr>
        <p:blipFill>
          <a:blip r:embed="rId2"/>
          <a:stretch/>
        </p:blipFill>
        <p:spPr>
          <a:xfrm>
            <a:off x="1219320" y="704880"/>
            <a:ext cx="10074600" cy="5266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857240" y="508176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Коллективное бессознательное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 представляет собой </a:t>
            </a:r>
            <a:r>
              <a:rPr lang="ru-RU" sz="2000" b="1" strike="noStrike" spc="-1">
                <a:solidFill>
                  <a:srgbClr val="272F3D"/>
                </a:solidFill>
                <a:latin typeface="Rostelecom Basis"/>
              </a:rPr>
              <a:t>память поколений </a:t>
            </a:r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– складывавшиеся тысячелетиями представления. Оно состоит из архетипов – коллективных представлений. Архетипы – врожденные психологические структуры, составляющие содержание коллективного бессознательного.</a:t>
            </a:r>
            <a:br/>
            <a:r>
              <a:rPr lang="ru-RU" sz="2000" b="0" strike="noStrike" spc="-1">
                <a:solidFill>
                  <a:srgbClr val="272F3D"/>
                </a:solidFill>
                <a:latin typeface="Rostelecom Basis"/>
              </a:rPr>
              <a:t>(например: мать, отец, идеальная женщина, мужчина)</a:t>
            </a:r>
            <a:endParaRPr lang="en-US" sz="20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52" name="Picture 2" descr="Структура сознания по Юнгу"/>
          <p:cNvPicPr/>
          <p:nvPr/>
        </p:nvPicPr>
        <p:blipFill>
          <a:blip r:embed="rId2"/>
          <a:stretch/>
        </p:blipFill>
        <p:spPr>
          <a:xfrm>
            <a:off x="1728720" y="290520"/>
            <a:ext cx="9729360" cy="4613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915200" y="1788480"/>
            <a:ext cx="8361000" cy="209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89000"/>
              </a:lnSpc>
              <a:buNone/>
            </a:pPr>
            <a:r>
              <a:rPr lang="ru-RU" sz="7200" b="0" strike="noStrike" cap="all" spc="-1">
                <a:solidFill>
                  <a:srgbClr val="191B0E"/>
                </a:solidFill>
                <a:latin typeface="Franklin Gothic Book"/>
              </a:rPr>
              <a:t>мышление</a:t>
            </a:r>
            <a:endParaRPr lang="en-US" sz="72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2679840" y="3956400"/>
            <a:ext cx="6831360" cy="1085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3532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295280" y="24768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28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Мышление – процесс активного отражения объективного мира в сознании человека в понятиях, суждениях, теориях, законах и т.д. </a:t>
            </a:r>
            <a:br/>
            <a:r>
              <a:rPr lang="ru-RU" sz="28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Это высшая ступень познания мира, присущая только человеку.</a:t>
            </a:r>
            <a:br/>
            <a:endParaRPr lang="en-US" sz="2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371600" y="2514600"/>
            <a:ext cx="9600840" cy="3352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8412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Основные особенности мышления: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1. Носит косвенный, опосредованный характер, т.е. происходит познание неизвестного через уже известное, одних свойств через другие с опорой на ранее приобретенные теоретические знания.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2. Обобщенность, т.е. познание общего и особенного возможно потому, что свойства всех объектов, явлений и процессов действительности связаны друг с другом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56809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Этапы мышления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graphicFrame>
        <p:nvGraphicFramePr>
          <p:cNvPr id="179" name="Объект 5"/>
          <p:cNvGraphicFramePr/>
          <p:nvPr/>
        </p:nvGraphicFramePr>
        <p:xfrm>
          <a:off x="1371600" y="2238480"/>
          <a:ext cx="9600840" cy="4343040"/>
        </p:xfrm>
        <a:graphic>
          <a:graphicData uri="http://schemas.openxmlformats.org/drawingml/2006/table">
            <a:tbl>
              <a:tblPr/>
              <a:tblGrid>
                <a:gridCol w="20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7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ru-RU" sz="2400" b="1" strike="noStrike" spc="-1">
                          <a:solidFill>
                            <a:srgbClr val="FFFFFF"/>
                          </a:solidFill>
                          <a:latin typeface="Franklin Gothic Book"/>
                        </a:rPr>
                        <a:t>Этап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ru-RU" sz="2400" b="1" strike="noStrike" spc="-1">
                          <a:solidFill>
                            <a:srgbClr val="FFFFFF"/>
                          </a:solidFill>
                          <a:latin typeface="Franklin Gothic Book"/>
                        </a:rPr>
                        <a:t>Содержание этапа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2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en-US" sz="2400" b="1" strike="noStrike" spc="-1">
                          <a:solidFill>
                            <a:srgbClr val="FFFFFF"/>
                          </a:solidFill>
                          <a:latin typeface="Franklin Gothic Book"/>
                        </a:rPr>
                        <a:t>I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Franklin Gothic Book"/>
                        </a:rPr>
                        <a:t>Наличие интереса к чему-то неизведанному, потребность что-то понять, узнать, объяснить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AD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29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en-US" sz="2400" b="1" strike="noStrike" spc="-1">
                          <a:solidFill>
                            <a:srgbClr val="FFFFFF"/>
                          </a:solidFill>
                          <a:latin typeface="Franklin Gothic Book"/>
                        </a:rPr>
                        <a:t>II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Franklin Gothic Book"/>
                        </a:rPr>
                        <a:t>Решение поставленной мыслительной задачи с помощью методов анализа и синтеза и путем осуществления разнообразных мыслительных операций (</a:t>
                      </a:r>
                      <a:r>
                        <a:rPr lang="ru-RU" sz="2400" b="1" strike="noStrike" spc="-1">
                          <a:solidFill>
                            <a:srgbClr val="000000"/>
                          </a:solidFill>
                          <a:latin typeface="Franklin Gothic Book"/>
                        </a:rPr>
                        <a:t>анализ, синтез, сравнение, классификация, систематизация, абстрагирование, конкретизация, обобщение</a:t>
                      </a: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Franklin Gothic Book"/>
                        </a:rPr>
                        <a:t>).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0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en-US" sz="2400" b="1" strike="noStrike" spc="-1">
                          <a:solidFill>
                            <a:srgbClr val="FFFFFF"/>
                          </a:solidFill>
                          <a:latin typeface="Franklin Gothic Book"/>
                        </a:rPr>
                        <a:t>III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799"/>
                        </a:spcAft>
                        <a:buNone/>
                      </a:pPr>
                      <a:r>
                        <a:rPr lang="ru-RU" sz="2400" b="0" strike="noStrike" spc="-1">
                          <a:solidFill>
                            <a:srgbClr val="000000"/>
                          </a:solidFill>
                          <a:latin typeface="Franklin Gothic Book"/>
                        </a:rPr>
                        <a:t>Получение нового знания.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AD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69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371600" y="361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2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Есть несколько классификаций видов мышления. В частности, в зависимости от того, какое место занимают в процессе мышления образ, слово и действие, выделяют следующие виды мышления:</a:t>
            </a:r>
            <a:br/>
            <a:endParaRPr lang="en-US" sz="28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24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Практическое (конкретно-действенное),</a:t>
            </a: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которое направлено на решение конкретных задач в условиях практической деятельности;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24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Теоретическое (абстрактное, словесно-логическое),</a:t>
            </a: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направленное на нахождение общего и особенного в окружающей действительности, отражающее общие связи и отношения</a:t>
            </a:r>
            <a:r>
              <a:rPr lang="ru-RU" sz="24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.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24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Художественное (конкретно-образное),</a:t>
            </a:r>
            <a:r>
              <a:rPr lang="ru-RU" sz="2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отличающееся воплощением отвлеченных мыслей и обобщений в конкретные образы.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3626534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32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Также можно выделить типы мышления в зависимости от того, какими средствами происходит </a:t>
            </a:r>
            <a:r>
              <a:rPr lang="ru-RU" sz="32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передача результатов </a:t>
            </a:r>
            <a:r>
              <a:rPr lang="ru-RU" sz="32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мышления:</a:t>
            </a:r>
            <a:br/>
            <a:endParaRPr lang="en-US" sz="32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18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Образное мышление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когда мыслительная задача дана наглядно, в конкретной форме. Итогом ее решения будет практическое действие. Этот тип мышления доминирует у детей до определенного возраста и считается, что он был доминирующим у первобытного человека.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18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Понятийное (теоретическое) мышление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когда способом решения теоретической задачи будет использование абстрактных понятий, теоретических знаний. 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Symbol"/>
              <a:buChar char=""/>
            </a:pPr>
            <a:r>
              <a:rPr lang="ru-RU" sz="1800" b="0" i="1" strike="noStrike" spc="-1">
                <a:solidFill>
                  <a:srgbClr val="191B0E"/>
                </a:solidFill>
                <a:latin typeface="TimesNewRoman"/>
                <a:ea typeface="Calibri"/>
              </a:rPr>
              <a:t>Знаковое мышление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когда в качестве универсального и экономного способа передачи информации используются условные знаки. Появление этого вида мышления связано с проникновением в мировоззрение современного человека достижений точных наук с их формализованным, «знаковым» языком.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070561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6A1CE38-2890-2109-5737-7FF198BE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088" y="1943280"/>
            <a:ext cx="9600840" cy="1485720"/>
          </a:xfrm>
        </p:spPr>
        <p:txBody>
          <a:bodyPr/>
          <a:lstStyle/>
          <a:p>
            <a:pPr algn="ctr"/>
            <a:r>
              <a:rPr lang="ru-RU" dirty="0"/>
              <a:t>Мировоззрение</a:t>
            </a:r>
          </a:p>
        </p:txBody>
      </p:sp>
    </p:spTree>
    <p:extLst>
      <p:ext uri="{BB962C8B-B14F-4D97-AF65-F5344CB8AC3E}">
        <p14:creationId xmlns:p14="http://schemas.microsoft.com/office/powerpoint/2010/main" val="894816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Мировоззрение – это </a:t>
            </a:r>
            <a:r>
              <a:rPr lang="ru-RU" sz="4400" b="1" strike="noStrike" spc="-1">
                <a:solidFill>
                  <a:srgbClr val="191B0E"/>
                </a:solidFill>
                <a:latin typeface="Franklin Gothic Book"/>
              </a:rPr>
              <a:t>система </a:t>
            </a: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взглядов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i="1" strike="noStrike" spc="-1">
                <a:solidFill>
                  <a:srgbClr val="000000"/>
                </a:solidFill>
                <a:latin typeface="PT Sans"/>
              </a:rPr>
              <a:t>Состоит из: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PT Sans"/>
              </a:rPr>
              <a:t>оценок - общее отношение человека к окружающей действительности и самому себе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PT Sans"/>
              </a:rPr>
              <a:t>образных представлений о мире 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PT Sans"/>
              </a:rPr>
              <a:t>основных жизненных позиции людей, их убеждений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pos="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PT Sans"/>
              </a:rPr>
              <a:t>Ценностей, </a:t>
            </a:r>
            <a:r>
              <a:rPr lang="ru-RU" sz="2000" b="0" strike="noStrike" spc="-1">
                <a:solidFill>
                  <a:srgbClr val="000000"/>
                </a:solidFill>
                <a:latin typeface="PT Sans"/>
              </a:rPr>
              <a:t>принципов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PT Sans"/>
              </a:rPr>
              <a:t>Именно мировоззрение придаёт деятельности человека организованный, осмысленный и целенаправленный характер;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400040" y="3240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Структурные элементы мировоззрения: </a:t>
            </a:r>
            <a:br/>
            <a:br/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61920" y="2104920"/>
            <a:ext cx="10743840" cy="5105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669960" indent="-2858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-"/>
            </a:pPr>
            <a:r>
              <a:rPr lang="ru-RU" sz="32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знания, получаемые человеком в ходе познания действительности, </a:t>
            </a:r>
            <a:endParaRPr lang="en-US" sz="32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669960" indent="-2858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-"/>
            </a:pPr>
            <a:r>
              <a:rPr lang="ru-RU" sz="32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духовные принципы, идеалы,</a:t>
            </a:r>
            <a:endParaRPr lang="en-US" sz="32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669960" indent="-2858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-"/>
            </a:pPr>
            <a:r>
              <a:rPr lang="ru-RU" sz="32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убеждения и идеи, формируемые в процессе его жизнедеятельности.</a:t>
            </a:r>
            <a:endParaRPr lang="en-US" sz="32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32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Формы (стороны) мировоззрения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891061209"/>
              </p:ext>
            </p:extLst>
          </p:nvPr>
        </p:nvGraphicFramePr>
        <p:xfrm>
          <a:off x="1371600" y="2286000"/>
          <a:ext cx="9600840" cy="3580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Взаимосвязь форм мировоззрения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295280" y="1581120"/>
            <a:ext cx="9600840" cy="442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Мироощущение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 - </a:t>
            </a: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эмоционально-психологическая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 сторона мировоззрения. В нем находят отражения чувства, настроения людей. </a:t>
            </a:r>
            <a:endParaRPr lang="en-US" sz="2000" b="0" strike="noStrike" spc="-1" dirty="0">
              <a:solidFill>
                <a:srgbClr val="191B0E"/>
              </a:solidFill>
              <a:latin typeface="Franklin Gothic Book"/>
            </a:endParaRPr>
          </a:p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Мировосприятие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 - образ мира в наглядных представлениях. В своей взаимосвязи мироощущение и мировосприятие на основе чувственного восприятия </a:t>
            </a: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формируют образ мира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. </a:t>
            </a:r>
            <a:endParaRPr lang="en-US" sz="2000" b="0" strike="noStrike" spc="-1" dirty="0">
              <a:solidFill>
                <a:srgbClr val="191B0E"/>
              </a:solidFill>
              <a:latin typeface="Franklin Gothic Book"/>
            </a:endParaRPr>
          </a:p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Миропонимание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 - познавательно-интеллектуальная сторона мировоззрения,  формирует представление о мире на основе </a:t>
            </a:r>
            <a:r>
              <a:rPr lang="ru-RU" sz="2000" b="1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рационального объяснения</a:t>
            </a:r>
            <a:r>
              <a:rPr lang="ru-RU" sz="2000" b="0" strike="noStrike" spc="-1" dirty="0">
                <a:solidFill>
                  <a:srgbClr val="191B0E"/>
                </a:solidFill>
                <a:latin typeface="TimesNewRoman"/>
                <a:ea typeface="Calibri"/>
              </a:rPr>
              <a:t>. Является основой формирования потребностей и интересов человека, его представлений о нормах и ценностях, а значит и мотивов деятельности.</a:t>
            </a:r>
            <a:endParaRPr lang="en-US" sz="2000" b="0" strike="noStrike" spc="-1" dirty="0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Пути формирования мировоззрения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400" b="0" strike="noStrike" spc="-1">
                <a:solidFill>
                  <a:srgbClr val="191B0E"/>
                </a:solidFill>
                <a:latin typeface="Franklin Gothic Book"/>
              </a:rPr>
              <a:t>стихийный путь, когда мировоззрение складывается как бы «само собой» в процессе жизнедеятельности на основе обыденного опыта; мировоззрение в том числе зависит от непосредственных жизненных условий человека и его личного жизненного опыта;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2400" b="0" strike="noStrike" spc="-1">
                <a:solidFill>
                  <a:srgbClr val="191B0E"/>
                </a:solidFill>
                <a:latin typeface="Franklin Gothic Book"/>
              </a:rPr>
              <a:t>осознанный путь, когда формирование мировоззрения происходит целенаправленно путем целенаправленной познавательной деятельности на основе разработки фундаментальных теоретических принципов, идей и т.д.</a:t>
            </a:r>
            <a:endParaRPr lang="en-US" sz="24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Ценность – основа мировоззрения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3366"/>
                </a:solidFill>
                <a:latin typeface="PTSerifProWebRegular"/>
              </a:rPr>
              <a:t>по­ня­тие, ис­поль­зуе­мое в фи­ло­со­фии и гу­ма­ни­тар­ных нау­ках (со­цио­ло­гии, куль­ту­ро­ло­гии, пси­хо­ло­гии и др.) для обо­зна­че­ния объ­ек­тов и яв­ле­ний, зна­чи­мых в жиз­не­дея­тель­но­сти об­ще­ст­ва, со­ци­аль­ных групп и отд. ин­ди­ви­дов (не­что яв­ля­ет­ся Ц.), а так­же для обо­зна­че­ния са­мой этой зна­чи­мо­сти (не­что име­ет Ц.)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Типология ценностей по объекту: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00" lnSpcReduction="20000"/>
          </a:bodyPr>
          <a:lstStyle/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Материальные ценности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 – это ценностно значимые природные объекты и предметы, т.е. средства труда и вещи непосредственного потребления. К природным ценностям относятся естественные блага, заключённые в природных богатствах. А к предметным ценностям – предметы материального мира, созданные в результате человеческого труда, а также предметы культурного наследия прошлого.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Социально-политические ценности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 – это ценностное значение социальных и политических явлений, событий, политических актов и действий. К социально-политическим ценностям, как правило, относят социальное благо, содержащееся в политических и социальных движениях, а также прогрессивное значение исторических событий, способствующих процветанию общества, укреплению мира и сотрудничества между народами и т.д.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Духовные ценности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 – это нормативно-оценочная сторона явлений общественного сознания, выраженная в соответствующих формах. Духовными ценностями принято считать ценности науки, морали, искусства, философии, права и т.д.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Типология ценностей по субъекту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00" lnSpcReduction="20000"/>
          </a:bodyPr>
          <a:lstStyle/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Индивидуальная, или личностная ценность 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– это ценностная значимость предмета, явления, идеи для конкретного человека. Любая ценность по своей сути индивидуальна, ведь только человек способен оценивать предмет, явление, идею. Личные ценности порождаются потребностями и интересами индивида.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Групповые ценности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 – это ценностная значимость предметов, явлений, идей для какой-либо общности людей. Групповые ценности имеют большое значение для жизнедеятельности того или иного коллектива, сплачивая входящих в него индивидов едиными интересами, ценностными ориентациями.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Общечеловеческие ценности</a:t>
            </a: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 – это ценностная значимость предметов, явлений, идей для мирового общества. К общечеловеческим ценностям относятся социально-политические и нравственные принципы, разделяемые большинством населения мирового сообщества; общечеловеческие идеалы, общенародные цели и основные средства их достижения; природные ценности и ценности, которые по своей сути и значимости имеют глобальный характер: проблемы сохранения мира, разоружения, международного экономического порядка и др.</a:t>
            </a: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20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89000"/>
              </a:lnSpc>
              <a:buNone/>
            </a:pPr>
            <a:r>
              <a:rPr lang="ru-RU" sz="4400" b="0" strike="noStrike" spc="-1">
                <a:solidFill>
                  <a:srgbClr val="191B0E"/>
                </a:solidFill>
                <a:latin typeface="Franklin Gothic Book"/>
              </a:rPr>
              <a:t>Классификации мировоззрения</a:t>
            </a:r>
            <a:endParaRPr lang="en-US" sz="4400" b="0" strike="noStrike" spc="-1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371600" y="1495440"/>
            <a:ext cx="9934200" cy="491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 lnSpcReduction="20000"/>
          </a:bodyPr>
          <a:lstStyle/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Во-первых, в зависимости от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общей направленности 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и того, какое отношение у человека к окружающему его миру, мировоззрение может быть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оптимистическим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или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пессимистическим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а также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прогрессивным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либо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реакционным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.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84120" indent="44964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Во-вторых, </a:t>
            </a:r>
            <a:r>
              <a:rPr lang="ru-RU" sz="1800" b="1" strike="noStrike" spc="-1">
                <a:solidFill>
                  <a:srgbClr val="191B0E"/>
                </a:solidFill>
                <a:latin typeface="TimesNewRoman"/>
                <a:ea typeface="Calibri"/>
              </a:rPr>
              <a:t>в науках 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о человеке обычно выделяют следующие виды мировоззрения: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TimesNewRoman"/>
              <a:buChar char="•"/>
            </a:pPr>
            <a:r>
              <a:rPr lang="ru-RU" sz="1800" b="0" u="sng" strike="noStrike" spc="-1">
                <a:solidFill>
                  <a:srgbClr val="191B0E"/>
                </a:solidFill>
                <a:uFillTx/>
                <a:latin typeface="TimesNewRoman"/>
                <a:ea typeface="Calibri"/>
              </a:rPr>
              <a:t>научное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опирающееся на достижения и открытия науки и отдающее приоритет научным знаниям в понимании мира;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TimesNewRoman"/>
              <a:buChar char="•"/>
            </a:pPr>
            <a:r>
              <a:rPr lang="ru-RU" sz="1800" b="0" u="sng" strike="noStrike" spc="-1">
                <a:solidFill>
                  <a:srgbClr val="191B0E"/>
                </a:solidFill>
                <a:uFillTx/>
                <a:latin typeface="TimesNewRoman"/>
                <a:ea typeface="Calibri"/>
              </a:rPr>
              <a:t>паранаучное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базирующееся на представлениях и данных паранаук (астрологии, уфологии и проч.), предполагающее существование «иного» мира, противоречащее научной картине мира.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TimesNewRoman"/>
              <a:buChar char="•"/>
            </a:pPr>
            <a:r>
              <a:rPr lang="ru-RU" sz="1800" b="0" u="sng" strike="noStrike" spc="-1">
                <a:solidFill>
                  <a:srgbClr val="191B0E"/>
                </a:solidFill>
                <a:uFillTx/>
                <a:latin typeface="TimesNewRoman"/>
                <a:ea typeface="Calibri"/>
              </a:rPr>
              <a:t>религиозное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связано с признанием сверхъестественных сил и опирающееся на одну из существующих религий; взгляд на мир и происходящие в нем процессы через призму религиозных представлений;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TimesNewRoman"/>
              <a:buChar char="•"/>
            </a:pPr>
            <a:r>
              <a:rPr lang="ru-RU" sz="1800" b="0" u="sng" strike="noStrike" spc="-1">
                <a:solidFill>
                  <a:srgbClr val="191B0E"/>
                </a:solidFill>
                <a:uFillTx/>
                <a:latin typeface="TimesNewRoman"/>
                <a:ea typeface="Calibri"/>
              </a:rPr>
              <a:t>атеистическое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, отрицающее существование высших, надприродных сил;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191B0E"/>
              </a:buClr>
              <a:buFont typeface="TimesNewRoman"/>
              <a:buChar char="•"/>
            </a:pPr>
            <a:r>
              <a:rPr lang="ru-RU" sz="1800" b="0" u="sng" strike="noStrike" spc="-1">
                <a:solidFill>
                  <a:srgbClr val="191B0E"/>
                </a:solidFill>
                <a:uFillTx/>
                <a:latin typeface="TimesNewRoman"/>
                <a:ea typeface="Calibri"/>
              </a:rPr>
              <a:t>обыденное</a:t>
            </a:r>
            <a:r>
              <a:rPr lang="ru-RU" sz="1800" b="0" strike="noStrike" spc="-1">
                <a:solidFill>
                  <a:srgbClr val="191B0E"/>
                </a:solidFill>
                <a:latin typeface="TimesNewRoman"/>
                <a:ea typeface="Calibri"/>
              </a:rPr>
              <a:t> (житейское), формирующееся стихийно на основе непосредственных условий жизни людей, порожденное повседневной жизнью и проявляющееся в форме здравого смысла и несистематизированных, традиционных представлениях о мире.</a:t>
            </a: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lang="en-US" sz="1800" b="0" strike="noStrike" spc="-1">
              <a:solidFill>
                <a:srgbClr val="191B0E"/>
              </a:solidFill>
              <a:latin typeface="Franklin Gothic Boo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BB7DC-C5DA-DBE9-D6B4-622C2A9B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251" y="2376376"/>
            <a:ext cx="9600840" cy="1485720"/>
          </a:xfrm>
        </p:spPr>
        <p:txBody>
          <a:bodyPr/>
          <a:lstStyle/>
          <a:p>
            <a:pPr algn="ctr"/>
            <a:r>
              <a:rPr lang="ru-RU" dirty="0"/>
              <a:t>Вывод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9348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50605" y="414670"/>
            <a:ext cx="11068493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ru-RU" sz="1800" b="1" dirty="0"/>
              <a:t>1. Сознание — основа и «поле» деятельности</a:t>
            </a:r>
          </a:p>
          <a:p>
            <a:r>
              <a:rPr lang="ru-RU" sz="1800" dirty="0"/>
              <a:t>Сознание — это высшая форма психического отражения действительности, способность отдавать себе отчет о происходящем. </a:t>
            </a:r>
          </a:p>
          <a:p>
            <a:r>
              <a:rPr lang="ru-RU" sz="1800" b="1" dirty="0"/>
              <a:t>Связь с мышлением:</a:t>
            </a:r>
            <a:r>
              <a:rPr lang="ru-RU" sz="1800" dirty="0"/>
              <a:t> Сознание является «механизмом» фиксации объектов, а мышление — это процесс оперирования этими объектами (создание связей, причинно-следственных отношений). Мы мыслим только тогда, когда наше сознание бодрствует, и осознаем лишь то, что предварительно обработано мышлением.</a:t>
            </a:r>
          </a:p>
          <a:p>
            <a:r>
              <a:rPr lang="ru-RU" sz="1800" b="1" dirty="0"/>
              <a:t>Связь с мировоззрением:</a:t>
            </a:r>
            <a:r>
              <a:rPr lang="ru-RU" sz="1800" dirty="0"/>
              <a:t> Сознание включает в себя духовно-нравственное содержание, которое структурирует наши взгляды. </a:t>
            </a:r>
          </a:p>
          <a:p>
            <a:r>
              <a:rPr lang="ru-RU" sz="1800" b="1" dirty="0"/>
              <a:t>2. Мышление — инструмент познания</a:t>
            </a:r>
          </a:p>
          <a:p>
            <a:r>
              <a:rPr lang="ru-RU" sz="1800" dirty="0"/>
              <a:t>Мышление — это процесс активного познания, формирования мыслей, понятий и суждений. </a:t>
            </a:r>
          </a:p>
          <a:p>
            <a:r>
              <a:rPr lang="ru-RU" sz="1800" b="1" dirty="0"/>
              <a:t>Функция:</a:t>
            </a:r>
            <a:r>
              <a:rPr lang="ru-RU" sz="1800" dirty="0"/>
              <a:t> Мышление строит модели мира, принимает решения на основе данных, предоставленных сознанием.</a:t>
            </a:r>
          </a:p>
          <a:p>
            <a:r>
              <a:rPr lang="ru-RU" sz="1800" b="1" dirty="0"/>
              <a:t>Связь с сознанием:</a:t>
            </a:r>
            <a:r>
              <a:rPr lang="ru-RU" sz="1800" dirty="0"/>
              <a:t> Мышление является активной, процессуальной стороной сознания. </a:t>
            </a:r>
          </a:p>
          <a:p>
            <a:r>
              <a:rPr lang="ru-RU" sz="1800" b="1" dirty="0"/>
              <a:t>3. Мировоззрение — структура и ориентир</a:t>
            </a:r>
          </a:p>
          <a:p>
            <a:r>
              <a:rPr lang="ru-RU" sz="1800" dirty="0"/>
              <a:t>Мировоззрение — это целостная система взглядов, убеждений и ценностей, которая определяет отношение человека к миру. </a:t>
            </a:r>
          </a:p>
          <a:p>
            <a:r>
              <a:rPr lang="ru-RU" sz="1800" b="1" dirty="0"/>
              <a:t>Влияние на сознание и мышление:</a:t>
            </a:r>
            <a:r>
              <a:rPr lang="ru-RU" sz="1800" dirty="0"/>
              <a:t> Мировоззрение действует как «фильтр», через который проходит вся информация. То, </a:t>
            </a:r>
            <a:r>
              <a:rPr lang="ru-RU" sz="1800" i="1" dirty="0"/>
              <a:t>как</a:t>
            </a:r>
            <a:r>
              <a:rPr lang="ru-RU" sz="1800" dirty="0"/>
              <a:t> мы мыслим (мышление), и </a:t>
            </a:r>
            <a:r>
              <a:rPr lang="ru-RU" sz="1800" i="1" dirty="0"/>
              <a:t>что</a:t>
            </a:r>
            <a:r>
              <a:rPr lang="ru-RU" sz="1800" dirty="0"/>
              <a:t> мы осознаем (сознание), зависит от наших убеждений. </a:t>
            </a:r>
          </a:p>
          <a:p>
            <a:r>
              <a:rPr lang="ru-RU" sz="1800" dirty="0"/>
              <a:t>. </a:t>
            </a:r>
          </a:p>
          <a:p>
            <a:endParaRPr lang="ru-RU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DDFC0-6A2E-B2B7-8B61-5C9E2CA1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«</a:t>
            </a:r>
            <a:r>
              <a:rPr lang="ru-RU" dirty="0" err="1"/>
              <a:t>Данетки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7A00BB-609D-0B4C-E62F-9BD67E1EA04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95580" y="3429000"/>
            <a:ext cx="9600840" cy="1485720"/>
          </a:xfrm>
        </p:spPr>
        <p:txBody>
          <a:bodyPr/>
          <a:lstStyle/>
          <a:p>
            <a:r>
              <a:rPr lang="ru-RU" sz="2800" b="1" dirty="0"/>
              <a:t>Правила:</a:t>
            </a:r>
          </a:p>
          <a:p>
            <a:r>
              <a:rPr lang="ru-RU" sz="2800" dirty="0"/>
              <a:t>Цель игроков: догадаться и пересказать, что же произошло. </a:t>
            </a:r>
          </a:p>
          <a:p>
            <a:endParaRPr lang="ru-RU" sz="2800"/>
          </a:p>
          <a:p>
            <a:r>
              <a:rPr lang="ru-RU" sz="2800"/>
              <a:t>Для </a:t>
            </a:r>
            <a:r>
              <a:rPr lang="ru-RU" sz="2800" dirty="0"/>
              <a:t>этого нужно задавать вопросы ведущему. </a:t>
            </a:r>
          </a:p>
          <a:p>
            <a:endParaRPr lang="ru-RU" sz="2800" dirty="0"/>
          </a:p>
          <a:p>
            <a:r>
              <a:rPr lang="ru-RU" sz="2800" dirty="0"/>
              <a:t>При этом ведущий может отвечать на вопросы только «Да», «Нет» или «Не имеет значения/Не знаю/Уточните вопрос».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92236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406C1B-DE2F-FB41-DE14-4710D21D9DB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/>
              <a:t>«Человек заходит в бар и просит у бармена стакан воды. Бармен смотрит на него, молча достает из-под стола пистолет и направляет на него. Человек говорит “спасибо” и уходит. Что произошло?»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287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4DED2074-BEF3-E731-8508-7DB287EC3000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ru-RU" dirty="0"/>
              <a:t>Ответ: икота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545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F5048D1C-BE2A-6D53-B42D-54B44662C9F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ru-RU" dirty="0"/>
              <a:t>Мужчина заходит в кафе, подходит к незнакомой девушке и говорит ей: «Вы невероятно красивы!» Девушка краснеет и говорит: «Какой мерзкий и глупый поступок!» Мужчина доволен. Почему?</a:t>
            </a:r>
          </a:p>
        </p:txBody>
      </p:sp>
    </p:spTree>
    <p:extLst>
      <p:ext uri="{BB962C8B-B14F-4D97-AF65-F5344CB8AC3E}">
        <p14:creationId xmlns:p14="http://schemas.microsoft.com/office/powerpoint/2010/main" val="643494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158991CA-482A-7228-8728-BB1C4657DEA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ru-RU" dirty="0"/>
              <a:t>Мужчина играл с друзьями в «спор на деньги». Его задачей было получить от незнакомки публичное оскорбление. Он справился и выиграл спор.</a:t>
            </a:r>
          </a:p>
        </p:txBody>
      </p:sp>
    </p:spTree>
    <p:extLst>
      <p:ext uri="{BB962C8B-B14F-4D97-AF65-F5344CB8AC3E}">
        <p14:creationId xmlns:p14="http://schemas.microsoft.com/office/powerpoint/2010/main" val="4158520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F9DE37-EF5E-C648-555D-F6628C3DE03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ru-RU" dirty="0"/>
              <a:t>Мужчина заходит в банк с пустым пакетом, без оружия. Он подходит к кассиру, что-то говорит, и кассир молча кладет в его пакет крупную сумму денег. Мужчина спокойно уходит, и его не преследуют. Почему?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8409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148AF535-F65E-FED7-3769-1CFA8242292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Он просто </a:t>
            </a:r>
            <a:r>
              <a:rPr lang="ru-RU" b="1" dirty="0"/>
              <a:t>закрывал свой счет</a:t>
            </a:r>
            <a:r>
              <a:rPr lang="ru-RU" dirty="0"/>
              <a:t> и забирал наличные.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0956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344900E6-3903-D928-6E3E-0127C85D59E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76177" y="-74428"/>
            <a:ext cx="11132288" cy="764846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sz="1200" b="1" dirty="0"/>
              <a:t>Эффект </a:t>
            </a:r>
            <a:r>
              <a:rPr lang="ru-RU" sz="1200" b="1" dirty="0" err="1"/>
              <a:t>данеток</a:t>
            </a:r>
            <a:r>
              <a:rPr lang="ru-RU" sz="1200" b="1" dirty="0"/>
              <a:t>: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1. Мышление и Интеллектуальные Способности  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Критическое и логическое мышление:   Это ядро игры. Игроки учатся   выдвигать гипотезы   и тут же   проверять их фактами   (через вопросы "да/нет"). Они отсекают неверные пути и идут по логической цепочке к решению.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Дивергентное мышление (творчество):   Нужно придумать множество неочевидных, порой абсурдных версий. "А что если он был невидим? А если это действие метафоры?"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Конвергентное мышление (фокус):   После генерации идей нужно сфокусироваться на одной, самой жизнеспособной, и начать задавать точные, проверочные вопросы.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Умение работать с информацией (информационная грамотность):   Игроки учатся   выделять ключевые детали   в условии, видеть   скрытые противоречия   и   неявные допущения  . Они понимают, как важен контекст.</a:t>
            </a:r>
          </a:p>
          <a:p>
            <a:pPr>
              <a:spcBef>
                <a:spcPts val="0"/>
              </a:spcBef>
            </a:pPr>
            <a:endParaRPr lang="ru-RU" sz="1200" dirty="0"/>
          </a:p>
          <a:p>
            <a:pPr>
              <a:spcBef>
                <a:spcPts val="0"/>
              </a:spcBef>
            </a:pPr>
            <a:r>
              <a:rPr lang="ru-RU" sz="1200" dirty="0"/>
              <a:t>      2. Коммуникативные и Социальные Навыки  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Точность формулировок:   Нельзя спросить расплывчато "а что он сделал?". Нужно задавать конкретные, "бинарные" вопросы: "Он вошел в здание сознательно?", "Это происходило в наше время?". Это учит ясности мысли и речи.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Активное слушание:   Чтобы задать хороший вопрос, нужно услышать не только ответ ведущего, но и вопросы других игроков, чтобы не повторяться и строить на их информации.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Командная работа (в групповом формате):   Игроки начинают коллективно строить "дерево" решений, где каждая ветвь — проверенная гипотеза. Это учит   социальному интеллекту   и   кооперации  .</a:t>
            </a:r>
          </a:p>
          <a:p>
            <a:pPr>
              <a:spcBef>
                <a:spcPts val="0"/>
              </a:spcBef>
            </a:pPr>
            <a:endParaRPr lang="ru-RU" sz="1200" dirty="0"/>
          </a:p>
          <a:p>
            <a:pPr>
              <a:spcBef>
                <a:spcPts val="0"/>
              </a:spcBef>
            </a:pPr>
            <a:r>
              <a:rPr lang="ru-RU" sz="1200" dirty="0"/>
              <a:t>      3. Личностные и Метапредметные Качества  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Гибкость ума (когнитивная гибкость):   Способность быстро отказаться от любимой, но не подтвердившейся гипотезы и переключиться на новую. Это тренировка против   ригидности мышления  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Терпение и стратегическое планирование:   Нужно не "стрелять" случайными вопросами, а выстроить стратегию: сначала задать общие вопросы, определяющие рамки ("Это происходило в реальном мире?", "Главный герой — человек?"), а потом углубляться в детали.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Эмоциональный интеллект и эмпатия:   Во многих </a:t>
            </a:r>
            <a:r>
              <a:rPr lang="ru-RU" sz="1200" dirty="0" err="1"/>
              <a:t>данетках</a:t>
            </a:r>
            <a:r>
              <a:rPr lang="ru-RU" sz="1200" dirty="0"/>
              <a:t> ключ — в   мотивации персонажа  , его чувствах или нестандартном восприятии мира ("Он был уверен, что это сон"). Чтобы догадаться, нужно поставить себя на его место.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Принятие неопределенности:   Игроки действуют в условиях   информационного дефицита  , что тренирует стрессоустойчивость и способность действовать "в тумане".</a:t>
            </a:r>
          </a:p>
          <a:p>
            <a:pPr>
              <a:spcBef>
                <a:spcPts val="0"/>
              </a:spcBef>
            </a:pPr>
            <a:endParaRPr lang="ru-RU" sz="1200" dirty="0"/>
          </a:p>
          <a:p>
            <a:pPr>
              <a:spcBef>
                <a:spcPts val="0"/>
              </a:spcBef>
            </a:pPr>
            <a:r>
              <a:rPr lang="ru-RU" sz="1200" dirty="0"/>
              <a:t>    </a:t>
            </a:r>
            <a:r>
              <a:rPr lang="ru-RU" sz="1200" b="1" dirty="0"/>
              <a:t>  Связь с темой "Сознание, мышление, мировоззрение"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Демонстрация сложности понятий -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Ограниченность сознания и </a:t>
            </a:r>
            <a:r>
              <a:rPr lang="ru-RU" sz="1200" dirty="0" err="1"/>
              <a:t>фрейминг</a:t>
            </a:r>
            <a:r>
              <a:rPr lang="ru-RU" sz="1200" dirty="0"/>
              <a:t>:   Игроки изначально строят предположения в рамках своего опыта (банк = ограбление). </a:t>
            </a:r>
            <a:r>
              <a:rPr lang="ru-RU" sz="1200" dirty="0" err="1"/>
              <a:t>Данетка</a:t>
            </a:r>
            <a:r>
              <a:rPr lang="ru-RU" sz="1200" dirty="0"/>
              <a:t> заставляет осознать эти   ментальные рамки   и выйти за их пределы.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Роль языка:   Вопрос "да/нет" — это ограничение, показывающее, как   язык формирует мышление   и направляет его по определенным каналам.</a:t>
            </a:r>
          </a:p>
          <a:p>
            <a:pPr>
              <a:spcBef>
                <a:spcPts val="0"/>
              </a:spcBef>
            </a:pPr>
            <a:r>
              <a:rPr lang="ru-RU" sz="1200" dirty="0"/>
              <a:t>      Мировоззрение и установки:   Чтобы решить </a:t>
            </a:r>
            <a:r>
              <a:rPr lang="ru-RU" sz="1200" dirty="0" err="1"/>
              <a:t>данетку</a:t>
            </a:r>
            <a:r>
              <a:rPr lang="ru-RU" sz="1200" dirty="0"/>
              <a:t>, иногда нужно допустить существование иных ценностей или физических законов (в фантастических историях). Это тренировка   смены перспективы  .</a:t>
            </a:r>
          </a:p>
          <a:p>
            <a:pPr>
              <a:spcBef>
                <a:spcPts val="0"/>
              </a:spcBef>
            </a:pPr>
            <a:endParaRPr lang="ru-RU" sz="1200" dirty="0"/>
          </a:p>
          <a:p>
            <a:pPr marL="0" indent="0">
              <a:spcBef>
                <a:spcPts val="0"/>
              </a:spcBef>
              <a:buNone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44175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544</TotalTime>
  <Words>2779</Words>
  <Application>Microsoft Office PowerPoint</Application>
  <PresentationFormat>Широкоэкранный</PresentationFormat>
  <Paragraphs>156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39</vt:i4>
      </vt:variant>
    </vt:vector>
  </HeadingPairs>
  <TitlesOfParts>
    <vt:vector size="53" baseType="lpstr">
      <vt:lpstr>Arial</vt:lpstr>
      <vt:lpstr>Franklin Gothic Book</vt:lpstr>
      <vt:lpstr>PT Sans</vt:lpstr>
      <vt:lpstr>PTSerifProWebRegular</vt:lpstr>
      <vt:lpstr>Rostelecom Basis</vt:lpstr>
      <vt:lpstr>Source Sans Pro</vt:lpstr>
      <vt:lpstr>Symbol</vt:lpstr>
      <vt:lpstr>Times New Roman</vt:lpstr>
      <vt:lpstr>TimesNewRoman</vt:lpstr>
      <vt:lpstr>Wingdings</vt:lpstr>
      <vt:lpstr>YS Text</vt:lpstr>
      <vt:lpstr>Office Theme</vt:lpstr>
      <vt:lpstr>Office Theme</vt:lpstr>
      <vt:lpstr>Office Theme</vt:lpstr>
      <vt:lpstr>сознание, Мировоззрение, мышление</vt:lpstr>
      <vt:lpstr>Сознание, мировоззрение и мышление  — это взаимосвязанные компоненты психической деятельности человека, образующие единую систему восприятия и взаимодействия с миром. </vt:lpstr>
      <vt:lpstr>Презентация PowerPoint</vt:lpstr>
      <vt:lpstr>Сознание – это особое свойство психики, высшая форма психического отражения действительности, способность воспроизводить действительность и моделировать ее.</vt:lpstr>
      <vt:lpstr>Презентация PowerPoint</vt:lpstr>
      <vt:lpstr>Крайний материализм (физикализм) </vt:lpstr>
      <vt:lpstr>Умеренный материализм. </vt:lpstr>
      <vt:lpstr>Объективный и субъективный идеализм</vt:lpstr>
      <vt:lpstr>Основными функциями сознания считаются: </vt:lpstr>
      <vt:lpstr>Структура сознания Бытийное сознание помогает нам ориентироваться в окружающем мире Рефлексивное сознание позволяет оценивать и предсказывать действия других людей  Самосознание позволяет оценивать себя.  </vt:lpstr>
      <vt:lpstr>Сознание/подсознание</vt:lpstr>
      <vt:lpstr>Бессознательное</vt:lpstr>
      <vt:lpstr>Презентация PowerPoint</vt:lpstr>
      <vt:lpstr>Коллективное бессознательное представляет собой память поколений – складывавшиеся тысячелетиями представления. Оно состоит из архетипов – коллективных представлений. Архетипы – врожденные психологические структуры, составляющие содержание коллективного бессознательного. (например: мать, отец, идеальная женщина, мужчина)</vt:lpstr>
      <vt:lpstr>мышление</vt:lpstr>
      <vt:lpstr>Мышление – процесс активного отражения объективного мира в сознании человека в понятиях, суждениях, теориях, законах и т.д.  Это высшая ступень познания мира, присущая только человеку. </vt:lpstr>
      <vt:lpstr>Этапы мышления</vt:lpstr>
      <vt:lpstr>Есть несколько классификаций видов мышления. В частности, в зависимости от того, какое место занимают в процессе мышления образ, слово и действие, выделяют следующие виды мышления: </vt:lpstr>
      <vt:lpstr>Также можно выделить типы мышления в зависимости от того, какими средствами происходит передача результатов мышления: </vt:lpstr>
      <vt:lpstr>Мировоззрение</vt:lpstr>
      <vt:lpstr>Мировоззрение – это система взглядов</vt:lpstr>
      <vt:lpstr>Структурные элементы мировоззрения:   </vt:lpstr>
      <vt:lpstr>Формы (стороны) мировоззрения</vt:lpstr>
      <vt:lpstr>Взаимосвязь форм мировоззрения</vt:lpstr>
      <vt:lpstr>Пути формирования мировоззрения</vt:lpstr>
      <vt:lpstr>Ценность – основа мировоззрения</vt:lpstr>
      <vt:lpstr>Типология ценностей по объекту:</vt:lpstr>
      <vt:lpstr>Типология ценностей по субъекту</vt:lpstr>
      <vt:lpstr>Классификации мировоззрения</vt:lpstr>
      <vt:lpstr>Вывод </vt:lpstr>
      <vt:lpstr>Презентация PowerPoint</vt:lpstr>
      <vt:lpstr>Игра «Данетки»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Познание мировоззрение мышление</dc:title>
  <dc:subject/>
  <dc:creator>Шумилова Полина Андреевна</dc:creator>
  <dc:description/>
  <cp:lastModifiedBy>Полина Шумилова</cp:lastModifiedBy>
  <cp:revision>54</cp:revision>
  <dcterms:created xsi:type="dcterms:W3CDTF">2024-01-11T05:45:19Z</dcterms:created>
  <dcterms:modified xsi:type="dcterms:W3CDTF">2026-02-09T05:26:01Z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29</vt:i4>
  </property>
</Properties>
</file>