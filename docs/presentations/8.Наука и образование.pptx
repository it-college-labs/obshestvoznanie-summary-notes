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61" r:id="rId4"/>
    <p:sldId id="262" r:id="rId5"/>
    <p:sldId id="269" r:id="rId6"/>
    <p:sldId id="263" r:id="rId7"/>
    <p:sldId id="266" r:id="rId8"/>
    <p:sldId id="267" r:id="rId9"/>
    <p:sldId id="268" r:id="rId10"/>
    <p:sldId id="257" r:id="rId11"/>
    <p:sldId id="259" r:id="rId12"/>
    <p:sldId id="260" r:id="rId13"/>
    <p:sldId id="270" r:id="rId14"/>
    <p:sldId id="272" r:id="rId15"/>
    <p:sldId id="271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 snapToGrid="0">
      <p:cViewPr varScale="1">
        <p:scale>
          <a:sx n="67" d="100"/>
          <a:sy n="67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remlin.ru/acts/bank/4777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rant.ru/products/ipo/prime/doc/408518353/?ysclid=ltmjqgkx2t320316561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78778-FCC6-4572-92A0-BD2FCE73D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038110"/>
            <a:ext cx="8361229" cy="3658080"/>
          </a:xfrm>
        </p:spPr>
        <p:txBody>
          <a:bodyPr/>
          <a:lstStyle/>
          <a:p>
            <a:r>
              <a:rPr lang="ru-RU" sz="4000" dirty="0">
                <a:effectLst/>
                <a:latin typeface="Times New Roman" panose="02020603050405020304" pitchFamily="18" charset="0"/>
                <a:ea typeface="OfficinaSansBoldITC"/>
              </a:rPr>
              <a:t>Наука. </a:t>
            </a:r>
            <a:br>
              <a:rPr lang="ru-RU" sz="4000" dirty="0">
                <a:effectLst/>
                <a:latin typeface="Times New Roman" panose="02020603050405020304" pitchFamily="18" charset="0"/>
                <a:ea typeface="OfficinaSansBoldITC"/>
              </a:rPr>
            </a:br>
            <a:br>
              <a:rPr lang="ru-RU" sz="4000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4000" dirty="0">
                <a:effectLst/>
                <a:latin typeface="Times New Roman" panose="02020603050405020304" pitchFamily="18" charset="0"/>
                <a:ea typeface="OfficinaSansBoldITC"/>
              </a:rPr>
              <a:t>Направления научно-технологического развития и научные достижения Российской Федерации. </a:t>
            </a:r>
            <a:br>
              <a:rPr lang="ru-RU" sz="4000" dirty="0">
                <a:effectLst/>
                <a:latin typeface="Times New Roman" panose="02020603050405020304" pitchFamily="18" charset="0"/>
                <a:ea typeface="OfficinaSansBoldITC"/>
              </a:rPr>
            </a:br>
            <a:br>
              <a:rPr lang="ru-RU" sz="4000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4000" dirty="0">
                <a:effectLst/>
                <a:latin typeface="Times New Roman" panose="02020603050405020304" pitchFamily="18" charset="0"/>
                <a:ea typeface="OfficinaSansBoldITC"/>
              </a:rPr>
              <a:t>Образование в современном обществе</a:t>
            </a:r>
            <a:r>
              <a:rPr lang="ru-RU" sz="4000" b="1" dirty="0">
                <a:effectLst/>
                <a:latin typeface="Times New Roman" panose="02020603050405020304" pitchFamily="18" charset="0"/>
                <a:ea typeface="OfficinaSansBoldITC"/>
              </a:rPr>
              <a:t>.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97538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EA403-9916-4BD3-AD68-FE50E4B5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sz="1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E54F8D-E47A-422D-8AB4-90D0F9F6EE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366713"/>
            <a:ext cx="8172450" cy="612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812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FDCC2-AA79-4DA0-AD9F-E96A7B3F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57175"/>
            <a:ext cx="9601200" cy="1485900"/>
          </a:xfrm>
        </p:spPr>
        <p:txBody>
          <a:bodyPr/>
          <a:lstStyle/>
          <a:p>
            <a:r>
              <a:rPr lang="ru-RU" dirty="0"/>
              <a:t>Критерии научного знания:</a:t>
            </a:r>
            <a:br>
              <a:rPr lang="ru-RU" dirty="0"/>
            </a:br>
            <a:r>
              <a:rPr lang="ru-RU" sz="1400" dirty="0"/>
              <a:t>(по А.С. Кармину)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C03488-44C5-4691-92D5-C6AA6B4FC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514475"/>
            <a:ext cx="9601200" cy="3581400"/>
          </a:xfrm>
        </p:spPr>
        <p:txBody>
          <a:bodyPr>
            <a:noAutofit/>
          </a:bodyPr>
          <a:lstStyle/>
          <a:p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Рациональность всех содержащихся в научном знании положений и выводов. Наука - детище человеческого разума, и в научном знании не может быть ничего недоступного человеческому пониманию, ничего магического, необъяснимого, необоснованного, опирающегося только на веру, эмоции, инстинкт и т. д. </a:t>
            </a:r>
          </a:p>
          <a:p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Объективность,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общезначимость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безличность: в научном знании должна выражаться объективная истина в максимально очищенном от личных симпатий и антипатий, убеждений и предубеждений виде. </a:t>
            </a:r>
          </a:p>
          <a:p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Воспроизводимость и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проверяемость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любой исследователь, воссоздав условия, в которых получен какой-либо научный результат, должен быть в состоянии убедиться в его истинности или, если он не подтверждается, отвергнуть его. </a:t>
            </a:r>
          </a:p>
          <a:p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 Логическая строгость, точность и однозначность, что обеспечивается внимательной фиксацией условий получения знания; установлением точных (в пределах интервала допустимой погрешности) количественных значений изучаемых параметров; использованием специального языка, в котором содержатся чётко определённые термины, символы и правила их употребления и исключаются нередко возникающие в естественных языках смысловая многозначность и неопределенность слов и выражений; </a:t>
            </a:r>
          </a:p>
          <a:p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 Логическая взаимосвязь различных элементов научного знания, в силу которой оно представляет собой не сумму разрозненных сведений, а логически упорядоченную систему. Взаимосвязь и единство существуют не только в рамках отдельных наук, но и между ними.</a:t>
            </a: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99987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BCCEE-E1B3-4D18-AD15-4DFD3C5B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Не всякое истинное знание является научным.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8144B0-EB53-4EF1-B2E6-8D30E228C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Например: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1849 г. гадалка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напророчествовала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будущему императору Германии Вильгельму I, тогда ещё прусскому принцу, что он станет императором в 1871 г. И объяснила, почему она назвала этот год: потому что 1849 + (1+8+4+9) = 1871. На вопрос принца, долго ли он будет царствовать, она ответила: до 1888 г., потому что 1871 + (1+8+7+1) = 1888. И предсказания оказались верными!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Однако пророчества гадалки, тем не менее, не имеют ничего общего с наукой. Ибо они остаются необъяснимыми и необоснованными. Какая связь существует между арифметическими выкладками гадалки и предсказанными событиями, почему её подсчёты в случае Вильгельма оправдались, а для других правителей тот же метод ничего близкого к действительности не даёт?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495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D58DB-2A34-4B3C-BA74-04EA2159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BCB9BE-BDC4-40D4-95D6-E3152D290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Астрология – наука или нет?</a:t>
            </a:r>
          </a:p>
        </p:txBody>
      </p:sp>
    </p:spTree>
    <p:extLst>
      <p:ext uri="{BB962C8B-B14F-4D97-AF65-F5344CB8AC3E}">
        <p14:creationId xmlns:p14="http://schemas.microsoft.com/office/powerpoint/2010/main" val="46317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20AB2-8F24-4A79-9A7E-9BA50EEC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Основные формы эмпирического познания: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123936-25E8-4DB1-B43D-8F431C27A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endParaRPr lang="ru-RU" b="1" i="0" dirty="0">
              <a:solidFill>
                <a:srgbClr val="333333"/>
              </a:solidFill>
              <a:effectLst/>
              <a:latin typeface="Circe"/>
            </a:endParaRP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Научный факт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(от лат.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Circe"/>
              </a:rPr>
              <a:t>factum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сделанное, совершившееся) — отражение объективного факта в человеческом сознании, т. е. описание посредством некоторого языка.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Эмпирический закон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объективная, существенная, конкретно-всеобщая, повторяющаяся, устойчивая связь между явлениями и процессами.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833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CED12-8793-47BD-A979-273E2E9F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333333"/>
                </a:solidFill>
                <a:latin typeface="Circe"/>
              </a:rPr>
              <a:t>Основные формы теоретического познания:</a:t>
            </a:r>
            <a:br>
              <a:rPr lang="ru-RU" b="1" dirty="0">
                <a:solidFill>
                  <a:srgbClr val="333333"/>
                </a:solidFill>
                <a:latin typeface="Circ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C0884-3D7E-4F7F-BF12-BE2E0C7BA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Проблема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(от греч.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Circe"/>
              </a:rPr>
              <a:t>problema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задача) — осознанная формулировка вопросов, возникающих в ходе познания и требующих ответа.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Гипотеза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(от греч.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Circe"/>
              </a:rPr>
              <a:t>hypothesis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основа, предположение) — это научное предположение, выдвигаемое для объяснения какого-либо явления. Любая гипотеза нуждается в теоретическом обосновании и экспериментальной проверке и призвана, в первую очередь, объяснить факты, противоречащие существующей научной теории.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Теория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(от гр.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Circe"/>
              </a:rPr>
              <a:t>theoria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наблюдение, рассмотрение, исследование) — наиболее развитая форма научного знания, дающая целостное отображение закономерных и существенных связей определённой области действительности.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1248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10383-955E-4CA2-B171-9CD6F702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333333"/>
                </a:solidFill>
                <a:latin typeface="Circe"/>
              </a:rPr>
              <a:t>Универсальными (общенаучными) методами исследования являются:</a:t>
            </a:r>
            <a:br>
              <a:rPr lang="ru-RU" b="1" dirty="0">
                <a:solidFill>
                  <a:srgbClr val="333333"/>
                </a:solidFill>
                <a:latin typeface="Circ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CB6D1-6BB4-4749-9B3C-3CA588DB5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Анализ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метод, основанный на разделении изучаемого объекта на составные части с целью их изучения;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Синтез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противоположный анализу метод, заключающийся в объединении ранее выделенных составных частей в единое целое. Синтез используется для получения знаний о целом путем выявления тех существенных связей и отношений, которые объединяют составные части в одно целое;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Дедукция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метод, основанный на переходе от общего знания к частному;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Индукция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метод, основанный на переходе от частного знания к общему;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Аналогия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метод, с помощью которого на основе сходства объектов по некоторым признакам, свойствам и отношениям выдвигается гипотеза об их сходстве и в других отношениях;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Моделирование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метод, с помощью которого характеристики исследуемого объекта воспроизводятся на другой, специально созданной модели;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Абстрагирование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метод мысленного выделения отдельных признаков, свойств и отношений конкретного предмета или явления и одновременное отвлечение от других свойств, признаков и отношений, которые ученый считает несущественными;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Идеализация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метод, с помощью которого учёный мысленно создает абстрактные объекты, не существующие в действительности.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2274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8BC26D-5861-408D-91E2-AE1F0931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Circe"/>
              </a:rPr>
              <a:t>Теоретическими методами являются:</a:t>
            </a:r>
            <a:br>
              <a:rPr lang="ru-RU" b="1" dirty="0">
                <a:solidFill>
                  <a:srgbClr val="333333"/>
                </a:solidFill>
                <a:latin typeface="Circ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519D9E-3E63-4423-B9CF-0F4B75443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Исторический метод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связан с освещением различных этапов развития объектов в их хронологической последовательности, в конкретных формах проявления.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Логический метод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связан с воспроизведением в теоретической форме, в системе абстракций сущности, основного содержания исторического процесса.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607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54EBA-E5FD-4E67-B569-2859BD26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>
                <a:solidFill>
                  <a:srgbClr val="000000"/>
                </a:solidFill>
                <a:latin typeface="-apple-system"/>
                <a:hlinkClick r:id="rId2"/>
              </a:rPr>
              <a:t>Президент РФ подписал 25 апреля 2022 года указ</a:t>
            </a:r>
            <a:r>
              <a:rPr lang="ru-RU" altLang="ru-RU" dirty="0">
                <a:solidFill>
                  <a:srgbClr val="000000"/>
                </a:solidFill>
                <a:latin typeface="-apple-system"/>
              </a:rPr>
              <a:t>, в котором объявил десятилетие науки и технологий с 2022 по 2031 гг.</a:t>
            </a:r>
            <a:br>
              <a:rPr lang="ru-RU" altLang="ru-RU" dirty="0">
                <a:solidFill>
                  <a:srgbClr val="000000"/>
                </a:solidFill>
                <a:latin typeface="-apple-system"/>
              </a:rPr>
            </a:br>
            <a:br>
              <a:rPr lang="ru-RU" altLang="ru-RU" dirty="0">
                <a:solidFill>
                  <a:srgbClr val="000000"/>
                </a:solidFill>
                <a:latin typeface="-apple-system"/>
              </a:rPr>
            </a:br>
            <a:br>
              <a:rPr lang="ru-RU" altLang="ru-RU" sz="2400" dirty="0">
                <a:solidFill>
                  <a:schemeClr val="tx1"/>
                </a:solidFill>
              </a:rPr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191180F-A5BF-4FE3-B143-2F3601D8B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90800"/>
            <a:ext cx="9601200" cy="358140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В соответствии с данным указом, в качестве основных задач на это десятилетие выдвигаются следующие: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а) привлечение талантливой молодежи в сферу исследований и разработок;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б) содействие вовлечению исследователей и разработчиков в решение важнейших задач развития общества и страны;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в) повышение доступности информации о достижениях и перспективах российской науки для граждан Российской Федерации.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5128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F798845-6429-4D3D-821D-379B2331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3825"/>
            <a:ext cx="9601200" cy="1485900"/>
          </a:xfrm>
        </p:spPr>
        <p:txBody>
          <a:bodyPr>
            <a:normAutofit fontScale="90000"/>
          </a:bodyPr>
          <a:lstStyle/>
          <a:p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Среди приоритетных направлений развития научно-технологического направления выделяются: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lang="en-US" sz="1600" dirty="0">
                <a:hlinkClick r:id="rId2"/>
              </a:rPr>
              <a:t>https://www.garant.ru/products/ipo/prime/doc/408518353/?ysclid=ltmjqgkx2t320316561</a:t>
            </a:r>
            <a:r>
              <a:rPr lang="ru-RU" sz="1600" dirty="0"/>
              <a:t> </a:t>
            </a:r>
            <a:r>
              <a:rPr lang="ru-RU" sz="1600" b="1" i="0" dirty="0">
                <a:solidFill>
                  <a:srgbClr val="4D4D4D"/>
                </a:solidFill>
                <a:effectLst/>
                <a:latin typeface="Arial" panose="020B0604020202020204" pitchFamily="34" charset="0"/>
              </a:rPr>
              <a:t>Указ Президента Российской Федерации от 28 февраля 2024 г. № 145 "О Стратегии научно-технологического развития Российской Федерации«)</a:t>
            </a:r>
            <a:br>
              <a:rPr lang="ru-RU" sz="1600" b="1" i="0" dirty="0">
                <a:solidFill>
                  <a:srgbClr val="4D4D4D"/>
                </a:solidFill>
                <a:effectLst/>
                <a:latin typeface="Arial" panose="020B0604020202020204" pitchFamily="34" charset="0"/>
              </a:rPr>
            </a:br>
            <a:endParaRPr lang="ru-RU" sz="16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F0AE30-7456-4836-82AB-D29B0FFB9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57375"/>
            <a:ext cx="9601200" cy="3581400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а) переход к передовым цифровым, интеллектуальным производственным технологиям, роботизированным системам, новым материалам и способам конструирования, создание систем обработки больших объемов данных, машинного обучения и искусственного интеллекта;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б) переход к экологически чистой и ресурсосберегающей энергетике, повышение эффективности добычи и глубокой переработки углеводородного сырья, формирование новых источников, способов транспортировки и хранения энергии;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в) переход к персонализированной медицине, высокотехнологичному здравоохранению и технологиям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здоровьесбережения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в том числе за счет рационального применения лекарственных препаратов (прежде всего антибактериальных);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г) переход к высокопродуктивному и экологически чистому агро- 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аквахозяйству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разработку и внедрение систем рационального применения средств химической и биологической защиты сельскохозяйственных растений и животных, хранение и эффективную переработку сельскохозяйственной продукции, создание безопасных и качественных, в том числе функциональных, продуктов питания;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д) противодействие техногенным, биогенным, социокультурным угрозам, терроризму и идеологическому экстремизму, а также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киберугрозам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иным источникам опасности для общества, экономики и государства;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е) связанность территории Российской Федерации за счет создания интеллектуальных транспортных и телекоммуникационных систем, а также занятия и удержания лидерских позиций в создании международных транспортно-логистических систем, освоении и использовании космического и воздушного пространства, Мирового океана, Арктики и Антарктики;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ж) возможность эффективного ответа российского общества на большие вызовы с учетом взаимодействия человека и природы, человека и технологий, социальных институтов на современном этапе глобального развития, в том числе применяя методы гуманитарных и социальных наук;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з) исследования в области понимания процессов, происходящих в обществе и природе, развития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природоподобных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технологий, человеко-машинных систем, управления климатом и экосистемами, а также исследования, связанные с этическими аспектами технологического развития, изменениями социальных, политических и экономических отношений;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и) фундаментальные исследования, обусловленные внутренней логикой развития науки, обеспечивающие готовность страны к большим вызовам, еще не проявившимся и не получившим широкого общественного признания, возможность своевременной оценки рисков, обусловленных научно-технологическим развитием. 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68778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36A40-3A28-42EA-B8C2-0D5346007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DD940-07A0-4BB4-9D00-EE037030B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Найти и рассказать одно современное научное открытие, сделанное российскими учеными и одно  - сделанное зарубежными учеными</a:t>
            </a:r>
          </a:p>
        </p:txBody>
      </p:sp>
    </p:spTree>
    <p:extLst>
      <p:ext uri="{BB962C8B-B14F-4D97-AF65-F5344CB8AC3E}">
        <p14:creationId xmlns:p14="http://schemas.microsoft.com/office/powerpoint/2010/main" val="1989807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E12C95-5C1D-49F5-B837-D030C914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211628-CD5D-4836-AD28-BFD7DC494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288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2C3B5-E213-48B6-8086-4B55B89F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19075"/>
            <a:ext cx="9601200" cy="61383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mo" panose="020B0604020202020204" pitchFamily="34" charset="0"/>
              </a:rPr>
              <a:t>Интересные факты об образовании</a:t>
            </a:r>
            <a:br>
              <a:rPr lang="ru-RU" dirty="0">
                <a:latin typeface="Arimo" panose="020B060402020202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069C3B-AF9A-4FC3-AE01-F430121F3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832908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Все знают, что в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России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 практикуется пятибалльная система оценок. Во французских же школах действует </a:t>
            </a:r>
            <a:r>
              <a:rPr lang="ru-RU" sz="1600" b="0" i="0" dirty="0" err="1">
                <a:effectLst/>
                <a:latin typeface="Arimo" panose="020B0604020202020204" pitchFamily="34" charset="0"/>
              </a:rPr>
              <a:t>двадцатибалльная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. В США </a:t>
            </a:r>
            <a:r>
              <a:rPr lang="en-US" sz="1600" b="0" i="0" dirty="0">
                <a:effectLst/>
                <a:latin typeface="Arimo" panose="020B0604020202020204" pitchFamily="34" charset="0"/>
              </a:rPr>
              <a:t>A,B,C</a:t>
            </a:r>
            <a:endParaRPr lang="ru-RU" sz="1600" b="0" i="0" dirty="0">
              <a:effectLst/>
              <a:latin typeface="Arimo" panose="020B0604020202020204" pitchFamily="34" charset="0"/>
            </a:endParaRP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В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Японии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 учебный год начинается не в сентябре, а в апреле. Японцы связывают это время с периодом цветения сакуры — главным символом страны. Он означает обновление и приход важных событий в жизнь. 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Популярные специальности в Испании: ядерная медицина, 3D-анимация и </a:t>
            </a:r>
            <a:r>
              <a:rPr lang="ru-RU" sz="1600" b="0" i="0" dirty="0" err="1">
                <a:effectLst/>
                <a:latin typeface="Arimo" panose="020B0604020202020204" pitchFamily="34" charset="0"/>
              </a:rPr>
              <a:t>диджеинг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.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Самая высокая стоимость обучения в колледже Сары Лоуренс в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США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. Это частное учебное заведение, созданное американским магнатом Уильямом Лоуренсом. Изначально колледж создавался для подготовки женщин-специалистов в области искусствоведения. Сегодня студентам предлагается множество курсов по следующим направлениям: история, общественные науки, естествознание.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В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Великобритании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 дети начинают учиться с 5 лет. Школьное обучение длится 11 лет.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Жители Греции затягивают свое обучение до 30 лет. 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Самая дорогая школа находится в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Лондоне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. Стоимость обучения за один месяц составляет около 80 000 фунтов стерлингов. Детей учат не только наукам, но и этикету. Программа школы нацелена на то, чтобы сделать юных англичан настоящими леди и джентльменами. Ученики посещают светские мероприятия, ходят в театры и музеи.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16. А вот самая большая школа расположена в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Индии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, городе </a:t>
            </a:r>
            <a:r>
              <a:rPr lang="ru-RU" sz="1600" b="1" i="0" dirty="0" err="1">
                <a:effectLst/>
                <a:latin typeface="Arimo" panose="020B0604020202020204" pitchFamily="34" charset="0"/>
              </a:rPr>
              <a:t>Лакнау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.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 В ней обучаются около 40 000 детей. В момент ее открытия в 1959 году на уроки отправились пять детей, ведь было сформировано всего два класса. Сегодня школа включает в себя 20 филиалов, которые функционируют наподобие студенческих городков. Каждый родитель мечтает устроить сюда свое чадо. Помимо качественного образования здесь есть возможность обучения детей из разных сословий.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Литературный институт имени А. М. Горького — единственный вуз, обучающий студентов созданию высокохудожественных произведений. Кампус института расположен в центре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Москвы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. </a:t>
            </a:r>
          </a:p>
          <a:p>
            <a:pPr algn="l"/>
            <a:r>
              <a:rPr lang="ru-RU" sz="1600" b="0" i="0" dirty="0">
                <a:effectLst/>
                <a:latin typeface="Arimo" panose="020B0604020202020204" pitchFamily="34" charset="0"/>
              </a:rPr>
              <a:t>20. В 2018 году команда студентов </a:t>
            </a:r>
            <a:r>
              <a:rPr lang="ru-RU" sz="1600" b="1" i="0" dirty="0">
                <a:effectLst/>
                <a:latin typeface="Arimo" panose="020B0604020202020204" pitchFamily="34" charset="0"/>
              </a:rPr>
              <a:t>российских колледжей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 впервые выиграла чемпионат Европы по профессиональному мастерству </a:t>
            </a:r>
            <a:r>
              <a:rPr lang="ru-RU" sz="1600" b="0" i="0" dirty="0" err="1">
                <a:effectLst/>
                <a:latin typeface="Arimo" panose="020B0604020202020204" pitchFamily="34" charset="0"/>
              </a:rPr>
              <a:t>EuroSkills</a:t>
            </a:r>
            <a:r>
              <a:rPr lang="ru-RU" sz="1600" b="0" i="0" dirty="0">
                <a:effectLst/>
                <a:latin typeface="Arimo" panose="020B0604020202020204" pitchFamily="34" charset="0"/>
              </a:rPr>
              <a:t>. Это престижный конкурс рабочих профессий по 40 компетенциям. В их числе: веб-разработка, сварочные технологии, электромонтаж, ландшафтный дизайн, парикмахерское искусство и т.д. В общей сложности, российские триумфаторы завоевали 19 медалей. Лучшим представителем от России стал студент самарского колледжа. Он получил золотую медаль в компетенции «Фрезерные работы на станках с ЧПУ».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00120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3A112-2BFB-4B7F-85D7-475EBC4B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5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333333"/>
                </a:solidFill>
                <a:latin typeface="Circe"/>
              </a:rPr>
              <a:t>Система образования в РФ</a:t>
            </a:r>
            <a:br>
              <a:rPr lang="ru-RU" b="1" dirty="0">
                <a:solidFill>
                  <a:srgbClr val="333333"/>
                </a:solidFill>
                <a:latin typeface="Circ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BF5D28-9B87-43E7-AA4F-E3206128E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0800"/>
            <a:ext cx="9601200" cy="358140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i="0" dirty="0">
                <a:solidFill>
                  <a:srgbClr val="333333"/>
                </a:solidFill>
                <a:effectLst/>
                <a:latin typeface="Circe"/>
              </a:rPr>
              <a:t>Система образования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 — это совокупность образовательных программ и стандартов, сеть образовательных учреждений и органов управления, а также комплекс принципов, определяющих её функционирование.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i="0" dirty="0">
                <a:solidFill>
                  <a:srgbClr val="333333"/>
                </a:solidFill>
                <a:effectLst/>
                <a:latin typeface="Circe"/>
              </a:rPr>
              <a:t>Характер системы образования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 в любом государстве определяется его социально-экономическим и политическим строем, а также культурно-историческими и национальными особенностями.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i="0" dirty="0">
                <a:solidFill>
                  <a:srgbClr val="333333"/>
                </a:solidFill>
                <a:effectLst/>
                <a:latin typeface="Circe"/>
              </a:rPr>
              <a:t>Структурные компоненты российской системы образования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1) органы управления образованием;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2) совокупность образовательных стандартов и программ;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3) сеть образовательных учреждений: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дошкольное образование,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начальное образование (начальная школа),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среднее образование (средняя школа),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среднее профессиональное (специальное) образование (колледжи, лицеи),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высшая школа.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4) принципы образовательной политики в РФ: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гуманистический характер образования;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приоритет общечеловеческих ценностей;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право личности на свободное развитие;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единство федерального образования при сохранении права национальных и региональных культур на своеобразие образования;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общедоступность образования;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адаптивность системы образования к потребностям обучаемых;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светский характер образования в государственных учреждениях;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свобода и плюрализм в образовании;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Circe"/>
              </a:rPr>
              <a:t>демократический, государственно-общественный характер управления и самостоятельность образовательных учреждений.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6342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BB25A-41EF-4DCF-96CA-28E59863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latin typeface="Circe"/>
              </a:rPr>
              <a:t>Общие тенденции в развитии мирового образования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3A33E9-4E04-490F-B89A-C337FE18C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irce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333333"/>
                </a:solidFill>
                <a:effectLst/>
                <a:latin typeface="Circe"/>
              </a:rPr>
              <a:t>Демократизация системы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во многих странах ликвидирована неграмотность, массовое распространение получило среднее и высшее образование. Образование стало доступным для широких слоев населения, хотя различия в качестве и типах учебных заведений сохраняются.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333333"/>
                </a:solidFill>
                <a:effectLst/>
                <a:latin typeface="Circe"/>
              </a:rPr>
              <a:t>Рост продолжительности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современное общество нуждается в высококвалифицированных специалистах, что удлиняет сроки обучения.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333333"/>
                </a:solidFill>
                <a:effectLst/>
                <a:latin typeface="Circe"/>
              </a:rPr>
              <a:t>Непрерывность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в условиях научно-технической революции работник должен быть способным к быстрым переключениям на новые или смежные виды работ, на новые технологии.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333333"/>
                </a:solidFill>
                <a:effectLst/>
                <a:latin typeface="Circe"/>
              </a:rPr>
              <a:t>Гуманизация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внимание школы, педагогов к личности учащегося, его интересам, запросам, индивидуальным особенностям.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 err="1">
                <a:solidFill>
                  <a:srgbClr val="333333"/>
                </a:solidFill>
                <a:effectLst/>
                <a:latin typeface="Circe"/>
              </a:rPr>
              <a:t>Гуманитаризация</a:t>
            </a:r>
            <a:r>
              <a:rPr lang="ru-RU" b="0" i="1" dirty="0">
                <a:solidFill>
                  <a:srgbClr val="333333"/>
                </a:solidFill>
                <a:effectLst/>
                <a:latin typeface="Circe"/>
              </a:rPr>
              <a:t>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повышение роли общественных дисциплин в образовательном процессе, таких как экономическая теория, социология, политология, основы правовых знаний.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333333"/>
                </a:solidFill>
                <a:effectLst/>
                <a:latin typeface="Circe"/>
              </a:rPr>
              <a:t>Интернационализация процесса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создание единой системы образования для разных стран, интеграция образовательных систем.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333333"/>
                </a:solidFill>
                <a:effectLst/>
                <a:latin typeface="Circe"/>
              </a:rPr>
              <a:t>Компьютеризация процесса образования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 — использование новых современных технологий обучения, телекоммуникационных сетей глобального масштаба.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0705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11B1D-061C-4B8E-9680-BEF0D7A6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Болонская система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1031CE-7C43-49B8-BD74-7EACAEC30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28750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800" dirty="0">
                <a:solidFill>
                  <a:srgbClr val="000000"/>
                </a:solidFill>
                <a:latin typeface="Circe"/>
              </a:rPr>
              <a:t>П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Circe"/>
              </a:rPr>
              <a:t>оявилась в результате Болонского процесса — движения по созданию Европейского пространства высшего образования. 19 июня 1999 года министры образования 29 европейских стран подписали Болонскую декларацию о сотрудничестве и развитии в университете итальянского города Болоньи — отсюда и названия декларации и процесса.</a:t>
            </a:r>
          </a:p>
          <a:p>
            <a:pPr algn="l"/>
            <a:r>
              <a:rPr lang="ru-RU" sz="1800" b="0" i="0" dirty="0">
                <a:solidFill>
                  <a:srgbClr val="000000"/>
                </a:solidFill>
                <a:effectLst/>
                <a:latin typeface="Circe"/>
              </a:rPr>
              <a:t>Главные цели Болонского процесса: расширение доступа к европейскому высшему образованию, повышение мобильности между университетами и странами, повышение квалификации специалистов, чтобы образование было актуальным для современных запросов рынка труда. Система подразумевает унификацию образовательных стандартов и форматов: получаемые студентами дипломы и научные степени легко сопоставимы и имеют силу в большинстве стран-участниц (помимо государственного диплома студенты получают также европейское приложение). С этой же целью введена единая трёхступенчатая структура образования: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Circe"/>
              </a:rPr>
              <a:t>бакалавриат,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Circe"/>
              </a:rPr>
              <a:t>магистратура,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Circe"/>
              </a:rPr>
              <a:t>аспирантура.</a:t>
            </a: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642517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0DA9D-2CA0-488F-B515-038F47D4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России: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045102-D6FB-45D3-86ED-460189851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irce"/>
              </a:rPr>
              <a:t>Двухуровневое высшее профессиональное образование появилось в России в 2011 г. после присоединения к Болонскому процессу в 2003 г. Цель процесса — сформировать единое европейское образовательное пространство, дать дополнительные возможности для участия вузов в европейских проектах и академических обменах.</a:t>
            </a: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Circe"/>
              </a:rPr>
              <a:t>Специалитет</a:t>
            </a:r>
            <a:r>
              <a:rPr lang="ru-RU" b="0" i="0" dirty="0">
                <a:solidFill>
                  <a:srgbClr val="000000"/>
                </a:solidFill>
                <a:effectLst/>
                <a:latin typeface="Circe"/>
              </a:rPr>
              <a:t> — это уровень квалификации высшего образования, который даёт право дальнейшего обучения и трудоустройства на территории России. Но специалитет — это не международный формат. Для образования и работы за границей нужно иметь квалификацию бакалавра или магистра, если только это не диплом специалиста топового вуза. Диплом российского бакалавра за рубежом эквивалентен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irce"/>
              </a:rPr>
              <a:t>bachelor’s</a:t>
            </a:r>
            <a:r>
              <a:rPr lang="ru-RU" b="0" i="0" dirty="0">
                <a:solidFill>
                  <a:srgbClr val="000000"/>
                </a:solidFill>
                <a:effectLst/>
                <a:latin typeface="Circe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irce"/>
              </a:rPr>
              <a:t>degree</a:t>
            </a:r>
            <a:r>
              <a:rPr lang="ru-RU" b="0" i="0" dirty="0">
                <a:solidFill>
                  <a:srgbClr val="000000"/>
                </a:solidFill>
                <a:effectLst/>
                <a:latin typeface="Circe"/>
              </a:rPr>
              <a:t>, диплом магистра —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irce"/>
              </a:rPr>
              <a:t>master’s</a:t>
            </a:r>
            <a:r>
              <a:rPr lang="ru-RU" b="0" i="0" dirty="0">
                <a:solidFill>
                  <a:srgbClr val="000000"/>
                </a:solidFill>
                <a:effectLst/>
                <a:latin typeface="Circe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irce"/>
              </a:rPr>
              <a:t>degree</a:t>
            </a:r>
            <a:r>
              <a:rPr lang="ru-RU" b="0" i="0" dirty="0">
                <a:solidFill>
                  <a:srgbClr val="000000"/>
                </a:solidFill>
                <a:effectLst/>
                <a:latin typeface="Circe"/>
              </a:rPr>
              <a:t>. Диплом специалитета в России приравнивается к диплому магистра, но за границей он, вероятно, будет засчитан как диплом бакалавра.</a:t>
            </a: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Circe"/>
            </a:endParaRPr>
          </a:p>
        </p:txBody>
      </p:sp>
    </p:spTree>
    <p:extLst>
      <p:ext uri="{BB962C8B-B14F-4D97-AF65-F5344CB8AC3E}">
        <p14:creationId xmlns:p14="http://schemas.microsoft.com/office/powerpoint/2010/main" val="3395951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E7D36-AA03-4E10-B2D1-8DE7AAB4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3208A2-F9CB-463D-B0F6-0BE36BB77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</a:t>
            </a:r>
            <a:r>
              <a:rPr lang="ru-RU"/>
              <a:t>можно улучшить образование 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56592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1156</TotalTime>
  <Words>2258</Words>
  <Application>Microsoft Office PowerPoint</Application>
  <PresentationFormat>Широкоэкранный</PresentationFormat>
  <Paragraphs>104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-apple-system</vt:lpstr>
      <vt:lpstr>Arial</vt:lpstr>
      <vt:lpstr>Arimo</vt:lpstr>
      <vt:lpstr>Circe</vt:lpstr>
      <vt:lpstr>Franklin Gothic Book</vt:lpstr>
      <vt:lpstr>Times New Roman</vt:lpstr>
      <vt:lpstr>Уголки</vt:lpstr>
      <vt:lpstr>Наука.   Направления научно-технологического развития и научные достижения Российской Федерации.   Образование в современном обществе.</vt:lpstr>
      <vt:lpstr>Презентация PowerPoint</vt:lpstr>
      <vt:lpstr>Критерии научного знания: (по А.С. Кармину)</vt:lpstr>
      <vt:lpstr>Не всякое истинное знание является научным. </vt:lpstr>
      <vt:lpstr>Вопрос:</vt:lpstr>
      <vt:lpstr>Основные формы эмпирического познания:</vt:lpstr>
      <vt:lpstr>Основные формы теоретического познания: </vt:lpstr>
      <vt:lpstr>Универсальными (общенаучными) методами исследования являются: </vt:lpstr>
      <vt:lpstr>Теоретическими методами являются: </vt:lpstr>
      <vt:lpstr>Президент РФ подписал 25 апреля 2022 года указ, в котором объявил десятилетие науки и технологий с 2022 по 2031 гг.   </vt:lpstr>
      <vt:lpstr>Среди приоритетных направлений развития научно-технологического направления выделяются: (https://www.garant.ru/products/ipo/prime/doc/408518353/?ysclid=ltmjqgkx2t320316561 Указ Президента Российской Федерации от 28 февраля 2024 г. № 145 "О Стратегии научно-технологического развития Российской Федерации«) </vt:lpstr>
      <vt:lpstr>Задание </vt:lpstr>
      <vt:lpstr>Образование</vt:lpstr>
      <vt:lpstr>Интересные факты об образовании </vt:lpstr>
      <vt:lpstr>Система образования в РФ </vt:lpstr>
      <vt:lpstr>Общие тенденции в развитии мирового образования</vt:lpstr>
      <vt:lpstr>Болонская система</vt:lpstr>
      <vt:lpstr>В России:</vt:lpstr>
      <vt:lpstr>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общества, Общественные отношения.  Связи между подсистемами и элементами общества. Общественные потребности и социальные институты.</dc:title>
  <dc:creator>Шумилова Полина Андреевна</dc:creator>
  <cp:lastModifiedBy>Шумилова Полина Андреевна</cp:lastModifiedBy>
  <cp:revision>122</cp:revision>
  <dcterms:created xsi:type="dcterms:W3CDTF">2024-01-31T14:12:12Z</dcterms:created>
  <dcterms:modified xsi:type="dcterms:W3CDTF">2024-03-14T04:06:49Z</dcterms:modified>
</cp:coreProperties>
</file>