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2" r:id="rId3"/>
    <p:sldId id="257" r:id="rId4"/>
    <p:sldId id="258" r:id="rId5"/>
    <p:sldId id="272" r:id="rId6"/>
    <p:sldId id="259" r:id="rId7"/>
    <p:sldId id="260" r:id="rId8"/>
    <p:sldId id="261" r:id="rId9"/>
    <p:sldId id="264" r:id="rId10"/>
    <p:sldId id="263" r:id="rId11"/>
    <p:sldId id="265" r:id="rId12"/>
    <p:sldId id="266" r:id="rId13"/>
    <p:sldId id="267" r:id="rId14"/>
    <p:sldId id="268" r:id="rId15"/>
    <p:sldId id="269"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74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ru-RU"/>
              <a:t>Образец заголовка</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2/3/2026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2/3/2026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ru-RU"/>
              <a:t>Образец заголовка</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ru-RU"/>
              <a:t>Образец заголовка</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2/3/2026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2/3/2026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2/3/2026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A1AAC36-85A3-4B89-A519-2900D3050370}"/>
              </a:ext>
            </a:extLst>
          </p:cNvPr>
          <p:cNvSpPr>
            <a:spLocks noGrp="1"/>
          </p:cNvSpPr>
          <p:nvPr>
            <p:ph type="ctrTitle"/>
          </p:nvPr>
        </p:nvSpPr>
        <p:spPr/>
        <p:txBody>
          <a:bodyPr/>
          <a:lstStyle/>
          <a:p>
            <a:r>
              <a:rPr lang="ru-RU" sz="6000" dirty="0"/>
              <a:t>Природное и общественное в человеке.</a:t>
            </a:r>
          </a:p>
        </p:txBody>
      </p:sp>
      <p:sp>
        <p:nvSpPr>
          <p:cNvPr id="3" name="Подзаголовок 2">
            <a:extLst>
              <a:ext uri="{FF2B5EF4-FFF2-40B4-BE49-F238E27FC236}">
                <a16:creationId xmlns:a16="http://schemas.microsoft.com/office/drawing/2014/main" id="{ACDC5B3F-3239-4B75-9CD7-E68737E91449}"/>
              </a:ext>
            </a:extLst>
          </p:cNvPr>
          <p:cNvSpPr>
            <a:spLocks noGrp="1"/>
          </p:cNvSpPr>
          <p:nvPr>
            <p:ph type="subTitle" idx="1"/>
          </p:nvPr>
        </p:nvSpPr>
        <p:spPr/>
        <p:txBody>
          <a:bodyPr/>
          <a:lstStyle/>
          <a:p>
            <a:endParaRPr lang="ru-RU"/>
          </a:p>
        </p:txBody>
      </p:sp>
    </p:spTree>
    <p:extLst>
      <p:ext uri="{BB962C8B-B14F-4D97-AF65-F5344CB8AC3E}">
        <p14:creationId xmlns:p14="http://schemas.microsoft.com/office/powerpoint/2010/main" val="1595056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BD8E8C-3B91-44E3-907B-684870A38130}"/>
              </a:ext>
            </a:extLst>
          </p:cNvPr>
          <p:cNvSpPr>
            <a:spLocks noGrp="1"/>
          </p:cNvSpPr>
          <p:nvPr>
            <p:ph type="title"/>
          </p:nvPr>
        </p:nvSpPr>
        <p:spPr>
          <a:xfrm>
            <a:off x="1371600" y="685800"/>
            <a:ext cx="9601200" cy="885825"/>
          </a:xfrm>
        </p:spPr>
        <p:txBody>
          <a:bodyPr/>
          <a:lstStyle/>
          <a:p>
            <a:r>
              <a:rPr lang="ru-RU" dirty="0"/>
              <a:t>Науки изучающие человека</a:t>
            </a:r>
          </a:p>
        </p:txBody>
      </p:sp>
      <p:sp>
        <p:nvSpPr>
          <p:cNvPr id="3" name="Объект 2">
            <a:extLst>
              <a:ext uri="{FF2B5EF4-FFF2-40B4-BE49-F238E27FC236}">
                <a16:creationId xmlns:a16="http://schemas.microsoft.com/office/drawing/2014/main" id="{837080F1-2D89-4D0D-9CFC-1EA7C185EF69}"/>
              </a:ext>
            </a:extLst>
          </p:cNvPr>
          <p:cNvSpPr>
            <a:spLocks noGrp="1"/>
          </p:cNvSpPr>
          <p:nvPr>
            <p:ph idx="1"/>
          </p:nvPr>
        </p:nvSpPr>
        <p:spPr>
          <a:xfrm>
            <a:off x="1371600" y="1409700"/>
            <a:ext cx="9601200" cy="5295900"/>
          </a:xfrm>
        </p:spPr>
        <p:txBody>
          <a:bodyPr>
            <a:normAutofit fontScale="92500" lnSpcReduction="10000"/>
          </a:bodyPr>
          <a:lstStyle/>
          <a:p>
            <a:pPr algn="l">
              <a:buFont typeface="Arial" panose="020B0604020202020204" pitchFamily="34" charset="0"/>
              <a:buChar char="•"/>
            </a:pPr>
            <a:r>
              <a:rPr lang="ru-RU" b="0" i="0" dirty="0">
                <a:solidFill>
                  <a:srgbClr val="000000"/>
                </a:solidFill>
                <a:effectLst/>
                <a:latin typeface="arial" panose="020B0604020202020204" pitchFamily="34" charset="0"/>
              </a:rPr>
              <a:t>анатомия (из чего состоит);</a:t>
            </a:r>
          </a:p>
          <a:p>
            <a:pPr algn="l">
              <a:buFont typeface="Arial" panose="020B0604020202020204" pitchFamily="34" charset="0"/>
              <a:buChar char="•"/>
            </a:pPr>
            <a:r>
              <a:rPr lang="ru-RU" b="0" i="0" dirty="0">
                <a:solidFill>
                  <a:srgbClr val="000000"/>
                </a:solidFill>
                <a:effectLst/>
                <a:latin typeface="arial" panose="020B0604020202020204" pitchFamily="34" charset="0"/>
              </a:rPr>
              <a:t>антропология (происхождение</a:t>
            </a:r>
            <a:r>
              <a:rPr lang="ru-RU" dirty="0">
                <a:solidFill>
                  <a:srgbClr val="000000"/>
                </a:solidFill>
                <a:latin typeface="arial" panose="020B0604020202020204" pitchFamily="34" charset="0"/>
              </a:rPr>
              <a:t>, </a:t>
            </a:r>
            <a:r>
              <a:rPr lang="ru-RU" b="0" i="0" dirty="0">
                <a:solidFill>
                  <a:srgbClr val="000000"/>
                </a:solidFill>
                <a:effectLst/>
                <a:latin typeface="arial" panose="020B0604020202020204" pitchFamily="34" charset="0"/>
              </a:rPr>
              <a:t>развитие и связь с культурой и обществом);</a:t>
            </a:r>
          </a:p>
          <a:p>
            <a:pPr algn="l">
              <a:buFont typeface="Arial" panose="020B0604020202020204" pitchFamily="34" charset="0"/>
              <a:buChar char="•"/>
            </a:pPr>
            <a:r>
              <a:rPr lang="ru-RU" b="0" i="0" dirty="0">
                <a:solidFill>
                  <a:srgbClr val="000000"/>
                </a:solidFill>
                <a:effectLst/>
                <a:latin typeface="arial" panose="020B0604020202020204" pitchFamily="34" charset="0"/>
              </a:rPr>
              <a:t>биофизика (что происходит в биологических системах разного уровня - от молекулы до биосферы (физические законы на биологическом уровне);</a:t>
            </a:r>
          </a:p>
          <a:p>
            <a:pPr algn="l">
              <a:buFont typeface="Arial" panose="020B0604020202020204" pitchFamily="34" charset="0"/>
              <a:buChar char="•"/>
            </a:pPr>
            <a:r>
              <a:rPr lang="ru-RU" b="0" i="0" dirty="0">
                <a:solidFill>
                  <a:srgbClr val="000000"/>
                </a:solidFill>
                <a:effectLst/>
                <a:latin typeface="arial" panose="020B0604020202020204" pitchFamily="34" charset="0"/>
              </a:rPr>
              <a:t>биохимия (какие процессы идут в клетках на химическом уровне);</a:t>
            </a:r>
          </a:p>
          <a:p>
            <a:pPr algn="l">
              <a:buFont typeface="Arial" panose="020B0604020202020204" pitchFamily="34" charset="0"/>
              <a:buChar char="•"/>
            </a:pPr>
            <a:r>
              <a:rPr lang="ru-RU" b="0" i="0" dirty="0">
                <a:solidFill>
                  <a:srgbClr val="000000"/>
                </a:solidFill>
                <a:effectLst/>
                <a:latin typeface="arial" panose="020B0604020202020204" pitchFamily="34" charset="0"/>
              </a:rPr>
              <a:t>генеалогия (родственные связи);</a:t>
            </a:r>
          </a:p>
          <a:p>
            <a:pPr algn="l">
              <a:buFont typeface="Arial" panose="020B0604020202020204" pitchFamily="34" charset="0"/>
              <a:buChar char="•"/>
            </a:pPr>
            <a:r>
              <a:rPr lang="ru-RU" b="0" i="0" dirty="0">
                <a:solidFill>
                  <a:srgbClr val="000000"/>
                </a:solidFill>
                <a:effectLst/>
                <a:latin typeface="arial" panose="020B0604020202020204" pitchFamily="34" charset="0"/>
              </a:rPr>
              <a:t>генетика (наследственность и изменчивость);</a:t>
            </a:r>
          </a:p>
          <a:p>
            <a:pPr algn="l">
              <a:buFont typeface="Arial" panose="020B0604020202020204" pitchFamily="34" charset="0"/>
              <a:buChar char="•"/>
            </a:pPr>
            <a:r>
              <a:rPr lang="ru-RU" b="0" i="0" dirty="0">
                <a:solidFill>
                  <a:srgbClr val="000000"/>
                </a:solidFill>
                <a:effectLst/>
                <a:latin typeface="arial" panose="020B0604020202020204" pitchFamily="34" charset="0"/>
              </a:rPr>
              <a:t>история (что делал в прошлом);</a:t>
            </a:r>
          </a:p>
          <a:p>
            <a:pPr algn="l">
              <a:buFont typeface="Arial" panose="020B0604020202020204" pitchFamily="34" charset="0"/>
              <a:buChar char="•"/>
            </a:pPr>
            <a:r>
              <a:rPr lang="ru-RU" b="0" i="0" dirty="0">
                <a:solidFill>
                  <a:srgbClr val="000000"/>
                </a:solidFill>
                <a:effectLst/>
                <a:latin typeface="arial" panose="020B0604020202020204" pitchFamily="34" charset="0"/>
              </a:rPr>
              <a:t>лингвистика (как, что и почему говорит);</a:t>
            </a:r>
          </a:p>
          <a:p>
            <a:pPr algn="l">
              <a:buFont typeface="Arial" panose="020B0604020202020204" pitchFamily="34" charset="0"/>
              <a:buChar char="•"/>
            </a:pPr>
            <a:r>
              <a:rPr lang="ru-RU" b="0" i="0" dirty="0">
                <a:solidFill>
                  <a:srgbClr val="000000"/>
                </a:solidFill>
                <a:effectLst/>
                <a:latin typeface="arial" panose="020B0604020202020204" pitchFamily="34" charset="0"/>
              </a:rPr>
              <a:t>медицина (чем болеет, как лечить);</a:t>
            </a:r>
          </a:p>
          <a:p>
            <a:pPr algn="l">
              <a:buFont typeface="Arial" panose="020B0604020202020204" pitchFamily="34" charset="0"/>
              <a:buChar char="•"/>
            </a:pPr>
            <a:r>
              <a:rPr lang="ru-RU" b="0" i="0" dirty="0">
                <a:solidFill>
                  <a:srgbClr val="000000"/>
                </a:solidFill>
                <a:effectLst/>
                <a:latin typeface="arial" panose="020B0604020202020204" pitchFamily="34" charset="0"/>
              </a:rPr>
              <a:t>психология (причины поведения и реакций);</a:t>
            </a:r>
          </a:p>
          <a:p>
            <a:pPr algn="l">
              <a:buFont typeface="Arial" panose="020B0604020202020204" pitchFamily="34" charset="0"/>
              <a:buChar char="•"/>
            </a:pPr>
            <a:r>
              <a:rPr lang="ru-RU" b="0" i="0" dirty="0">
                <a:solidFill>
                  <a:srgbClr val="000000"/>
                </a:solidFill>
                <a:effectLst/>
                <a:latin typeface="arial" panose="020B0604020202020204" pitchFamily="34" charset="0"/>
              </a:rPr>
              <a:t>философия (взаимодействие человека и мира, изучение познания, нравственности);</a:t>
            </a:r>
          </a:p>
          <a:p>
            <a:pPr algn="l">
              <a:buFont typeface="Arial" panose="020B0604020202020204" pitchFamily="34" charset="0"/>
              <a:buChar char="•"/>
            </a:pPr>
            <a:r>
              <a:rPr lang="ru-RU" b="0" i="0" dirty="0">
                <a:solidFill>
                  <a:srgbClr val="000000"/>
                </a:solidFill>
                <a:effectLst/>
                <a:latin typeface="arial" panose="020B0604020202020204" pitchFamily="34" charset="0"/>
              </a:rPr>
              <a:t>этнография (происхождение народов).</a:t>
            </a:r>
          </a:p>
          <a:p>
            <a:endParaRPr lang="ru-RU" dirty="0"/>
          </a:p>
        </p:txBody>
      </p:sp>
    </p:spTree>
    <p:extLst>
      <p:ext uri="{BB962C8B-B14F-4D97-AF65-F5344CB8AC3E}">
        <p14:creationId xmlns:p14="http://schemas.microsoft.com/office/powerpoint/2010/main" val="1831696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DECC3A-2B34-4534-B1B5-4109155EDBEE}"/>
              </a:ext>
            </a:extLst>
          </p:cNvPr>
          <p:cNvSpPr>
            <a:spLocks noGrp="1"/>
          </p:cNvSpPr>
          <p:nvPr>
            <p:ph type="title"/>
          </p:nvPr>
        </p:nvSpPr>
        <p:spPr>
          <a:xfrm>
            <a:off x="1295400" y="257175"/>
            <a:ext cx="9601200" cy="1485900"/>
          </a:xfrm>
        </p:spPr>
        <p:txBody>
          <a:bodyPr>
            <a:noAutofit/>
          </a:bodyPr>
          <a:lstStyle/>
          <a:p>
            <a:r>
              <a:rPr lang="ru-RU" sz="3600" dirty="0"/>
              <a:t>Человек – это биосоциальное существо, являющееся высшей ступенью развития живых организмов на Земле.</a:t>
            </a:r>
          </a:p>
        </p:txBody>
      </p:sp>
      <p:sp>
        <p:nvSpPr>
          <p:cNvPr id="3" name="Объект 2">
            <a:extLst>
              <a:ext uri="{FF2B5EF4-FFF2-40B4-BE49-F238E27FC236}">
                <a16:creationId xmlns:a16="http://schemas.microsoft.com/office/drawing/2014/main" id="{2EC2D361-0846-4F8B-95A2-C795DE804E8F}"/>
              </a:ext>
            </a:extLst>
          </p:cNvPr>
          <p:cNvSpPr>
            <a:spLocks noGrp="1"/>
          </p:cNvSpPr>
          <p:nvPr>
            <p:ph idx="1"/>
          </p:nvPr>
        </p:nvSpPr>
        <p:spPr>
          <a:xfrm>
            <a:off x="1190625" y="1743075"/>
            <a:ext cx="9601200" cy="3581400"/>
          </a:xfrm>
        </p:spPr>
        <p:txBody>
          <a:bodyPr>
            <a:noAutofit/>
          </a:bodyPr>
          <a:lstStyle/>
          <a:p>
            <a:r>
              <a:rPr lang="ru-RU" sz="1800" dirty="0"/>
              <a:t>Биологически человек принадлежит к классу млекопитающих, отряду приматов, роду гоминид, что свидетельствует о его близком родстве с обезьянами.</a:t>
            </a:r>
          </a:p>
          <a:p>
            <a:r>
              <a:rPr lang="ru-RU" sz="1800" dirty="0"/>
              <a:t>Еще древние греки утверждали, что человек – это духовно-телесное существо, т.е. обладающее двойственной природой. Это означает, что человек – биосоциальное существо. </a:t>
            </a:r>
          </a:p>
          <a:p>
            <a:r>
              <a:rPr lang="ru-RU" sz="1800" dirty="0"/>
              <a:t>С одной стороны, у человека, как и у всех животных, есть биологическое тело, что делает его частью природы. Проявлением биологической природы человека является его анатомия и физиология, которые позволяют ему приспосабливаться к различным условиям существования и выступают в качестве предпосылки существования человека.</a:t>
            </a:r>
          </a:p>
          <a:p>
            <a:r>
              <a:rPr lang="ru-RU" sz="1800" dirty="0"/>
              <a:t>Сущность человека определяется прежде всего </a:t>
            </a:r>
            <a:r>
              <a:rPr lang="ru-RU" sz="1800" b="1" dirty="0"/>
              <a:t>его социальной природой</a:t>
            </a:r>
            <a:r>
              <a:rPr lang="ru-RU" sz="1800" dirty="0"/>
              <a:t>, которая проявляется через способность и готовность человека к различного рода деятельности, наличие разума и сознания. Человек может стать человеком только благодаря жизни в обществе, которое выступает его как бы второй природой. Человеческий детеныш, исключенный по каким-либо причинам из социума (так называемые дети-</a:t>
            </a:r>
            <a:r>
              <a:rPr lang="ru-RU" sz="1800" dirty="0" err="1"/>
              <a:t>маугли</a:t>
            </a:r>
            <a:r>
              <a:rPr lang="ru-RU" sz="1800" dirty="0"/>
              <a:t>), человеком не станет никогда.</a:t>
            </a:r>
          </a:p>
        </p:txBody>
      </p:sp>
    </p:spTree>
    <p:extLst>
      <p:ext uri="{BB962C8B-B14F-4D97-AF65-F5344CB8AC3E}">
        <p14:creationId xmlns:p14="http://schemas.microsoft.com/office/powerpoint/2010/main" val="3354960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55D712-A02D-45F2-A11E-79B33DFCBDC0}"/>
              </a:ext>
            </a:extLst>
          </p:cNvPr>
          <p:cNvSpPr>
            <a:spLocks noGrp="1"/>
          </p:cNvSpPr>
          <p:nvPr>
            <p:ph type="title"/>
          </p:nvPr>
        </p:nvSpPr>
        <p:spPr>
          <a:xfrm>
            <a:off x="1371600" y="685800"/>
            <a:ext cx="9601200" cy="790575"/>
          </a:xfrm>
        </p:spPr>
        <p:txBody>
          <a:bodyPr>
            <a:normAutofit/>
          </a:bodyPr>
          <a:lstStyle/>
          <a:p>
            <a:r>
              <a:rPr lang="ru-RU" sz="3600" dirty="0"/>
              <a:t>Основные отличия человека от животного</a:t>
            </a:r>
          </a:p>
        </p:txBody>
      </p:sp>
      <p:graphicFrame>
        <p:nvGraphicFramePr>
          <p:cNvPr id="4" name="Таблица 4">
            <a:extLst>
              <a:ext uri="{FF2B5EF4-FFF2-40B4-BE49-F238E27FC236}">
                <a16:creationId xmlns:a16="http://schemas.microsoft.com/office/drawing/2014/main" id="{5EC6EFD3-1CE2-4240-B6F1-16D8DDDFFA4D}"/>
              </a:ext>
            </a:extLst>
          </p:cNvPr>
          <p:cNvGraphicFramePr>
            <a:graphicFrameLocks noGrp="1"/>
          </p:cNvGraphicFramePr>
          <p:nvPr>
            <p:ph idx="1"/>
            <p:extLst>
              <p:ext uri="{D42A27DB-BD31-4B8C-83A1-F6EECF244321}">
                <p14:modId xmlns:p14="http://schemas.microsoft.com/office/powerpoint/2010/main" val="3828563684"/>
              </p:ext>
            </p:extLst>
          </p:nvPr>
        </p:nvGraphicFramePr>
        <p:xfrm>
          <a:off x="1371600" y="1400174"/>
          <a:ext cx="9601200" cy="5324480"/>
        </p:xfrm>
        <a:graphic>
          <a:graphicData uri="http://schemas.openxmlformats.org/drawingml/2006/table">
            <a:tbl>
              <a:tblPr firstRow="1" bandRow="1">
                <a:tableStyleId>{5C22544A-7EE6-4342-B048-85BDC9FD1C3A}</a:tableStyleId>
              </a:tblPr>
              <a:tblGrid>
                <a:gridCol w="4800600">
                  <a:extLst>
                    <a:ext uri="{9D8B030D-6E8A-4147-A177-3AD203B41FA5}">
                      <a16:colId xmlns:a16="http://schemas.microsoft.com/office/drawing/2014/main" val="796292999"/>
                    </a:ext>
                  </a:extLst>
                </a:gridCol>
                <a:gridCol w="4800600">
                  <a:extLst>
                    <a:ext uri="{9D8B030D-6E8A-4147-A177-3AD203B41FA5}">
                      <a16:colId xmlns:a16="http://schemas.microsoft.com/office/drawing/2014/main" val="1482878911"/>
                    </a:ext>
                  </a:extLst>
                </a:gridCol>
              </a:tblGrid>
              <a:tr h="665560">
                <a:tc>
                  <a:txBody>
                    <a:bodyPr/>
                    <a:lstStyle/>
                    <a:p>
                      <a:r>
                        <a:rPr lang="ru-RU" dirty="0"/>
                        <a:t>Человек</a:t>
                      </a:r>
                    </a:p>
                  </a:txBody>
                  <a:tcPr/>
                </a:tc>
                <a:tc>
                  <a:txBody>
                    <a:bodyPr/>
                    <a:lstStyle/>
                    <a:p>
                      <a:r>
                        <a:rPr lang="ru-RU" dirty="0"/>
                        <a:t>Животное</a:t>
                      </a:r>
                    </a:p>
                  </a:txBody>
                  <a:tcPr/>
                </a:tc>
                <a:extLst>
                  <a:ext uri="{0D108BD9-81ED-4DB2-BD59-A6C34878D82A}">
                    <a16:rowId xmlns:a16="http://schemas.microsoft.com/office/drawing/2014/main" val="1084601000"/>
                  </a:ext>
                </a:extLst>
              </a:tr>
              <a:tr h="665560">
                <a:tc>
                  <a:txBody>
                    <a:bodyPr/>
                    <a:lstStyle/>
                    <a:p>
                      <a:r>
                        <a:rPr lang="ru-RU" dirty="0"/>
                        <a:t>1.</a:t>
                      </a:r>
                    </a:p>
                  </a:txBody>
                  <a:tcPr/>
                </a:tc>
                <a:tc>
                  <a:txBody>
                    <a:bodyPr/>
                    <a:lstStyle/>
                    <a:p>
                      <a:endParaRPr lang="ru-RU"/>
                    </a:p>
                  </a:txBody>
                  <a:tcPr/>
                </a:tc>
                <a:extLst>
                  <a:ext uri="{0D108BD9-81ED-4DB2-BD59-A6C34878D82A}">
                    <a16:rowId xmlns:a16="http://schemas.microsoft.com/office/drawing/2014/main" val="3956433301"/>
                  </a:ext>
                </a:extLst>
              </a:tr>
              <a:tr h="665560">
                <a:tc>
                  <a:txBody>
                    <a:bodyPr/>
                    <a:lstStyle/>
                    <a:p>
                      <a:r>
                        <a:rPr lang="ru-RU" dirty="0"/>
                        <a:t>2.</a:t>
                      </a:r>
                    </a:p>
                  </a:txBody>
                  <a:tcPr/>
                </a:tc>
                <a:tc>
                  <a:txBody>
                    <a:bodyPr/>
                    <a:lstStyle/>
                    <a:p>
                      <a:endParaRPr lang="ru-RU"/>
                    </a:p>
                  </a:txBody>
                  <a:tcPr/>
                </a:tc>
                <a:extLst>
                  <a:ext uri="{0D108BD9-81ED-4DB2-BD59-A6C34878D82A}">
                    <a16:rowId xmlns:a16="http://schemas.microsoft.com/office/drawing/2014/main" val="137364168"/>
                  </a:ext>
                </a:extLst>
              </a:tr>
              <a:tr h="665560">
                <a:tc>
                  <a:txBody>
                    <a:bodyPr/>
                    <a:lstStyle/>
                    <a:p>
                      <a:r>
                        <a:rPr lang="ru-RU" dirty="0"/>
                        <a:t>3.</a:t>
                      </a:r>
                    </a:p>
                  </a:txBody>
                  <a:tcPr/>
                </a:tc>
                <a:tc>
                  <a:txBody>
                    <a:bodyPr/>
                    <a:lstStyle/>
                    <a:p>
                      <a:endParaRPr lang="ru-RU"/>
                    </a:p>
                  </a:txBody>
                  <a:tcPr/>
                </a:tc>
                <a:extLst>
                  <a:ext uri="{0D108BD9-81ED-4DB2-BD59-A6C34878D82A}">
                    <a16:rowId xmlns:a16="http://schemas.microsoft.com/office/drawing/2014/main" val="4140138146"/>
                  </a:ext>
                </a:extLst>
              </a:tr>
              <a:tr h="665560">
                <a:tc>
                  <a:txBody>
                    <a:bodyPr/>
                    <a:lstStyle/>
                    <a:p>
                      <a:r>
                        <a:rPr lang="ru-RU" dirty="0"/>
                        <a:t>4.</a:t>
                      </a:r>
                    </a:p>
                  </a:txBody>
                  <a:tcPr/>
                </a:tc>
                <a:tc>
                  <a:txBody>
                    <a:bodyPr/>
                    <a:lstStyle/>
                    <a:p>
                      <a:endParaRPr lang="ru-RU"/>
                    </a:p>
                  </a:txBody>
                  <a:tcPr/>
                </a:tc>
                <a:extLst>
                  <a:ext uri="{0D108BD9-81ED-4DB2-BD59-A6C34878D82A}">
                    <a16:rowId xmlns:a16="http://schemas.microsoft.com/office/drawing/2014/main" val="1714201789"/>
                  </a:ext>
                </a:extLst>
              </a:tr>
              <a:tr h="665560">
                <a:tc>
                  <a:txBody>
                    <a:bodyPr/>
                    <a:lstStyle/>
                    <a:p>
                      <a:r>
                        <a:rPr lang="ru-RU" dirty="0"/>
                        <a:t>5.</a:t>
                      </a:r>
                    </a:p>
                  </a:txBody>
                  <a:tcPr/>
                </a:tc>
                <a:tc>
                  <a:txBody>
                    <a:bodyPr/>
                    <a:lstStyle/>
                    <a:p>
                      <a:endParaRPr lang="ru-RU"/>
                    </a:p>
                  </a:txBody>
                  <a:tcPr/>
                </a:tc>
                <a:extLst>
                  <a:ext uri="{0D108BD9-81ED-4DB2-BD59-A6C34878D82A}">
                    <a16:rowId xmlns:a16="http://schemas.microsoft.com/office/drawing/2014/main" val="613719322"/>
                  </a:ext>
                </a:extLst>
              </a:tr>
              <a:tr h="665560">
                <a:tc>
                  <a:txBody>
                    <a:bodyPr/>
                    <a:lstStyle/>
                    <a:p>
                      <a:r>
                        <a:rPr lang="ru-RU" dirty="0"/>
                        <a:t>6.</a:t>
                      </a:r>
                    </a:p>
                  </a:txBody>
                  <a:tcPr/>
                </a:tc>
                <a:tc>
                  <a:txBody>
                    <a:bodyPr/>
                    <a:lstStyle/>
                    <a:p>
                      <a:endParaRPr lang="ru-RU"/>
                    </a:p>
                  </a:txBody>
                  <a:tcPr/>
                </a:tc>
                <a:extLst>
                  <a:ext uri="{0D108BD9-81ED-4DB2-BD59-A6C34878D82A}">
                    <a16:rowId xmlns:a16="http://schemas.microsoft.com/office/drawing/2014/main" val="3003943005"/>
                  </a:ext>
                </a:extLst>
              </a:tr>
              <a:tr h="665560">
                <a:tc>
                  <a:txBody>
                    <a:bodyPr/>
                    <a:lstStyle/>
                    <a:p>
                      <a:r>
                        <a:rPr lang="ru-RU" dirty="0"/>
                        <a:t>7</a:t>
                      </a:r>
                    </a:p>
                  </a:txBody>
                  <a:tcPr/>
                </a:tc>
                <a:tc>
                  <a:txBody>
                    <a:bodyPr/>
                    <a:lstStyle/>
                    <a:p>
                      <a:endParaRPr lang="ru-RU" dirty="0"/>
                    </a:p>
                  </a:txBody>
                  <a:tcPr/>
                </a:tc>
                <a:extLst>
                  <a:ext uri="{0D108BD9-81ED-4DB2-BD59-A6C34878D82A}">
                    <a16:rowId xmlns:a16="http://schemas.microsoft.com/office/drawing/2014/main" val="4056272484"/>
                  </a:ext>
                </a:extLst>
              </a:tr>
            </a:tbl>
          </a:graphicData>
        </a:graphic>
      </p:graphicFrame>
    </p:spTree>
    <p:extLst>
      <p:ext uri="{BB962C8B-B14F-4D97-AF65-F5344CB8AC3E}">
        <p14:creationId xmlns:p14="http://schemas.microsoft.com/office/powerpoint/2010/main" val="4009102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F96DB6-0078-A70D-30A9-27011E58FC2C}"/>
              </a:ext>
            </a:extLst>
          </p:cNvPr>
          <p:cNvSpPr>
            <a:spLocks noGrp="1"/>
          </p:cNvSpPr>
          <p:nvPr>
            <p:ph type="title"/>
          </p:nvPr>
        </p:nvSpPr>
        <p:spPr>
          <a:xfrm>
            <a:off x="1295400" y="168965"/>
            <a:ext cx="9601200" cy="646043"/>
          </a:xfrm>
        </p:spPr>
        <p:txBody>
          <a:bodyPr>
            <a:normAutofit fontScale="90000"/>
          </a:bodyPr>
          <a:lstStyle/>
          <a:p>
            <a:r>
              <a:rPr lang="ru-RU" sz="2700" b="1" dirty="0"/>
              <a:t>Упражнение «Мой личный сплит» (разделение)</a:t>
            </a:r>
            <a:br>
              <a:rPr lang="ru-RU" dirty="0"/>
            </a:br>
            <a:endParaRPr lang="ru-RU" dirty="0"/>
          </a:p>
        </p:txBody>
      </p:sp>
      <p:sp>
        <p:nvSpPr>
          <p:cNvPr id="3" name="Объект 2">
            <a:extLst>
              <a:ext uri="{FF2B5EF4-FFF2-40B4-BE49-F238E27FC236}">
                <a16:creationId xmlns:a16="http://schemas.microsoft.com/office/drawing/2014/main" id="{32589A04-3825-90E9-1BD8-69DD7C5F0299}"/>
              </a:ext>
            </a:extLst>
          </p:cNvPr>
          <p:cNvSpPr>
            <a:spLocks noGrp="1"/>
          </p:cNvSpPr>
          <p:nvPr>
            <p:ph idx="1"/>
          </p:nvPr>
        </p:nvSpPr>
        <p:spPr>
          <a:xfrm>
            <a:off x="1371600" y="815008"/>
            <a:ext cx="9601200" cy="5052392"/>
          </a:xfrm>
        </p:spPr>
        <p:txBody>
          <a:bodyPr>
            <a:noAutofit/>
          </a:bodyPr>
          <a:lstStyle/>
          <a:p>
            <a:r>
              <a:rPr lang="ru-RU" sz="1200" b="1" dirty="0"/>
              <a:t>Шаг 1: Индивидуальная работа . </a:t>
            </a:r>
            <a:r>
              <a:rPr lang="ru-RU" sz="1200" dirty="0"/>
              <a:t>Каждый студент берет два листочка.</a:t>
            </a:r>
          </a:p>
          <a:p>
            <a:pPr lvl="1"/>
            <a:r>
              <a:rPr lang="ru-RU" sz="1200" b="1" i="0" dirty="0"/>
              <a:t>На первом листочке</a:t>
            </a:r>
            <a:r>
              <a:rPr lang="ru-RU" sz="1200" i="0" dirty="0"/>
              <a:t> нужно написать </a:t>
            </a:r>
            <a:r>
              <a:rPr lang="ru-RU" sz="1200" b="1" i="0" dirty="0"/>
              <a:t>«Природное (мое Железо)»</a:t>
            </a:r>
            <a:r>
              <a:rPr lang="ru-RU" sz="1200" i="0" dirty="0"/>
              <a:t> и быстро, не задумываясь, написать 2-3 пункта. Что в вас есть от природы? </a:t>
            </a:r>
            <a:r>
              <a:rPr lang="ru-RU" sz="1200" dirty="0"/>
              <a:t>Например: «Я сова», «Быстро устаю от шума», «Хорошо бегаю», «Люблю сладкое», «Раздражаюсь, когда голоден».</a:t>
            </a:r>
            <a:endParaRPr lang="ru-RU" sz="1200" i="0" dirty="0"/>
          </a:p>
          <a:p>
            <a:pPr lvl="1"/>
            <a:r>
              <a:rPr lang="ru-RU" sz="1200" b="1" i="0" dirty="0"/>
              <a:t>На втором листочке</a:t>
            </a:r>
            <a:r>
              <a:rPr lang="ru-RU" sz="1200" i="0" dirty="0"/>
              <a:t> — </a:t>
            </a:r>
            <a:r>
              <a:rPr lang="ru-RU" sz="1200" b="1" i="0" dirty="0"/>
              <a:t>«Общественное (мой Софт)»</a:t>
            </a:r>
            <a:r>
              <a:rPr lang="ru-RU" sz="1200" i="0" dirty="0"/>
              <a:t>. 2-3 пункта. Чему вы научились в обществе? </a:t>
            </a:r>
            <a:r>
              <a:rPr lang="ru-RU" sz="1200" dirty="0"/>
              <a:t>Например: «Я программирую на Python», «Уступаю место старшим», «Ненавижу опаздывать», «Люблю аниме», «Ношение масок в метро кажется мне нормальным».</a:t>
            </a:r>
            <a:endParaRPr lang="ru-RU" sz="1200" i="0" dirty="0"/>
          </a:p>
          <a:p>
            <a:r>
              <a:rPr lang="ru-RU" sz="1200" b="1" dirty="0"/>
              <a:t>Шаг 2: Работа в парах или малых группах.</a:t>
            </a:r>
            <a:r>
              <a:rPr lang="ru-RU" sz="1200" dirty="0"/>
              <a:t> Студенты обмениваются своими «листочками» с соседом или в группе из 3-4 человек. </a:t>
            </a:r>
            <a:r>
              <a:rPr lang="ru-RU" sz="1200" b="1" dirty="0"/>
              <a:t>Задача:</a:t>
            </a:r>
            <a:r>
              <a:rPr lang="ru-RU" sz="1200" dirty="0"/>
              <a:t> Найти одну-две точки </a:t>
            </a:r>
            <a:r>
              <a:rPr lang="ru-RU" sz="1200" b="1" dirty="0"/>
              <a:t>столкновения или взаимодействия</a:t>
            </a:r>
            <a:r>
              <a:rPr lang="ru-RU" sz="1200" dirty="0"/>
              <a:t> «Железа» и «Софта». Обсудить.</a:t>
            </a:r>
          </a:p>
          <a:p>
            <a:pPr lvl="1"/>
            <a:r>
              <a:rPr lang="ru-RU" sz="1200" dirty="0"/>
              <a:t>Пример обсуждения:</a:t>
            </a:r>
            <a:endParaRPr lang="ru-RU" sz="1200" i="0" dirty="0"/>
          </a:p>
          <a:p>
            <a:pPr lvl="2"/>
            <a:r>
              <a:rPr lang="ru-RU" sz="1200" i="1" dirty="0"/>
              <a:t>«У меня в «Железе» — «я сова», а в «Софте» — «ненавижу опаздывать». Но пары в колледже начинаются в 8:30. Мое природное «железо» конфликтует с социальными правилами, и мне приходится «прокачивать софт» — ставить три будильника и пить кофе».</a:t>
            </a:r>
            <a:endParaRPr lang="ru-RU" sz="1200" dirty="0"/>
          </a:p>
          <a:p>
            <a:pPr lvl="2"/>
            <a:r>
              <a:rPr lang="ru-RU" sz="1200" i="1" dirty="0"/>
              <a:t>«У меня «Железо» — «люблю сладкое» (инстинкт к высококалорийной пище), а «Софт» — «следую ЗОЖ». Социальная мода на здоровье заставляет меня перепрограммировать природные позывы».</a:t>
            </a:r>
            <a:endParaRPr lang="ru-RU" sz="1200" dirty="0"/>
          </a:p>
          <a:p>
            <a:r>
              <a:rPr lang="ru-RU" sz="1200" b="1" dirty="0"/>
              <a:t>Шаг 3: Общая дискуссия.</a:t>
            </a:r>
            <a:r>
              <a:rPr lang="ru-RU" sz="1200" dirty="0"/>
              <a:t> </a:t>
            </a:r>
            <a:r>
              <a:rPr lang="ru-RU" sz="1200" b="1" dirty="0"/>
              <a:t>«Железо» (природа) задает базовые настройки. Но «софт» (общество) постоянно его обновляет, ставит патчи, а иногда и борется с багами. Человек — это место, где они встречаются и договариваются (или не договариваются)».</a:t>
            </a:r>
            <a:endParaRPr lang="ru-RU" sz="1200" dirty="0"/>
          </a:p>
          <a:p>
            <a:r>
              <a:rPr lang="ru-RU" sz="1200" b="1" dirty="0"/>
              <a:t>3. «Техническое» резюме:</a:t>
            </a:r>
            <a:endParaRPr lang="ru-RU" sz="1200" dirty="0"/>
          </a:p>
          <a:p>
            <a:r>
              <a:rPr lang="ru-RU" sz="1200" b="1" dirty="0"/>
              <a:t>Природное (биологическое)</a:t>
            </a:r>
            <a:r>
              <a:rPr lang="ru-RU" sz="1200" dirty="0"/>
              <a:t> — это наша «аппаратная часть»: инстинкты, рефлексы, задатки, биологические потребности. </a:t>
            </a:r>
            <a:r>
              <a:rPr lang="ru-RU" sz="1200" b="1" dirty="0"/>
              <a:t>Как в ПО: это драйвера, базовые библиотеки.</a:t>
            </a:r>
            <a:endParaRPr lang="ru-RU" sz="1200" dirty="0"/>
          </a:p>
          <a:p>
            <a:r>
              <a:rPr lang="ru-RU" sz="1200" b="1" dirty="0"/>
              <a:t>Общественное (социальное)</a:t>
            </a:r>
            <a:r>
              <a:rPr lang="ru-RU" sz="1200" dirty="0"/>
              <a:t> — это наш «пользовательский интерфейс» и «прикладные программы»: язык, культура, нормы, профессия, самоидентификация. </a:t>
            </a:r>
            <a:r>
              <a:rPr lang="ru-RU" sz="1200" b="1" dirty="0"/>
              <a:t>То, что мы «устанавливаем» из социальной среды.</a:t>
            </a:r>
            <a:endParaRPr lang="ru-RU" sz="1200" dirty="0"/>
          </a:p>
          <a:p>
            <a:r>
              <a:rPr lang="ru-RU" sz="1200" b="1" dirty="0"/>
              <a:t>Личность</a:t>
            </a:r>
            <a:r>
              <a:rPr lang="ru-RU" sz="1200" dirty="0"/>
              <a:t> — это и есть результат успешной </a:t>
            </a:r>
            <a:r>
              <a:rPr lang="ru-RU" sz="1200" b="1" dirty="0"/>
              <a:t>интеграции</a:t>
            </a:r>
            <a:r>
              <a:rPr lang="ru-RU" sz="1200" dirty="0"/>
              <a:t> этого «железа» и «софта». Уникальная «сборка» каждого человека.</a:t>
            </a:r>
          </a:p>
          <a:p>
            <a:endParaRPr lang="ru-RU" sz="1200" dirty="0"/>
          </a:p>
        </p:txBody>
      </p:sp>
    </p:spTree>
    <p:extLst>
      <p:ext uri="{BB962C8B-B14F-4D97-AF65-F5344CB8AC3E}">
        <p14:creationId xmlns:p14="http://schemas.microsoft.com/office/powerpoint/2010/main" val="691877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C7E260-D361-40C7-97A1-8E1480D3A59A}"/>
              </a:ext>
            </a:extLst>
          </p:cNvPr>
          <p:cNvSpPr>
            <a:spLocks noGrp="1"/>
          </p:cNvSpPr>
          <p:nvPr>
            <p:ph type="title"/>
          </p:nvPr>
        </p:nvSpPr>
        <p:spPr/>
        <p:txBody>
          <a:bodyPr/>
          <a:lstStyle/>
          <a:p>
            <a:r>
              <a:rPr lang="ru-RU" dirty="0"/>
              <a:t>Появление человека</a:t>
            </a:r>
          </a:p>
        </p:txBody>
      </p:sp>
      <p:sp>
        <p:nvSpPr>
          <p:cNvPr id="3" name="Объект 2">
            <a:extLst>
              <a:ext uri="{FF2B5EF4-FFF2-40B4-BE49-F238E27FC236}">
                <a16:creationId xmlns:a16="http://schemas.microsoft.com/office/drawing/2014/main" id="{DC9A44A5-D867-48DA-80B5-D412635D114F}"/>
              </a:ext>
            </a:extLst>
          </p:cNvPr>
          <p:cNvSpPr>
            <a:spLocks noGrp="1"/>
          </p:cNvSpPr>
          <p:nvPr>
            <p:ph idx="1"/>
          </p:nvPr>
        </p:nvSpPr>
        <p:spPr/>
        <p:txBody>
          <a:bodyPr/>
          <a:lstStyle/>
          <a:p>
            <a:r>
              <a:rPr lang="ru-RU" dirty="0"/>
              <a:t>Серьезной проблемой антропологии является </a:t>
            </a:r>
            <a:r>
              <a:rPr lang="ru-RU" b="1" dirty="0"/>
              <a:t>антропогенез</a:t>
            </a:r>
            <a:r>
              <a:rPr lang="ru-RU" dirty="0"/>
              <a:t> – процесс происхождения человека и человеческого рода. </a:t>
            </a:r>
          </a:p>
          <a:p>
            <a:r>
              <a:rPr lang="ru-RU" b="1" dirty="0" err="1"/>
              <a:t>Социогенез</a:t>
            </a:r>
            <a:r>
              <a:rPr lang="ru-RU" dirty="0"/>
              <a:t> – процесс формирования человеческого общества. </a:t>
            </a:r>
          </a:p>
          <a:p>
            <a:r>
              <a:rPr lang="ru-RU" dirty="0"/>
              <a:t>Поскольку эти процессы шли параллельно и неразрывно друг от друга, то можно говорить о едином процессе </a:t>
            </a:r>
            <a:r>
              <a:rPr lang="ru-RU" b="1" dirty="0" err="1"/>
              <a:t>антропосоциогенеза</a:t>
            </a:r>
            <a:r>
              <a:rPr lang="ru-RU" dirty="0"/>
              <a:t>.</a:t>
            </a:r>
          </a:p>
        </p:txBody>
      </p:sp>
    </p:spTree>
    <p:extLst>
      <p:ext uri="{BB962C8B-B14F-4D97-AF65-F5344CB8AC3E}">
        <p14:creationId xmlns:p14="http://schemas.microsoft.com/office/powerpoint/2010/main" val="3546923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1E98B5-2075-4976-B11D-8548F4B7BFFF}"/>
              </a:ext>
            </a:extLst>
          </p:cNvPr>
          <p:cNvSpPr>
            <a:spLocks noGrp="1"/>
          </p:cNvSpPr>
          <p:nvPr>
            <p:ph type="title"/>
          </p:nvPr>
        </p:nvSpPr>
        <p:spPr>
          <a:xfrm>
            <a:off x="1371600" y="685800"/>
            <a:ext cx="9601200" cy="733425"/>
          </a:xfrm>
        </p:spPr>
        <p:txBody>
          <a:bodyPr>
            <a:normAutofit/>
          </a:bodyPr>
          <a:lstStyle/>
          <a:p>
            <a:r>
              <a:rPr lang="ru-RU" sz="3600" dirty="0"/>
              <a:t>Теории происхождения человека:</a:t>
            </a:r>
          </a:p>
        </p:txBody>
      </p:sp>
      <p:sp>
        <p:nvSpPr>
          <p:cNvPr id="3" name="Объект 2">
            <a:extLst>
              <a:ext uri="{FF2B5EF4-FFF2-40B4-BE49-F238E27FC236}">
                <a16:creationId xmlns:a16="http://schemas.microsoft.com/office/drawing/2014/main" id="{7C638906-4B47-47F5-962E-6E5098B6C2B8}"/>
              </a:ext>
            </a:extLst>
          </p:cNvPr>
          <p:cNvSpPr>
            <a:spLocks noGrp="1"/>
          </p:cNvSpPr>
          <p:nvPr>
            <p:ph idx="1"/>
          </p:nvPr>
        </p:nvSpPr>
        <p:spPr>
          <a:xfrm>
            <a:off x="1371600" y="1285875"/>
            <a:ext cx="10382250" cy="5419725"/>
          </a:xfrm>
        </p:spPr>
        <p:txBody>
          <a:bodyPr>
            <a:normAutofit fontScale="92500" lnSpcReduction="20000"/>
          </a:bodyPr>
          <a:lstStyle/>
          <a:p>
            <a:r>
              <a:rPr lang="ru-RU" b="1" dirty="0"/>
              <a:t>Теория теологическая или креационизм </a:t>
            </a:r>
            <a:r>
              <a:rPr lang="ru-RU" dirty="0"/>
              <a:t>(от англ. </a:t>
            </a:r>
            <a:r>
              <a:rPr lang="ru-RU" dirty="0" err="1"/>
              <a:t>creation</a:t>
            </a:r>
            <a:r>
              <a:rPr lang="ru-RU" dirty="0"/>
              <a:t> – создание, творение) утверждает, что человека сотворил Бог по своему образу и подобию. Согласно Библии и Корану, человек был создан под конец шестого дня Творения отдельно и после животных и является любимым творением Бога.</a:t>
            </a:r>
          </a:p>
          <a:p>
            <a:r>
              <a:rPr lang="ru-RU" b="1" dirty="0"/>
              <a:t>Материалистическая естественнонаучная теория</a:t>
            </a:r>
            <a:r>
              <a:rPr lang="ru-RU" dirty="0"/>
              <a:t> происхождения человека появилась в XIX в. стараниями английского естествоиспытателя Ч. Дарвина (1809 – 1882) и была дополнена немецким ученым и философом Ф. Энгельсом (1820 – 1895). Дарвин разработал эволюционную теорию всего живого на планете, т.е. постепенного развития живых организмов от простых примитивных форм к более сложным. Венцом эволюции, таким образом, является человек, непосредственным предком которого была человекообразная обезьяна. С помощью теории полового </a:t>
            </a:r>
            <a:r>
              <a:rPr lang="ru-RU" b="1" dirty="0"/>
              <a:t>отбора</a:t>
            </a:r>
            <a:r>
              <a:rPr lang="ru-RU" dirty="0"/>
              <a:t> Дарвин обосновал формирование физического облика человека. Взгляды Дарвина были дополнены Энгельсом, считавшего, что человека из обезьяны создал </a:t>
            </a:r>
            <a:r>
              <a:rPr lang="ru-RU" b="1" dirty="0"/>
              <a:t>труд</a:t>
            </a:r>
            <a:r>
              <a:rPr lang="ru-RU" dirty="0"/>
              <a:t>, т.е. сознательная целесообразная деятельность по преобразованию природы для удовлетворения своих потребностей. Предпосылкой успешной трудовой деятельности явилось прямохождение, позволившее освободить верхние конечности, а также развитые кисти рук.</a:t>
            </a:r>
          </a:p>
          <a:p>
            <a:r>
              <a:rPr lang="ru-RU" dirty="0"/>
              <a:t>Как альтернатива первым двум теориям в XX в. появилась </a:t>
            </a:r>
            <a:r>
              <a:rPr lang="ru-RU" b="1" dirty="0"/>
              <a:t>теория </a:t>
            </a:r>
            <a:r>
              <a:rPr lang="ru-RU" b="1" dirty="0" err="1"/>
              <a:t>палеовизита</a:t>
            </a:r>
            <a:r>
              <a:rPr lang="ru-RU" b="1" dirty="0"/>
              <a:t> </a:t>
            </a:r>
            <a:r>
              <a:rPr lang="ru-RU" dirty="0"/>
              <a:t>или </a:t>
            </a:r>
            <a:r>
              <a:rPr lang="ru-RU" b="1" dirty="0"/>
              <a:t>космическая</a:t>
            </a:r>
            <a:r>
              <a:rPr lang="ru-RU" dirty="0"/>
              <a:t>, согласно которой человек является результатом действий пришельцев из космоса, внеземного разума. Предки людей прилетели или были заброшены на Землю из космоса. Эта теория не может быть признана строго научной и относится к области паранауки.</a:t>
            </a:r>
          </a:p>
        </p:txBody>
      </p:sp>
    </p:spTree>
    <p:extLst>
      <p:ext uri="{BB962C8B-B14F-4D97-AF65-F5344CB8AC3E}">
        <p14:creationId xmlns:p14="http://schemas.microsoft.com/office/powerpoint/2010/main" val="2850438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AA7094-A61E-4F9D-99BA-F351138D3E5B}"/>
              </a:ext>
            </a:extLst>
          </p:cNvPr>
          <p:cNvSpPr>
            <a:spLocks noGrp="1"/>
          </p:cNvSpPr>
          <p:nvPr>
            <p:ph type="title"/>
          </p:nvPr>
        </p:nvSpPr>
        <p:spPr>
          <a:xfrm>
            <a:off x="1371600" y="95250"/>
            <a:ext cx="9601200" cy="1485900"/>
          </a:xfrm>
        </p:spPr>
        <p:txBody>
          <a:bodyPr>
            <a:noAutofit/>
          </a:bodyPr>
          <a:lstStyle/>
          <a:p>
            <a:r>
              <a:rPr lang="ru-RU" sz="2800" dirty="0"/>
              <a:t>Для характеристики человека как биосоциального существа принято использовать понятия человек, индивид, индивидуальность, личность.</a:t>
            </a:r>
          </a:p>
        </p:txBody>
      </p:sp>
      <p:sp>
        <p:nvSpPr>
          <p:cNvPr id="3" name="Объект 2">
            <a:extLst>
              <a:ext uri="{FF2B5EF4-FFF2-40B4-BE49-F238E27FC236}">
                <a16:creationId xmlns:a16="http://schemas.microsoft.com/office/drawing/2014/main" id="{0E6C6CBE-C2BC-455D-8111-C7798CE41287}"/>
              </a:ext>
            </a:extLst>
          </p:cNvPr>
          <p:cNvSpPr>
            <a:spLocks noGrp="1"/>
          </p:cNvSpPr>
          <p:nvPr>
            <p:ph idx="1"/>
          </p:nvPr>
        </p:nvSpPr>
        <p:spPr>
          <a:xfrm>
            <a:off x="1371600" y="1371600"/>
            <a:ext cx="9601200" cy="5324475"/>
          </a:xfrm>
        </p:spPr>
        <p:txBody>
          <a:bodyPr>
            <a:noAutofit/>
          </a:bodyPr>
          <a:lstStyle/>
          <a:p>
            <a:r>
              <a:rPr lang="ru-RU" sz="1600" b="1" dirty="0"/>
              <a:t>Человек</a:t>
            </a:r>
            <a:r>
              <a:rPr lang="ru-RU" sz="1600" dirty="0"/>
              <a:t> – наиболее обобщающее понятие, используемое для обозначения всеобщих, присущих всем людям качеств и способностей, отличающих их от животных.</a:t>
            </a:r>
          </a:p>
          <a:p>
            <a:r>
              <a:rPr lang="ru-RU" sz="1600" b="1" dirty="0"/>
              <a:t>Индивид (индивидуум) </a:t>
            </a:r>
            <a:r>
              <a:rPr lang="ru-RU" sz="1600" dirty="0"/>
              <a:t>– биологическая особь вида </a:t>
            </a:r>
            <a:r>
              <a:rPr lang="ru-RU" sz="1600" dirty="0" err="1"/>
              <a:t>HomoSapiens</a:t>
            </a:r>
            <a:r>
              <a:rPr lang="ru-RU" sz="1600" dirty="0"/>
              <a:t>, отдельный представитель человеческого рода. Понятие часто используется в значении «конкретный человек» без отличительных индивидуальных черт.</a:t>
            </a:r>
          </a:p>
          <a:p>
            <a:r>
              <a:rPr lang="ru-RU" sz="1600" b="1" dirty="0"/>
              <a:t>Индивидуальность </a:t>
            </a:r>
            <a:r>
              <a:rPr lang="ru-RU" sz="1600" dirty="0"/>
              <a:t>– особенность, неповторимое своеобразие отдельного человека. Выделяют индивидуальность: </a:t>
            </a:r>
          </a:p>
          <a:p>
            <a:pPr marL="457200" indent="-457200">
              <a:buAutoNum type="arabicPeriod"/>
            </a:pPr>
            <a:r>
              <a:rPr lang="ru-RU" sz="1600" u="sng" dirty="0"/>
              <a:t>биологическую</a:t>
            </a:r>
            <a:r>
              <a:rPr lang="ru-RU" sz="1600" dirty="0"/>
              <a:t> (физические параметры, цвет глаз, волос и т.д.); </a:t>
            </a:r>
          </a:p>
          <a:p>
            <a:pPr marL="457200" indent="-457200">
              <a:buAutoNum type="arabicPeriod"/>
            </a:pPr>
            <a:r>
              <a:rPr lang="ru-RU" sz="1600" u="sng" dirty="0"/>
              <a:t>психологическую</a:t>
            </a:r>
            <a:r>
              <a:rPr lang="ru-RU" sz="1600" dirty="0"/>
              <a:t> (у каждого человека свои особенности темперамента, который обусловлен биологически); </a:t>
            </a:r>
          </a:p>
          <a:p>
            <a:pPr marL="0" indent="0">
              <a:buNone/>
            </a:pPr>
            <a:r>
              <a:rPr lang="ru-RU" sz="1600" dirty="0"/>
              <a:t>3.      </a:t>
            </a:r>
            <a:r>
              <a:rPr lang="ru-RU" sz="1600" u="sng" dirty="0"/>
              <a:t>социальную</a:t>
            </a:r>
            <a:r>
              <a:rPr lang="ru-RU" sz="1600" dirty="0"/>
              <a:t> (место человека в социальной структуре общества, его социальный статус, отношение к собственности и т.д.).</a:t>
            </a:r>
          </a:p>
          <a:p>
            <a:r>
              <a:rPr lang="ru-RU" sz="1600" b="1" dirty="0"/>
              <a:t>Личность</a:t>
            </a:r>
            <a:r>
              <a:rPr lang="ru-RU" sz="1600" dirty="0"/>
              <a:t> – человек как субъект отношений и сознательной деятельности, совокупность целостных психических и культурно-исторических особенностей индивида, связанных с общественными качествами человека. Понятие социальное, характеризующее человека как общественное существо. </a:t>
            </a:r>
            <a:r>
              <a:rPr lang="ru-RU" sz="1600" b="1" dirty="0"/>
              <a:t>Личность характеризуется </a:t>
            </a:r>
            <a:r>
              <a:rPr lang="ru-RU" sz="1600" dirty="0"/>
              <a:t>такими параметрами, как </a:t>
            </a:r>
            <a:r>
              <a:rPr lang="ru-RU" sz="1600" u="sng" dirty="0"/>
              <a:t>направленность</a:t>
            </a:r>
            <a:r>
              <a:rPr lang="ru-RU" sz="1600" dirty="0"/>
              <a:t> (влечение, желание, стремление, идеал, ценности, установка, мировоззрение</a:t>
            </a:r>
            <a:r>
              <a:rPr lang="ru-RU" sz="1600" u="sng" dirty="0"/>
              <a:t>), социальные потребности</a:t>
            </a:r>
            <a:r>
              <a:rPr lang="ru-RU" sz="1600" dirty="0"/>
              <a:t>, </a:t>
            </a:r>
            <a:r>
              <a:rPr lang="ru-RU" sz="1600" u="sng" dirty="0"/>
              <a:t>социальный статус, социальная роль</a:t>
            </a:r>
            <a:r>
              <a:rPr lang="ru-RU" sz="1600" dirty="0"/>
              <a:t> и др.</a:t>
            </a:r>
          </a:p>
        </p:txBody>
      </p:sp>
    </p:spTree>
    <p:extLst>
      <p:ext uri="{BB962C8B-B14F-4D97-AF65-F5344CB8AC3E}">
        <p14:creationId xmlns:p14="http://schemas.microsoft.com/office/powerpoint/2010/main" val="930750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BCB6E54-D117-4EB2-979F-CD3843079975}"/>
              </a:ext>
            </a:extLst>
          </p:cNvPr>
          <p:cNvSpPr>
            <a:spLocks noGrp="1"/>
          </p:cNvSpPr>
          <p:nvPr>
            <p:ph type="title"/>
          </p:nvPr>
        </p:nvSpPr>
        <p:spPr/>
        <p:txBody>
          <a:bodyPr/>
          <a:lstStyle/>
          <a:p>
            <a:r>
              <a:rPr lang="ru-RU" dirty="0">
                <a:latin typeface="Calibri" panose="020F0502020204030204" pitchFamily="34" charset="0"/>
                <a:ea typeface="Calibri" panose="020F0502020204030204" pitchFamily="34" charset="0"/>
                <a:cs typeface="Times New Roman" panose="02020603050405020304" pitchFamily="18" charset="0"/>
              </a:rPr>
              <a:t>Задание</a:t>
            </a:r>
            <a:br>
              <a:rPr lang="ru-RU" dirty="0">
                <a:latin typeface="Calibri" panose="020F0502020204030204" pitchFamily="34" charset="0"/>
                <a:ea typeface="Calibri" panose="020F0502020204030204" pitchFamily="34" charset="0"/>
                <a:cs typeface="Times New Roman" panose="02020603050405020304" pitchFamily="18" charset="0"/>
              </a:rPr>
            </a:br>
            <a:endParaRPr lang="ru-RU" dirty="0"/>
          </a:p>
        </p:txBody>
      </p:sp>
      <p:sp>
        <p:nvSpPr>
          <p:cNvPr id="3" name="Объект 2">
            <a:extLst>
              <a:ext uri="{FF2B5EF4-FFF2-40B4-BE49-F238E27FC236}">
                <a16:creationId xmlns:a16="http://schemas.microsoft.com/office/drawing/2014/main" id="{46D0441B-231A-4AB8-8C3F-7E77C07AFEEE}"/>
              </a:ext>
            </a:extLst>
          </p:cNvPr>
          <p:cNvSpPr>
            <a:spLocks noGrp="1"/>
          </p:cNvSpPr>
          <p:nvPr>
            <p:ph idx="1"/>
          </p:nvPr>
        </p:nvSpPr>
        <p:spPr/>
        <p:txBody>
          <a:bodyPr>
            <a:normAutofit/>
          </a:bodyPr>
          <a:lstStyle/>
          <a:p>
            <a:pPr indent="450215" algn="just">
              <a:lnSpc>
                <a:spcPct val="150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1. Как в тексте раскрывается понятие личности человека? Чем личность отличается от индивида?</a:t>
            </a:r>
          </a:p>
          <a:p>
            <a:pPr indent="450215" algn="just">
              <a:lnSpc>
                <a:spcPct val="150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2. Каковы предпосылки самореализации личности в обществе? </a:t>
            </a:r>
          </a:p>
          <a:p>
            <a:pPr indent="450215" algn="just">
              <a:lnSpc>
                <a:spcPct val="150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3. Приведите по два примера, иллюстрирующих влияние общества на деятельность (изменение деятельности) человека на любой фазе его жизненного пути человека.</a:t>
            </a:r>
          </a:p>
          <a:p>
            <a:pPr indent="450215" algn="just">
              <a:lnSpc>
                <a:spcPct val="150000"/>
              </a:lnSpc>
              <a:spcAft>
                <a:spcPts val="800"/>
              </a:spcAft>
            </a:pPr>
            <a:r>
              <a:rPr lang="ru-RU" sz="1800" dirty="0">
                <a:effectLst/>
                <a:latin typeface="Calibri" panose="020F0502020204030204" pitchFamily="34" charset="0"/>
                <a:ea typeface="Calibri" panose="020F0502020204030204" pitchFamily="34" charset="0"/>
                <a:cs typeface="Times New Roman" panose="02020603050405020304" pitchFamily="18" charset="0"/>
              </a:rPr>
              <a:t>4. Приведите 3 примера успешной самореализации человека в обществе.</a:t>
            </a:r>
          </a:p>
          <a:p>
            <a:endParaRPr lang="ru-RU" dirty="0"/>
          </a:p>
        </p:txBody>
      </p:sp>
    </p:spTree>
    <p:extLst>
      <p:ext uri="{BB962C8B-B14F-4D97-AF65-F5344CB8AC3E}">
        <p14:creationId xmlns:p14="http://schemas.microsoft.com/office/powerpoint/2010/main" val="1052936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BB9938B-BAA1-42D1-89C7-B9B533744174}"/>
              </a:ext>
            </a:extLst>
          </p:cNvPr>
          <p:cNvSpPr>
            <a:spLocks noGrp="1"/>
          </p:cNvSpPr>
          <p:nvPr>
            <p:ph idx="1"/>
          </p:nvPr>
        </p:nvSpPr>
        <p:spPr>
          <a:xfrm>
            <a:off x="962025" y="247650"/>
            <a:ext cx="10944225" cy="5619750"/>
          </a:xfrm>
        </p:spPr>
        <p:txBody>
          <a:bodyPr>
            <a:noAutofit/>
          </a:bodyPr>
          <a:lstStyle/>
          <a:p>
            <a:pPr marL="0" indent="457200" algn="just" fontAlgn="t">
              <a:lnSpc>
                <a:spcPct val="100000"/>
              </a:lnSpc>
              <a:spcBef>
                <a:spcPts val="0"/>
              </a:spcBef>
              <a:spcAft>
                <a:spcPts val="0"/>
              </a:spcAft>
              <a:buNone/>
            </a:pPr>
            <a:r>
              <a:rPr lang="ru-RU" sz="1300" dirty="0">
                <a:solidFill>
                  <a:srgbClr val="000000"/>
                </a:solidFill>
                <a:effectLst/>
                <a:latin typeface="Arial" panose="020B0604020202020204" pitchFamily="34" charset="0"/>
                <a:ea typeface="Times New Roman" panose="02020603050405020304" pitchFamily="18" charset="0"/>
              </a:rPr>
              <a:t>А. Н. Леонтьев в своем труде «Деятельность. Сознание. Личность» рассуждает над определением термина «личность». Согласно его изложению, чтобы называться личностью, ее (личность) нужно сначала сформировать.</a:t>
            </a:r>
            <a:endParaRPr lang="ru-RU" sz="1300" dirty="0">
              <a:effectLst/>
              <a:latin typeface="Times New Roman" panose="02020603050405020304" pitchFamily="18" charset="0"/>
              <a:ea typeface="Times New Roman" panose="02020603050405020304" pitchFamily="18" charset="0"/>
            </a:endParaRPr>
          </a:p>
          <a:p>
            <a:pPr marL="0" indent="457200" algn="just" fontAlgn="t">
              <a:lnSpc>
                <a:spcPct val="100000"/>
              </a:lnSpc>
              <a:spcBef>
                <a:spcPts val="0"/>
              </a:spcBef>
              <a:spcAft>
                <a:spcPts val="0"/>
              </a:spcAft>
              <a:buNone/>
            </a:pPr>
            <a:r>
              <a:rPr lang="ru-RU" sz="1300" dirty="0">
                <a:solidFill>
                  <a:srgbClr val="000000"/>
                </a:solidFill>
                <a:effectLst/>
                <a:latin typeface="Arial" panose="020B0604020202020204" pitchFamily="34" charset="0"/>
                <a:ea typeface="Times New Roman" panose="02020603050405020304" pitchFamily="18" charset="0"/>
              </a:rPr>
              <a:t>«Человек как природное существо есть индивид, обладающий той или иной физической конституцией, типом нервной системы, темпераментом... и многими другими чертами, которые в ходе онтогенетического развития... многообразно меняются. Однако не изменения этих врожденных свойств человека порождают его личность. Личность есть специальное человеческое образование, которое так же не может быть выведено из его приспособительной деятельности, как не могут быть выведены из нее его сознание или его человеческие потребности. Как и сознание человека, как и его потребности, личность человека тоже „производится" — создается общественными отношениями, в которые индивид вступает в своей деятельности». Как следствие, под влиянием общественных отношений некоторые особенности индивида приобретают новые свойства, трансформируются, что способствует формированию личности.</a:t>
            </a:r>
            <a:endParaRPr lang="ru-RU" sz="1300" dirty="0">
              <a:effectLst/>
              <a:latin typeface="Times New Roman" panose="02020603050405020304" pitchFamily="18" charset="0"/>
              <a:ea typeface="Times New Roman" panose="02020603050405020304" pitchFamily="18" charset="0"/>
            </a:endParaRPr>
          </a:p>
          <a:p>
            <a:pPr marL="0" indent="457200" algn="just" fontAlgn="t">
              <a:lnSpc>
                <a:spcPct val="100000"/>
              </a:lnSpc>
              <a:spcBef>
                <a:spcPts val="0"/>
              </a:spcBef>
              <a:spcAft>
                <a:spcPts val="0"/>
              </a:spcAft>
              <a:buNone/>
            </a:pPr>
            <a:r>
              <a:rPr lang="ru-RU" sz="1300" dirty="0">
                <a:solidFill>
                  <a:srgbClr val="000000"/>
                </a:solidFill>
                <a:effectLst/>
                <a:latin typeface="Arial" panose="020B0604020202020204" pitchFamily="34" charset="0"/>
                <a:ea typeface="Times New Roman" panose="02020603050405020304" pitchFamily="18" charset="0"/>
              </a:rPr>
              <a:t>«Личность, как и индивид, есть продукт интеграции процессов, осуществляющих жизненные отношения субъекта. Существует, однако, фундаментальное отличие того особого образования, которое мы называем личностью. Оно определяется природой самих порождающих его отношений: это специфические для человека общественные отношения, в которые он вступает в своей предметной деятельности. При всем многообразии ее видов и форм, все они характеризуются общностью своего внутреннего строения и предполагают сознательное их регулирование, т. е. наличие сознания, а на известных этапах развития также и самосознания субъекта». Таким образом, существует целый комплекс качеств, отличающих индивида от личности. Личность у А. Н. Леонтьева во многом определяется общественными отношениями. Общество порождает личность, и в нем формируются понятия, побуждающие индивида выдвигать цели и разрабатывать стратегии их достижения. Общество направляет процесс развития личности, вне общества индивид не будет испытывать потребности самореализации.</a:t>
            </a:r>
            <a:endParaRPr lang="ru-RU" sz="1300" dirty="0">
              <a:effectLst/>
              <a:latin typeface="Times New Roman" panose="02020603050405020304" pitchFamily="18" charset="0"/>
              <a:ea typeface="Times New Roman" panose="02020603050405020304" pitchFamily="18" charset="0"/>
            </a:endParaRPr>
          </a:p>
          <a:p>
            <a:pPr marL="0" indent="457200" algn="just" fontAlgn="t">
              <a:lnSpc>
                <a:spcPct val="100000"/>
              </a:lnSpc>
              <a:spcBef>
                <a:spcPts val="0"/>
              </a:spcBef>
              <a:spcAft>
                <a:spcPts val="0"/>
              </a:spcAft>
              <a:buNone/>
            </a:pPr>
            <a:r>
              <a:rPr lang="ru-RU" sz="1300" dirty="0">
                <a:solidFill>
                  <a:srgbClr val="000000"/>
                </a:solidFill>
                <a:effectLst/>
                <a:latin typeface="Arial" panose="020B0604020202020204" pitchFamily="34" charset="0"/>
                <a:ea typeface="Times New Roman" panose="02020603050405020304" pitchFamily="18" charset="0"/>
              </a:rPr>
              <a:t>Идею общества как естественного неотъемлемого условия для развития и становления личности рассматривает также М. Калужский: «Появление у человека сознания добавило еще одно условие комфортности существования — самореализацию человека в обществе и за счет общества. Это означает выделение из общества, обособление от него и закрепление преимуществ перед обществом. Нельзя самореализовываться внутри себя».</a:t>
            </a:r>
            <a:endParaRPr lang="ru-RU" sz="1300" dirty="0">
              <a:effectLst/>
              <a:latin typeface="Times New Roman" panose="02020603050405020304" pitchFamily="18" charset="0"/>
              <a:ea typeface="Times New Roman" panose="02020603050405020304" pitchFamily="18" charset="0"/>
            </a:endParaRPr>
          </a:p>
          <a:p>
            <a:pPr marL="0" indent="457200" algn="just" fontAlgn="t">
              <a:lnSpc>
                <a:spcPct val="100000"/>
              </a:lnSpc>
              <a:spcBef>
                <a:spcPts val="0"/>
              </a:spcBef>
              <a:spcAft>
                <a:spcPts val="0"/>
              </a:spcAft>
              <a:buNone/>
            </a:pPr>
            <a:r>
              <a:rPr lang="ru-RU" sz="1300" dirty="0">
                <a:solidFill>
                  <a:srgbClr val="000000"/>
                </a:solidFill>
                <a:effectLst/>
                <a:latin typeface="Arial" panose="020B0604020202020204" pitchFamily="34" charset="0"/>
                <a:ea typeface="Times New Roman" panose="02020603050405020304" pitchFamily="18" charset="0"/>
              </a:rPr>
              <a:t>В то же время, говоря о развитии общества, М. Калужский утверждает, что невозможна самореализация всех и сразу. «Если читать, писать и показывать фокусы умеют только избранные, они становятся жрецами как в Древнем Египте.</a:t>
            </a:r>
            <a:endParaRPr lang="ru-RU" sz="1300" dirty="0">
              <a:effectLst/>
              <a:latin typeface="Times New Roman" panose="02020603050405020304" pitchFamily="18" charset="0"/>
              <a:ea typeface="Times New Roman" panose="02020603050405020304" pitchFamily="18" charset="0"/>
            </a:endParaRPr>
          </a:p>
          <a:p>
            <a:pPr marL="0" indent="457200" algn="just" fontAlgn="t">
              <a:lnSpc>
                <a:spcPct val="100000"/>
              </a:lnSpc>
              <a:spcBef>
                <a:spcPts val="0"/>
              </a:spcBef>
              <a:spcAft>
                <a:spcPts val="0"/>
              </a:spcAft>
              <a:buNone/>
            </a:pPr>
            <a:r>
              <a:rPr lang="ru-RU" sz="1300" dirty="0">
                <a:solidFill>
                  <a:srgbClr val="000000"/>
                </a:solidFill>
                <a:effectLst/>
                <a:latin typeface="Arial" panose="020B0604020202020204" pitchFamily="34" charset="0"/>
                <a:ea typeface="Times New Roman" panose="02020603050405020304" pitchFamily="18" charset="0"/>
              </a:rPr>
              <a:t>Если это умеет каждый, то все описанные навыки не могут стать основанием для индивидуальной самореализации. Поэтому в собственных же интересах каждый самореализовавшийся индивид стремится закрепить свою уникальность и обезопасить себя от конкурентов».</a:t>
            </a:r>
            <a:endParaRPr lang="ru-RU" sz="1300" dirty="0">
              <a:effectLst/>
              <a:latin typeface="Times New Roman" panose="02020603050405020304" pitchFamily="18" charset="0"/>
              <a:ea typeface="Times New Roman" panose="02020603050405020304" pitchFamily="18" charset="0"/>
            </a:endParaRPr>
          </a:p>
          <a:p>
            <a:pPr marL="0" indent="457200" algn="just" fontAlgn="t">
              <a:lnSpc>
                <a:spcPct val="100000"/>
              </a:lnSpc>
              <a:spcBef>
                <a:spcPts val="0"/>
              </a:spcBef>
              <a:spcAft>
                <a:spcPts val="0"/>
              </a:spcAft>
              <a:buNone/>
            </a:pPr>
            <a:r>
              <a:rPr lang="ru-RU" sz="1300" dirty="0">
                <a:solidFill>
                  <a:srgbClr val="000000"/>
                </a:solidFill>
                <a:effectLst/>
                <a:latin typeface="Arial" panose="020B0604020202020204" pitchFamily="34" charset="0"/>
                <a:ea typeface="Times New Roman" panose="02020603050405020304" pitchFamily="18" charset="0"/>
              </a:rPr>
              <a:t>Порождая личности, общество параллельно усложняет условия, при которых процесс становления и самореализации становится возможным. При этих условиях одни индивиды продолжают свой путь становления, самореализации, формирования своей личности, а другие индивиды так и остаются всего лишь индивидами. Таким образом, общество создает еще одно условие формирования личности, а именно конкурентоспособность.</a:t>
            </a:r>
            <a:endParaRPr lang="ru-RU" sz="1300" dirty="0">
              <a:effectLst/>
              <a:latin typeface="Times New Roman" panose="02020603050405020304" pitchFamily="18" charset="0"/>
              <a:ea typeface="Times New Roman" panose="02020603050405020304" pitchFamily="18" charset="0"/>
            </a:endParaRPr>
          </a:p>
          <a:p>
            <a:pPr marL="0" indent="457200" algn="just">
              <a:lnSpc>
                <a:spcPct val="100000"/>
              </a:lnSpc>
              <a:spcBef>
                <a:spcPts val="0"/>
              </a:spcBef>
              <a:spcAft>
                <a:spcPts val="0"/>
              </a:spcAft>
              <a:buNone/>
            </a:pPr>
            <a:endParaRPr lang="ru-RU" sz="1300" dirty="0"/>
          </a:p>
        </p:txBody>
      </p:sp>
    </p:spTree>
    <p:extLst>
      <p:ext uri="{BB962C8B-B14F-4D97-AF65-F5344CB8AC3E}">
        <p14:creationId xmlns:p14="http://schemas.microsoft.com/office/powerpoint/2010/main" val="2220757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ED9D1BC-6E1F-419B-B151-185D25AA9FF2}"/>
              </a:ext>
            </a:extLst>
          </p:cNvPr>
          <p:cNvSpPr>
            <a:spLocks noGrp="1"/>
          </p:cNvSpPr>
          <p:nvPr>
            <p:ph type="title"/>
          </p:nvPr>
        </p:nvSpPr>
        <p:spPr>
          <a:xfrm>
            <a:off x="1371600" y="685800"/>
            <a:ext cx="9601200" cy="638175"/>
          </a:xfrm>
        </p:spPr>
        <p:txBody>
          <a:bodyPr>
            <a:normAutofit fontScale="90000"/>
          </a:bodyPr>
          <a:lstStyle/>
          <a:p>
            <a:r>
              <a:rPr lang="ru-RU" dirty="0"/>
              <a:t>Потребности и интересы</a:t>
            </a:r>
          </a:p>
        </p:txBody>
      </p:sp>
      <p:sp>
        <p:nvSpPr>
          <p:cNvPr id="3" name="Объект 2">
            <a:extLst>
              <a:ext uri="{FF2B5EF4-FFF2-40B4-BE49-F238E27FC236}">
                <a16:creationId xmlns:a16="http://schemas.microsoft.com/office/drawing/2014/main" id="{14192859-BF6B-4D07-8379-88F814A6E6C0}"/>
              </a:ext>
            </a:extLst>
          </p:cNvPr>
          <p:cNvSpPr>
            <a:spLocks noGrp="1"/>
          </p:cNvSpPr>
          <p:nvPr>
            <p:ph idx="1"/>
          </p:nvPr>
        </p:nvSpPr>
        <p:spPr>
          <a:xfrm>
            <a:off x="1371600" y="1438275"/>
            <a:ext cx="9982200" cy="4429125"/>
          </a:xfrm>
        </p:spPr>
        <p:txBody>
          <a:bodyPr/>
          <a:lstStyle/>
          <a:p>
            <a:r>
              <a:rPr lang="ru-RU" dirty="0"/>
              <a:t>Потребность – испытываемая человеком нужда в чем-либо, что необходимо для поддержания его жизни и </a:t>
            </a:r>
            <a:r>
              <a:rPr lang="ru-RU" b="1" dirty="0"/>
              <a:t>последующего развития</a:t>
            </a:r>
            <a:r>
              <a:rPr lang="ru-RU" dirty="0"/>
              <a:t>.</a:t>
            </a:r>
          </a:p>
          <a:p>
            <a:r>
              <a:rPr lang="ru-RU" dirty="0"/>
              <a:t>Для обеспечения своего развития человек вынужден удовлетворять различные потребности.</a:t>
            </a:r>
          </a:p>
          <a:p>
            <a:r>
              <a:rPr lang="ru-RU" dirty="0"/>
              <a:t>Человеческие потребности различны и многообразны. </a:t>
            </a:r>
          </a:p>
          <a:p>
            <a:r>
              <a:rPr lang="ru-RU" dirty="0"/>
              <a:t>Существует несколько классификаций потребностей. В частности, можно выделить потребности низшие (первичные), которые обусловлены биологической природой человека и высшие (вторичные), являющиеся сугубо «человеческими» и обусловленные его социальными качествами. Наиболее подробная классификация человеческих потребностей была разработана американским психологом А. Маслоу в рамках теории иерархии потребностей А. Маслоу предположил, что удовлетворение низших потребностей является необходимой предпосылкой для перехода к удовлетворению более высоких потребностей. </a:t>
            </a:r>
          </a:p>
        </p:txBody>
      </p:sp>
    </p:spTree>
    <p:extLst>
      <p:ext uri="{BB962C8B-B14F-4D97-AF65-F5344CB8AC3E}">
        <p14:creationId xmlns:p14="http://schemas.microsoft.com/office/powerpoint/2010/main" val="2320665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644544-20CE-4E0D-B49B-A2AF6AA35356}"/>
              </a:ext>
            </a:extLst>
          </p:cNvPr>
          <p:cNvSpPr>
            <a:spLocks noGrp="1"/>
          </p:cNvSpPr>
          <p:nvPr>
            <p:ph type="title"/>
          </p:nvPr>
        </p:nvSpPr>
        <p:spPr/>
        <p:txBody>
          <a:bodyPr/>
          <a:lstStyle/>
          <a:p>
            <a:endParaRPr lang="ru-RU"/>
          </a:p>
        </p:txBody>
      </p:sp>
      <p:pic>
        <p:nvPicPr>
          <p:cNvPr id="1026" name="Picture 2">
            <a:extLst>
              <a:ext uri="{FF2B5EF4-FFF2-40B4-BE49-F238E27FC236}">
                <a16:creationId xmlns:a16="http://schemas.microsoft.com/office/drawing/2014/main" id="{290B3832-CB40-43A4-B318-2DA1C6DA324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95437" y="-7145"/>
            <a:ext cx="9153526" cy="6865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2563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3EA00C-1061-4981-A678-9E797CCB7497}"/>
              </a:ext>
            </a:extLst>
          </p:cNvPr>
          <p:cNvSpPr>
            <a:spLocks noGrp="1"/>
          </p:cNvSpPr>
          <p:nvPr>
            <p:ph type="title"/>
          </p:nvPr>
        </p:nvSpPr>
        <p:spPr>
          <a:xfrm>
            <a:off x="1371600" y="200025"/>
            <a:ext cx="9601200" cy="657225"/>
          </a:xfrm>
        </p:spPr>
        <p:txBody>
          <a:bodyPr>
            <a:normAutofit fontScale="90000"/>
          </a:bodyPr>
          <a:lstStyle/>
          <a:p>
            <a:r>
              <a:rPr lang="ru-RU" dirty="0">
                <a:solidFill>
                  <a:srgbClr val="202122"/>
                </a:solidFill>
                <a:latin typeface="Arial" panose="020B0604020202020204" pitchFamily="34" charset="0"/>
              </a:rPr>
              <a:t>Существует множество классификаций потребностей, например:</a:t>
            </a:r>
            <a:br>
              <a:rPr lang="ru-RU" dirty="0">
                <a:solidFill>
                  <a:srgbClr val="202122"/>
                </a:solidFill>
                <a:latin typeface="Arial" panose="020B0604020202020204" pitchFamily="34" charset="0"/>
              </a:rPr>
            </a:br>
            <a:endParaRPr lang="ru-RU" dirty="0"/>
          </a:p>
        </p:txBody>
      </p:sp>
      <p:sp>
        <p:nvSpPr>
          <p:cNvPr id="3" name="Объект 2">
            <a:extLst>
              <a:ext uri="{FF2B5EF4-FFF2-40B4-BE49-F238E27FC236}">
                <a16:creationId xmlns:a16="http://schemas.microsoft.com/office/drawing/2014/main" id="{FA465A9C-1C25-4B03-B7A3-3C054A79D487}"/>
              </a:ext>
            </a:extLst>
          </p:cNvPr>
          <p:cNvSpPr>
            <a:spLocks noGrp="1"/>
          </p:cNvSpPr>
          <p:nvPr>
            <p:ph idx="1"/>
          </p:nvPr>
        </p:nvSpPr>
        <p:spPr>
          <a:xfrm>
            <a:off x="1295400" y="1371600"/>
            <a:ext cx="9601200" cy="3581400"/>
          </a:xfrm>
        </p:spPr>
        <p:txBody>
          <a:bodyPr>
            <a:noAutofit/>
          </a:bodyPr>
          <a:lstStyle/>
          <a:p>
            <a:pPr algn="l">
              <a:buFont typeface="Arial" panose="020B0604020202020204" pitchFamily="34" charset="0"/>
              <a:buChar char="•"/>
            </a:pPr>
            <a:r>
              <a:rPr lang="ru-RU" sz="1400" b="0" i="0" dirty="0">
                <a:solidFill>
                  <a:srgbClr val="202122"/>
                </a:solidFill>
                <a:effectLst/>
                <a:latin typeface="Arial" panose="020B0604020202020204" pitchFamily="34" charset="0"/>
              </a:rPr>
              <a:t>по сферам деятельности:</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потребности труда</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познания</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общения</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отдыха</a:t>
            </a:r>
          </a:p>
          <a:p>
            <a:pPr algn="l">
              <a:buFont typeface="Arial" panose="020B0604020202020204" pitchFamily="34" charset="0"/>
              <a:buChar char="•"/>
            </a:pPr>
            <a:r>
              <a:rPr lang="ru-RU" sz="1400" b="0" i="0" dirty="0">
                <a:solidFill>
                  <a:srgbClr val="202122"/>
                </a:solidFill>
                <a:effectLst/>
                <a:latin typeface="Arial" panose="020B0604020202020204" pitchFamily="34" charset="0"/>
              </a:rPr>
              <a:t>по объекту потребностей:</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материальные (потребность в каких-то предметах: деньги, машина, дом, лекарства, книги)</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биологические (потребности присущие человеку, как биологическому существу: вода, еда, воздух, отдых, сон)</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социальные (потребности в социуме: общение, труд, самореализация)</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духовные (потребности в развитии: получение знаний и умений, познание мира, самосовершенствование)</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этические</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эстетические и др.</a:t>
            </a:r>
          </a:p>
          <a:p>
            <a:pPr algn="l">
              <a:buFont typeface="Arial" panose="020B0604020202020204" pitchFamily="34" charset="0"/>
              <a:buChar char="•"/>
            </a:pPr>
            <a:r>
              <a:rPr lang="ru-RU" sz="1400" b="0" i="0" dirty="0">
                <a:solidFill>
                  <a:srgbClr val="202122"/>
                </a:solidFill>
                <a:effectLst/>
                <a:latin typeface="Arial" panose="020B0604020202020204" pitchFamily="34" charset="0"/>
              </a:rPr>
              <a:t>по значимости:</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доминирующие/второстепенные</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центральные/периферические</a:t>
            </a:r>
          </a:p>
          <a:p>
            <a:pPr algn="l">
              <a:buFont typeface="Arial" panose="020B0604020202020204" pitchFamily="34" charset="0"/>
              <a:buChar char="•"/>
            </a:pPr>
            <a:r>
              <a:rPr lang="ru-RU" sz="1400" b="0" i="0" dirty="0">
                <a:solidFill>
                  <a:srgbClr val="202122"/>
                </a:solidFill>
                <a:effectLst/>
                <a:latin typeface="Arial" panose="020B0604020202020204" pitchFamily="34" charset="0"/>
              </a:rPr>
              <a:t>по временной устойчивости:</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устойчивые</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ситуативные</a:t>
            </a:r>
          </a:p>
          <a:p>
            <a:pPr algn="l">
              <a:buFont typeface="Arial" panose="020B0604020202020204" pitchFamily="34" charset="0"/>
              <a:buChar char="•"/>
            </a:pPr>
            <a:r>
              <a:rPr lang="ru-RU" sz="1400" b="0" i="0" dirty="0">
                <a:solidFill>
                  <a:srgbClr val="202122"/>
                </a:solidFill>
                <a:effectLst/>
                <a:latin typeface="Arial" panose="020B0604020202020204" pitchFamily="34" charset="0"/>
              </a:rPr>
              <a:t>по функциональной роли:</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естественные</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обусловленные культурой</a:t>
            </a:r>
          </a:p>
          <a:p>
            <a:pPr algn="l">
              <a:buFont typeface="Arial" panose="020B0604020202020204" pitchFamily="34" charset="0"/>
              <a:buChar char="•"/>
            </a:pPr>
            <a:r>
              <a:rPr lang="ru-RU" sz="1400" b="0" i="0" dirty="0">
                <a:solidFill>
                  <a:srgbClr val="202122"/>
                </a:solidFill>
                <a:effectLst/>
                <a:latin typeface="Arial" panose="020B0604020202020204" pitchFamily="34" charset="0"/>
              </a:rPr>
              <a:t>по субъекту потребностей:</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групповые</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индивидуальные</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коллективные</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общественные</a:t>
            </a:r>
          </a:p>
          <a:p>
            <a:endParaRPr lang="ru-RU" sz="1400" dirty="0"/>
          </a:p>
        </p:txBody>
      </p:sp>
    </p:spTree>
    <p:extLst>
      <p:ext uri="{BB962C8B-B14F-4D97-AF65-F5344CB8AC3E}">
        <p14:creationId xmlns:p14="http://schemas.microsoft.com/office/powerpoint/2010/main" val="1294821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969B3D2-65B7-4ED6-BE8B-282443FE39A5}"/>
              </a:ext>
            </a:extLst>
          </p:cNvPr>
          <p:cNvSpPr>
            <a:spLocks noGrp="1"/>
          </p:cNvSpPr>
          <p:nvPr>
            <p:ph idx="1"/>
          </p:nvPr>
        </p:nvSpPr>
        <p:spPr>
          <a:xfrm>
            <a:off x="1295400" y="542925"/>
            <a:ext cx="9601200" cy="3581400"/>
          </a:xfrm>
        </p:spPr>
        <p:txBody>
          <a:bodyPr/>
          <a:lstStyle/>
          <a:p>
            <a:pPr algn="l">
              <a:buFont typeface="Arial" panose="020B0604020202020204" pitchFamily="34" charset="0"/>
              <a:buChar char="•"/>
            </a:pPr>
            <a:r>
              <a:rPr lang="ru-RU" sz="1400" b="0" i="0" dirty="0">
                <a:solidFill>
                  <a:srgbClr val="202122"/>
                </a:solidFill>
                <a:effectLst/>
                <a:latin typeface="Arial" panose="020B0604020202020204" pitchFamily="34" charset="0"/>
              </a:rPr>
              <a:t>по временной устойчивости:</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устойчивые</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ситуативные</a:t>
            </a:r>
          </a:p>
          <a:p>
            <a:pPr algn="l">
              <a:buFont typeface="Arial" panose="020B0604020202020204" pitchFamily="34" charset="0"/>
              <a:buChar char="•"/>
            </a:pPr>
            <a:r>
              <a:rPr lang="ru-RU" sz="1400" b="0" i="0" dirty="0">
                <a:solidFill>
                  <a:srgbClr val="202122"/>
                </a:solidFill>
                <a:effectLst/>
                <a:latin typeface="Arial" panose="020B0604020202020204" pitchFamily="34" charset="0"/>
              </a:rPr>
              <a:t>по функциональной роли:</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естественные</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обусловленные культурой</a:t>
            </a:r>
          </a:p>
          <a:p>
            <a:pPr algn="l">
              <a:buFont typeface="Arial" panose="020B0604020202020204" pitchFamily="34" charset="0"/>
              <a:buChar char="•"/>
            </a:pPr>
            <a:r>
              <a:rPr lang="ru-RU" sz="1400" b="0" i="0" dirty="0">
                <a:solidFill>
                  <a:srgbClr val="202122"/>
                </a:solidFill>
                <a:effectLst/>
                <a:latin typeface="Arial" panose="020B0604020202020204" pitchFamily="34" charset="0"/>
              </a:rPr>
              <a:t>по субъекту потребностей:</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групповые</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индивидуальные</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коллективные</a:t>
            </a:r>
          </a:p>
          <a:p>
            <a:pPr marL="742950" lvl="1" indent="-285750" algn="l">
              <a:buFont typeface="Arial" panose="020B0604020202020204" pitchFamily="34" charset="0"/>
              <a:buChar char="•"/>
            </a:pPr>
            <a:r>
              <a:rPr lang="ru-RU" sz="1400" b="0" i="0" dirty="0">
                <a:solidFill>
                  <a:srgbClr val="202122"/>
                </a:solidFill>
                <a:effectLst/>
                <a:latin typeface="Arial" panose="020B0604020202020204" pitchFamily="34" charset="0"/>
              </a:rPr>
              <a:t>общественные</a:t>
            </a:r>
          </a:p>
          <a:p>
            <a:endParaRPr lang="ru-RU" dirty="0"/>
          </a:p>
        </p:txBody>
      </p:sp>
    </p:spTree>
    <p:extLst>
      <p:ext uri="{BB962C8B-B14F-4D97-AF65-F5344CB8AC3E}">
        <p14:creationId xmlns:p14="http://schemas.microsoft.com/office/powerpoint/2010/main" val="531651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CA6EEC-47AF-4782-800F-30778D8F8A3B}"/>
              </a:ext>
            </a:extLst>
          </p:cNvPr>
          <p:cNvSpPr>
            <a:spLocks noGrp="1"/>
          </p:cNvSpPr>
          <p:nvPr>
            <p:ph type="title"/>
          </p:nvPr>
        </p:nvSpPr>
        <p:spPr>
          <a:xfrm>
            <a:off x="1371600" y="342900"/>
            <a:ext cx="9601200" cy="1123950"/>
          </a:xfrm>
        </p:spPr>
        <p:txBody>
          <a:bodyPr>
            <a:normAutofit/>
          </a:bodyPr>
          <a:lstStyle/>
          <a:p>
            <a:r>
              <a:rPr lang="ru-RU" sz="3600" dirty="0"/>
              <a:t>Потребности человека лежат в основе возникновения интересов и склонностей. </a:t>
            </a:r>
          </a:p>
        </p:txBody>
      </p:sp>
      <p:sp>
        <p:nvSpPr>
          <p:cNvPr id="3" name="Объект 2">
            <a:extLst>
              <a:ext uri="{FF2B5EF4-FFF2-40B4-BE49-F238E27FC236}">
                <a16:creationId xmlns:a16="http://schemas.microsoft.com/office/drawing/2014/main" id="{9A41A330-03B9-48BD-AD09-4059760779B3}"/>
              </a:ext>
            </a:extLst>
          </p:cNvPr>
          <p:cNvSpPr>
            <a:spLocks noGrp="1"/>
          </p:cNvSpPr>
          <p:nvPr>
            <p:ph idx="1"/>
          </p:nvPr>
        </p:nvSpPr>
        <p:spPr>
          <a:xfrm>
            <a:off x="1371599" y="1638300"/>
            <a:ext cx="10086975" cy="3581400"/>
          </a:xfrm>
        </p:spPr>
        <p:txBody>
          <a:bodyPr>
            <a:normAutofit/>
          </a:bodyPr>
          <a:lstStyle/>
          <a:p>
            <a:r>
              <a:rPr lang="ru-RU" b="1" dirty="0"/>
              <a:t>Интерес</a:t>
            </a:r>
            <a:r>
              <a:rPr lang="ru-RU" dirty="0"/>
              <a:t> – целенаправленное отношение человека к какому-либо объекту его потребности, </a:t>
            </a:r>
            <a:r>
              <a:rPr lang="ru-RU" b="1" dirty="0"/>
              <a:t>направленность</a:t>
            </a:r>
            <a:r>
              <a:rPr lang="ru-RU" dirty="0"/>
              <a:t> на определенный предмет. </a:t>
            </a:r>
          </a:p>
          <a:p>
            <a:r>
              <a:rPr lang="ru-RU" dirty="0"/>
              <a:t>Под </a:t>
            </a:r>
            <a:r>
              <a:rPr lang="ru-RU" b="1" dirty="0"/>
              <a:t>склонностью </a:t>
            </a:r>
            <a:r>
              <a:rPr lang="ru-RU" dirty="0"/>
              <a:t>следует понимать направленность на определенный вид деятельности. </a:t>
            </a:r>
          </a:p>
          <a:p>
            <a:r>
              <a:rPr lang="ru-RU" dirty="0"/>
              <a:t>Чем больше круг склонностей и интересов, тем богаче и многограннее личность. </a:t>
            </a:r>
          </a:p>
          <a:p>
            <a:r>
              <a:rPr lang="ru-RU" dirty="0"/>
              <a:t>Интересы человека могут быть индивидуальными, групповыми и общественными. В зависимости от направленности можно выделить интересы экономические, социальные, политические, духовные.</a:t>
            </a:r>
          </a:p>
        </p:txBody>
      </p:sp>
    </p:spTree>
    <p:extLst>
      <p:ext uri="{BB962C8B-B14F-4D97-AF65-F5344CB8AC3E}">
        <p14:creationId xmlns:p14="http://schemas.microsoft.com/office/powerpoint/2010/main" val="3795995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ABE834-EEB1-4544-A98F-B364F7346A55}"/>
              </a:ext>
            </a:extLst>
          </p:cNvPr>
          <p:cNvSpPr>
            <a:spLocks noGrp="1"/>
          </p:cNvSpPr>
          <p:nvPr>
            <p:ph type="title"/>
          </p:nvPr>
        </p:nvSpPr>
        <p:spPr/>
        <p:txBody>
          <a:bodyPr/>
          <a:lstStyle/>
          <a:p>
            <a:r>
              <a:rPr lang="ru-RU" dirty="0"/>
              <a:t>Способность</a:t>
            </a:r>
          </a:p>
        </p:txBody>
      </p:sp>
      <p:sp>
        <p:nvSpPr>
          <p:cNvPr id="3" name="Объект 2">
            <a:extLst>
              <a:ext uri="{FF2B5EF4-FFF2-40B4-BE49-F238E27FC236}">
                <a16:creationId xmlns:a16="http://schemas.microsoft.com/office/drawing/2014/main" id="{2E9A8451-5760-46E2-8E65-AE506231E5BD}"/>
              </a:ext>
            </a:extLst>
          </p:cNvPr>
          <p:cNvSpPr>
            <a:spLocks noGrp="1"/>
          </p:cNvSpPr>
          <p:nvPr>
            <p:ph idx="1"/>
          </p:nvPr>
        </p:nvSpPr>
        <p:spPr>
          <a:xfrm>
            <a:off x="1447800" y="1524000"/>
            <a:ext cx="9601200" cy="3581400"/>
          </a:xfrm>
        </p:spPr>
        <p:txBody>
          <a:bodyPr>
            <a:noAutofit/>
          </a:bodyPr>
          <a:lstStyle/>
          <a:p>
            <a:pPr algn="just"/>
            <a:r>
              <a:rPr lang="ru-RU" sz="1600" dirty="0"/>
              <a:t>Способность – индивидуально-психологические особенности личности, позволяющие человеку успешно заниматься какой-либо деятельностью. </a:t>
            </a:r>
          </a:p>
          <a:p>
            <a:pPr algn="just"/>
            <a:r>
              <a:rPr lang="ru-RU" sz="1600" dirty="0"/>
              <a:t>Выделяют </a:t>
            </a:r>
            <a:r>
              <a:rPr lang="ru-RU" sz="1600" b="1" dirty="0"/>
              <a:t>общие способности</a:t>
            </a:r>
            <a:r>
              <a:rPr lang="ru-RU" sz="1600" dirty="0"/>
              <a:t>, т.е. присущие всем людям (например, интеллектуальные способности, интеллект – совокупность умственных способностей) и </a:t>
            </a:r>
            <a:r>
              <a:rPr lang="ru-RU" sz="1600" b="1" dirty="0"/>
              <a:t>специальные</a:t>
            </a:r>
            <a:r>
              <a:rPr lang="ru-RU" sz="1600" dirty="0"/>
              <a:t>, которые могут быть не у всех людей и необходимы для специфических видов деятельности (например, музыкальный слух, повышенная физическая выносливость и т.д.).</a:t>
            </a:r>
          </a:p>
          <a:p>
            <a:pPr algn="just"/>
            <a:r>
              <a:rPr lang="ru-RU" sz="1600" dirty="0"/>
              <a:t>Способности человека не сводятся к знаниям, умениям и навыкам. Они проявляются в результатах деятельности и в том, насколько успешно человек осваивает ту или иную деятельность. </a:t>
            </a:r>
          </a:p>
          <a:p>
            <a:pPr algn="just"/>
            <a:r>
              <a:rPr lang="ru-RU" sz="1600" dirty="0"/>
              <a:t>В связи с этим можно выделить несколько уровней развития индивидуальных способностей:</a:t>
            </a:r>
          </a:p>
          <a:p>
            <a:pPr algn="just">
              <a:buFontTx/>
              <a:buChar char="-"/>
            </a:pPr>
            <a:r>
              <a:rPr lang="ru-RU" sz="1600" u="sng" dirty="0"/>
              <a:t>задатки</a:t>
            </a:r>
            <a:r>
              <a:rPr lang="ru-RU" sz="1600" dirty="0"/>
              <a:t> – врожденный природный фундамент способностей; если они есть, их надо развивать;</a:t>
            </a:r>
          </a:p>
          <a:p>
            <a:pPr algn="just">
              <a:buFontTx/>
              <a:buChar char="-"/>
            </a:pPr>
            <a:r>
              <a:rPr lang="ru-RU" sz="1600" u="sng" dirty="0"/>
              <a:t>одаренность</a:t>
            </a:r>
            <a:r>
              <a:rPr lang="ru-RU" sz="1600" dirty="0"/>
              <a:t> – наличие потенциально высоких способностей к чему-либо, склонность к той или иной деятельности;</a:t>
            </a:r>
          </a:p>
          <a:p>
            <a:pPr algn="just">
              <a:buFontTx/>
              <a:buChar char="-"/>
            </a:pPr>
            <a:r>
              <a:rPr lang="ru-RU" sz="1600" u="sng" dirty="0"/>
              <a:t>талант</a:t>
            </a:r>
            <a:r>
              <a:rPr lang="ru-RU" sz="1600" dirty="0"/>
              <a:t> – очень высокий уровень развития способностей, проявляющийся в результатах деятельности;</a:t>
            </a:r>
          </a:p>
          <a:p>
            <a:pPr algn="just">
              <a:buFontTx/>
              <a:buChar char="-"/>
            </a:pPr>
            <a:r>
              <a:rPr lang="ru-RU" sz="1600" u="sng" dirty="0"/>
              <a:t>гениальность</a:t>
            </a:r>
            <a:r>
              <a:rPr lang="ru-RU" sz="1600" dirty="0"/>
              <a:t> – высший уровень развития таланта, проявляющийся в творческой деятельности, результаты которой имеют непреходящее историческое значение для общества.</a:t>
            </a:r>
          </a:p>
        </p:txBody>
      </p:sp>
    </p:spTree>
    <p:extLst>
      <p:ext uri="{BB962C8B-B14F-4D97-AF65-F5344CB8AC3E}">
        <p14:creationId xmlns:p14="http://schemas.microsoft.com/office/powerpoint/2010/main" val="2504392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505C12-309C-4FB4-89DA-AB96B97002C9}"/>
              </a:ext>
            </a:extLst>
          </p:cNvPr>
          <p:cNvSpPr>
            <a:spLocks noGrp="1"/>
          </p:cNvSpPr>
          <p:nvPr>
            <p:ph type="title"/>
          </p:nvPr>
        </p:nvSpPr>
        <p:spPr/>
        <p:txBody>
          <a:bodyPr/>
          <a:lstStyle/>
          <a:p>
            <a:r>
              <a:rPr lang="ru-RU" dirty="0"/>
              <a:t>Задание</a:t>
            </a:r>
          </a:p>
        </p:txBody>
      </p:sp>
      <p:sp>
        <p:nvSpPr>
          <p:cNvPr id="3" name="Объект 2">
            <a:extLst>
              <a:ext uri="{FF2B5EF4-FFF2-40B4-BE49-F238E27FC236}">
                <a16:creationId xmlns:a16="http://schemas.microsoft.com/office/drawing/2014/main" id="{57606E05-F5F4-4561-B9E4-DA2670C34113}"/>
              </a:ext>
            </a:extLst>
          </p:cNvPr>
          <p:cNvSpPr>
            <a:spLocks noGrp="1"/>
          </p:cNvSpPr>
          <p:nvPr>
            <p:ph idx="1"/>
          </p:nvPr>
        </p:nvSpPr>
        <p:spPr/>
        <p:txBody>
          <a:bodyPr>
            <a:normAutofit/>
          </a:bodyPr>
          <a:lstStyle/>
          <a:p>
            <a:r>
              <a:rPr lang="ru-RU" sz="2800" dirty="0"/>
              <a:t>Написать эссе о себе как о личности, своей самореализации, в каких социальных условиях она происходит. Описать свои общие и уникальные способности, степень их развития сейчас и перспективы.</a:t>
            </a:r>
          </a:p>
          <a:p>
            <a:r>
              <a:rPr lang="ru-RU" sz="2800" dirty="0"/>
              <a:t>+ СМ. </a:t>
            </a:r>
            <a:r>
              <a:rPr lang="ru-RU" sz="2800"/>
              <a:t>ЗАДАНИЕ К ЛЕКЦИИ 1</a:t>
            </a:r>
            <a:endParaRPr lang="ru-RU" sz="2800" dirty="0"/>
          </a:p>
        </p:txBody>
      </p:sp>
    </p:spTree>
    <p:extLst>
      <p:ext uri="{BB962C8B-B14F-4D97-AF65-F5344CB8AC3E}">
        <p14:creationId xmlns:p14="http://schemas.microsoft.com/office/powerpoint/2010/main" val="1335344505"/>
      </p:ext>
    </p:extLst>
  </p:cSld>
  <p:clrMapOvr>
    <a:masterClrMapping/>
  </p:clrMapOvr>
</p:sld>
</file>

<file path=ppt/theme/theme1.xml><?xml version="1.0" encoding="utf-8"?>
<a:theme xmlns:a="http://schemas.openxmlformats.org/drawingml/2006/main" name="Уголки">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TM10001105[[fn=Уголки]]</Template>
  <TotalTime>205</TotalTime>
  <Words>2323</Words>
  <Application>Microsoft Office PowerPoint</Application>
  <PresentationFormat>Широкоэкранный</PresentationFormat>
  <Paragraphs>130</Paragraphs>
  <Slides>17</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17</vt:i4>
      </vt:variant>
    </vt:vector>
  </HeadingPairs>
  <TitlesOfParts>
    <vt:vector size="23" baseType="lpstr">
      <vt:lpstr>Arial</vt:lpstr>
      <vt:lpstr>Arial</vt:lpstr>
      <vt:lpstr>Calibri</vt:lpstr>
      <vt:lpstr>Franklin Gothic Book</vt:lpstr>
      <vt:lpstr>Times New Roman</vt:lpstr>
      <vt:lpstr>Уголки</vt:lpstr>
      <vt:lpstr>Природное и общественное в человеке.</vt:lpstr>
      <vt:lpstr>Науки изучающие человека</vt:lpstr>
      <vt:lpstr>Человек – это биосоциальное существо, являющееся высшей ступенью развития живых организмов на Земле.</vt:lpstr>
      <vt:lpstr>Основные отличия человека от животного</vt:lpstr>
      <vt:lpstr>Упражнение «Мой личный сплит» (разделение) </vt:lpstr>
      <vt:lpstr>Появление человека</vt:lpstr>
      <vt:lpstr>Теории происхождения человека:</vt:lpstr>
      <vt:lpstr>Для характеристики человека как биосоциального существа принято использовать понятия человек, индивид, индивидуальность, личность.</vt:lpstr>
      <vt:lpstr>Задание </vt:lpstr>
      <vt:lpstr>Презентация PowerPoint</vt:lpstr>
      <vt:lpstr>Потребности и интересы</vt:lpstr>
      <vt:lpstr>Презентация PowerPoint</vt:lpstr>
      <vt:lpstr>Существует множество классификаций потребностей, например: </vt:lpstr>
      <vt:lpstr>Презентация PowerPoint</vt:lpstr>
      <vt:lpstr>Потребности человека лежат в основе возникновения интересов и склонностей. </vt:lpstr>
      <vt:lpstr>Способность</vt:lpstr>
      <vt:lpstr>Задание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Природное и общественное в человеке.</dc:title>
  <dc:creator>Шумилова Полина Андреевна</dc:creator>
  <cp:lastModifiedBy>Полина Шумилова</cp:lastModifiedBy>
  <cp:revision>15</cp:revision>
  <dcterms:created xsi:type="dcterms:W3CDTF">2024-01-10T13:29:51Z</dcterms:created>
  <dcterms:modified xsi:type="dcterms:W3CDTF">2026-02-03T16:31:25Z</dcterms:modified>
</cp:coreProperties>
</file>