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50" d="100"/>
          <a:sy n="50" d="100"/>
        </p:scale>
        <p:origin x="36" y="17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2.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3/22/2025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3/22/2025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smtClean="0"/>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3/22/2025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3/22/2025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3/22/2025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ooks.econ.msu.ru/Demography/chap14/14.1/#fn1" TargetMode="External"/><Relationship Id="rId2" Type="http://schemas.openxmlformats.org/officeDocument/2006/relationships/hyperlink" Target="http://duma.gov.ru/news/50245/" TargetMode="External"/><Relationship Id="rId1" Type="http://schemas.openxmlformats.org/officeDocument/2006/relationships/slideLayout" Target="../slideLayouts/slideLayout2.xml"/><Relationship Id="rId4" Type="http://schemas.openxmlformats.org/officeDocument/2006/relationships/hyperlink" Target="https://books.econ.msu.ru/Demography/chap14/14.1/#fn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books.econ.msu.ru/Demography/chap14/14.4/#fn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ourworldindata.org/" TargetMode="External"/><Relationship Id="rId2" Type="http://schemas.openxmlformats.org/officeDocument/2006/relationships/hyperlink" Target="https://rosstat.gov.ru/folder/12781" TargetMode="External"/><Relationship Id="rId1" Type="http://schemas.openxmlformats.org/officeDocument/2006/relationships/slideLayout" Target="../slideLayouts/slideLayout2.xml"/><Relationship Id="rId5" Type="http://schemas.openxmlformats.org/officeDocument/2006/relationships/hyperlink" Target="https://data.worldbank.org/" TargetMode="External"/><Relationship Id="rId4" Type="http://schemas.openxmlformats.org/officeDocument/2006/relationships/hyperlink" Target="https://www.un.org/development/desa/pd/data/global-migration-databa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Миграция</a:t>
            </a:r>
            <a:endParaRPr lang="ru-RU" dirty="0"/>
          </a:p>
        </p:txBody>
      </p:sp>
      <p:sp>
        <p:nvSpPr>
          <p:cNvPr id="3" name="Подзаголовок 2"/>
          <p:cNvSpPr>
            <a:spLocks noGrp="1"/>
          </p:cNvSpPr>
          <p:nvPr>
            <p:ph type="subTitle" idx="1"/>
          </p:nvPr>
        </p:nvSpPr>
        <p:spPr/>
        <p:txBody>
          <a:bodyPr/>
          <a:lstStyle/>
          <a:p>
            <a:r>
              <a:rPr lang="ru-RU" dirty="0" smtClean="0"/>
              <a:t>Типология, статистика, интеграция</a:t>
            </a:r>
            <a:endParaRPr lang="ru-RU" dirty="0"/>
          </a:p>
        </p:txBody>
      </p:sp>
    </p:spTree>
    <p:extLst>
      <p:ext uri="{BB962C8B-B14F-4D97-AF65-F5344CB8AC3E}">
        <p14:creationId xmlns:p14="http://schemas.microsoft.com/office/powerpoint/2010/main" val="493149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r>
              <a:rPr lang="ru-RU" dirty="0" smtClean="0"/>
              <a:t>Определение</a:t>
            </a:r>
            <a:endParaRPr lang="ru-RU" dirty="0"/>
          </a:p>
        </p:txBody>
      </p:sp>
      <p:sp>
        <p:nvSpPr>
          <p:cNvPr id="5" name="Объект 4"/>
          <p:cNvSpPr>
            <a:spLocks noGrp="1"/>
          </p:cNvSpPr>
          <p:nvPr>
            <p:ph idx="1"/>
          </p:nvPr>
        </p:nvSpPr>
        <p:spPr/>
        <p:txBody>
          <a:bodyPr/>
          <a:lstStyle/>
          <a:p>
            <a:r>
              <a:rPr lang="ru-RU" dirty="0"/>
              <a:t>Под миграцией населения понимают перемещения населения через административные границы относительно мест жительства и приложения труда. В демографическом анализе как правило рассматриваются </a:t>
            </a:r>
            <a:r>
              <a:rPr lang="ru-RU" dirty="0" err="1"/>
              <a:t>межпоселенные</a:t>
            </a:r>
            <a:r>
              <a:rPr lang="ru-RU" dirty="0"/>
              <a:t> перемещения со сменой постоянного места жительства. В таком понимании миграция вносит вклад в демографическое развитие территорий как за счет увеличения или сокращения численности населения и изменения его структур, так и за счет влияния на показатели воспроизводства населения новых постоянных жителей страны.</a:t>
            </a:r>
            <a:endParaRPr lang="ru-RU" dirty="0"/>
          </a:p>
        </p:txBody>
      </p:sp>
    </p:spTree>
    <p:extLst>
      <p:ext uri="{BB962C8B-B14F-4D97-AF65-F5344CB8AC3E}">
        <p14:creationId xmlns:p14="http://schemas.microsoft.com/office/powerpoint/2010/main" val="3080839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599" y="264381"/>
            <a:ext cx="9601200" cy="665922"/>
          </a:xfrm>
        </p:spPr>
        <p:txBody>
          <a:bodyPr>
            <a:normAutofit fontScale="90000"/>
          </a:bodyPr>
          <a:lstStyle/>
          <a:p>
            <a:r>
              <a:rPr lang="ru-RU" dirty="0" smtClean="0"/>
              <a:t>Типы миграции</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2053946682"/>
              </p:ext>
            </p:extLst>
          </p:nvPr>
        </p:nvGraphicFramePr>
        <p:xfrm>
          <a:off x="747421" y="930303"/>
          <a:ext cx="11444578" cy="5716617"/>
        </p:xfrm>
        <a:graphic>
          <a:graphicData uri="http://schemas.openxmlformats.org/drawingml/2006/table">
            <a:tbl>
              <a:tblPr/>
              <a:tblGrid>
                <a:gridCol w="3227230">
                  <a:extLst>
                    <a:ext uri="{9D8B030D-6E8A-4147-A177-3AD203B41FA5}">
                      <a16:colId xmlns:a16="http://schemas.microsoft.com/office/drawing/2014/main" val="1765700295"/>
                    </a:ext>
                  </a:extLst>
                </a:gridCol>
                <a:gridCol w="3677429">
                  <a:extLst>
                    <a:ext uri="{9D8B030D-6E8A-4147-A177-3AD203B41FA5}">
                      <a16:colId xmlns:a16="http://schemas.microsoft.com/office/drawing/2014/main" val="196728566"/>
                    </a:ext>
                  </a:extLst>
                </a:gridCol>
                <a:gridCol w="4539919">
                  <a:extLst>
                    <a:ext uri="{9D8B030D-6E8A-4147-A177-3AD203B41FA5}">
                      <a16:colId xmlns:a16="http://schemas.microsoft.com/office/drawing/2014/main" val="2224447806"/>
                    </a:ext>
                  </a:extLst>
                </a:gridCol>
              </a:tblGrid>
              <a:tr h="232013">
                <a:tc>
                  <a:txBody>
                    <a:bodyPr/>
                    <a:lstStyle/>
                    <a:p>
                      <a:r>
                        <a:rPr lang="ru-RU" sz="1200" dirty="0">
                          <a:effectLst/>
                        </a:rPr>
                        <a:t>Критерий классификации</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dirty="0">
                          <a:effectLst/>
                        </a:rPr>
                        <a:t>Типы миграционного движения в соответствии с указанным критерием</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effectLst/>
                        </a:rPr>
                        <a:t>Примечания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2185225408"/>
                  </a:ext>
                </a:extLst>
              </a:tr>
              <a:tr h="649637">
                <a:tc>
                  <a:txBody>
                    <a:bodyPr/>
                    <a:lstStyle/>
                    <a:p>
                      <a:r>
                        <a:rPr lang="ru-RU" sz="1200" dirty="0">
                          <a:effectLst/>
                        </a:rPr>
                        <a:t>По виду пересекаемых границ</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1)Внутренняя</a:t>
                      </a:r>
                    </a:p>
                    <a:p>
                      <a:r>
                        <a:rPr lang="ru-RU" sz="1200">
                          <a:solidFill>
                            <a:srgbClr val="303031"/>
                          </a:solidFill>
                          <a:effectLst/>
                        </a:rPr>
                        <a:t>2)Международная</a:t>
                      </a:r>
                    </a:p>
                    <a:p>
                      <a:r>
                        <a:rPr lang="ru-RU" sz="1200">
                          <a:solidFill>
                            <a:srgbClr val="303031"/>
                          </a:solidFill>
                          <a:effectLst/>
                        </a:rPr>
                        <a:t>миграция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1)Внутренняя миграция происходит между населенными пунктами одного региона (области, края) или разных регионов страны</a:t>
                      </a:r>
                    </a:p>
                    <a:p>
                      <a:r>
                        <a:rPr lang="ru-RU" sz="1200">
                          <a:solidFill>
                            <a:srgbClr val="303031"/>
                          </a:solidFill>
                          <a:effectLst/>
                        </a:rPr>
                        <a:t>2) Въезд мигрантов в страну – иммиграция, выезд - эмиграция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1652192390"/>
                  </a:ext>
                </a:extLst>
              </a:tr>
              <a:tr h="649637">
                <a:tc>
                  <a:txBody>
                    <a:bodyPr/>
                    <a:lstStyle/>
                    <a:p>
                      <a:r>
                        <a:rPr lang="ru-RU" sz="1200">
                          <a:effectLst/>
                        </a:rPr>
                        <a:t>По времени пребывания в месте въезда (с учетом смены постоянного места жительства)</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1)На постоянное место жительства</a:t>
                      </a:r>
                    </a:p>
                    <a:p>
                      <a:r>
                        <a:rPr lang="ru-RU" sz="1200">
                          <a:solidFill>
                            <a:srgbClr val="303031"/>
                          </a:solidFill>
                          <a:effectLst/>
                        </a:rPr>
                        <a:t>2) Временная миграция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effectLst/>
                        </a:rPr>
                        <a:t>Еще различают безвозвратную и возвратную миграцию, краткосрочную и долгосрочную. Но факт смены постоянного места жительства наиболее важный критерий для демографических исследований</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1683715518"/>
                  </a:ext>
                </a:extLst>
              </a:tr>
              <a:tr h="301618">
                <a:tc>
                  <a:txBody>
                    <a:bodyPr/>
                    <a:lstStyle/>
                    <a:p>
                      <a:r>
                        <a:rPr lang="ru-RU" sz="1200" dirty="0">
                          <a:effectLst/>
                        </a:rPr>
                        <a:t>По форме организации миграции</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1)Организованные перемещения</a:t>
                      </a:r>
                    </a:p>
                    <a:p>
                      <a:r>
                        <a:rPr lang="ru-RU" sz="1200">
                          <a:solidFill>
                            <a:srgbClr val="303031"/>
                          </a:solidFill>
                          <a:effectLst/>
                        </a:rPr>
                        <a:t>2)Неорганизованные перемещения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effectLst/>
                        </a:rPr>
                        <a:t>Пример к типу 1: программа «</a:t>
                      </a:r>
                      <a:r>
                        <a:rPr lang="ru-RU" sz="1200">
                          <a:solidFill>
                            <a:srgbClr val="303031"/>
                          </a:solidFill>
                          <a:effectLst/>
                          <a:hlinkClick r:id="rId2"/>
                        </a:rPr>
                        <a:t>Дальневосточный гектар</a:t>
                      </a:r>
                      <a:r>
                        <a:rPr lang="ru-RU" sz="1200">
                          <a:effectLst/>
                        </a:rPr>
                        <a:t>» )</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3337208142"/>
                  </a:ext>
                </a:extLst>
              </a:tr>
              <a:tr h="1067262">
                <a:tc>
                  <a:txBody>
                    <a:bodyPr/>
                    <a:lstStyle/>
                    <a:p>
                      <a:r>
                        <a:rPr lang="ru-RU" sz="1200">
                          <a:effectLst/>
                        </a:rPr>
                        <a:t>По причинам переезда</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1)Экономическая (трудовая, бизнес)</a:t>
                      </a:r>
                    </a:p>
                    <a:p>
                      <a:r>
                        <a:rPr lang="ru-RU" sz="1200">
                          <a:solidFill>
                            <a:srgbClr val="303031"/>
                          </a:solidFill>
                          <a:effectLst/>
                        </a:rPr>
                        <a:t>2) Учебная</a:t>
                      </a:r>
                    </a:p>
                    <a:p>
                      <a:r>
                        <a:rPr lang="ru-RU" sz="1200">
                          <a:solidFill>
                            <a:srgbClr val="303031"/>
                          </a:solidFill>
                          <a:effectLst/>
                        </a:rPr>
                        <a:t>3) Семейная и брачная</a:t>
                      </a:r>
                    </a:p>
                    <a:p>
                      <a:r>
                        <a:rPr lang="ru-RU" sz="1200">
                          <a:solidFill>
                            <a:srgbClr val="303031"/>
                          </a:solidFill>
                          <a:effectLst/>
                        </a:rPr>
                        <a:t>4) Политическая</a:t>
                      </a:r>
                    </a:p>
                    <a:p>
                      <a:r>
                        <a:rPr lang="ru-RU" sz="1200">
                          <a:solidFill>
                            <a:srgbClr val="303031"/>
                          </a:solidFill>
                          <a:effectLst/>
                        </a:rPr>
                        <a:t>5) Гуманитарная</a:t>
                      </a:r>
                    </a:p>
                    <a:p>
                      <a:r>
                        <a:rPr lang="ru-RU" sz="1200">
                          <a:solidFill>
                            <a:srgbClr val="303031"/>
                          </a:solidFill>
                          <a:effectLst/>
                        </a:rPr>
                        <a:t>6) Экологическая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dirty="0">
                          <a:effectLst/>
                        </a:rPr>
                        <a:t>Часть причин связаны с добровольными перемещениями (например, 1, 2, 3), часть – с вынужденными (например, 5, 6). Вынужденные перемещения формируют разные группы мигрантов в зависимости от их статуса: беженцы, вынужденные переселенцы, лица, получившие убежище, лица, подавшие заявление (Женевская Конвенция 1951 г.)</a:t>
                      </a:r>
                      <a:r>
                        <a:rPr lang="ru-RU" sz="1200" baseline="30000" dirty="0">
                          <a:solidFill>
                            <a:srgbClr val="303031"/>
                          </a:solidFill>
                          <a:effectLst/>
                          <a:hlinkClick r:id="rId3"/>
                        </a:rPr>
                        <a:t>1</a:t>
                      </a:r>
                      <a:endParaRPr lang="ru-RU" sz="1200" dirty="0">
                        <a:effectLst/>
                      </a:endParaRP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3054891352"/>
                  </a:ext>
                </a:extLst>
              </a:tr>
              <a:tr h="788846">
                <a:tc>
                  <a:txBody>
                    <a:bodyPr/>
                    <a:lstStyle/>
                    <a:p>
                      <a:r>
                        <a:rPr lang="ru-RU" sz="1200">
                          <a:effectLst/>
                        </a:rPr>
                        <a:t>По видам краткосрочной экономической миграции</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1)Сезонная</a:t>
                      </a:r>
                    </a:p>
                    <a:p>
                      <a:r>
                        <a:rPr lang="ru-RU" sz="1200">
                          <a:solidFill>
                            <a:srgbClr val="303031"/>
                          </a:solidFill>
                          <a:effectLst/>
                        </a:rPr>
                        <a:t>2)Маятниковая</a:t>
                      </a:r>
                    </a:p>
                    <a:p>
                      <a:r>
                        <a:rPr lang="ru-RU" sz="1200">
                          <a:solidFill>
                            <a:srgbClr val="303031"/>
                          </a:solidFill>
                          <a:effectLst/>
                        </a:rPr>
                        <a:t>3)Эпизодическая (циркулярная)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1)Сезонная миграция может принимать вахтовые формы</a:t>
                      </a:r>
                    </a:p>
                    <a:p>
                      <a:r>
                        <a:rPr lang="ru-RU" sz="1200">
                          <a:solidFill>
                            <a:srgbClr val="303031"/>
                          </a:solidFill>
                          <a:effectLst/>
                        </a:rPr>
                        <a:t>2)Маятниковая миграция наблюдается в агломерациях, может принимать форму приграничной миграции</a:t>
                      </a:r>
                    </a:p>
                    <a:p>
                      <a:r>
                        <a:rPr lang="ru-RU" sz="1200">
                          <a:solidFill>
                            <a:srgbClr val="303031"/>
                          </a:solidFill>
                          <a:effectLst/>
                        </a:rPr>
                        <a:t>3) Эпизодическая (краткие командировки) и маятниковая миграции обычно не учитываются официальной статистикой</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3682504975"/>
                  </a:ext>
                </a:extLst>
              </a:tr>
              <a:tr h="371221">
                <a:tc>
                  <a:txBody>
                    <a:bodyPr/>
                    <a:lstStyle/>
                    <a:p>
                      <a:r>
                        <a:rPr lang="ru-RU" sz="1200">
                          <a:effectLst/>
                        </a:rPr>
                        <a:t>По юридической форме</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solidFill>
                            <a:srgbClr val="303031"/>
                          </a:solidFill>
                          <a:effectLst/>
                        </a:rPr>
                        <a:t>1)Легальная</a:t>
                      </a:r>
                    </a:p>
                    <a:p>
                      <a:r>
                        <a:rPr lang="ru-RU" sz="1200">
                          <a:solidFill>
                            <a:srgbClr val="303031"/>
                          </a:solidFill>
                          <a:effectLst/>
                        </a:rPr>
                        <a:t>2) Нелегальная</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sz="1200">
                          <a:effectLst/>
                        </a:rPr>
                        <a:t>Нелегальная миграция может выражаться в нелегальном пересечение границы, в просроченной регистрации, в нелегальной занятости</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3296340442"/>
                  </a:ext>
                </a:extLst>
              </a:tr>
              <a:tr h="440826">
                <a:tc>
                  <a:txBody>
                    <a:bodyPr/>
                    <a:lstStyle/>
                    <a:p>
                      <a:r>
                        <a:rPr lang="ru-RU" sz="1200">
                          <a:effectLst/>
                        </a:rPr>
                        <a:t>Специфические виды международной миграции</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FFFFF"/>
                    </a:solidFill>
                  </a:tcPr>
                </a:tc>
                <a:tc>
                  <a:txBody>
                    <a:bodyPr/>
                    <a:lstStyle/>
                    <a:p>
                      <a:r>
                        <a:rPr lang="ru-RU" sz="1200">
                          <a:solidFill>
                            <a:srgbClr val="303031"/>
                          </a:solidFill>
                          <a:effectLst/>
                        </a:rPr>
                        <a:t>1)Транзитная</a:t>
                      </a:r>
                    </a:p>
                    <a:p>
                      <a:r>
                        <a:rPr lang="ru-RU" sz="1200">
                          <a:solidFill>
                            <a:srgbClr val="303031"/>
                          </a:solidFill>
                          <a:effectLst/>
                        </a:rPr>
                        <a:t>2) Реэмиграция</a:t>
                      </a:r>
                    </a:p>
                    <a:p>
                      <a:r>
                        <a:rPr lang="ru-RU" sz="1200">
                          <a:solidFill>
                            <a:srgbClr val="303031"/>
                          </a:solidFill>
                          <a:effectLst/>
                        </a:rPr>
                        <a:t>3)Утечка умов (эмиграция квалифицированных кадров)</a:t>
                      </a:r>
                    </a:p>
                    <a:p>
                      <a:r>
                        <a:rPr lang="ru-RU" sz="1200">
                          <a:solidFill>
                            <a:srgbClr val="303031"/>
                          </a:solidFill>
                          <a:effectLst/>
                        </a:rPr>
                        <a:t>4) «Траффик» (торговля людьми)</a:t>
                      </a:r>
                      <a:r>
                        <a:rPr lang="ru-RU" sz="1200" baseline="30000">
                          <a:solidFill>
                            <a:srgbClr val="303031"/>
                          </a:solidFill>
                          <a:effectLst/>
                          <a:hlinkClick r:id="rId4"/>
                        </a:rPr>
                        <a:t>2</a:t>
                      </a:r>
                      <a:endParaRPr lang="ru-RU" sz="1200">
                        <a:solidFill>
                          <a:srgbClr val="303031"/>
                        </a:solidFill>
                        <a:effectLst/>
                      </a:endParaRP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FFFFF"/>
                    </a:solidFill>
                  </a:tcPr>
                </a:tc>
                <a:tc>
                  <a:txBody>
                    <a:bodyPr/>
                    <a:lstStyle/>
                    <a:p>
                      <a:r>
                        <a:rPr lang="ru-RU" sz="1200" dirty="0">
                          <a:effectLst/>
                        </a:rPr>
                        <a:t> </a:t>
                      </a:r>
                    </a:p>
                  </a:txBody>
                  <a:tcPr marL="18461" marR="18461" marT="9230" marB="9230"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FFFFF"/>
                    </a:solidFill>
                  </a:tcPr>
                </a:tc>
                <a:extLst>
                  <a:ext uri="{0D108BD9-81ED-4DB2-BD59-A6C34878D82A}">
                    <a16:rowId xmlns:a16="http://schemas.microsoft.com/office/drawing/2014/main" val="3049397091"/>
                  </a:ext>
                </a:extLst>
              </a:tr>
            </a:tbl>
          </a:graphicData>
        </a:graphic>
      </p:graphicFrame>
    </p:spTree>
    <p:extLst>
      <p:ext uri="{BB962C8B-B14F-4D97-AF65-F5344CB8AC3E}">
        <p14:creationId xmlns:p14="http://schemas.microsoft.com/office/powerpoint/2010/main" val="168560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Показатели миграции</a:t>
            </a:r>
            <a:br>
              <a:rPr lang="ru-RU" dirty="0"/>
            </a:br>
            <a:endParaRPr lang="ru-RU" dirty="0"/>
          </a:p>
        </p:txBody>
      </p:sp>
      <p:sp>
        <p:nvSpPr>
          <p:cNvPr id="3" name="Объект 2"/>
          <p:cNvSpPr>
            <a:spLocks noGrp="1"/>
          </p:cNvSpPr>
          <p:nvPr>
            <p:ph idx="1"/>
          </p:nvPr>
        </p:nvSpPr>
        <p:spPr/>
        <p:txBody>
          <a:bodyPr>
            <a:normAutofit fontScale="70000" lnSpcReduction="20000"/>
          </a:bodyPr>
          <a:lstStyle/>
          <a:p>
            <a:r>
              <a:rPr lang="ru-RU" dirty="0"/>
              <a:t> </a:t>
            </a:r>
          </a:p>
          <a:p>
            <a:r>
              <a:rPr lang="ru-RU" dirty="0"/>
              <a:t>Процесс миграции, по аналогии с процессами рождаемости и смертности, может характеризоваться разными показателями:</a:t>
            </a:r>
          </a:p>
          <a:p>
            <a:r>
              <a:rPr lang="ru-RU" dirty="0"/>
              <a:t>Для характеристики </a:t>
            </a:r>
            <a:r>
              <a:rPr lang="ru-RU" i="1" dirty="0"/>
              <a:t>миграционных потоков</a:t>
            </a:r>
            <a:r>
              <a:rPr lang="ru-RU" dirty="0"/>
              <a:t> используются как абсолютные, так и относительные показатели. К абсолютным показателям относятся:</a:t>
            </a:r>
          </a:p>
          <a:p>
            <a:r>
              <a:rPr lang="ru-RU" dirty="0"/>
              <a:t>I - численность прибывших на определенную территорию в течение некоторого периода времени (как правило, одного года);</a:t>
            </a:r>
          </a:p>
          <a:p>
            <a:r>
              <a:rPr lang="ru-RU" dirty="0"/>
              <a:t>E - численность выбывших за пределы территории в течение некоторого периода времени;</a:t>
            </a:r>
          </a:p>
          <a:p>
            <a:r>
              <a:rPr lang="ru-RU" dirty="0"/>
              <a:t>I−E - сальдо миграции (нетто-миграция, чистая миграция) – разница между числами прибывших и выбывших;</a:t>
            </a:r>
          </a:p>
          <a:p>
            <a:r>
              <a:rPr lang="ru-RU" dirty="0"/>
              <a:t>I+E - миграционный оборот (валовая миграция, брутто-миграция) – сумма чисел прибывших и выбывших мигрантов на данной территории.</a:t>
            </a:r>
          </a:p>
          <a:p>
            <a:r>
              <a:rPr lang="ru-RU" dirty="0"/>
              <a:t>Все эти показатели можно также рассматривать в возрастно-половом разрезе, по образованию, по региону выхода и т. п.</a:t>
            </a:r>
          </a:p>
          <a:p>
            <a:endParaRPr lang="ru-RU" dirty="0"/>
          </a:p>
        </p:txBody>
      </p:sp>
    </p:spTree>
    <p:extLst>
      <p:ext uri="{BB962C8B-B14F-4D97-AF65-F5344CB8AC3E}">
        <p14:creationId xmlns:p14="http://schemas.microsoft.com/office/powerpoint/2010/main" val="263798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Мобильный переход и другие концепции миграции</a:t>
            </a:r>
            <a:br>
              <a:rPr lang="ru-RU" dirty="0"/>
            </a:br>
            <a:endParaRPr lang="ru-RU" dirty="0"/>
          </a:p>
        </p:txBody>
      </p:sp>
      <p:pic>
        <p:nvPicPr>
          <p:cNvPr id="2055" name="Picture 7" descr="Куда и откуда мигрируют состоятельные люди в 2024 году"/>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36299" y="1083366"/>
            <a:ext cx="5953838" cy="3218290"/>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5936299" y="620404"/>
            <a:ext cx="1811714" cy="369332"/>
          </a:xfrm>
          <a:prstGeom prst="rect">
            <a:avLst/>
          </a:prstGeom>
        </p:spPr>
        <p:txBody>
          <a:bodyPr wrap="none">
            <a:spAutoFit/>
          </a:bodyPr>
          <a:lstStyle/>
          <a:p>
            <a:r>
              <a:rPr lang="ru-RU" dirty="0">
                <a:solidFill>
                  <a:srgbClr val="405363"/>
                </a:solidFill>
                <a:latin typeface="Garamond Regular"/>
              </a:rPr>
              <a:t>М</a:t>
            </a:r>
            <a:r>
              <a:rPr lang="ru-RU" dirty="0" smtClean="0">
                <a:solidFill>
                  <a:srgbClr val="405363"/>
                </a:solidFill>
                <a:latin typeface="Garamond Regular"/>
              </a:rPr>
              <a:t>играции 2024</a:t>
            </a:r>
            <a:endParaRPr lang="ru-RU" b="0" i="0" dirty="0">
              <a:solidFill>
                <a:srgbClr val="405363"/>
              </a:solidFill>
              <a:effectLst/>
              <a:latin typeface="Garamond Regular"/>
            </a:endParaRPr>
          </a:p>
        </p:txBody>
      </p:sp>
    </p:spTree>
    <p:extLst>
      <p:ext uri="{BB962C8B-B14F-4D97-AF65-F5344CB8AC3E}">
        <p14:creationId xmlns:p14="http://schemas.microsoft.com/office/powerpoint/2010/main" val="2974784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p:txBody>
          <a:bodyPr/>
          <a:lstStyle/>
          <a:p>
            <a:r>
              <a:rPr lang="en-US" dirty="0"/>
              <a:t>Top 10 Country Outflows</a:t>
            </a:r>
            <a:br>
              <a:rPr lang="en-US" dirty="0"/>
            </a:br>
            <a:endParaRPr lang="ru-RU" dirty="0"/>
          </a:p>
        </p:txBody>
      </p:sp>
      <p:sp>
        <p:nvSpPr>
          <p:cNvPr id="15" name="Rectangle 21"/>
          <p:cNvSpPr>
            <a:spLocks noChangeArrowheads="1"/>
          </p:cNvSpPr>
          <p:nvPr/>
        </p:nvSpPr>
        <p:spPr bwMode="auto">
          <a:xfrm>
            <a:off x="2911475" y="22431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smtClean="0">
                <a:ln>
                  <a:noFill/>
                </a:ln>
                <a:solidFill>
                  <a:schemeClr val="tx1"/>
                </a:solidFill>
                <a:effectLst/>
                <a:latin typeface="Arial" panose="020B0604020202020204" pitchFamily="34" charset="0"/>
              </a:rPr>
              <a:t/>
            </a:r>
            <a:br>
              <a:rPr kumimoji="0" lang="ru-RU" altLang="ru-RU" sz="1800" b="0" i="0" u="none" strike="noStrike" cap="none" normalizeH="0" baseline="0" smtClean="0">
                <a:ln>
                  <a:noFill/>
                </a:ln>
                <a:solidFill>
                  <a:schemeClr val="tx1"/>
                </a:solidFill>
                <a:effectLst/>
                <a:latin typeface="Arial" panose="020B0604020202020204" pitchFamily="34" charset="0"/>
              </a:rPr>
            </a:b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22" name="Объект 21"/>
          <p:cNvGraphicFramePr>
            <a:graphicFrameLocks noGrp="1"/>
          </p:cNvGraphicFramePr>
          <p:nvPr>
            <p:ph idx="1"/>
            <p:extLst>
              <p:ext uri="{D42A27DB-BD31-4B8C-83A1-F6EECF244321}">
                <p14:modId xmlns:p14="http://schemas.microsoft.com/office/powerpoint/2010/main" val="2427204245"/>
              </p:ext>
            </p:extLst>
          </p:nvPr>
        </p:nvGraphicFramePr>
        <p:xfrm>
          <a:off x="2218414" y="2014855"/>
          <a:ext cx="4940356" cy="3666240"/>
        </p:xfrm>
        <a:graphic>
          <a:graphicData uri="http://schemas.openxmlformats.org/drawingml/2006/table">
            <a:tbl>
              <a:tblPr/>
              <a:tblGrid>
                <a:gridCol w="2470178">
                  <a:extLst>
                    <a:ext uri="{9D8B030D-6E8A-4147-A177-3AD203B41FA5}">
                      <a16:colId xmlns:a16="http://schemas.microsoft.com/office/drawing/2014/main" val="812911482"/>
                    </a:ext>
                  </a:extLst>
                </a:gridCol>
                <a:gridCol w="2470178">
                  <a:extLst>
                    <a:ext uri="{9D8B030D-6E8A-4147-A177-3AD203B41FA5}">
                      <a16:colId xmlns:a16="http://schemas.microsoft.com/office/drawing/2014/main" val="3554708436"/>
                    </a:ext>
                  </a:extLst>
                </a:gridCol>
              </a:tblGrid>
              <a:tr h="214368">
                <a:tc>
                  <a:txBody>
                    <a:bodyPr/>
                    <a:lstStyle/>
                    <a:p>
                      <a:pPr algn="l"/>
                      <a:r>
                        <a:rPr lang="en-US" sz="900">
                          <a:effectLst/>
                        </a:rPr>
                        <a:t>China</a:t>
                      </a:r>
                    </a:p>
                  </a:txBody>
                  <a:tcPr marL="46152" marR="46152" marT="46152" marB="46152" anchor="ctr">
                    <a:lnL>
                      <a:noFill/>
                    </a:lnL>
                    <a:lnR w="9525" cap="flat" cmpd="sng" algn="ctr">
                      <a:solidFill>
                        <a:srgbClr val="C1C5C8"/>
                      </a:solidFill>
                      <a:prstDash val="solid"/>
                      <a:round/>
                      <a:headEnd type="none" w="med" len="med"/>
                      <a:tailEnd type="none" w="med" len="med"/>
                    </a:lnR>
                    <a:lnT>
                      <a:noFill/>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-15,200</a:t>
                      </a:r>
                    </a:p>
                  </a:txBody>
                  <a:tcPr marL="46152" marR="46152" marT="46152" marB="46152" anchor="ctr">
                    <a:lnL w="9525" cap="flat" cmpd="sng" algn="ctr">
                      <a:solidFill>
                        <a:srgbClr val="C1C5C8"/>
                      </a:solidFill>
                      <a:prstDash val="solid"/>
                      <a:round/>
                      <a:headEnd type="none" w="med" len="med"/>
                      <a:tailEnd type="none" w="med" len="med"/>
                    </a:lnL>
                    <a:lnR>
                      <a:noFill/>
                    </a:lnR>
                    <a:lnT>
                      <a:noFill/>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2724514042"/>
                  </a:ext>
                </a:extLst>
              </a:tr>
              <a:tr h="214368">
                <a:tc>
                  <a:txBody>
                    <a:bodyPr/>
                    <a:lstStyle/>
                    <a:p>
                      <a:pPr algn="l"/>
                      <a:r>
                        <a:rPr lang="en-US" sz="900">
                          <a:effectLst/>
                        </a:rPr>
                        <a:t>UK</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-9,500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3408830052"/>
                  </a:ext>
                </a:extLst>
              </a:tr>
              <a:tr h="214368">
                <a:tc>
                  <a:txBody>
                    <a:bodyPr/>
                    <a:lstStyle/>
                    <a:p>
                      <a:pPr algn="l"/>
                      <a:r>
                        <a:rPr lang="en-US" sz="900">
                          <a:effectLst/>
                        </a:rPr>
                        <a:t>India</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-4,300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3179141098"/>
                  </a:ext>
                </a:extLst>
              </a:tr>
              <a:tr h="214368">
                <a:tc>
                  <a:txBody>
                    <a:bodyPr/>
                    <a:lstStyle/>
                    <a:p>
                      <a:pPr algn="l"/>
                      <a:r>
                        <a:rPr lang="en-US" sz="900">
                          <a:effectLst/>
                        </a:rPr>
                        <a:t>South Korea</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-1,200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3308894473"/>
                  </a:ext>
                </a:extLst>
              </a:tr>
              <a:tr h="214368">
                <a:tc>
                  <a:txBody>
                    <a:bodyPr/>
                    <a:lstStyle/>
                    <a:p>
                      <a:pPr algn="l"/>
                      <a:r>
                        <a:rPr lang="en-US" sz="900">
                          <a:effectLst/>
                        </a:rPr>
                        <a:t>Russian Federation</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-1,000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735757178"/>
                  </a:ext>
                </a:extLst>
              </a:tr>
              <a:tr h="214368">
                <a:tc>
                  <a:txBody>
                    <a:bodyPr/>
                    <a:lstStyle/>
                    <a:p>
                      <a:pPr algn="l"/>
                      <a:r>
                        <a:rPr lang="en-US" sz="900">
                          <a:effectLst/>
                        </a:rPr>
                        <a:t>Brazil</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-800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115198004"/>
                  </a:ext>
                </a:extLst>
              </a:tr>
              <a:tr h="214368">
                <a:tc>
                  <a:txBody>
                    <a:bodyPr/>
                    <a:lstStyle/>
                    <a:p>
                      <a:pPr algn="l"/>
                      <a:r>
                        <a:rPr lang="en-US" sz="900">
                          <a:effectLst/>
                        </a:rPr>
                        <a:t>South Africa</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-600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4073899715"/>
                  </a:ext>
                </a:extLst>
              </a:tr>
              <a:tr h="214368">
                <a:tc>
                  <a:txBody>
                    <a:bodyPr/>
                    <a:lstStyle/>
                    <a:p>
                      <a:pPr algn="l"/>
                      <a:r>
                        <a:rPr lang="en-US" sz="900">
                          <a:effectLst/>
                        </a:rPr>
                        <a:t>Taiwan (Chinese Taipei)</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-400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2046933593"/>
                  </a:ext>
                </a:extLst>
              </a:tr>
              <a:tr h="214368">
                <a:tc>
                  <a:txBody>
                    <a:bodyPr/>
                    <a:lstStyle/>
                    <a:p>
                      <a:pPr algn="l"/>
                      <a:r>
                        <a:rPr lang="en-US" sz="900">
                          <a:effectLst/>
                        </a:rPr>
                        <a:t>Nigeria</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a:effectLst/>
                      </a:endParaRPr>
                    </a:p>
                    <a:p>
                      <a:pPr algn="r"/>
                      <a:r>
                        <a:rPr lang="ru-RU" sz="900">
                          <a:effectLst/>
                        </a:rPr>
                        <a:t>-300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1992154077"/>
                  </a:ext>
                </a:extLst>
              </a:tr>
              <a:tr h="214368">
                <a:tc>
                  <a:txBody>
                    <a:bodyPr/>
                    <a:lstStyle/>
                    <a:p>
                      <a:pPr algn="l"/>
                      <a:r>
                        <a:rPr lang="en-US" sz="900">
                          <a:effectLst/>
                        </a:rPr>
                        <a:t>Vietnam</a:t>
                      </a:r>
                    </a:p>
                  </a:txBody>
                  <a:tcPr marL="46152" marR="46152" marT="46152" marB="46152"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900" dirty="0">
                        <a:effectLst/>
                      </a:endParaRPr>
                    </a:p>
                    <a:p>
                      <a:pPr algn="r"/>
                      <a:r>
                        <a:rPr lang="ru-RU" sz="900" dirty="0">
                          <a:effectLst/>
                        </a:rPr>
                        <a:t>-300</a:t>
                      </a:r>
                    </a:p>
                  </a:txBody>
                  <a:tcPr marL="46152" marR="46152" marT="46152" marB="46152"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4171215740"/>
                  </a:ext>
                </a:extLst>
              </a:tr>
            </a:tbl>
          </a:graphicData>
        </a:graphic>
      </p:graphicFrame>
      <p:pic>
        <p:nvPicPr>
          <p:cNvPr id="3114" name="Picture 42" descr="U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15" name="Picture 43" descr="In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16" name="Picture 44" descr="South Kore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17" name="Picture 45" descr="Russian Feder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18" name="Picture 46" descr="Brazi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19" name="Picture 47" descr="South Afric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20" name="Picture 48" descr="Taiwan (Chinese Taipei)"/>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21" name="Picture 49" descr="Nigeria"/>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pic>
        <p:nvPicPr>
          <p:cNvPr id="3122" name="Picture 50" descr="Vietnam"/>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1478" y="2014413"/>
            <a:ext cx="1168974" cy="11689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51"/>
          <p:cNvSpPr>
            <a:spLocks noChangeArrowheads="1"/>
          </p:cNvSpPr>
          <p:nvPr/>
        </p:nvSpPr>
        <p:spPr bwMode="auto">
          <a:xfrm>
            <a:off x="3593060" y="1714106"/>
            <a:ext cx="92363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smtClean="0">
                <a:ln>
                  <a:noFill/>
                </a:ln>
                <a:solidFill>
                  <a:schemeClr val="tx1"/>
                </a:solidFill>
                <a:effectLst/>
                <a:latin typeface="Arial" panose="020B0604020202020204" pitchFamily="34" charset="0"/>
              </a:rPr>
              <a:t/>
            </a:r>
            <a:br>
              <a:rPr kumimoji="0" lang="ru-RU" altLang="ru-RU" sz="1800" b="0" i="0" u="none" strike="noStrike" cap="none" normalizeH="0" baseline="0" smtClean="0">
                <a:ln>
                  <a:noFill/>
                </a:ln>
                <a:solidFill>
                  <a:schemeClr val="tx1"/>
                </a:solidFill>
                <a:effectLst/>
                <a:latin typeface="Arial" panose="020B0604020202020204" pitchFamily="34" charset="0"/>
              </a:rPr>
            </a:b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988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Top 10 Country Inflows</a:t>
            </a:r>
            <a:br>
              <a:rPr lang="en-US" dirty="0"/>
            </a:b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1090810794"/>
              </p:ext>
            </p:extLst>
          </p:nvPr>
        </p:nvGraphicFramePr>
        <p:xfrm>
          <a:off x="2655736" y="2071316"/>
          <a:ext cx="4108296" cy="3515582"/>
        </p:xfrm>
        <a:graphic>
          <a:graphicData uri="http://schemas.openxmlformats.org/drawingml/2006/table">
            <a:tbl>
              <a:tblPr/>
              <a:tblGrid>
                <a:gridCol w="1422090">
                  <a:extLst>
                    <a:ext uri="{9D8B030D-6E8A-4147-A177-3AD203B41FA5}">
                      <a16:colId xmlns:a16="http://schemas.microsoft.com/office/drawing/2014/main" val="1978510491"/>
                    </a:ext>
                  </a:extLst>
                </a:gridCol>
                <a:gridCol w="2686206">
                  <a:extLst>
                    <a:ext uri="{9D8B030D-6E8A-4147-A177-3AD203B41FA5}">
                      <a16:colId xmlns:a16="http://schemas.microsoft.com/office/drawing/2014/main" val="3097832492"/>
                    </a:ext>
                  </a:extLst>
                </a:gridCol>
              </a:tblGrid>
              <a:tr h="153601">
                <a:tc>
                  <a:txBody>
                    <a:bodyPr/>
                    <a:lstStyle/>
                    <a:p>
                      <a:pPr algn="l" fontAlgn="b"/>
                      <a:r>
                        <a:rPr lang="en-US" sz="800">
                          <a:effectLst/>
                          <a:latin typeface="Roboto Regular"/>
                        </a:rPr>
                        <a:t>Country</a:t>
                      </a:r>
                    </a:p>
                  </a:txBody>
                  <a:tcPr marL="43421" marR="43421" marT="43421" marB="43421" anchor="b">
                    <a:lnL>
                      <a:noFill/>
                    </a:lnL>
                    <a:lnR>
                      <a:noFill/>
                    </a:lnR>
                    <a:lnT>
                      <a:noFill/>
                    </a:lnT>
                    <a:lnB w="9525" cap="flat" cmpd="sng" algn="ctr">
                      <a:solidFill>
                        <a:srgbClr val="C1C5C8"/>
                      </a:solidFill>
                      <a:prstDash val="solid"/>
                      <a:round/>
                      <a:headEnd type="none" w="med" len="med"/>
                      <a:tailEnd type="none" w="med" len="med"/>
                    </a:lnB>
                  </a:tcPr>
                </a:tc>
                <a:tc>
                  <a:txBody>
                    <a:bodyPr/>
                    <a:lstStyle/>
                    <a:p>
                      <a:pPr algn="r" fontAlgn="b"/>
                      <a:r>
                        <a:rPr lang="en-US" sz="800" b="1">
                          <a:effectLst/>
                          <a:latin typeface="Roboto Regular"/>
                        </a:rPr>
                        <a:t>Projected net inflows of millionaires in 2024</a:t>
                      </a:r>
                    </a:p>
                  </a:txBody>
                  <a:tcPr marL="43421" marR="43421" marT="43421" marB="43421" anchor="b">
                    <a:lnL>
                      <a:noFill/>
                    </a:lnL>
                    <a:lnR>
                      <a:noFill/>
                    </a:lnR>
                    <a:lnT>
                      <a:noFill/>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3170887360"/>
                  </a:ext>
                </a:extLst>
              </a:tr>
              <a:tr h="244250">
                <a:tc>
                  <a:txBody>
                    <a:bodyPr/>
                    <a:lstStyle/>
                    <a:p>
                      <a:pPr algn="l"/>
                      <a:r>
                        <a:rPr lang="en-US" sz="800">
                          <a:effectLst/>
                        </a:rPr>
                        <a:t>UAE</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+6,700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1446134917"/>
                  </a:ext>
                </a:extLst>
              </a:tr>
              <a:tr h="244250">
                <a:tc>
                  <a:txBody>
                    <a:bodyPr/>
                    <a:lstStyle/>
                    <a:p>
                      <a:pPr algn="l"/>
                      <a:r>
                        <a:rPr lang="en-US" sz="800">
                          <a:effectLst/>
                        </a:rPr>
                        <a:t>USA</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+3,800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45418731"/>
                  </a:ext>
                </a:extLst>
              </a:tr>
              <a:tr h="244250">
                <a:tc>
                  <a:txBody>
                    <a:bodyPr/>
                    <a:lstStyle/>
                    <a:p>
                      <a:pPr algn="l"/>
                      <a:r>
                        <a:rPr lang="en-US" sz="800">
                          <a:effectLst/>
                        </a:rPr>
                        <a:t>Singapore</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+3,500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276077823"/>
                  </a:ext>
                </a:extLst>
              </a:tr>
              <a:tr h="244250">
                <a:tc>
                  <a:txBody>
                    <a:bodyPr/>
                    <a:lstStyle/>
                    <a:p>
                      <a:pPr algn="l"/>
                      <a:r>
                        <a:rPr lang="en-US" sz="800">
                          <a:effectLst/>
                        </a:rPr>
                        <a:t>Canada</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+3,200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2164798994"/>
                  </a:ext>
                </a:extLst>
              </a:tr>
              <a:tr h="244250">
                <a:tc>
                  <a:txBody>
                    <a:bodyPr/>
                    <a:lstStyle/>
                    <a:p>
                      <a:pPr algn="l"/>
                      <a:r>
                        <a:rPr lang="en-US" sz="800">
                          <a:effectLst/>
                        </a:rPr>
                        <a:t>Australia</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+2,500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447012114"/>
                  </a:ext>
                </a:extLst>
              </a:tr>
              <a:tr h="244250">
                <a:tc>
                  <a:txBody>
                    <a:bodyPr/>
                    <a:lstStyle/>
                    <a:p>
                      <a:pPr algn="l"/>
                      <a:r>
                        <a:rPr lang="en-US" sz="800">
                          <a:effectLst/>
                        </a:rPr>
                        <a:t>Italy</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+2,200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3789704026"/>
                  </a:ext>
                </a:extLst>
              </a:tr>
              <a:tr h="244250">
                <a:tc>
                  <a:txBody>
                    <a:bodyPr/>
                    <a:lstStyle/>
                    <a:p>
                      <a:pPr algn="l"/>
                      <a:r>
                        <a:rPr lang="en-US" sz="800">
                          <a:effectLst/>
                        </a:rPr>
                        <a:t>Switzerland</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+1,500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2204860543"/>
                  </a:ext>
                </a:extLst>
              </a:tr>
              <a:tr h="244250">
                <a:tc>
                  <a:txBody>
                    <a:bodyPr/>
                    <a:lstStyle/>
                    <a:p>
                      <a:pPr algn="l"/>
                      <a:r>
                        <a:rPr lang="en-US" sz="800">
                          <a:effectLst/>
                        </a:rPr>
                        <a:t>Greece</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+1,200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4213188857"/>
                  </a:ext>
                </a:extLst>
              </a:tr>
              <a:tr h="244250">
                <a:tc>
                  <a:txBody>
                    <a:bodyPr/>
                    <a:lstStyle/>
                    <a:p>
                      <a:pPr algn="l"/>
                      <a:r>
                        <a:rPr lang="en-US" sz="800">
                          <a:effectLst/>
                        </a:rPr>
                        <a:t>Portugal</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a:effectLst/>
                      </a:endParaRPr>
                    </a:p>
                    <a:p>
                      <a:pPr algn="r"/>
                      <a:r>
                        <a:rPr lang="ru-RU" sz="800">
                          <a:effectLst/>
                        </a:rPr>
                        <a:t>+800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2411624306"/>
                  </a:ext>
                </a:extLst>
              </a:tr>
              <a:tr h="244250">
                <a:tc>
                  <a:txBody>
                    <a:bodyPr/>
                    <a:lstStyle/>
                    <a:p>
                      <a:pPr algn="l"/>
                      <a:r>
                        <a:rPr lang="en-US" sz="800">
                          <a:effectLst/>
                        </a:rPr>
                        <a:t>Japan</a:t>
                      </a:r>
                    </a:p>
                  </a:txBody>
                  <a:tcPr marL="43421" marR="43421" marT="43421" marB="43421" anchor="ctr">
                    <a:lnL>
                      <a:noFill/>
                    </a:lnL>
                    <a:lnR w="9525" cap="flat" cmpd="sng" algn="ctr">
                      <a:solidFill>
                        <a:srgbClr val="C1C5C8"/>
                      </a:solidFill>
                      <a:prstDash val="solid"/>
                      <a:round/>
                      <a:headEnd type="none" w="med" len="med"/>
                      <a:tailEnd type="none" w="med" len="med"/>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tcPr>
                </a:tc>
                <a:tc>
                  <a:txBody>
                    <a:bodyPr/>
                    <a:lstStyle/>
                    <a:p>
                      <a:pPr algn="r"/>
                      <a:endParaRPr lang="ru-RU" sz="800" dirty="0">
                        <a:effectLst/>
                      </a:endParaRPr>
                    </a:p>
                    <a:p>
                      <a:pPr algn="r"/>
                      <a:r>
                        <a:rPr lang="ru-RU" sz="800" dirty="0">
                          <a:effectLst/>
                        </a:rPr>
                        <a:t>+400</a:t>
                      </a:r>
                    </a:p>
                  </a:txBody>
                  <a:tcPr marL="43421" marR="43421" marT="43421" marB="43421" anchor="ctr">
                    <a:lnL w="9525" cap="flat" cmpd="sng" algn="ctr">
                      <a:solidFill>
                        <a:srgbClr val="C1C5C8"/>
                      </a:solidFill>
                      <a:prstDash val="solid"/>
                      <a:round/>
                      <a:headEnd type="none" w="med" len="med"/>
                      <a:tailEnd type="none" w="med" len="med"/>
                    </a:lnL>
                    <a:lnR>
                      <a:noFill/>
                    </a:lnR>
                    <a:lnT w="9525" cap="flat" cmpd="sng" algn="ctr">
                      <a:solidFill>
                        <a:srgbClr val="C1C5C8"/>
                      </a:solidFill>
                      <a:prstDash val="solid"/>
                      <a:round/>
                      <a:headEnd type="none" w="med" len="med"/>
                      <a:tailEnd type="none" w="med" len="med"/>
                    </a:lnT>
                    <a:lnB w="9525" cap="flat" cmpd="sng" algn="ctr">
                      <a:solidFill>
                        <a:srgbClr val="C1C5C8"/>
                      </a:solidFill>
                      <a:prstDash val="solid"/>
                      <a:round/>
                      <a:headEnd type="none" w="med" len="med"/>
                      <a:tailEnd type="none" w="med" len="med"/>
                    </a:lnB>
                    <a:solidFill>
                      <a:srgbClr val="F7F7F7"/>
                    </a:solidFill>
                  </a:tcPr>
                </a:tc>
                <a:extLst>
                  <a:ext uri="{0D108BD9-81ED-4DB2-BD59-A6C34878D82A}">
                    <a16:rowId xmlns:a16="http://schemas.microsoft.com/office/drawing/2014/main" val="1872357664"/>
                  </a:ext>
                </a:extLst>
              </a:tr>
            </a:tbl>
          </a:graphicData>
        </a:graphic>
      </p:graphicFrame>
      <p:pic>
        <p:nvPicPr>
          <p:cNvPr id="4097" name="Picture 1" descr="UA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US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Singapo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anad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Australi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tal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descr="Switzerlan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Greec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9" descr="Portuga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Japa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2985" y="2071314"/>
            <a:ext cx="1118533" cy="1118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570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Концепция миграционного перехода </a:t>
            </a:r>
            <a:r>
              <a:rPr lang="ru-RU" dirty="0" err="1"/>
              <a:t>В.Зелинского</a:t>
            </a:r>
            <a:r>
              <a:rPr lang="ru-RU" dirty="0"/>
              <a:t/>
            </a:r>
            <a:br>
              <a:rPr lang="ru-RU" dirty="0"/>
            </a:br>
            <a:endParaRPr lang="ru-RU" dirty="0"/>
          </a:p>
        </p:txBody>
      </p:sp>
      <p:sp>
        <p:nvSpPr>
          <p:cNvPr id="3" name="Объект 2"/>
          <p:cNvSpPr>
            <a:spLocks noGrp="1"/>
          </p:cNvSpPr>
          <p:nvPr>
            <p:ph idx="1"/>
          </p:nvPr>
        </p:nvSpPr>
        <p:spPr/>
        <p:txBody>
          <a:bodyPr>
            <a:normAutofit fontScale="85000" lnSpcReduction="20000"/>
          </a:bodyPr>
          <a:lstStyle/>
          <a:p>
            <a:r>
              <a:rPr lang="ru-RU" dirty="0" smtClean="0"/>
              <a:t>В </a:t>
            </a:r>
            <a:r>
              <a:rPr lang="ru-RU" dirty="0"/>
              <a:t>1971 году вышла статья американского географа </a:t>
            </a:r>
            <a:r>
              <a:rPr lang="ru-RU" dirty="0" err="1"/>
              <a:t>Вильбура</a:t>
            </a:r>
            <a:r>
              <a:rPr lang="ru-RU" dirty="0"/>
              <a:t> Зелинского (W. </a:t>
            </a:r>
            <a:r>
              <a:rPr lang="ru-RU" dirty="0" err="1"/>
              <a:t>Zelinsky</a:t>
            </a:r>
            <a:r>
              <a:rPr lang="ru-RU" dirty="0"/>
              <a:t>), в которой он связал изменения в миграционных потоках с основными этапами демографического перехода. При этом по мере того, как общество переживает процесс модернизации, происходит переход от относительной неподвижности населения к усилению интенсивности миграционных потоков. На различных этапах перехода происходят значительные изменения в форме и интенсивности пространственной мобильности, в том числе, в частоте, продолжительности, периодичности, расстоянии, направлениях и категориях мигрантов.</a:t>
            </a:r>
          </a:p>
          <a:p>
            <a:r>
              <a:rPr lang="ru-RU" dirty="0"/>
              <a:t>Одновременно происходят изменения как в форме, так и в интенсивности социальной мобильности, а при определенных условиях территориальные перемещения населения могут заменяться перемещением информации, ростом информационных потоков. Именно поэтому концепция </a:t>
            </a:r>
            <a:r>
              <a:rPr lang="ru-RU" dirty="0" err="1"/>
              <a:t>В.Зелинского</a:t>
            </a:r>
            <a:r>
              <a:rPr lang="ru-RU" dirty="0"/>
              <a:t> названа не миграционным, а мобильным переходом. Автор также пишет о том, что в процессе модернизация общества происходит усиление персональной социальной мобильности. Социальные барьеры исчезают, а инструменты мобильности развиваются, в первую очередь – образовательные социальные «лифты». Хотя человечество платит «штраф» за мобильность: происходит эрозия родства и социальных связей, растет риск дезинтеграции.</a:t>
            </a:r>
          </a:p>
          <a:p>
            <a:endParaRPr lang="ru-RU" dirty="0"/>
          </a:p>
        </p:txBody>
      </p:sp>
    </p:spTree>
    <p:extLst>
      <p:ext uri="{BB962C8B-B14F-4D97-AF65-F5344CB8AC3E}">
        <p14:creationId xmlns:p14="http://schemas.microsoft.com/office/powerpoint/2010/main" val="84591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685800"/>
            <a:ext cx="9601200" cy="1214562"/>
          </a:xfrm>
        </p:spPr>
        <p:txBody>
          <a:bodyPr>
            <a:noAutofit/>
          </a:bodyPr>
          <a:lstStyle/>
          <a:p>
            <a:r>
              <a:rPr lang="ru-RU" sz="2800" dirty="0" err="1"/>
              <a:t>В.Зелинский</a:t>
            </a:r>
            <a:r>
              <a:rPr lang="ru-RU" sz="2800" dirty="0"/>
              <a:t> описывает 5 этапов мобильного перехода, которые являются следствием демографических изменений, в частности, в темпах естественного прироста населения.</a:t>
            </a:r>
            <a:br>
              <a:rPr lang="ru-RU" sz="2800" dirty="0"/>
            </a:br>
            <a:endParaRPr lang="ru-RU" sz="2800" dirty="0"/>
          </a:p>
        </p:txBody>
      </p:sp>
      <p:sp>
        <p:nvSpPr>
          <p:cNvPr id="3" name="Объект 2"/>
          <p:cNvSpPr>
            <a:spLocks noGrp="1"/>
          </p:cNvSpPr>
          <p:nvPr>
            <p:ph idx="1"/>
          </p:nvPr>
        </p:nvSpPr>
        <p:spPr/>
        <p:txBody>
          <a:bodyPr>
            <a:normAutofit fontScale="55000" lnSpcReduction="20000"/>
          </a:bodyPr>
          <a:lstStyle/>
          <a:p>
            <a:r>
              <a:rPr lang="ru-RU" dirty="0" smtClean="0"/>
              <a:t>1 </a:t>
            </a:r>
            <a:r>
              <a:rPr lang="ru-RU" dirty="0"/>
              <a:t>этап: на фоне малозаметного, иногда отрицательного, естественного прироста миграция (со сменой места жительства) практически отсутствует. Наблюдается слабая мобильность, связанная с торговлей, захватом или обработкой земель, отправлением религиозных культов.</a:t>
            </a:r>
          </a:p>
          <a:p>
            <a:r>
              <a:rPr lang="ru-RU" dirty="0"/>
              <a:t>2 этап: следствием растущего естественного прироста, приводящего к росту численности населения, становится нарастание перемещений из сельской местности в города. Также растут эмиграционные потоки, связанные с колонизацией новых земель. Нарастает маятниковая (и приграничная) мобильность.</a:t>
            </a:r>
          </a:p>
          <a:p>
            <a:r>
              <a:rPr lang="ru-RU" dirty="0"/>
              <a:t>3 этап: высокий, но тем не менее снижающийся естественный прирост вызывает постепенное сокращение миграционного потока из села в город, сокращается и эмиграция. При этом маятниковая мобильность или «циркуляции» нарастают в связи со структурным усложнением экономики.</a:t>
            </a:r>
          </a:p>
          <a:p>
            <a:r>
              <a:rPr lang="ru-RU" dirty="0"/>
              <a:t>4 этап: практически нулевой естественный прирост сопровождается высоким уровнем миграционной мобильности. Потоки из села в город стабилизируются, при этом нарастают перемещения между городами. Возникает обратный поток из городов в сельскую местность. Растет иммиграция неквалифицированной рабочей силы из менее экономически развитых стран. Виден значительный рост перемещений в связи с работой или туризмом.</a:t>
            </a:r>
          </a:p>
          <a:p>
            <a:r>
              <a:rPr lang="ru-RU" dirty="0"/>
              <a:t>5 этап: снижение интенсивности миграционных перемещений со сменой места жительства сопровождается усилением «циркуляций», при этом возможно сохранение миграционных потоков неквалифицированной рабочей силы. Возможно нарастание строгого политического контроля миграционных перемещений.</a:t>
            </a:r>
          </a:p>
          <a:p>
            <a:r>
              <a:rPr lang="ru-RU" dirty="0"/>
              <a:t>В. Зелинский </a:t>
            </a:r>
            <a:r>
              <a:rPr lang="ru-RU" dirty="0" smtClean="0"/>
              <a:t>предвидел </a:t>
            </a:r>
            <a:r>
              <a:rPr lang="ru-RU" dirty="0"/>
              <a:t>то, что мы наблюдаем полвека спустя после появления его статьи: вслед за ростом интенсивности миграции происходит развитие информационных технологий, которые частично заменяют миграционные физические перемещения, делая возможной удаленную работу и виртуальные экскурсионные туры, онлайн шопинг и дистанционные финансовые операции. Становимся мы и свидетелями усиления политического контроля миграционных перемещений как по эпидемиологическим причинам, так и вследствие миграционных кризисов современности.</a:t>
            </a:r>
          </a:p>
          <a:p>
            <a:endParaRPr lang="ru-RU" dirty="0"/>
          </a:p>
        </p:txBody>
      </p:sp>
    </p:spTree>
    <p:extLst>
      <p:ext uri="{BB962C8B-B14F-4D97-AF65-F5344CB8AC3E}">
        <p14:creationId xmlns:p14="http://schemas.microsoft.com/office/powerpoint/2010/main" val="51095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a:t>Третий демографический переход – изменение роли миграции в демографическом развитии стран с низкой рождаемостью</a:t>
            </a:r>
            <a:br>
              <a:rPr lang="ru-RU" sz="3600" dirty="0"/>
            </a:br>
            <a:endParaRPr lang="ru-RU" sz="3600" dirty="0"/>
          </a:p>
        </p:txBody>
      </p:sp>
      <p:sp>
        <p:nvSpPr>
          <p:cNvPr id="3" name="Объект 2"/>
          <p:cNvSpPr>
            <a:spLocks noGrp="1"/>
          </p:cNvSpPr>
          <p:nvPr>
            <p:ph idx="1"/>
          </p:nvPr>
        </p:nvSpPr>
        <p:spPr/>
        <p:txBody>
          <a:bodyPr>
            <a:normAutofit fontScale="92500" lnSpcReduction="20000"/>
          </a:bodyPr>
          <a:lstStyle/>
          <a:p>
            <a:r>
              <a:rPr lang="ru-RU" dirty="0" smtClean="0"/>
              <a:t>Идея </a:t>
            </a:r>
            <a:r>
              <a:rPr lang="ru-RU" dirty="0"/>
              <a:t>третьего демографического перехода была высказана Дэвидом </a:t>
            </a:r>
            <a:r>
              <a:rPr lang="ru-RU" dirty="0" err="1"/>
              <a:t>Коулмэном</a:t>
            </a:r>
            <a:r>
              <a:rPr lang="ru-RU" dirty="0"/>
              <a:t> в 2006 году. В отличие от первого демографического перехода, имеющего всеобщий характер, третий демографический переход, по мнению </a:t>
            </a:r>
            <a:r>
              <a:rPr lang="ru-RU" dirty="0" err="1"/>
              <a:t>Коулмэна</a:t>
            </a:r>
            <a:r>
              <a:rPr lang="ru-RU" dirty="0"/>
              <a:t>, наблюдается только в странах с низкой рождаемостью. В экономически развитых странах меняется значение миграции, она начинает играть всё большую роль, постепенно замещая коренное населения принимающих стран и меняя его этнический состав напрямую, за счет иммиграции. Например, в Бельгии более 2 млн. человек родилось за пределами этой страны (Таблица 14.2). На изменение этнического состава влияют также различия в рождаемости у иммигрантов и населения принимающей страны. Доля детей, рожденных в семьях иммигрантов, в ряде стран достигает 20-40% среди всех рождений (рис. 6), завися от доли женщин-иммигранток в репродуктивных возрастах, а также от различий в уровне рождаемости (рис. 7). Однако многие исследования свидетельствуют о постепенном снижении уровня рождаемости у иммигрантов, особенно в последующих поколениях (см., например: </a:t>
            </a:r>
            <a:r>
              <a:rPr lang="ru-RU" dirty="0" err="1"/>
              <a:t>Tönnessen</a:t>
            </a:r>
            <a:r>
              <a:rPr lang="ru-RU" dirty="0"/>
              <a:t> М. </a:t>
            </a:r>
            <a:r>
              <a:rPr lang="ru-RU" dirty="0" err="1"/>
              <a:t>Explaining</a:t>
            </a:r>
            <a:r>
              <a:rPr lang="ru-RU" dirty="0"/>
              <a:t> </a:t>
            </a:r>
            <a:r>
              <a:rPr lang="ru-RU" dirty="0" err="1"/>
              <a:t>declined</a:t>
            </a:r>
            <a:r>
              <a:rPr lang="ru-RU" dirty="0"/>
              <a:t> </a:t>
            </a:r>
            <a:r>
              <a:rPr lang="ru-RU" dirty="0" err="1"/>
              <a:t>immigrant</a:t>
            </a:r>
            <a:r>
              <a:rPr lang="ru-RU" dirty="0"/>
              <a:t> </a:t>
            </a:r>
            <a:r>
              <a:rPr lang="ru-RU" dirty="0" err="1"/>
              <a:t>fertility</a:t>
            </a:r>
            <a:r>
              <a:rPr lang="ru-RU" dirty="0"/>
              <a:t>. </a:t>
            </a:r>
            <a:r>
              <a:rPr lang="ru-RU" dirty="0" err="1"/>
              <a:t>Stockholm</a:t>
            </a:r>
            <a:r>
              <a:rPr lang="ru-RU" dirty="0"/>
              <a:t> </a:t>
            </a:r>
            <a:r>
              <a:rPr lang="ru-RU" dirty="0" err="1"/>
              <a:t>Research</a:t>
            </a:r>
            <a:r>
              <a:rPr lang="ru-RU" dirty="0"/>
              <a:t> </a:t>
            </a:r>
            <a:r>
              <a:rPr lang="ru-RU" dirty="0" err="1"/>
              <a:t>Reports</a:t>
            </a:r>
            <a:r>
              <a:rPr lang="ru-RU" dirty="0"/>
              <a:t> </a:t>
            </a:r>
            <a:r>
              <a:rPr lang="ru-RU" dirty="0" err="1"/>
              <a:t>in</a:t>
            </a:r>
            <a:r>
              <a:rPr lang="ru-RU" dirty="0"/>
              <a:t> </a:t>
            </a:r>
            <a:r>
              <a:rPr lang="ru-RU" dirty="0" err="1"/>
              <a:t>Demography</a:t>
            </a:r>
            <a:r>
              <a:rPr lang="ru-RU" dirty="0"/>
              <a:t>. </a:t>
            </a:r>
            <a:r>
              <a:rPr lang="ru-RU" dirty="0" err="1"/>
              <a:t>no</a:t>
            </a:r>
            <a:r>
              <a:rPr lang="ru-RU" dirty="0"/>
              <a:t> 2019:08 ).</a:t>
            </a:r>
          </a:p>
          <a:p>
            <a:endParaRPr lang="ru-RU" dirty="0"/>
          </a:p>
        </p:txBody>
      </p:sp>
    </p:spTree>
    <p:extLst>
      <p:ext uri="{BB962C8B-B14F-4D97-AF65-F5344CB8AC3E}">
        <p14:creationId xmlns:p14="http://schemas.microsoft.com/office/powerpoint/2010/main" val="790839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indent="203200" eaLnBrk="0" fontAlgn="base" hangingPunct="0">
              <a:lnSpc>
                <a:spcPct val="100000"/>
              </a:lnSpc>
              <a:spcAft>
                <a:spcPct val="0"/>
              </a:spcAft>
            </a:pPr>
            <a:r>
              <a:rPr lang="ru-RU" altLang="ru-RU" sz="2800" dirty="0">
                <a:solidFill>
                  <a:srgbClr val="303031"/>
                </a:solidFill>
                <a:latin typeface="Vollkorn"/>
              </a:rPr>
              <a:t>Таблица 14.2. Бельгия: страны гражданства и страны </a:t>
            </a:r>
            <a:br>
              <a:rPr lang="ru-RU" altLang="ru-RU" sz="2800" dirty="0">
                <a:solidFill>
                  <a:srgbClr val="303031"/>
                </a:solidFill>
                <a:latin typeface="Vollkorn"/>
              </a:rPr>
            </a:br>
            <a:r>
              <a:rPr lang="ru-RU" altLang="ru-RU" sz="2800" dirty="0" smtClean="0">
                <a:solidFill>
                  <a:srgbClr val="303031"/>
                </a:solidFill>
                <a:latin typeface="Vollkorn"/>
              </a:rPr>
              <a:t>рождения </a:t>
            </a:r>
            <a:r>
              <a:rPr lang="ru-RU" altLang="ru-RU" sz="2800" dirty="0">
                <a:solidFill>
                  <a:srgbClr val="303031"/>
                </a:solidFill>
                <a:latin typeface="Vollkorn"/>
              </a:rPr>
              <a:t>иммигрантов, на 1 января 2022 г</a:t>
            </a:r>
            <a:endParaRPr lang="ru-RU" sz="2800"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169245249"/>
              </p:ext>
            </p:extLst>
          </p:nvPr>
        </p:nvGraphicFramePr>
        <p:xfrm>
          <a:off x="1538578" y="2261815"/>
          <a:ext cx="9601200" cy="3200400"/>
        </p:xfrm>
        <a:graphic>
          <a:graphicData uri="http://schemas.openxmlformats.org/drawingml/2006/table">
            <a:tbl>
              <a:tblPr/>
              <a:tblGrid>
                <a:gridCol w="1600200">
                  <a:extLst>
                    <a:ext uri="{9D8B030D-6E8A-4147-A177-3AD203B41FA5}">
                      <a16:colId xmlns:a16="http://schemas.microsoft.com/office/drawing/2014/main" val="4202111903"/>
                    </a:ext>
                  </a:extLst>
                </a:gridCol>
                <a:gridCol w="1600200">
                  <a:extLst>
                    <a:ext uri="{9D8B030D-6E8A-4147-A177-3AD203B41FA5}">
                      <a16:colId xmlns:a16="http://schemas.microsoft.com/office/drawing/2014/main" val="1362968330"/>
                    </a:ext>
                  </a:extLst>
                </a:gridCol>
                <a:gridCol w="1600200">
                  <a:extLst>
                    <a:ext uri="{9D8B030D-6E8A-4147-A177-3AD203B41FA5}">
                      <a16:colId xmlns:a16="http://schemas.microsoft.com/office/drawing/2014/main" val="2537838585"/>
                    </a:ext>
                  </a:extLst>
                </a:gridCol>
                <a:gridCol w="1600200">
                  <a:extLst>
                    <a:ext uri="{9D8B030D-6E8A-4147-A177-3AD203B41FA5}">
                      <a16:colId xmlns:a16="http://schemas.microsoft.com/office/drawing/2014/main" val="3495824661"/>
                    </a:ext>
                  </a:extLst>
                </a:gridCol>
                <a:gridCol w="1600200">
                  <a:extLst>
                    <a:ext uri="{9D8B030D-6E8A-4147-A177-3AD203B41FA5}">
                      <a16:colId xmlns:a16="http://schemas.microsoft.com/office/drawing/2014/main" val="619570456"/>
                    </a:ext>
                  </a:extLst>
                </a:gridCol>
                <a:gridCol w="1600200">
                  <a:extLst>
                    <a:ext uri="{9D8B030D-6E8A-4147-A177-3AD203B41FA5}">
                      <a16:colId xmlns:a16="http://schemas.microsoft.com/office/drawing/2014/main" val="3196551423"/>
                    </a:ext>
                  </a:extLst>
                </a:gridCol>
              </a:tblGrid>
              <a:tr h="0">
                <a:tc>
                  <a:txBody>
                    <a:bodyPr/>
                    <a:lstStyle/>
                    <a:p>
                      <a:r>
                        <a:rPr lang="ru-RU" b="1" dirty="0">
                          <a:effectLst/>
                        </a:rPr>
                        <a:t>Гражданство</a:t>
                      </a:r>
                      <a:endParaRPr lang="ru-RU" dirty="0">
                        <a:effectLst/>
                      </a:endParaRP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b="1">
                          <a:effectLst/>
                        </a:rPr>
                        <a:t>тыс.</a:t>
                      </a:r>
                      <a:endParaRPr lang="ru-RU">
                        <a:effectLst/>
                      </a:endParaRP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b="1">
                          <a:effectLst/>
                        </a:rPr>
                        <a:t>(%)</a:t>
                      </a:r>
                      <a:endParaRPr lang="ru-RU">
                        <a:effectLst/>
                      </a:endParaRP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b="1">
                          <a:effectLst/>
                        </a:rPr>
                        <a:t>Страна рождения</a:t>
                      </a:r>
                      <a:endParaRPr lang="ru-RU">
                        <a:effectLst/>
                      </a:endParaRP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b="1">
                          <a:effectLst/>
                        </a:rPr>
                        <a:t>тыс.</a:t>
                      </a:r>
                      <a:endParaRPr lang="ru-RU">
                        <a:effectLst/>
                      </a:endParaRP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b="1">
                          <a:effectLst/>
                        </a:rPr>
                        <a:t>(%)</a:t>
                      </a:r>
                      <a:endParaRPr lang="ru-RU">
                        <a:effectLst/>
                      </a:endParaRP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2840694627"/>
                  </a:ext>
                </a:extLst>
              </a:tr>
              <a:tr h="0">
                <a:tc>
                  <a:txBody>
                    <a:bodyPr/>
                    <a:lstStyle/>
                    <a:p>
                      <a:r>
                        <a:rPr lang="ru-RU">
                          <a:effectLst/>
                        </a:rPr>
                        <a:t>Франция</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175,6</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11,8</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Марокко</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233,6</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11,0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3281535432"/>
                  </a:ext>
                </a:extLst>
              </a:tr>
              <a:tr h="0">
                <a:tc>
                  <a:txBody>
                    <a:bodyPr/>
                    <a:lstStyle/>
                    <a:p>
                      <a:r>
                        <a:rPr lang="ru-RU">
                          <a:effectLst/>
                        </a:rPr>
                        <a:t>Нидерланды</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163,1</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11,0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Франция</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191,9</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9,1</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2513282104"/>
                  </a:ext>
                </a:extLst>
              </a:tr>
              <a:tr h="0">
                <a:tc>
                  <a:txBody>
                    <a:bodyPr/>
                    <a:lstStyle/>
                    <a:p>
                      <a:r>
                        <a:rPr lang="ru-RU">
                          <a:effectLst/>
                        </a:rPr>
                        <a:t>Италия</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153,4</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10,3</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Нидерланды</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132,8</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6,3</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3442623610"/>
                  </a:ext>
                </a:extLst>
              </a:tr>
              <a:tr h="0">
                <a:tc>
                  <a:txBody>
                    <a:bodyPr/>
                    <a:lstStyle/>
                    <a:p>
                      <a:r>
                        <a:rPr lang="ru-RU">
                          <a:effectLst/>
                        </a:rPr>
                        <a:t>Румыния</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116,0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7,8</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Италия</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117,1</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5,5</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1155533894"/>
                  </a:ext>
                </a:extLst>
              </a:tr>
              <a:tr h="0">
                <a:tc>
                  <a:txBody>
                    <a:bodyPr/>
                    <a:lstStyle/>
                    <a:p>
                      <a:r>
                        <a:rPr lang="ru-RU">
                          <a:effectLst/>
                        </a:rPr>
                        <a:t>Марокко</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81,7</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5,5</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Румыния</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108,0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5,1</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454634868"/>
                  </a:ext>
                </a:extLst>
              </a:tr>
              <a:tr h="0">
                <a:tc>
                  <a:txBody>
                    <a:bodyPr/>
                    <a:lstStyle/>
                    <a:p>
                      <a:r>
                        <a:rPr lang="ru-RU">
                          <a:effectLst/>
                        </a:rPr>
                        <a:t>Прочие</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799,0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53,7</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Прочие</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1336,2</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63,0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1176180570"/>
                  </a:ext>
                </a:extLst>
              </a:tr>
              <a:tr h="0">
                <a:tc>
                  <a:txBody>
                    <a:bodyPr/>
                    <a:lstStyle/>
                    <a:p>
                      <a:r>
                        <a:rPr lang="ru-RU">
                          <a:effectLst/>
                        </a:rPr>
                        <a:t>Всего</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1488,9</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100,0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Всего</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a:effectLst/>
                        </a:rPr>
                        <a:t>2119,7</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tc>
                  <a:txBody>
                    <a:bodyPr/>
                    <a:lstStyle/>
                    <a:p>
                      <a:r>
                        <a:rPr lang="ru-RU" dirty="0">
                          <a:effectLst/>
                        </a:rPr>
                        <a:t>100,0</a:t>
                      </a:r>
                    </a:p>
                  </a:txBody>
                  <a:tcPr anchor="ctr">
                    <a:lnL w="9525" cap="flat" cmpd="sng" algn="ctr">
                      <a:solidFill>
                        <a:srgbClr val="444444"/>
                      </a:solidFill>
                      <a:prstDash val="solid"/>
                      <a:round/>
                      <a:headEnd type="none" w="med" len="med"/>
                      <a:tailEnd type="none" w="med" len="med"/>
                    </a:lnL>
                    <a:lnR w="9525" cap="flat" cmpd="sng" algn="ctr">
                      <a:solidFill>
                        <a:srgbClr val="444444"/>
                      </a:solidFill>
                      <a:prstDash val="solid"/>
                      <a:round/>
                      <a:headEnd type="none" w="med" len="med"/>
                      <a:tailEnd type="none" w="med" len="med"/>
                    </a:lnR>
                    <a:lnT w="9525"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7F7F6"/>
                    </a:solidFill>
                  </a:tcPr>
                </a:tc>
                <a:extLst>
                  <a:ext uri="{0D108BD9-81ED-4DB2-BD59-A6C34878D82A}">
                    <a16:rowId xmlns:a16="http://schemas.microsoft.com/office/drawing/2014/main" val="1168580172"/>
                  </a:ext>
                </a:extLst>
              </a:tr>
            </a:tbl>
          </a:graphicData>
        </a:graphic>
      </p:graphicFrame>
      <p:sp>
        <p:nvSpPr>
          <p:cNvPr id="5" name="Rectangle 1"/>
          <p:cNvSpPr>
            <a:spLocks noChangeArrowheads="1"/>
          </p:cNvSpPr>
          <p:nvPr/>
        </p:nvSpPr>
        <p:spPr bwMode="auto">
          <a:xfrm>
            <a:off x="1371600" y="1594619"/>
            <a:ext cx="465192"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03200" algn="l" defTabSz="914400" rtl="0" eaLnBrk="0" fontAlgn="base" latinLnBrk="0" hangingPunct="0">
              <a:lnSpc>
                <a:spcPct val="100000"/>
              </a:lnSpc>
              <a:spcBef>
                <a:spcPct val="0"/>
              </a:spcBef>
              <a:spcAft>
                <a:spcPct val="0"/>
              </a:spcAft>
              <a:buClrTx/>
              <a:buSzTx/>
              <a:buFontTx/>
              <a:buNone/>
              <a:tabLst/>
            </a:pPr>
            <a:r>
              <a:rPr kumimoji="0" lang="ru-RU" altLang="ru-RU" sz="2100" b="0" i="0" u="none" strike="noStrike" cap="none" normalizeH="0" baseline="0" dirty="0" smtClean="0">
                <a:ln>
                  <a:noFill/>
                </a:ln>
                <a:solidFill>
                  <a:srgbClr val="303031"/>
                </a:solidFill>
                <a:effectLst/>
                <a:latin typeface="Vollkorn"/>
              </a:rPr>
              <a:t>.</a:t>
            </a: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6376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Рис. 6. Доля живорождений у матерей, рожденных в стране и за ее пределами, 2021 г.</a:t>
            </a:r>
            <a:endParaRPr lang="ru-RU" sz="3200" dirty="0"/>
          </a:p>
        </p:txBody>
      </p:sp>
      <p:pic>
        <p:nvPicPr>
          <p:cNvPr id="6146" name="Picture 2" descr="https://books.econ.msu.ru/sys/raw.php?o=2091&amp;p=attach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19631" y="2052430"/>
            <a:ext cx="6949440" cy="4324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05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312088"/>
            <a:ext cx="9601200" cy="1485900"/>
          </a:xfrm>
        </p:spPr>
        <p:txBody>
          <a:bodyPr>
            <a:normAutofit fontScale="90000"/>
          </a:bodyPr>
          <a:lstStyle/>
          <a:p>
            <a:r>
              <a:rPr lang="ru-RU" dirty="0"/>
              <a:t>Рис. 7. Суммарный коэффициент рождаемости у матерей, родившихся в Великобритании и за ее пределами.</a:t>
            </a:r>
            <a:endParaRPr lang="ru-RU" dirty="0"/>
          </a:p>
        </p:txBody>
      </p:sp>
      <p:pic>
        <p:nvPicPr>
          <p:cNvPr id="7170" name="Picture 2" descr="https://books.econ.msu.ru/sys/raw.php?o=2090&amp;p=attach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555623"/>
            <a:ext cx="5792526" cy="4851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609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Концепция замещающей миграции</a:t>
            </a:r>
            <a:br>
              <a:rPr lang="ru-RU" dirty="0"/>
            </a:br>
            <a:endParaRPr lang="ru-RU" dirty="0"/>
          </a:p>
        </p:txBody>
      </p:sp>
      <p:sp>
        <p:nvSpPr>
          <p:cNvPr id="3" name="Объект 2"/>
          <p:cNvSpPr>
            <a:spLocks noGrp="1"/>
          </p:cNvSpPr>
          <p:nvPr>
            <p:ph idx="1"/>
          </p:nvPr>
        </p:nvSpPr>
        <p:spPr/>
        <p:txBody>
          <a:bodyPr>
            <a:normAutofit fontScale="62500" lnSpcReduction="20000"/>
          </a:bodyPr>
          <a:lstStyle/>
          <a:p>
            <a:r>
              <a:rPr lang="ru-RU" dirty="0" smtClean="0"/>
              <a:t>На </a:t>
            </a:r>
            <a:r>
              <a:rPr lang="ru-RU" dirty="0"/>
              <a:t>рубеже тысячелетий эксперты Отдела народонаселения Департамента по экономическим и социальным вопросам ООН подготовили доклад под названием "Замещающая миграция: является ли она решением проблемы сокращения численности и старения населения?"</a:t>
            </a:r>
          </a:p>
          <a:p>
            <a:r>
              <a:rPr lang="ru-RU" dirty="0"/>
              <a:t>В этом докладе миграция рассматривалась как наиболее простое решение для преодоления депопуляции и старения населения в развитых странах по сравнению с попытками увеличить рождаемость или быстро существенно снизить смертность. Эксперты сделали расчеты для «старых» и быстро стареющих стран и регионов (Германия, Италия, Великобритания, Франция, Россия, Япония, Республика Корея, США, Европа и Евросоюз), спрогнозировав число мигрантов, которое может стабилизировать общую численность населения, трудоспособную часть населения или нагрузку пожилыми.</a:t>
            </a:r>
          </a:p>
          <a:p>
            <a:r>
              <a:rPr lang="ru-RU" dirty="0"/>
              <a:t>В большинстве случаев замещающая миграция превышала реальные числа сальдо миграции во многих странах. Например, в России прогнозировалось от 0,5 до 0,7 млн ежегодных мигрантов в 2000-2050 гг. для сохранения численности населения или численности трудоспособного населения, соответственно, на уровне конца 1990-х гг. Реальное сальдо миграции в 2000-2022 гг. было в 2-4 раза ниже этих расчетных показателей. Но и прогнозные показатели замещающей миграции были завышены, так как естественный прирост в эти годы был существенно выше прогнозируемого.</a:t>
            </a:r>
          </a:p>
          <a:p>
            <a:r>
              <a:rPr lang="ru-RU" dirty="0"/>
              <a:t>С одной стороны, идея замещающей миграции имеет рациональное зерно. Миграция остается значимым ресурсом поддержания численности населения и трудоспособного населения во многих странах, компенсируя до 50% убыли населения (как в России в 1990-х годах, например). И миграционная политика многих стран нацелена на привлечение высоко квалифицированных кадров. С другой стороны, эта идея порождает много вопросов. Как привлекать такое большое число мигрантов? Что делать в долгосрочном периоде с мигрантами, которые внесут дополнительный вклад в старение населения в будущем? Какие новые проблемы по интеграции и адаптации мигрантов могут возникать в обществе?</a:t>
            </a:r>
          </a:p>
          <a:p>
            <a:endParaRPr lang="ru-RU" dirty="0"/>
          </a:p>
        </p:txBody>
      </p:sp>
    </p:spTree>
    <p:extLst>
      <p:ext uri="{BB962C8B-B14F-4D97-AF65-F5344CB8AC3E}">
        <p14:creationId xmlns:p14="http://schemas.microsoft.com/office/powerpoint/2010/main" val="3457762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a:xfrm>
            <a:off x="723899" y="685800"/>
            <a:ext cx="4015077" cy="2157884"/>
          </a:xfrm>
        </p:spPr>
        <p:txBody>
          <a:bodyPr/>
          <a:lstStyle/>
          <a:p>
            <a:r>
              <a:rPr lang="ru-RU" dirty="0" smtClean="0"/>
              <a:t>Тенденции </a:t>
            </a:r>
            <a:r>
              <a:rPr lang="ru-RU" dirty="0"/>
              <a:t>миграции в современном мире</a:t>
            </a:r>
            <a:br>
              <a:rPr lang="ru-RU" dirty="0"/>
            </a:br>
            <a:endParaRPr lang="ru-RU" dirty="0"/>
          </a:p>
        </p:txBody>
      </p:sp>
      <p:sp>
        <p:nvSpPr>
          <p:cNvPr id="5" name="Объект 4"/>
          <p:cNvSpPr>
            <a:spLocks noGrp="1"/>
          </p:cNvSpPr>
          <p:nvPr>
            <p:ph idx="1"/>
          </p:nvPr>
        </p:nvSpPr>
        <p:spPr/>
        <p:txBody>
          <a:bodyPr/>
          <a:lstStyle/>
          <a:p>
            <a:r>
              <a:rPr lang="ru-RU" dirty="0"/>
              <a:t>Опишем тенденции миграции в современном мире через два базовых статистических понятия. </a:t>
            </a:r>
            <a:endParaRPr lang="ru-RU" dirty="0" smtClean="0"/>
          </a:p>
          <a:p>
            <a:r>
              <a:rPr lang="ru-RU" dirty="0" smtClean="0"/>
              <a:t>Данные </a:t>
            </a:r>
            <a:r>
              <a:rPr lang="ru-RU" dirty="0"/>
              <a:t>о миграции могут быть представлены в виде двух категорий: </a:t>
            </a:r>
            <a:endParaRPr lang="ru-RU" dirty="0" smtClean="0"/>
          </a:p>
          <a:p>
            <a:r>
              <a:rPr lang="ru-RU" dirty="0" smtClean="0"/>
              <a:t>в </a:t>
            </a:r>
            <a:r>
              <a:rPr lang="ru-RU" dirty="0"/>
              <a:t>потоках и контингентах.</a:t>
            </a:r>
            <a:endParaRPr lang="ru-RU" dirty="0"/>
          </a:p>
        </p:txBody>
      </p:sp>
    </p:spTree>
    <p:extLst>
      <p:ext uri="{BB962C8B-B14F-4D97-AF65-F5344CB8AC3E}">
        <p14:creationId xmlns:p14="http://schemas.microsoft.com/office/powerpoint/2010/main" val="157932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b="1" dirty="0"/>
              <a:t>Потоки мигрантов</a:t>
            </a:r>
            <a:endParaRPr lang="ru-RU" dirty="0"/>
          </a:p>
        </p:txBody>
      </p:sp>
      <p:sp>
        <p:nvSpPr>
          <p:cNvPr id="6" name="Объект 5"/>
          <p:cNvSpPr>
            <a:spLocks noGrp="1"/>
          </p:cNvSpPr>
          <p:nvPr>
            <p:ph idx="1"/>
          </p:nvPr>
        </p:nvSpPr>
        <p:spPr/>
        <p:txBody>
          <a:bodyPr>
            <a:normAutofit fontScale="92500" lnSpcReduction="20000"/>
          </a:bodyPr>
          <a:lstStyle/>
          <a:p>
            <a:r>
              <a:rPr lang="ru-RU" dirty="0"/>
              <a:t> </a:t>
            </a:r>
            <a:r>
              <a:rPr lang="ru-RU" dirty="0" smtClean="0"/>
              <a:t>Миграционные потоки </a:t>
            </a:r>
            <a:r>
              <a:rPr lang="ru-RU" dirty="0"/>
              <a:t>– число мигрантов, совершивших переезд из одной страны в другую в течение определенного временного интервала (периода времени), обычно одного года, или число событий миграции, имевших место между двумя странами за тот же период времени. Нередко в статистике потоков учитываются выданные за определенный период времени виды на жительство или разрешения на работу. Однако здесь важно помнить, что речь идет об административных процедурах, что не всегда идентично количеству фактов переезда или числу мигрантов </a:t>
            </a:r>
            <a:r>
              <a:rPr lang="ru-RU" dirty="0" smtClean="0"/>
              <a:t>Как </a:t>
            </a:r>
            <a:r>
              <a:rPr lang="ru-RU" dirty="0"/>
              <a:t>правило, потоки иммиграции учитываются значительно лучше, чем эмиграции. На качество данных о потоках в каждой стране влияют национальные правила учета и временные критерии, принятые в странах исхода и прибытия для регистрации мигрантов.</a:t>
            </a:r>
          </a:p>
          <a:p>
            <a:r>
              <a:rPr lang="ru-RU" dirty="0"/>
              <a:t>Напомним, что разность между числом прибывших и выбывших мигрантов — </a:t>
            </a:r>
            <a:r>
              <a:rPr lang="ru-RU" b="1" dirty="0"/>
              <a:t>чистая миграция</a:t>
            </a:r>
            <a:r>
              <a:rPr lang="ru-RU" dirty="0"/>
              <a:t>, или сальдо миграции (</a:t>
            </a:r>
            <a:r>
              <a:rPr lang="ru-RU" dirty="0" err="1"/>
              <a:t>net</a:t>
            </a:r>
            <a:r>
              <a:rPr lang="ru-RU" dirty="0"/>
              <a:t> </a:t>
            </a:r>
            <a:r>
              <a:rPr lang="ru-RU" dirty="0" err="1"/>
              <a:t>migration</a:t>
            </a:r>
            <a:r>
              <a:rPr lang="ru-RU" dirty="0"/>
              <a:t>). Сумма потоков выбывших и прибывших (по одному направлению миграции) называется </a:t>
            </a:r>
            <a:r>
              <a:rPr lang="ru-RU" b="1" dirty="0"/>
              <a:t>миграционным оборотом</a:t>
            </a:r>
            <a:r>
              <a:rPr lang="ru-RU" dirty="0"/>
              <a:t> или валовой («брутто») миграцией (</a:t>
            </a:r>
            <a:r>
              <a:rPr lang="ru-RU" dirty="0" err="1"/>
              <a:t>migration</a:t>
            </a:r>
            <a:r>
              <a:rPr lang="ru-RU" dirty="0"/>
              <a:t> </a:t>
            </a:r>
            <a:r>
              <a:rPr lang="ru-RU" dirty="0" err="1"/>
              <a:t>turnover</a:t>
            </a:r>
            <a:r>
              <a:rPr lang="ru-RU" dirty="0"/>
              <a:t> / </a:t>
            </a:r>
            <a:r>
              <a:rPr lang="ru-RU" dirty="0" err="1"/>
              <a:t>gross-migration</a:t>
            </a:r>
            <a:r>
              <a:rPr lang="ru-RU" dirty="0" smtClean="0"/>
              <a:t>)</a:t>
            </a:r>
            <a:endParaRPr lang="ru-RU" dirty="0"/>
          </a:p>
        </p:txBody>
      </p:sp>
    </p:spTree>
    <p:extLst>
      <p:ext uri="{BB962C8B-B14F-4D97-AF65-F5344CB8AC3E}">
        <p14:creationId xmlns:p14="http://schemas.microsoft.com/office/powerpoint/2010/main" val="3606381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endParaRPr lang="ru-RU" sz="2000" dirty="0"/>
          </a:p>
        </p:txBody>
      </p:sp>
      <p:sp>
        <p:nvSpPr>
          <p:cNvPr id="6" name="AutoShape 6" descr="data:image/png;base64,iVBORw0KGgoAAAANSUhEUgAAGGsAABRxCAYAAABVVsCiAAAACXBIWXMAAC4jAAAuIwF4pT92AAAgAElEQVR4nOzdAQEAIACDMLV/5xuErQIBuNsOAAAAAAAAAAAAAAAAAAAAAAAAAAAAAABAxVMaAAAAAAAAAAAAAAAAAAAAAAAAAAAAAAAo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AAAAgxawBAAAAAAAAAAAAAAAAAAAAAAAAAAAAAABIMWsAAAAAAAAAAAAAAAAAAAAAAAAAAAAAAABSzBoAAAAAAAAAAAAAAAAAAAAAAAAAAAAAAIAUswYAAAAAAAAAAAAAAAAAAAAAAAAAAAAAACDFrAEAAAAAAAAAAAAAAAAAAAAAAAAAAAAAAEgxawAAAAAAAAAAAAAAAAAAAAAAAAAAAAAAAFLMGgAAAAAAAAAAAAAAAAAAAAAAAAAAAAAAgBSzBgAAAAAAAAAAAAAAAAAAAAAAAAAAAAAAIMWsAQAAAAAAAAAAAAAAAAAAAAAAAAAAAAAASDFrAAAAAAAAAAAAAAAAAAAAAAAAAAAAAAAAUswaAAAAAAAAAAAAAAAAAAAAAAAAAAAAAACAFLMGAAAAAAAAAAAAAAAAAAAAAAAAAAA+e3dzHEeWnQH0dsfsCQ9IWUC8dICQBcRY0OBS2jTHgkFbIPZmtGzQAoEWCHQgH2iBQA8AC6hIKaPRHLIBvKpbVflzTgSiGROVVbe+W/FiVu8DAACAVVHWAAAAAAAAAAAAAAAAAAAAAAAAAAAAAAAArIqyBgAAAAAAAAAAAAAAAAAAAAAAAAAAAAAAYFWUNQAAAAAAAAAAAAAAAAAAAAAAAAAAAAAAAKuirAEAAAAAAAAAAAAAAAAAAAAAAAAAAAAAAFgVZQ0AAAAAAAAAAAAAAAAAAAAAAAAAAAAAAMCqKGsAAAAAAAAAAAAAAAAAAAAAAAAAAAAAAABWRVkDAAAAAAAAAAAAAAAAAAAAAAAAAAAAAACwKsoaAAAAAAAAAAAAAAAAAAAAAAAAAAAAAACAVVHWAAAAAAAAAAAAAAAAAAAAAAAAAAAAAAAArIqyBgAAAAAAAAAAAAAAAAAAAAAAAAAAAAAAYFWUNQAAAAAAAAAAAAAAAAAAAAAAAAAAAAAAAKuirAEAAAAAAAAAAAAAAAAAAAAAAAAAAAAAAFgVZQ0AAAAAAAAAAAAAAAAAAAAAAAAAAAAAAMCqKGsAAAAAAAAAAAAAAAAAAAAAAAAAAAAAAABWRVkDAAAAAAAAAAAAAAAAAAAAAAAAAAAAAACwKsoaAAAAAAAAAAAAAAAAAAAAAAAAAAAAAACAVVHWAAAAAAAAAAAAAAAAAAAAAAAAAAAAAAAArIqyBgAAAAAAAAAAAAAAAAAAAAAAAAAAAAAAYFWUNQAAAAAAAAAAAAAAAAAAAAAAAAAAAAAAAKuirAEAAAAAAAAAAAAAAAAAAAAAAAAAAAAAAFgVZQ0AAAAAAAAAAAAAAAAAAAAAAAAAAAAAAMCqKGsAAAAAAAAAAAAAAAAAAAAAAAAAAAAAAABWRVkDAAAAAAAAAAAAAAAAAAAAAAAAAAAAAACwKsoaAAAAAAAAAAAAAAAAAAAAAAAAAAAAAACAVVHWAAAAAAAAAAAAAAAAAAAAAAAAAAAAAAAArIqyBgAAAAAAAAAAAAAAAAAAAAAAAAAAAAAAYFWUNQAAAAAAAAAAAAAAAAAAAAAAAAAAAAAAAKuirAEAAAAAAAAAAAAAAAAAAAAAAAAAAAAAAFgVZQ0AAAAAAAAAAAAAAAAAAAAAAAAAAAAAAMCqKGsAAAAAAAAAAAAAAAAAAAAAAAAAAAAAAABWRVkDAAAAAAAAAAAAAAAAAAAAAAAAAAAAAACwKsoaAAAAAAAAAAAAAAAAAAAAAAAAAAAAAACAVfmLdTN3pXQnEXEcES/G/x5FxMsnfq1PEXEbETfj31VEXNfa3/phTMsf9vzHXT97ZMi7YZ9/3G+t/dXasvseeeaT6bLZby555pMpAAAAAAAAAAAAAAAAAAAAAAAAAABAmx++fPkiMmZlvIz4NCJOGkoZWn0aixsuXVp8GKV0R+Oeh7/XyUN8HHY77vdmLplsQ575ZLps9ptLnvlkCgAAAAAAAAAAAAAAAAAAAAAAAAAAsB1lDcxCKd3pHy4kfrbnmT+PFxa/c2Hx7pXSHUfE24j4aU8f+WHc7SJLOeSZT6bLZr+55JlPpgAAAAAAAAAAAAAAAAAAAAAAAAAAADmUNTBZpXQvxsuIzw5Q0PBn3kfEudKGfOO+LyLi1YFG+DjudhGXUcszn0yXzX5zyTOfTAEAAAAAAAAAAAAAAAAAAAAAAAAAAHIpa2BySulOxpKG1xPezi8R8a7W/nYCs8xaKd3RcPlzRPw8ke8xFHK8netu5ZlPpstmv7nkmU+mAAAAAAAAAAAAAAAAAAAAAAAAAAAAu6GsgckYSxqGy4hfzWQrnyPitNb+egKzzFIp3XFEXEbE84nNfzfu9moCszyZPPPJdNnsN5c888kUAAAAAAAAAAAAAAAAAAAAAAAAAABgd36ULYdWSndUSncREf89o6KGGC9OrqV0ZxOYZXbG3OoEL6AePBt+j6V05xOY5UnkmU+my2a/ueSZT6YAAAAAAAAAAAAAAAAAAAAAAAAAAAC79cOXL19EzMGU0r2NiPPx0t85e1Nrf+GX9DTj3v9jDrNGxPta+0kXcsgzn0yXzX5zyTOfTAEAAAAAAAAAAAAAAAAAAAAAAAAAAHZPWQMHUUp3FBFDucHrBW1AYcMTlNK9i4ifJz/o1yZ7EbU888l02ew3lzzzyRQAAAAAAAAAAAAAAAAAAAAAAAAAAGA/lDWwd6V0xxFxGRHPF5j+X2vtLycwxySV0g0XOf820/EndxG1PPPJdNnsN5c888kUAAAAAAAAAAAAAAAAAAAAAAAAAABgf5Q1sFeldCdjUcOz5M/9HBHX49/N+PeQoTDiKCJOxn9nzXM3vF+t/WOfvzqldKcR8V9J3/tjRFw9susX49+w41dJn/um1v4i6b22Is98Ml02+80lz3wyBQAAAAAAAAAAAAAAAAAAAAAAAAAA2C9lDexNKd3ReGFwRjHC3Vj6MPxd1drfbvNmpXRDYcNZRAwXJT/fcraPtfYnW77HopTSvRiLNLbZ/XDx9HAB9OUm+x4vwR52/HrLbEut/fWW77HdAPJMJ9Nls99c8swnUwAAAAAAAAAAAAAAAAAAAAAAAAAAgP1T1sDelNK9jYj/2PLzPgwXEdfaX+5q7lK64aLi8y1LG97U2l8kjjVrpXTDpc0vN/wOw+XT57X2VxkZjBdiv9viMurPEXG8bUHINuSZT6bLZr+55JlPpgAAAAAAAAAAAAAAAAAAAAAAAAAAAPunrIG9KaUbChD+vsHn3Q0FDcPFwbX2NzOYd/C51v5F8kiztOXeh8un3+3ie5fSnY6/q2cbPP5rrf3bHYz1KHnmk+my2W8ueeaTKQAAAAAAAAAAAAAAAAAAAAAAAAAAwGEoa2BvNryM+H1EvK21vz3EpkrpTiLicsOLit/U2l/sYKzZKKUbCiv+Z4N5P0fEaa399S6/ayndUURcRcTLDR7/11r7qx2M9afkmU+my2a/ueSZT6YAAAAAAAAAAAAAAAAAAAAAAAAAAACH86Ps2aOWwoWPwx3BtfZnhypqGIyXDA+FDXcbPH62g5Hm5t0G836KiONdX0Ad/7/f23G/nzZ4/HwHIz1Gnvlkumz2m0ue+WQKAAAAAAAAAAAAAAAAAAAAAAAAAABwIMoa2KfLJ3zWUIrwt1r7k31cQvwU4xxvN3j0VSndi/1PPA2ldMPlzq8bhxn2f7rPgo4tLqIe9ru3Qg555pPpstlvLnnmkykAAAAAAAAAAAAAAAAAAAAAAAAAAMBhKWtgb2rtbyLi1wc+b7gEeChpeDe1rdTaX0TEhw0ePd3BOHNxvsGcJ+PvZK/Gi6jPxkuwW2zyHTclz3wyXTb7zSXPfDIFAAAAAAAAAAAAAAAAAAAAAAAAAAA4IGUN7FWt/duIeP+dz/x1vID4esIbebvBMyc7mGPySumG7/2qcc5fDrn/8bNbL5V+Xkq380IOeeaT6bLZby555pMpAAAAAAAAAAAAAAAAAAAAAAAAAADA4SlrYO9q7c8i4l8i4m8R8Wb491DiUGt/O+Vt1NrfRMSHxsdWWdYQEWeNr/9ca996AXS6Wvt3EfGx8X03KfFoJc98Ml02+80lz3wyBQAAAAAAAAAAAAAAAAAAAAAAAAAAODBlDRzEUHwwXPhba38xliDMxUXjnM9K6Y7W9Csbv+9PjY+1Xlq9S62XSr8qpXuxq3nkmU+my2a/ueSZT6YAAAAAAAAAAAAAAAAAAAAAAAAAAADToKwBGtTaX26Q1/HKMm69UPpjrf3VjmZpVmt/HRHvG59rvbi6hTzzyXTZ7DeXPPPJFAAAAAAAAAAAAAAAAAAAAAAAAAAAYAKUNUC7j41PHK0s49ZLqN/taI5tXDQ+e7rDWeSZT6bLZr+55JlPpgAAAAAAAAAAAAAAAAAAAAAAAAAAABOgrAHa3TQ+cbyWjEvpXkTEy4ZHPtfaX+5wpI3U2l9FxKeGZ5+X0qXvWZ75ZLps9ptLnvlkCgAAAAAAAAAAAAAAAAAAAAAAAAAAMB3KGqBda1nDmpw2fteLCWfzrvH1ZzuYQZ75ZLps9ptLnvlkCgAAAAAAAAAAAAAAAAAAAAAAAAAAMBHKGoBMrRcxT/kS6svG15/sYAZ55pPpstlvLnnmkykAAAAAAAAAAAAAAAAAAAAAAAAAAMBEKGuAdlcy+1Yp3VFEvGx45FOt/c2+5mtVa38bER8bHntZSvci6/PlmZtnyDR2kemU2K8z6CHOoHzOIAAAAAAAAAAAAAAAAAAAAAAAAAAAYO6UNQBZThrfZw6lF5eNr2/NIPO95Jn/fjKdF/t1Bj3GGZTPGQQAAAAAAAAAAAAAAAAAAAAAAAAAAMyWsgZodyyz72q9gLn1gudDaL0o+5AXpcsz//1kOi/26wx6jDMonzMIAAAAAAAAAAAAAAAAAAAAAAAAAACYLWUN0O6o8YnblWTcVGJRa996wfPe1dpfR8Rdw+dmFnnIM78YRabLLpuxX2fQg5xB+ZxBAAAAAAAAAAAAAAAAAAAAAAAAAADAnClrgN27XknGrxpe+3GHc2Rr2d/LxM+WZ26eIdP/k53plNivM+gpnEH5nEEAAAAAAAAAAAAAAAAAAAAAAAAAAMAsKWuAdieNT9wuPeNSuuPGR+ZUYHHV8uJSutbfx/feQ56jjDxDpl/JynRK7PeeM+hRzqB8qz+DAAAAAAAAAAAAAAAAAAAAAAAAAACAeVLWAO1etDxRaz+nC5c3teRLqFtnbfp9/Al53svIM2T6laxMp8R+7zmDHuYMyucMAgAAAAAAAAAAAAAAAAAAAAAAAAAAZklZAzQopRsuGH7e8MinleTbevHyzY7m2IXWWTMuoZbnvaxLvWV6b4kXpdvvPWfQw6xP/F8AACAASURBVJxB+ZxBAAAAAAAAAAAAAAAAAAAAAAAAAADALClrgDYnja+/Wkm+xy0vrrWfTS619teNj7T+Rr5Hnvcy8gyZfiUr0ymx33vOoAc4g/I5gwAAAAAAAAAAAAAAAAAAAAAAAAAAgLlS1gBtlDV831HDa+/2OViSzw1v05JFxnvIM/99ZDo/9nvPGfQ4Z1C+tZ9BAAAAAAAAAAAAAAAAAAAAAAAAAADADClrgCcqpRsuFz5tzGstZQ2vGl57vcM5duWm4X1fJswgz3sZeYZMv5KV6ZTY7z1n0OOcQfnWfgYBAAAAAAAAAAAAAAAAAAAAAAAAAAAzpKwBnm4oanjW8PoPtfa38v3GHDNpmnks9tgXeeaT6bLZby555pMpAAAAAAAAAAAAAAAAAAAAAAAAAADAHihrgKc7a8zqcg3ZltKdND5yvaNRdql15uNNZ5Hnd22cZ8j0z2yV6ZTY73c5gx7mDMq32jMIAAAAAAAAAAAAAAAAAAAAAAAAAACYL2UN8ATjRcuvGrNaRVkDAAAAAAAAAAAAAAAAAAAAAAAAAAAAAMDcKGuApzlvzOl9rf3tSrI9anz9zY7m2KXrxvduzWSbZ+WZ/7xM58V+v+UMepgzKN+azyAAAAAAAAAAAAAAAAAAAAAAAAAAAGCmlDXAI0rpTiLiVWNO71aU63Hj6+d4CXVr8UZrJts8K8/852U6L/b7LWfQw5xB+dZ8BgEAAAAAAAAAAAAAAAAAAAAAAAAAADOlrAEed96Y0cda+2u5AgAAAAAAAAAAAAAAAAAAAAAAAAAAAABMk7IGeEAp3duIeNWYUWu5AwAAAAAAAAAAAAAAAAAAAAAAAAAAAAAAe6SsAf5EKd3RBsULH2vtr2T6oNsJz/ZnpjyzPPPJdNnsN5c888kUAAAAAAAAAAAAAAAAAAAAAAAAAABgD5Q1wJ+7iIhnjfmcrTDP45YX19pf726U3dhg5qZMtnlWnvnPy3R27PdbzqAHOIPyrfwMAgAAAAAAAAAAAAAAAAAAAAAAAAAAZkpZA3xHKd3biHjdmM2vtfY3K8zzaAIzTM02mcjzW9tmItNvLSkT+/2WMyiXMyifTAAAAAAAAAAAAAAAAAAAAAAAAAAAgINT1gD/pJTuOCLOG3P5vMEzAAAAAAAAAAAAAAAAAAAAAAAAAAAAAAAcgLIG+INSuqOIuIiIZ425vK21v5UlAAAAAAAAAAAAAAAAAAAAAAAAAAAAAMD0/cWO4CtDUcPLxkje19pfihEAgAz/9u//fhwRR8IEAAAAAAAAAAAAAAAAAAAAAAAAAFbg5j//8Y8bi+YQlDXAqJTuXUS8bszjc0S8lSEAAImG/1/6SqAAAAAAAAAAAAAAAAAAAAAAAAAAwAr8EhHnFs0h/Ch1+L+ihrOI+HmDKE5r7W9FCAAAAAAAAAAAAAAAAAAAAAAAAAAAAAAwH8oaWL1SupOI+G2DHP5Wa3+99vwAAAAAAAAAAAAAAAAAAAAAAAAAAAAAAOZGWQOrVkp3HBGXG2Twodb+3drzAwAAAAAAAAAAAAAAAAAAAAAAAAAAAACYo7/YGms1FjVcRcSzxgg+RcSZH87vbiLi1VNfXEp3VGt/u/ux8gwzN77ZzRYfLs9vbZNnyPS7ts10Suz3W86gBziD8q38DNqJ//zHP04W+LUAAAAAAAAAAAAAAAAAAAAAAAAAAGBSfrQO1miLooa7iDid2yXKO9Z64fLx7L5h+8zbXpTeQp75z8t0Xuz3W86ghzmD8q35DAIAAAAAAAAAAAAAAAAAAAAAAAAAAGZKWQOrU0p3FBEXGxQ1DE5q7V0wDAAAAAAAAAAAAAAAAAAAAAAAAAAAAAAwY8oaWJWxqOEqIl5u8L3f1Npf+8UAAAAAAAAAAAAAAAAAAAAAAAAAAAAAAMybsgZWI6Go4cKvBQAAAAAAAAAAAAAAAAAAAAAAAAAAAABg/pQ1sApbFjX8oqjhQVeNrz/e83wZThrfozWTbZ6VZ/7zMp0X+/2WM+hhzqB8az6DAAAAAAAAAAAAAAAAAAAAAAAAAACAmVLWwFpcbFjU8L7W/tyvJNXRgr7LFMgzn0yXzX5zyTOfTAEAAAAAAAAAAAAAAAAAAAAAAAAAAPZAWQOLV0o3FDW83uB7DkUNZ34hj7ptfP0cL6Funbk1k22elWf+8zKdF/v9ljPoYc6gfGs+gwAAAAAAAAAAAAAAAAAAAAAAAAAAgJlS1sCijUUNP23wHRU1PFGt/XXjI8cHG3ZzTTNvkMk2z8oz/3mZzoj9fssZ9ChnUL7VnkEAAAAAAAAAAAAAAAAAAAAAAAAAAMB8KWtgsRQ1cCB3gk8lz3wyXTb7zSXPfDIFAAAAAAAAAAAAAAAAAAAAAAAAAAAmQVkDi1RKd75hUcNHRQ0b+djw0KsJzf1ULTNfJ3yePO9l5Bky/UpWplNiv/ecQY9zBuVb+xkEAAAAAAAAAAAAAAAAAAAAAAAAAADMkLIGFqeUbihb+PsG3+tTRJz6RWzktuWhUrqj6Yz+sA1mvUn4WHney8gzZPqVrEynxH7vOYMe4AzK5wwCAAAAAAAAAAAAAAAAAAAAAAAAAADmSlkDizIWNfy2wXcaihpOau2bLlPmd9eNURzPKLrWWTMuoZbnvaxLvWV6b4kXpdvvPWfQw5xB+ZxBAAAAAAAAAAAAAAAAAAAAAAAAAADALClrYDEUNRzUki+hPml8/VXCZ8rzXkaeIdOvZGU6JfZ7zxn0MGdQPmcQAAAAAAAAAAAAAAAAAAAAAAAAAAAwS8oaWIRSulNFDQe15EuoXzS+/ibhM+V5LyPPkOlXsjKdEvu95wx6mDMonzMIAAAAAAAAAAAAAAAAAAAAAAAAAACYJWUNzF4p3XCh8cUG3+OzooYctfbDxct3DW92MuXv809aZr0bs9iKPH+XkmfI9I/SMp0S+/2dM+hxzqB8qz+DAAAAAAAAAAAAAAAAAAAAAAAAAACAeVLWwKyNRQ1XEfGs8XsMFyafKmpIdd3wZs9L6Y6m/oXGGZ83PNKSQeZ7yTP//WQ6P/brDHqQMyifMwgAAAAAAAAAAAAAAAAAAAAAAAAAAJgzZQ3M1pZFDSe19i4MznXV+G4nU/9CG8zYmkHme8kz//1kOi/26wx6jDMonzMIAAAAAAAAAAAAAAAAAAAAAAAAAACYLWUNzJKihklqvYD5dAbfqXXGQ16ULs/895PpvNivM+gxzqB8ziAAAAAAAAAAAAAAAAAAAAAAAAAAAGC2lDUwO6V0RxFxoahhWmrtWy9gPpnB12qZ8W6DDP6UPHPzDJnGLjKdEvt1Bj2BMyifMwgAAAAAAAAAAAAAAAAAAAAAAAAAAJgtZQ3MyljUMFz0+7JxbkUN+/Gh4VOel9IdT/WLjLM9b3hkFxdQyzOfTJfNfnPJM59MAQAAAAAAAAAAAAAAAAAAAAAAAAAAJkJZA7OxRVHD4ExRw160XsT8dsLfpXW2yx3MIM98Ml02+80lz3wyBQAAAAAAAAAAAAAAAAAAAAAAAAAAmAhlDczClkUNb2rtXRC8H605n467nZRxptPGmXbxG5NnPpkum/3mkmc+mQIAAAAAAAAAAAAAAAAAAAAAAAAAAEyEsgbm4mKLooYLW96PWvubiPjY8GHPNrjseR9Ox9me6kOt/W32XPLMJ9Nls99c8swnUwAAAAAAAAAAAAAAAAAAAAAAAAAAgOlQ1sDkldINZQuvN5hTUcNhtGZ+PsHv0DrT5Y7mCHnuhEyXzX5zyTOfTAEAAAAAAAAAAAAAAAAAAAAAAAAAACZAWQOTNhY1/LTBjIoaDme4kPmu4dOfl9KdTWX4cZbnDY/c7fi3Js98Ml02+80lz3wyBQAAAAAAAAAAAAAAAAAAAAAAAAAAmABlDUzWFkUNv7gU+HBq7W/Hi6hbvCulOzr07OMM7xofa319E3nmk+my2W8ueeaTKQAAAAAAAAAAAAAAAAAAAAAAAAAAwDQoa2CSSunONyxqeF9rf26rB9e6g2cbPLML5+MsLfZRDCLPfDJdNvvNJc98MgUAAAAAAAAAAAAAAAAAAAAAAAAAADgwZQ1MTindWUT8fYO5hqKGMxs9vFr7m2EfjYP8XEp3eqjhx8/+ufGx9+N33Sl55pPpstlvLnnmkykAAAAAAAAAAAAAAAAAAAAAAAAAAMDhKWtgUsaiht82mElRw/ScbzDRRSnd8b6/yfiZFxs8usl33JQ888l02ew3lzzzyRQAAAAAAAAAAAAAAAAAAAAAAAAAAOCAlDUwGYoalqXW/mbYTeOXehYRV/u8iHr8rKvxs1v8Mn7HvZBnPpkum/3mkmc+mQIAAAAAAAAAAAAAAAAAAAAAAAAAAByWsgYmYYuihg+KGibtbUTcNQ64t4uot7iAevhO73Y01kPkmU+my2a/ueSZT6YAAAAAAAAAAAAAAAAAAAAAAAAAAAAHoqyBgxsvAt7kQt9PEaGoYcJq7W8j4nyDCYdLoWsp3dtdfbvxvesGF1APzsbvtlfyzCfTZbPfXPLMJ1MAAAAAAAAAAAAAAAAAAAAAAAAAAIDD+eHLly/i52DGooarDS4CHooaTlwEPA+ldMOOX2047LDrt7X2VxlftpTuZCwHebnhW3yotT/NmGVT8swn02Wz31zyzCdTAAAAAAAAAAAAAAAAAAAAAAAAAACA/VPWwMGU0r2IiGtFDctXSncUETcb7PqPPkbERURctu5+/Pzh4uizLS7DHnyOiOND//bkmU+my2a/ueSZT6YAAAAAAAAAAAAAAAAAAAAAAAAAAAD7p6yBgymlu9ryQuC5GS4wPq+1v1jjr66U7jgiatLbDRdSX40XW9/84X8fLoc+Gv89lIEcj38Zv7O7sSTkOuG9tibPfDJdNvvNJc98MgUAAAAAAAAAAAAAAAAAAAAAAAAAANgvZQ0cRCndWUT8ttL039fan01gjr2b+d7/Wmt/OYE5fifPfDJdNvvNJc98MgUAAAAAAAAAAAAAAAAAAAAAAAAAANifH2XNgZyuOPifSumOJzDH3tXaX0TEmxmO/maKF1DLM59Ml81+c8kzn0wBAAAAAAAAAAAAAAAAAAAAAAAAAAD2R1kDh/J65cmvtqxihhdRvxlnniR55pPpstlvLnnmkykAAAAAAAAAAAAAAAAAAAAAAAAAAMB+KGsA9m681PmvEXE34fSH2cocLqCWZz6ZLpv95pJnPpkCAAAAAAAAAAAAAAAAAAAAAAAAAADsnrIG4CBq7S8j4iQiPk1wAx8j4rjW/noCszyJPPPJdNnsN5c888kUAAAAAAAAAAAAAAAAAAAAAAAAAABgt3748uWLiNm7UrqbiHi+4uT/Vmv/bgJzTEIp3XlE/H0Cs9xFxPncdyPPfDJdNvvNJc98MgUAAAAAAAAAAAAAAAAAAAAAAAAAAMj3o0w5kIuVB385gRkmo9Z+uIT6XyLi/QFnGj77eAkXUMszn0yXzX5zyTOfTAEAAAAAAAAAAAAAAAAAAAAAAAAAAPL98OXLF7Gyd6V0RxFxFREvV5j+r7X2bycwxySV0r2IiOFS6p/2MN/dWJxxXmt/M8O4HiXPfDJdNvvNJc98MgUAAAAAAAAAAAAAAAAAAAAAAAAAAMihrIGDGQsbhtKCs4h4voJNfIqId7X2FxOYZfLG38fp+Pc6cd67sShkuHz6stb+dqERfkWe+WS6bPabS575ZAoAAAAAAAAAAAAAAAAAAAAAAAAAALAdZQ3ALJTSnUTE8fj3Yvzvs0dmHy6cvo6Im/G/17X2VzYuz12Q6bLZby555pMpAAAAAAAAAAAAAAAAAAAAAAAAAABAG2UNAAAAAAAAAAAAAAAAAAAAAAAAAAAAAADAqvxo3QAAAAAAAAAAAAAAAAAAAAAAAAAAAAAAwJooawAAAAAAAAAAAAAAAAAAAAAAAAAAAAAAAFZFWQMAAAAAAAAAAAAAAAAAAAAAAAAAAAAAALAqyhoAAAAAAAAAAAAAAAAAAAAAAAAAAAAAAIBVUdYAAAAAAAAAAAAAAAAAAAAAAAAAAAAAAACsirIGAAAAAAAAAAAAAAAAAAAAAAAAAAAAAABgVZQ1AAAAAAAAAAAAAAAAAAAAAAAAAAAAAAAAq6KsAQAAAAAAAAAAAAAAAAAAAAAAAAAAAAAAWBVlDQAAAAAAAAAAAAAAAAAAAAAAAAAAAAAAwKooawAAAAAAAAAAAAAAAAAAAAAAAAAAAAAAAFZFWQMAAAAAAAAAAAAAAAAAAAAAAAAAAAAAALAqyhoAAAAAAAAAAAAA+F/27uiojSwLwPCB8rvZCEwG1u0EUAbDRgAbwSgD4ww0EaydAY5g5QT6ighWzgAi6K2ukavYGRBINFaj831VPFm6un2OC73xAw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Yg0AAAAAAAAAAAAAAAAAAAAAAAAAAAAAAEAq76wbAAAAAAAAAAAAAAAAAABgfEppphFxHhGTiDi7d8HvEbGMiHmt7crqAAAAAAAAAABge0dd1xkbAAAAAAAAAAAAAAAAAADASJTS9HGG+V8CDY/5FhEz0QYAAAAAAAAAANiOWAMAAAAAAAAAAAAAAAAAAMBIlNJcRsS/t7zNXURMa22X9ggAAAAAAAAAAM8j1gAAAAAAAAAAAAAAAAAAADACO4Ya7iuCDQAAAAAAAAAA8DxiDQAAAAAAAAAAAAAAAAAAAHtWSjOJiPrCW9xFxGmt7a19AgAAAAAAAADAZsfmAwAAAAAAAAAAAAAAAAAAsHfzAS7wfqBzAAAAAAAAAADg4B11XWfLAAAAAAAAAAAAAAAAAAAAe1JKM4mIOuCn/6PW9tY+AQAAAAAAAADgccdmAwAAAAAAAAAAAAAAAAAAsFeXA3/4uXUCAAAAAAAAAMBmYg0AAAAAAAAAAAAAAAAAAAD7NRn406f2CQAAAAAAAAAAm4k1AAAAAAAAAAAAAAAAAAAA7NfZwJ9+ap8AAAAAAAAAALCZWAMAAAAAAAAAAAAAAAAAAAAAAAAAAAAAAJCKWAMAAAAAAAAAAAAAAAAAAMB+3Zk/AAAAAAAAAAD8WmINAAAAAAAAAAAAAAAAAAAA+7Uc+NOHPg8AAAAAAAAAAA6OWAMAAAAAAAAAAAAAAAAAAMB+LQb+dLEGAAAAAAAAAAB4glgDAAAAAAAAAAAAAAAAAADAfn0Z8NPvIuLaPgEAAAAAAAAAYDOxBgAAAAAAAAAAAAAAAAAAgD2qtV1FxNeBbjCvtb21TwAAAAAAAAAA2EysAQAAAAAAAAAAAAAAAAAAYP+uIuLuhbe46WMNdgkAAAAAAAAAAE8TawAAAAAAAAAAAAAAAAAAANizWttVRExfEGzo33dZa3trlwAAAAAAAAAA8DSxBgAAAAAAAAAAAAAAAAAAgBGotV3uGGy46d+3fj8AAAAAAAAAAPAMR13XmRMAAAAAAAAAAAAAAAAAAMBIlNKcRMQ8Ii6euFEfdZjX2l7ZHQAAAAAAAAAAbEesAQAAAAAAAAAAAAAAAAAAYITW0YbziJhGxOm9Gy7XP9e1trd2BwAAAAAAAAAA2xNrAAAAAAAAAAAAAAAAAAAAAAAAAAAAAAAAUjm2bgAAAAAAAAAAAAAAAAAAAAAAAAAAAAAAIBO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9ROwqQAAIABJREFUAAAAAAAAAAAAAAAAIBWxBgAAAAAAAAAAAAAAAAAAAAAAAAAAAAAAIBWxBgAAAAAAAAAAAAAAAAAAAAAAAAAAAAAAIBWxBgAAAAAAAAAAAAAAAAAAAAAAAAAAAAAAIBWxBgAAAAAAAAAAAAAAAAAAAAAAAAAAAAAAIBWxBgAAAAAAAAAAAAAAAAAAAAAAAAAAAAAAIBWxBgAAAAAAAAAAAAAAAAAAAAAAAAAAAAAAIBWxBgAAAAAAAAAAAAAAAAAAAAAAAAAAAAAAIBWxBgAAAAAAAAAAAAAAAAAAAAAAAAAAAAAAIJV31g0AAAAAAAAAAAAAAAAAAPB3pTSnEXEeESf3/nEVEYta25WRAQAAAAAAAADA23XUdZ31AQAAAAAAAAAAAAAAAAAArJXSTCPiKiLONszke/+aWtuFuQEAAAAAAAAAwNsj1gAAAAAAAAAAAAAAAAAAAPBnpOEkIuYRcbHFPP6otZ1lnt86btH/TCKin+Fq/bOstb0ewRUBAAAAAAAAAOBvxBoAAAAAAAAAAAAAAAAAAID01qGGRUR83GEWN32soNb2NtMcS2kuI+IqIj5seNldRPTBhqta29UvvB4AAAAAAAAAAGwk1gAAAAAAAAAAAAAAAAAAAKT2wlDDTze1tpMMc1zPax4RF1u+9XOt7dUrXQsAAAAAAAAAALZybFwAAAAAAAAAAAAAAAAAAEBysxeGGnofS2myhAh2CTX0PpXSfHmF+wAAAAAAAAAAwNbEGgAAAAAAAAAAAAAAAAAAgOxmAz3/rJTm5JBnuQ5S7BJq+OmilGY+7K0AAAAAAAAAAGB7Yg0AAAAAAAAAAAAAAAAAAEBapTTnEfF+oOfvzzk/1FmW0pxGxKcBjvp9fRYAAAAAAAAAAOyNWAMAAAAAAAAAAAAAAAAAAJDZdOBnH/q8Mbka8C6ztz8OAAAAAAAAAADeMrEGAAAAAAAAAAAAAAAAAAAgs8nAz356iLMspemf62LAI88HPAsAAAAAAAAAALYm1gAAAAAAAAAAAAAAAAAAAMBTpgNP6EMpzYmpAwAAAAAAAACwL2INAAAAAAAAAAAAAAAAAAAAPGXyChN6jTMBAAAAAAAAAOBZ3hkTAAAAAAAAAAAAAAAAAGynlOZk/Qemp/feuIiIZa3trXECvCl+bz+PsAIAAAAAAAAAAAdFrAEAAAAAAAAAAAAAAAAAnqmU5jQiriLi4oF3fIo/X/O9f02t7cJcAd6E/vf1bwNedGntAAAAAAAAAAAwfsd2BAAAAAAAAAAAAAAAAABPK6WZR8R/Hwk13HcWEf8ppbkupTkxWoDRux74goca63mN57p9hTMBAAAAAAAAAOBZxBoAAAAAAAAAAAAAAAAA4AmlNF8i4vct5/Rb/4etBRsAxq3WdhURXwe65F2t7dDxh7FYDn2PWtvBzwQAAAAAAAAAgOcSawAAAAAAAAAAAAAAAACADdahhosdZ/SxDzaYL8DoXfWhhQEuOT/UVa8jFEPM6KdvA54FAAAAAAAAAABbE2sAAAAAAAAAAAAAAAAAgEeU0py/INTw08dSmiszBhivWttVRExfGCO4qbU99N/3Qz7fwYYtAAAAAAAAAAB4G8QaAAAAAAAAAAAAAAAAAOBxQ/0h6VkpzYk5A4xXre1yHWz4scMl+8jD5aGvt9a2/178OsBR32ptFwOcAwAAAAAAAAAAOxNrAAAAAAAAAAAAAAAAAIAHlNJMIuLDQLN5n+GPeAO8dX2wodb2dMsgQR93mK5jDxnMIuLmBc954zsRAAAAAAAAAIAxEGsAAAAAAAAAAAAAAAAAgIedDzyXqTkDvA21tn1M4F/rEMNj7iLic0RMEoUa+tncrr/Tdgk2/FFrO1mfAQAAAAAAAAAAe3XUdZ0NAAAAAAAAAAAAAAAAAMBflNIsIuJswLn8qLU9NWeAt6WUZvpAcGdZa3udfZWlNFcR8ekZL+3DDrNa28UvuBYAAAAAAAAAADyLWAMAAAAAAAAAAAAAAAAAPOAVYg1Ra3tk1gAcklKaPkQ0i4jJX743+0DDMiK+iDQAAAAAAAAAADBG72wFAAAAAAAAAAAAAAAAAACAXdTartaxBgAAAAAAAAAAeFOOrQsAAAAAAAAAAAAAAAAAHnQ78Fh+GDMAAAAAAAAAAADAOIg1AAAAAAAAAAAAAAAAAMDDFgPPZWnOAAAAAAAAAAAAAOMg1gAAAAAAAAAAAAAAAAAAD7seeC5DnwcAAAAAAAAAAADAjo66rjM7AAAAAAAAAAAAAAAAAHhAKc0iIs4GmM1dre2JGQMAAAAAAAAAAACMw7E9AAAAAAAAAAAAAAAAAMCjZgONZqhzAAAAAAAAAAAAABiAWAMAAAAAAAAAAAAAAAAAPKLWdhkRn184n6+1tl/MGAAAAAAAAAAAAGA8jrqusw4AAAAAAAAAAAAAAAAA2KCUpo8tXOwwoz7UcGm2AAAAAAAAAAAAAONybB8AAAAAAAAAAAAAAAAAsNk6uPDPiLjbYlSfhRoAAAAAAAAAAAAAxumo6zqrAQAAAAAAAAAAAAAAAIBnKKU5iYhZRPQRhg8PvONHRFxHxLzWdmWmAAAAAAAAAAAAAOMk1gAAAAAAAAAAAAAAAAAAO1iHGyb33rkSaGBfSmn6gMg0Ik7vXeE2IhZ9QMT/TQAAAAAAAAAAAPh/Yg0AAMD/2Luj4zaOLQ3Ahyy9kxsBuREQ3QkIjsDYCERFYDoCQRFcKoJLRbBwBIYSmIYiuGQGYATYantcpau9lkigQWEw31eF8oNmerrP6Rk+uX8AAAAAAAAAAAAAAAYqpTyPiJuIOPvOCj5FxLXQBgAAAAAAAAAAAPiTsAYAAAAAAAAAAAAAAAAAgIFJKZ9HxDIirp4x88ca7FBKd6ffAAAAAAAAAAAAjJ2wBgAAAAAAAAAAAAAAAACAAdkyqOFLbwU2AAAAAAAAAAAAMHanYy8AAAAAAAAAAAAAAAAAAMDALHYIaqj+mVKeaDoAAAAAAAAAAABjJqwBAAAAAAAAAAAAAAAAAGAgUsrXEfG6wWzv9BwAAAAAAAAAAIAxE9YAAAAAAAAAAAAAAAAAADAc80YzvUopz/QdAAAAAAAAAACAsRLWAAAAAAAAAAAAAAAAAAAwACnlSURcNJzptb4DAAAAAAAAAAAwVsIaAAAAAAAAAAAAAAAAAACGYdZ4llN9BwAAAAAAAAAAYKyENQAAAAAAAAAAAAAAAAAADMN541me6TsAAAAAAAAAAABjJawBAAAAAAAAAAAAAAAAAGAYJvoEAAAAAAAAAAAAbQhrAAAAAAAAAAAAAAAAAAAYhnt9AgAAAAAAAAAAgDaENQAAAAAAAAAAAAAAAAAADEPrsIZHfQcAAAAAAAAAAGCsXuk8AAAAAAAAAAAAAAAAAMAgLCPiXcOJLrWdQ5ZSvoyIWf/70qru31K6hQYCAAAAAAAAAADbOtlsNooHAAAAAAAAAAAAAAAAADAAKeX7iLhoNNO3pXR3+s6h6UMa5hHx5jtTe4yI21K6uSYCAAAAAAAAAADPdapiAAAAAAAAAAAAAAAAAACDcdtoog+CGjhEKeVJRKyeENRQnUXEu5SyvQwAAAAAAAAAADzbyWazUTUAAAAAAAAAAAAAAAAAgIFIKdeD7K92nO1PpXRLPeeQ9EENyz6E4bk+lNLdaCh/J6V8GRGziKj/nfSX1f12HxGLUrq14gEAAAAAAAAAjIuwBgAAAAAAAAAAAAAAAACAAekPHF9teaB99b6Ubq7nHJKU8nm/ry92mJYQEv6flPI0Iuo37/V3qvOxXldKd6+KAAAAAAAAAADjcKrPAAAAAAAAAAAAAAAAAADD0R8kXg8f/7zFpH8V1MCBut0xqKG601z+UgNAUsp1X/3+hKCG6k1E/Cul7BsJAAAAAAAAADASJ5vNRq8BAAAAAAAAAAAAAAAA4AillGcRMel/5xGxjohVRCxL6ZZ6Pmz1IPKIqIeK//KEhXyq1+o7hyilfB0R/2w0tbeldEIbqPvqrg9g2MbHUrprVQQAAAAAAAAAOG7CGgAAAAAAAAAAAAAAAADgiKSUL/sD/GtQw9k3VvbQH97vUPOB60Mb6qHi0z6Y4yIiHvtgjvpbCGngkKWU7/t928JvpXQzDR+3lHL9O/huxyIIbAAAAAAAAAAAOHLCGgAAAAAAAAAAAAAAAADgSGx5OLXDqIEfJqVcQ0Z+b/n8UroTHR2vPsDm/juBRU/1VqgRAAAAAAAAAMDxOtVbAAAAAAAAAAAAAAAAABi2ejB1Svlui6CG6k1/L8CPMG39zD4AgvG6aRTUUM3tIwAAAAAAAACA4yWsAQAAAAAAAAAAAAAAAACGrx4m/WaHVdTAhhv7AIAjMGu4hAvhHwAAAAAAAAAAx0tYAwAAAAAAAAAAAAAAAAAMWEr5MiJ+abCCeUr53F4AYOCuGk9fWAMAAAAAAAAAwJES1gAAAAAAAAAAAAAAAAAAw3bTaPZnEXFtLwDAv5koBwAAAAAAAADAcRLWAAAAAAAAAAAAAAAAAADDNms4+5ZjATzFqnWVSumWKk9D54oJAAAAAAAAAHCchDUAAAAAAAAAAAAAAAAAwECllC8j4qLh7F/bC8BLKqVbRMRjw0d+1EAau1dQAAAAAAAAAIDjJKwBAAAAAAAAAAAAAAAAAIbrUu+AI3DbcAl3NsToPTQugLAGAAAAAAAAAIAj9UpjAQAAAAAAAAAAAAAAAAD+Xkq5hmJMvwrHWEfEopTOId6wuxrWcB0RFzuO9KGUbqkfo1f3wJuGRViNvaAAAAAAAAAAAMfqZLPZaC4AAAAAAAAAAAAAAAAADFBKuQYI/N5y5qV0J/bCn/r6ziPi9Tcu+1SvcUA87CalPOkP2T/bcqDPpXQTbaDx38bHUrrz0RcVAAAAAAAAAOBInWosAAAAAAAAAAAAAAAAAAzWSuvaSymfp5Rv+8O+vxXUEP2//55Svqv3DXG9cAhK6er3rB6y/3mL6Xzq74Xow3O22Uf/yUJFAQAAAAAAAACOl7AGAAAAAAAAAAAAAAAAABioUrp1RDw0nP2nse+FPnChHvT9yzNvfVPvE9gA26uBDaV0k4h4/8RB6vfvbSndtP8ewl9uGlVirqIAAAAAAAAAAMdLWAMAAAAAAAAAAAAAAAAADNtdw9kv7IU/ghqutrz3qr8f2EEpXT0g/78i4teI+K0Pkvny9yEi/qeU7rKUruU3kCNRSrfs98ku3pfS3dsTAAAAAAAAAADH62Sz2WgvAAAAAAAAAAAAAAAAAAxUSvkyIlYRcbbjCh4joh58vh7rXkgp1wPi3zUY6n1/2DwAP1BKebVlAM/HUrprvQMAAAAAAAAAOG6n+gsAAAAAAAAAAAAAAAAAw1VKdx8Rtw0WMB95UMN5RNw0Gq7VOADsZhoRvz1zhA+CGgAAAAAAAAAAxkFYAwAAAAAAAAAAAAAAAAAMXCndPCI+7rCKj6V0LQIfhmwWEWeN5n+WUp6Ns4wAh6OGEJXS1e/xT98JbXioIQ0R8d+ldAJ3AAAAAAAAAABG4pVGAwAAAAAAAAAAAAAAAMBR+Otw6TfPXEwNari2BWK6h/EWjccEYAuldMuIqL9IKU8i4vyLUVY11EFdAQAAAAAAAADGR1gDAAAAAAAAAAAAAAAAAKOTUr6MiMsv190f5DxY/UHT1ynl+z644ew7a3mMiNtSurk34A+XT7jmOSb7nS4A2yilWykcAAAAAAAAAAAhrAEAAAAAAAAAAAAAAACAsUgpT/oQg9l/CjJIKdfwgnkp3e2QS1LDF1LKt1+s9eqrSz5HxKIPalj/oGkCAAAAAAAAAAAA/FAnm81GBwAAAAAAAAAAAAAAAAA4Winl84i4i4ifn7jGTzXkQJDBuKSUlxHxuuGiP5XSTcdeVwAAAAAAAAAAADhUpzoDAAAAAAAAAAAAAAAAwLFKKU8iYvWMoIboD+xf9iEPsC1hHwAAAAAAAAAAAHDAhDUAAAAAAAAAAAAAAAAAcJT6oIZlRFxssb6riFjYGaOyarzY5dgLCgAAAAAAAAAAAIdMWAMAAAAAAAAAAAAAAAAAx+ouIs52WNvrlPKN3TEarcMVhH0AAAAAAAAAAADAARPWAAAAAAAAAAAAAAAAAMDRSSnPI+KqwbrmKeVzO+T4ldLVcIXHRgv9WEp3P/aaAgAAAAAAAAAAwCET1gAAAAAAAAAAAAAAAADAUenDFW4areksIq7tkNG4bbDQx4b7DwAAAAAAAAAAANgTYQ0AAAAAAAAAAAAAAAAAHJtpH7LQirCGkSilm0fE5x1WW4MapqV067HXEgAAAAAAAAAAAA6dsAYAAAAAAAAAAAAAAAAAjs2k8XquUsrndsloXPehC8/10Ac1rMZeQAAAAAAAAAAAABgCYQ0AAAAAAAAAAAAAAAAAHJvWYQ2xpzE5QH3YwrQPX3iqj6V0l4IaAAAAAAAAAAAAYDhe6RUAAAAAAAAAAAAAAAAAR+ZcQ9lFDV1IKdeAjpv+d/Y3w9VAh3kp3d3YCp5SnvYhJn+9b+uIWAqsAAAAAAAAAAAAYChONpuNZgEAAAAAAAAAAAAAAABwNFLK84h413g9P5XSLe2ScUopz/pggi8tx7YnUsrnfXjFdURc/M1lNcCihlfcltKtX3iKAAAAAAAAAAAA8GTCGgAAAAAAAAAAAAAAAAA4KinlepD8PxuvSVgDo5ZSrmEVi2+ENHythjbMSulWY68dAAAAAAAAAAAAh+lUXwAAAAAAAAAAAAAAAAA4MovGy3kU1MCY9UENy2cENUR/7TKlPLN5AAAAAAAAAAAAOETCGgAAAAAAAAAAAAAAAAA4KqV064j42HBNrcMfYDBSypd9UMPZFnOu99z1YQ8AAAAAAAAAAABwUIQ1AAAAAAAAAAAAAAAAAHCMbiLiscG6HvuxYKzutgxq+MuZwBMAAAAAAAAAAAAOkbAGAAAAAAAAAAAAAAAAAI5OKd06ImYN1nXTjwWjk1KeRMTrBuu+SCnP7SAAAAAAAAAAAAAOibAGAAAAAAAAAAAAAAAAAI5SKd0yIt5GxOOW6/tQSndndzBi1w2X3nIsAAAAAAAAAAAA2JmwBgAAAAAAAAAAAAAAAACOVh+2MI2Ih2eu8ddSuhs7g5GbNlz+RUq55XgAAAAAAAAAAACwk1fKBwAAAAAAAAAAAAAAAMAxK6VbpZQnEXHT/86+sdxP9Zp6j00BcdW4BPU9XCrrMKSULyNiFhHnX0z4vvawlO5+7PUBAAAAAAAAAACG72Sz2WgjAAAAAAAAAAAAAAAAAKORUr7uD42f9GteR0QNZ1gIaXhZfYhGPQx++tWD7/t+LI69Bocspdz6f0J9X0o3P64qHZ+Ucn0fa59ef2NxNdhmXkonfAMAAAAAAAAAABgsYQ0AAAAAAAAAAAAAAAAAwIt64mHw1WN/IPytDr08YQ3jklI+j4j6rr15xsI/lNLdjL12AAAAAAAAAADAMJ3qGwAAAAAAAAAAAAAAAADwUlLK9bD+358Q1FCdRcQ/UsrL/iB5hm2tf4epf7+WzwxqqH5JKa+8nwAAAAAAAAAAwBAJawAAAAAAAAAAAAAAAAAAXkRK+TYi3m3xrBrsILDh5T00fuJyCIsemy+CGq62XPqV3gIAAAAAAAAAAEMkrAEAAAAAAAAAAAAAAAAA2LuU8iwiftnhOfVA+DudelGrhg97KKVrOR7t3OwQ1PCXq5TyXE8AAAAAAAAAAIAhEdYAAAAAAAAAAAAAAAAAAOxVSvm8UdDCzynlqW69mEXDBwnaOED9u/mu0cxu+vEAAAAAAAAAAAAGQVgDAAAAAAAAAAAAAAAAALBv1xFx1ugZc916MTWs4aHBw+oYtwNZ89hcN1xvfcdnYy8oAAAAAAAAAAAwHMIaAAAAAAAAAAAAAAAAAIB9a3kg/OuU8qWO7V8p3bo/fP9xh4fVe2f9WByeaeMZtR4PAAAAAAAAAABgb4Q1AAAAAAAAAAAAAAAAAAD7dtV4fAfCv5BSulUftrFNYEO957ofg8N03nhWglQAAAAAAAAAAIDBENYAAAAAAAAAAAAAAAAAAOxNSnkfwQoOhH9BpXSLPiDj4RlPrddO+3sBAAAAAAAAAADg4AhrAAAAAAAAAAAAAAAAAADgm0rpVhExiYj33wltqP/2vpTusr8HAAAAAAAAAAAADtIrbQEAAAAAAAAAAAAAAAAA4HtK6dYRMa+/lHINbphGxHl/W/23VSndUiEH5T4iXo+9CAAAAAAAAAAAwDgJawAAAAAAAAAAAAAAAAAA9qYe3p9Sbj38vY79WKV0qxrOMOYaHIkarvGm4VLsCfgbKeUacDP5KuRm2X9PAQAAAAAAAAD4AYQ1AAAAAAAAAAAAAAAAAAD79jkirho+Y6lj0MQiIm4j4qzReN5N+EJKuQYz3ETEdURc/KfapJQfIuKuvouldGv1AwAAAAAAAAB4OadqDQAAAAAAAAAAAAAAAADs2V3D4T+V0t1rGOyuPxi+1fv5WEq30Bb4U0q5hjTUv1fv/i6ooXfRX7NKKU+UDwAAAAAAAADg5QhrAAAAAAAAAAAAAAAAAAD2rR4G/9joGXPdgqbqO/XQYMBbbYE/pZTr371/RMTZM0pSQxuWKeWZMgIAAAAAAAAAvAxhDQAAAAAAAAAAAAAAAADAXpXSrSPipsEzfiulW+oWtNO/n7MdA1U+l9IJUoE/gxrqu/Bmy1rUcIe7lPJELQEAAAAAAAAA9k9YAwAAAAAAAAAAAAAAAACwd6V0dxHxcYfnfI6Ia52C9krpVhEx7d+z53r0bsKf+pCFdzuWowY2LJQUAAAAAAAAAGD/hDUAAAAAAAAAAAAAAAAAAC+ilK4e6P5hi2fVA+SnpXRrnYL9qIENpXSTZ4aqPPTv5kpb4A83jcpwkVIWggIAAAAAAAAAsGfCGgAAAAAAAAAAAAAAAACAF1NKVw+y/qk/5P17HiPifT1AXlADvIw+VOXtd97RP97NiJgIaoA/pZTPI+JNw3JMlRYAAAAAAAAAYL9ONpuNEgMAAAAAAAAAAAAAAAAALy6lXA+intUD3/vfWUR8ioj7iFhGxEJIA/w4/Tv69YHxq1K6hbbAv0sp179n/9uwLJ9K6QQ2AAAAAAAAAADskbAGAAAAAAAAAAAAAAAAAAAA2EFKeR4R7xrW8LGU7lxPAAAAAAAAAAD251RtAQAAAAAAAAAAAAAAAAAAAAAAAAAAAACAMRHWAAAAAAAAAAAAAAAAAAAAAIdlpR8AAAAAAAAAAPslrAEAAAAAAAAAAAAAAAAAAAB2s25cv3v9AAAAAAAAAADYL2ENAAAAAAAAAAAAAAAAAAAAsJtl4/q1Hg8AAAAAAAAAgK8IawAAAAAAAAAAAAAAAAAAAIAdlNKtIuKhUQ0fI2KhHwAAAAAAAAAA+yWsAQAAAAAAAAAAAAAAAAAAAHZ316iGt6V0a/0AAAAAAAAAANgvYQ0AAAAAAAAAAAAAAAAAAACwu9uIeNxxlId+HAAAAAAAAAAA9kxYAwAAAAAAAAAAAAAAAAAAAOyolG4dEfMdRqlBD7N+HAAAAAAAAAAA9kxYAwAAAAAAAAAAAAAAAAAAADRQSncbER+3GKkGNdyU0q30AQAAAAAAAADgZQhrAAAAAAAAAAAAAAAAAAAAgEZK6a4j4v0zRnuIiGkp3Z0eAAAAAAAAAAC8nJPNZqPcAAAAAAAAAAAAAAAAAAAA0FBK+TIianDDLCKuvhq5BjSsImIhpAEAAAAAAAAA4McQ1gAAAAAAAAAAAAAAAAAAAAAAAAAAAAAAAIzKqXYDAAAAAAAAAAAAAAAAAAAAAAAAAAAAAABjIqwBAAAAAAAAAAAAAAAAAAAAAAAAAAAAAAAYFWENAAAAAAAAAAAAAAAAAAAAAAAAAAAAAADAqAhrAAAAAAAAAAAAAAAAAAAAAAAAAAAAAAAARkVYAwAAAAAAAAAAAAAAAAAAAAAAAAAAAAAAMCqvtBsAAAAAAAAAAAAAAACAQ5dSnkTELCLqf8/76a7qr5TuTgMBAAAAAAAAAAAAeI6TzWajYAAAAAAAAAAAAAAAAAAcpD6k4TYiXn9nfp/rdYIb4DillKdfhbWsI2JZSrfScgAAAAAAAAAAALYhrAEAAAAAAAAAAAAAAACAg5RSvomIfzxzbg8RMXOAOwxfSrkGM9TvwHVEXPzNguo7f9eHtay1HQAAAAAAAAAAgKcS1gAAAAAAAAAAAAAAAADAwUkp30bEL1vO6zEipgIbYLhSypOIWHwjpOFrgloAAAAAAAAAAAB4llPlAgAAAAAAAAAAAAAAAOCQpJSvdwhqqM4iYplSvtRYGJ6U8qy+w88Iaoj+2mV/LwAAAAAAAAAAAHyXsAYAAAAAAAAAAAAAAAAADkZK+TwibhvM56zROMALSilPIuKuf4efq95z148BAAAAAAAAAAAA3/RKeQAAAAAAAAAAAAAAAAA4ILdbHtL+n/ycUr4spbvXYDh8fVjLYsdvwFk/xuVQW16/WxExi4hpRJx/9c+riFiW0i1+0PQAAAAAAAAAAACOxslms9FNAAAAAAAAAAAAAAAAAH64/qD2+4ZhDdWvpXS3uguHL6U8j4h3jSb6tpTubkht70Ma6vfq5ydc/livLaWbv8DUAAAAAAAAAAAAjtKptgIAAAAAAAAAAAAAAABwICaNgxqqqebCYFw3nOhsSAvvgyr+9cSghui/le9Syqs+6AYAAAAAAAAAAIBneqVgAAAAAAAAAAAAAAAAABwxh5jDAKSUa7DKRcOZTgay7vqNuo2IN1sOcRURC8E0AAAAAAAAAAAAz3eqZgAAAAAAAAAAAAAAAAAA/GCtwxVaBj/s080OQQ1/eZ1Svj74lQIAAAAAAAAAABwYYQ0AAAAAAAAAAAAAAAAAHLOV7sIgnI+0TTeNxpk3GgcAAAAAAAAAAGA0hDUAAAAAAAAAAACIvpr1AAAgAElEQVQAAAAAcCj2EawgrAE4SCnlWUScNZrbRT8eAAAAAAAAAAAATySsAQAAAAAAAAAAAAAAAICDUEq3jojPDefyWEp3p7swCOsRtml64OMBAAAAAAAAAAAcNWENAAAAAAAAAAAAAAAAAByS24ZzWegsDMaq8URbBr/sy6TxuK3HAwAAAAAAAAAAOGrCGgAAAAAAAAAAAAAAAAA4JDVg4bHRfOY6C8NQSreMiIeGk11qPQAAAAAAAAAAAN8irAEAAAAAAAAAAAAAAACAg1FKt46I6wbzeV9Kd6+zMCh3DSfbciwAAAAAAAAAAACOkLAGAAAAAAAAAAAAAAAAAA5KKd0iIj7sMKePpXRzXYVh6d/bhwaT/lRKt9J+AAAAAAAAAAAAvkVYAwAAAAAAAAAAAAAAAAAHp5TuJiLebzGvGtRwraMwWLOIeNxh8vXeoXwD7huPt248HgAAAAAAAAAAwFET1gAAAAAAAAAAAAAAAADAQSqlm0fETxHx2xPmVw9ofyuoAYatlG7Vhy1sE9hQ75mW0rUOQdiXZeNxW48HAAAAAAAAAABw1E42m40OAwAAAAAAAAAAAAAAAHDwUsqziJjUw9i/mGs92H1ZSrfQQTgeKeX6rtf3+uKJi3qIiFkf9jAIKeXziKjBEmeN5vtfpXRrrwEAAAAAAAAAAMDTCGsAAAAAAAAAAAAAAAAAAODg9GEGNxFx/Y3QhhrScFdKNx9iB1PKdd7vGgz1fqg1AAAAAAAAAAAA+FGENQAAAAAAAAAAAAAAAAAAcNBSypOImEbEeT/PdUSsSumWQ+9cSnkVEVc7DPG5lG7ScEoAAAAAAAAAAACj8EqbAQAAAAAAAAAAAAAAAAA4ZKV0NdBgdaRNqiEUyy0DGz739wMAAAAAAAAAAPBMJ5vNRs0AAAAAAAAAAAAAAAAAAOAHSinfRsQvz5jBx4i4KaVb6xsAAAAAAAAAAMDzCWsAAAAAAAAAAAAAAAAAAIADkFKeRsQ8Il5/Yzaf6jWldEs9AwAAAAAAAAAA2J6wBgAAAAAAAAAAAAAAAAAAOCAp5cuIqMENl1/Mah0Ri1K6e70CAAAAAAAAAADYnbAGAAAAAAAAAAAAAAAAAAAAAAAAAAAAAABgVF5pNwAAAAAAAAAAAAAAAAAAAByflPI0IiYRcd4vbh0Ry1K6lXYDAAAAAAAAAGN3stlsxl4DAAAAAAAAAAAAAAAAAAAAOAop5RrMcBMR1xFx8TdreoiIu4i4LaVb6zwAAAAAAAAAMEbCGgAAAAAAAAAAAAAAAAAAAOAIpJQnEbH4RkjD12pow6yUbqX/AAAAAAAAAMDYnOo4AAAAAAAAAAAAAAAAAAAADFtKeRYRy2cENUR/7bK/FwAAAAAAAABgVE42m42OAwAAAAAAAAAAAAAAAAAAwECllCd9UMPZlit4jIhpKd3KHgAAAAAAAAAAxuJUpwEAAAAAAAAAAAAAAAAAAGCYUsrnEbHYIagh+nsXtgAAAAAAAAAAMCbCGgAAAAAAAAAAAAAAAAAAAGC4biLiosHsL1LK1/YBAAAAAAAAADAWwhoAAAAAAAAAAAAAAAAAAABguFoGLEztAwAAAAAAAABgLIQ1AAAAAAAAAAAAAAAAAAAAwACllGu4wkXDmV/aBwAAAAAAAADAWAhrAAAAAAAAAAAAAAAAAAAAgGGaNJ516/EAAAAAAAAAAA6WsAYAAAAAAAAAAAAAAAAAAAAYpnN9AwAAAAAAAADYjrAGAAAAAAAAAAAAAAAAAAAAoFqpAgAAAAAAAAAwFsIaAAAAAAAAAAAAAAAAAAAAYJjWjWd9bx8AAAAAAAAAAGMhrAEAAAAAAAAAAAAAAAAAAACGadV41kv7AAAAAAAAAAAYC2ENAAAAAAAAAAAAAAAAAAAAMECldDVc4aHRzB8jYmEfAAAAAAAAAABjIawBAAAAAAAAgP9j7w6P4rjWPA7/ofQdMhAZaE4nIDLwbATGERhHsDiCHUdgHMGOMkAJ9BkiWJQBRNBbc3e8pevyvRrgoKE5z1M1pQ8wp7vft0sf+QEAAAAAAAAAMF/Xje58Vet47z0AAAAAAAAAAHpxNE2TZQMAAAAAAAAAAAAAAAAAAMBMlTJsIwsnz7j7L0kWYg0AAAAAAAAAQE+ObRsAAAAAAAAAAAAAAAAAAABm7eoZN/+QZCnUAAAAAAAAAAD0RqwBAAAAAAAAAAAAAAAAAAAAZqzWcZXkjyc8wTbUcFnruLF/AAAAAAAAAKA3R9M0WToAAAAAAAAAAAAAAAAAAADMXCnDdZIf93yKL0mWQg0AAAAAAAAAQK/EGgAAAAAAAAAAAAAAAAAAAOCNKGVYJlklef8vnmgbabiudbyycwAAAAAAAACgZ2INAAAAAAAAAAAAAAAAAAAA8MaUMiySnCc53T3ZfZJNreONXQMAAAAAAAAAiDUAAAAAAAAAAAAAAAAAAAAAAAAAAAAAAACdeWfhAAAAAAAAAAAAAAAAAACQlDIsklwkWew+J0luk9wluUlyXet4b1QAAAAAAAAAAADzdzRNkzUCAAAAAAAAAAAAAAAAANCtXaRhleTjHjP4LcmVaAMAAAAAAAAAAMC8iTUAAAAAAAAAAAAAAAAAANCtUoaLJL8/8vlvk1zUOm68OQAAAAAAAAAAAPMk1gAAAAAAAAAAAAAAAAAAQJeeGGr400OSRa3jnbcHAAAAAAAAAABgfo7tDAAAAAAAAAAAAAAAAACA3pQynD8j1LB1kmTtxQEAAAAAAAAAAJgnsQYAAAAAAAAAAAAAAAAAAHp03eCZP5QyXHl7AAAAAAAAAAAA5kesAQAAAAAAAAAAAAAAAACArpQyXCR53+iZL7w9AAAAAAAAAAAA8yPWAAAAAAAAAAAAAAAAAABAb5YNn/d9KcO5NwgAAAAAAAAAAGBe3tkXAAAAAAAAAAAAAAAAAC+plGGx+8PoZ7vPTZK7WsdrgwcOpHVc4Xz3fxsAAAAAAAAAAAAzIdYAAAAAAAAAAAAAAAAAwIsoZdgGGlZJ3v/l/I/5v59vf7ZOclXreGcLwHd00vhSZ5YHAAAAAAAAAAAwL8f2BQAAAAAAAAAAAAAAAEBLpQynpQzXSf77b0INX9v+sfQfk/xPKcOVJQAzJtYAAAAAAAAAAAAwM2INAAAAAAAAAAAAAAAAALR2s4swPMZ/7gIPAHN0Z2sAAAAAAAAAAADzItYAAAAAAAAAAAAAAAAAQDOlDKskH5543o+CDcB38tD4MmINAAAAAAAAAAAAMyPWAAAAAAAAAAAAAAAAAEATpQznSX5+5lnbYMOFjQAvbN34+NbnAQAAAAAAAAAA8MLEGgAAAAAAAAAAAAAAAABo5bLROSsbAV5Yy7jCl1rHjYUBAAAAAAAAAADMi1gDAAAAAAAAAAAAAAAAAM9WynCa5IdGkzwpZVjaCvBSah23sYbbRsdfWRQAAAAAAAAAAMD8iDUAAAAAAAAAAAAAAAAA0ELruMK5rQAv7KLB8Z9rHa8tCgAAAAAAAAAAYH7EGgAAAAAAAAAAAAAAAABoYdF4iq3PA/gntY6bJD89Yyq3LxCqAQAAAAAAAAAA4DsRawAAAAAAAAAAAAAAAACgBXEFYHZqHa93wYaHR977NtRwXut4b+sAAAAAAAAAAADzJNYAAAAAAAAAAAAAAAAAAEC3dsGGbXDm8x4z2EYdfq11XAg1AAAAAAAAAAAAzNs7+wMAAAAAAAAAAAAAAACggdZ/tPzGUoDvpdbxLsl5KcNZkuXu87W73f9La5EGAAAAAAAAAACAt0GsAQAAAAAAAAAAAAAAAIAWNkl+aDjJja0A39su2rDafQAAAAAAAAAAAHjDji0XAAAAAAAAAAAAAAAAgAbWLYdY69j0PAAAAAAAAAAAAAD4mlgDAAAAAAAAAAAAAAAAAM9W67hJ8rnRJD/ZCAAAAAAAAAAAAAAvSawBAAAAAAAAAAAAAAAAgFYuG52zshEAAAAAAAAAAAAAXpJYAwAAAAAAAAAAAAAAAABN1DpukvzyzLN+rXW8sREAAAAAAAAAAAAAXtLRNE0GDAAAAAAAAAAAAAAAAEAzpQyrJD8/4bzfah0vbQIAAAAAAAAAAACAl3ZswgAAAAAAAAAAAAAAAAC0tAsu/JTkYc9jvyT5D6EGAAAAAAAAAAAAAL6Xo2maDBsAAAAAAAAAAAAAAACA5koZTpOskiyTnPzN+be7n69rHe9tAAAAAAAAAAAAAIDvRawBAAAAAAAAAAAAAAAAgBdXynD+l2tsBBoAAAAAAAAAAAAAOBSxBgAAAAAAAAAAAAAAAAAAAAAAAAAAAAAAoCvH1g0AAAAAAAAAAAAAAAAAAAAAAAAAAAAAAPRErAEAAAAAAAAAAAAAAAAAAAAAAAAAAAAAAOjKO+sGAAAAAAAAAAAAAAAAAAAAnqqU4TTJ4q9fr3W8MVQAAAAAAAAA4LU6mqbJcgAAAAAAAAAAAAAAAAAAAIBHK2W4THKV5ORffPdTknWt47XpAgAAAAAAAACviVgDAAAAAAAAAAAAAAAAAAAA8CilDKfbCEOSj3t+70uSZa3jxqQBAAAAAAAAgNfg2BYAAAAAAAAAAAAAAAAAAACAfe1CDTePCDVsvU9SSxkuDBoAAAAAAAAAeA3EGgAAAAAAAAAAAAAAAAAAAIDHuE7y4YkT+72UYWnaAAAAAAAAAMChHU3TZAkAAAAAAAAAAAAAAAAAAADAN5UyXGyDC8+c1EOSs1rHexMHAAAAAAAAAA7l2OQBAAAAAAAAAAAAAAAAAACAPV01GNRJkksDBwAAAAAAAAAOSawBAAAAAAAAAAAAAAAAAAAA+KZShkWS940mJdYAAAAAAAAAAByUWAMAAAAAAAAAAAAAAAAAAACwj2XDKZ2UMlyYOgAAAAAAAABwKGINAAAAAAAAAAAAAAAAAAAAwD7OG09pYeoAAAAAAAAAwKGINQAAAAAAAAAAAAAAAAAAAACHINYAAAAAAAAAAByMWAMAAAAAAAAAAAAAAAAAAAAAAAAAAAAAANAVsQYAAAAAAAAAAAAAAAAAAABgHxtTAgAAAAAAAADeCrEGAAAAAAAAAAAAAAAAAAAAYB+tYw03pg4AAAAAAAAAHIpYAwAAAAAAAAAAAAAAAAAAAPBNtY7Xjae0NnUAAAAAAAAA4FDEGgAAAAAAAAAAAAAAAAAAAIB93Taa1Jdax42pAwAAAAAAAACHItYAAAAAAAAAAAAAAAAAAAAA7GvVaFJXJg4AAAAAAAAAHNLRNE0WAAAAAAAAAAAAAAAAAAAAAOyllOEuyftnTOtTrePStAEAAAAAAACAQzo2fQAAAAAAAAAAAAAAAAAAAOARtqGFhycO7DbJhWEDAAAAAAAAAIcm1gAAAAAAAAAAAAAAAAAAAADsrdZxk+T8CcGGz9vv1TremzYAAAAAAAAAcGhH0zRZAgAAAAAAAAAAAAAAAAAAAPAopQynSVZJfvzG97ZRh6tax5UJAwAAAAAAAACvhVgDAAAAAAAAAAAAAAAAAAAA8GS7aMMyyXmSs6/OuUmyqXVcmy4AAAAAAAAA8NqINQAAAAAAAAAAAAAAAAAAAAAAAAAAAAAAAF05tm4AAAAAAAAAAAAAAAAAAAAAAAAAAAAAAKAnYg0AAAAAAAAAAAAAAAAAAAAAAAAAAAAAAEBXxBoAAAAAAAAAAAAAAAAAAAAAAAAAAAAAAICuiDUAAAAAAAAAAAAAAAAAAAAAAAAAAAAAAABdEWsAAAAAAAAAAAAAAAAAAAAAAAAAAAAAAAC6ItYAAAAAAAAAAAAAAAAAAAAAAAAAAAAAAAB0RawBAAAAAAAAAAAAAAAAAAAAAAAAAAAAAADoilgDAAAAAAAAAAAAAAAAAAAAAAAAAAAAAADQFbEGAAAAAAAAAAAAAAAAAAAAAAAAAAAAAACgK2INAAAAAAAAAAAAAAAAAAAAAAAAAAAAAABAV8QaAAAAAAAAAAAAAAAAAAAAAAAAAAAAAACArryzbgAAAAAAAAAAAAAAAAD+nVKGsyRnX/9KreONoQEAAAAAAAAAAAAwV0fTNFkeAAAAAAAAAAAAAAAAAP+klGGR5DLJMsnJ30znIclVrePK5AAAAAAAAAAAAACYG7EGAAAAAAAAAAAAAAAAAP5fKcNpkuskP+w5lc/boEOt470pAgAAAAAAAAAAADAXYg0AAAAAAAAAAAAAAAAA/EMpwyLJOsn7R07kNsm5YAMAAAAAAAAAAAAAc3FsUwAAAAAAAAAAAAAAAADsQg03Twg1bH3YRR4AAAAAAAAAAAAAYBbEGgAAAAAAAAAAAAAAAADYuk5y8oxJfCxluDRJAAAAAAAAAAAAAOZArAEAAAAAAAAAAAAAAACgc6UMV0k+NJjCVSnDae/zBAAAAAAAAAAAAOD1E2sAAAAAAAAAAAAAAAAA6NgurnDZaAInSS68TwAAAAAAAAAAAAC8dmINAAAAAAAAAAAAAAAAAH0730UWWhFrAAAAAAAAAAAAAODVE2sAAAAAAAAAAAAAAAAA6Nui8dN/KGU47X2oAAAAAAAAAAAAALxuYg0AAAAAAAAAAAAAAAAAfWsda8gLnQkAAAAAAAAAAAAAzYg1AAAAAAAAAAAAAAAAAPTttPcBAAAAAAAAAAAAANAfsQYAAAAAAAAAAAAAAACAvt30PgAAAAAAAAAAAAAA+iPWAAAAAAAAAAAAAAAAANC3u94HAAAAAAAAAAAAAEB/xBoAAAAAAAAAAAAAAAAA+rZu/PQPtY43vQ8VAAAAAAAAAAAAgNdNrAEAAAAAAAAAAAAAAACgY7WO90n+aDiB1vEHAAAAAAAAAAAAAGhOrAEAAAAAAAAAAAAAAACAyyQPDabwsDsLAAAAAAAAAAAAAF41sQYAAAAAAAAAAAAAAACAztU63idZNpjC5e4sAAAAAAAAAAAAAHjVxBoAAAAAAAAAAAAAAAAA2AYbbpL8lOThidP4rdbx2iQBAAAAAAAAAAAAmIOjaZosCgAAAAAAAAAAAAAAAIB/KGVYJFknef+IifxS67gyQQAAAAAAAAAAAADm4timAAAAAAAAAAAAAAAAAPhTreMmyTbY8GuSh28M5vO27yDUAAAAAAAAAAAAAMDcHE3TZGkAAAAAAAAAAAAAAAAA/K1ShotdvGGx+/l9km3QYb0LOwAAAAAAAAAAAADA7Ig1AAAAAAAAAAAAAAAAAAAAAAAAAAAAAAAAXTm2bgAAAAAAAAAAAAAAAAAAAAAAAAAAAAAAoCdiDQAAAAAAAAAAAAAAAAAAAAAAAAAAAAAAQFfEGgAAAAAAAAAAAAAAAAAAAAAAAAAAAAAAgK68s24AAAAAAAAAAAAAAAAAAADgtShlOE2yTLLYff50k2Rd67ixLAAAAAAAAADguY6maTJEAAAAAAAAAAAAAAAAAAAA4OBKGa6SXCY5+Tf38iXJVa3jtY0BAAAAAAAAAE8l1gAAAAAAAAAAAAAAAAAAAAAcVCnDWZJ1kg+PuI9PSS5qHe9tDwAAAAAAAAB4LLEGAAAAAAAAAAAAAAAAAAAA4GBKGRZJbpKcPOEebpOcCzYAAAAAAAAAAI91bGIAAAAAAAAAAAAAAAAAAADAIZQynCa5fmKoYetDkrXlAQAAAAAAAACPJdYAAAAAAAAAAAAAAAAAAAAAHMrlLrjwHB9LGS5tEAAAAAAAAAB4jKNpmgwMAAAAAAAAAAAAAAAAAAAA+K5KGU6T3CU5aXDdh1rHUxsEAAAAAAAAAPZ1bFIAAAAAAAAAAAAAAAAAAADAASwbhRq2TkoZlpYIAAAAAAAAAOxLrAEAAAAAAAAAAAAAAAAAAAA4hPPG11zYIgAAAAAAAACwL7EGAAAAAAAAAAAAAAAAAAAA4BDOGl+zdfwBAAAAAAAAAHjDxBoAAAAAAAAAAAAAAAAAAAAAAAAAAAAAAICuiDUAAAAAAAAAAAAAAAAAAAAAAAAAAAAAAABdEWsAAAAAAAAAAAAAAAAAAAAADuGm8TXvbBEAAAAAAAAA2JdYAwAAAAAAAAAAAAAAAAAAAHAIm8bXbB1/AAAAAAAAAADeMLEGAAAAAAAAAAAAAAAAAAAA4LurdVw3vOZDkpbnAQAAAAAAAABvnFgDAAAAAAAAAAAAAAAAAAAAcCifGl13Vet4b4sAAAAAAAAAwL7EGgAAAAAAAAAAAAAAAAAAAIBDuWpw3dttrMEGAQAAAAAAAIDHEGsAAAAAAAAAAAAAAAAAAAAADqLWcZPkl2dc+yHJRa3jvQ0CAAAAAAAAAI8h1gAAAAAAAAAAAAAAAAAAAAAcTK3j6onBhtski13wAQAAAAAAAADgUY6maTIxAAAAAAAAAAAAAAAAAAAA4KBKGRZJtuGGj9+4j4ft79U6XtkYAAAAAAAAAPBUYg0AAAAAAAAAAAAAAAAAAADAq1HKcJZkmWQbbzj76r5ukmxqHde2BQAAAAAAAAA8l1gDAAAAAAAAAAAAAAAAAAAAAAAAAAAAAADQlWPrBgAAAAAAAAAAAAAAAAAAAAAAAAAAAAAAeiLWAAAAAAAAAAAAAAAAAAAAAAAAAAAAAAAAdEWsAQAAAAAAAAAAAAAAAAAAAAAAAAAAAAAA6IpYAwAAAAAAAAAAAAAAAAAAAAAAAAAAAAAA0BWxBgAAAAAAAAAAAAAAAAAAAAAAAAAAAAAAoCtiDQAAAAAAAAAAAAAAAAAAAAAAAAAAAAAAQFfEGgAAAAAAAAAAAAAAAAAAAAAAAAAAAAAAgK6INQAAAAAAAAAAAAAAAAAAAAAAAAAAAAAAAF0RawAAAAAAAAAAAAAAAAAAAAAAAAAAAAAAALoi1gAAAAAAAAAAAAAAAAAAAAAAAAAAAAAAAHRFrAEAAAAAAAAAAAAAAAAAAAAAAAAAAAAAAOiKWAMAAAAAAAAAAAAAAAAAAAAAAAAAAAAAANCVd9YNAAAAAAAAAAAAAAAA8LaUMiySLJNs/z3dPdxm+6l1vLZuAAAAAAAAAAAAAHp3NE1T7zMAAAAAAAAAAAAAAAAAeBN2kYZVko/feJ7b7e8JNwAAAAAAAAAAAADQK7EGAAAAAAAAAAAAAAAAgDeglOEyyX898km+JFnWOm68AwAAAAAAAAAAAAD0RKwBAAAAAAAAAAAAAAAAYOZKGVZJfn7iUzwkORdsAAAAAAAAAAAAAKAnYg0AAAAAAAAAAAAAAAAAM1bKcJHk92c+wTbYsKh1vPMuAAAAAAAAAAAAANCDY1sGAAAAAAAAAAAAAAAAmKdShtMkqwY3f9LoHAAAAAAAAAAAAACYBbEGAAAAAAAAAAAAAAAAgPla7UILLfxQynDmXQAAAAAAAAAAAACgB2INAAAAAAAAAAAAAAAAADNUynCaZNn4zlufBwAAAAAAAAAAAACvklgDAAAAAAAAAAAAAAAAwDwtkpw0vvNz7wIAAAAAAAAAAAAAPRBrAAAAAAAAAAAAAAAAAOBPpyYBAAAAAAAAAAAAQA/EGgAAAAAAAAAAAAAAAAAAAAAAAAAAAAAAgK6INQAAAAAAAAAAAAAAAADwp41JAAAAAAAAAAAAANADsQYAAAAAAAAAAAAAAACAeXqJsIJYAwAAAAAAAAAAAABdOJqmyaYBAAAAAAAAAAAAAAAAZqiUYRtX+NDozh9qHU+9BwAAAAAAAAAAAAD04NiWAQAAAAAAAAAAAAAAAGZr1fDG114DAAAAAAAAAAAAAHoh1gAAAAAAAAAAAAAAAAAwX9vAwkOju7/yHgAAAAAAAAAAAADQC7EGAAAAAAAAAAAAAAAAgJmqdbxPctHg7n+tdbzzHgAAAAAAAAAAAADQC7EGAAAAAAAAAAAAAAAAgBmrdVwn+e0ZT/BHreOVdwAAAAAAAAAAAACAnog1AAAAAAAAAAAAAAAAAMxcreNlkl+f8BTbUMPF/7J3B7mRW9magE8KCXTPpK4NSF5BxuUGFF5ByitIefhqYnkFVs56ZtXENbRyBa1cgUMb4I1cQUsbKEgG6gEe2HpgmVlSWWmlGHEjyGB8H0DYMILk5X8oDgzyHPUHAAAAAAAAAAAAYNsY1gAAAAAAAAAAAAAAAAAwAjnXpxHxZUS8f8bV3EbE1wY1AAAAAAAAAAAAALCtXtzd3Sk+AAAAAAAAAAAAAAAAwMikVB1FxCQipg+ubB4Rs5zrC/UGAAAAAAAAAAAAYJsZ1gAAAAAAAAAAAAAAAAAAAAAAAAAAAAAAAGyVHeUGAAAAAAAAAAAAAAAAAAAAAAAAAAAAAAC2iWENAAAAAAAAAAAAAAAAAAAAAAAAAAAAAADAVjGsAQAAAAAAAAAAAAAAAAAAAAAAAAAAAAAA2CovlRsAAAAAAAAAAAAAAAAAAAAYq5SqvYiY/PHycq5nig4AAAAAAAAA2+vF3d2d8gMAAAAAAAAAAAAAAAAAAACjk1J1EhGnEbH7J9f2PiIucq7PVR8AAAAAAAAAtothDQAAAAAAAAAAAAAAAAAAAMCopFTtNUMYIuLwmdd1HRFHOddzdwIAAAAAAAAAbIcddQYAAAAAAAAAAAAAAAAAAADGoh3UMOswqKGxHxE5perYjQAAAAAAAAAA28GwBgAAAAAAAAAAAAAAAAAAAGBMziPi1YLX82NK1ZG7AQAAAAAAAADG78Xd3Z0yAwAAAAAAAAAAAAAAAAAAABsvpeq4Gbiw5HXcRsRBzvWNOwIAAAAAAAAAxmtHbQEAAAAAAAAAAAAAAAAAAICROC1wGbsRceKGAAAAAAAAAIBxM6wBAAAAAAAAAAAAAAAAAAAA2HgpVZOI2C90HYY1AAAAAAAAAMDIGdYAAAAAAAAAAAAAAAAAAAAAjMFRwWvYTak6dlcAAAAAAAAAwHgZ1gAAAAAAAAAAAAAAAAAAAACMwbTwNUzcFQAAAAAAAAAwXoY1AAAAAAAAAAAAAAAAAAAAADxmWAMAAAAAAAAAjJhhDQAAAAAAAAAAAAAAAFPsrOYAACAASURBVAAAAAAAAAAAAAAAwFYxrAEAAAAAAAAAAAAAAAAAAAAYg7kqAgAAAAAAAADPZVgDAAAAAAAAAAAAAAAAAAAAMAalhzXM3BUAAAAAAAAAMF6GNQAAAAAAAAAAAAAAAAAAAAAbL+f6vPA1XLgrAAAAAAAAAGC8XqotY5VStRcRJxFxFBGvHlzmdUSc5VyfKT7bIqVqGhGTdjto/7n7mcu/jYh5RFy12yzneuamkefYqW95Mi1LngAAAAAAAAAAAAAAAABP+vCH78sXdZ1zPRc1AAAAAAAAAIzXi7u7O+VlVB4MaTj5TOPiv+Vcn6h+OQ+yP46I/bFcVzvg4zzn+nQAa3mWthZH7fa68OEvI+Ki2XKur1Z0CYMiz3FT3/JkWpY8AQAAAAAAAAAAAAAAAJ4vpar51vnHApF9nXN9LnoAAAAAAAAAGC/DGhiVlKqmifFZh0EBX2hMXE5K1TwiXo3lej7hXc718eBW9UBK1aQdmPFmTad83/zN5VzP1nS+tZLnuKlveTItS54AAAAAAAAAAAAAAAAAi0mpuurwzfmnvM+5PhI/AAAAAAAAAIybYQ2MQkrVXjukoWsz429zrs/cBctLqWqGGPy46dfxDCnnej64RaXqICLOI+KwpyVcRsTpWBp8y3Pc1Lc8mZYlTwAAAAAAAAAAAAAAAIDlpFRNIqL5Rmp3gQN9iIhpzvWNMgAAAAAAAADAuBnWwMZLqZq2DY33F7iWtznXp+6C5aVUXUTE602/jmcY1D3TDipp1vPNAJbTeBcRJ5v68pk8x019y5NpWfIEAAAAAAAAAAAAAAAAKGfBgQ2XEXHkuyoAAAAAAAAA2A476symahoap1SdRcRPCw5qoKy9LclzMoA1/Ev7gth8QE29G28i4qodorJR5Dlu6lueTMuSJwAAAAAAAAAAAAAAAEBZOdfNN1sHEfHuGQe+jYhvc66nBjUAAAAAAAAAwPYwrIGN1DY0ng2soTGsTUrVcfOO2EAHlew2Q1RSqk4HsJZnkee4qW95Mi1LngAAAAAAAAAAAAAAAACr0QxeyLluvuH6PxHxdTu44fLB9jYivsq53su5PlMGAAAAAAAAANguL+7u7pScjdI2C/6u0Jrf5lxrPlxASlUzPONw4y/k83q/Z1KqTiLi+z7X0MG79gW2wZLnuKlveTItS54AAAAAAAAAAAAAAAAAAAAAAAAAAAD92JE7myKlapJSNS84qAEWcdFnailVZxvU1LvxJqXqfADr+CR5jpv6lifTsuQJAAAAAAAAAAAAAAAAAAAAAAAAAADQH8Ma2AgpVScRkSPilYrRo3c51/O+Tp9SdRwR32zgDTDI5t7yHDf1LU+mZckTAAAAAAAAAAAAAAAAAAAAAAAAAACgXy/u7u6UgMFKqTqIiKYh8OGK1vg25/rUHbC8lKrZCuvUt+vmPuzzXkmpOoqI/1focJcR0dTrqt0+5aDdpgXr+nXO9SAafMtz3NS3PJmWJU8AAAAAAAAAAAAAAAAAAAAAAAAAAID+GdbAYKVUnURE0xx/d4VrNKyhkI7DGi5zrqeDv6iBaIeWzJf8W7hsB59c5FzfdN25bSx+HBGvl0wl5VzPlzzGcguQ56ipb3kyLUueAAAAAAAAAAAAAAAAAAAAAAAAAAAAw2BYA4OTUrXXNiBetoHwcxjWUIhhDauTUtU0wn614Amaht6nOdezEgtsm4yfLfH3eR0Rk0Wai5ciz3FT3/JkWpY8AQAAAAAAAAAAAAAAAAAAAAAAAAAAhmFHHRiSlKqjiLha06AGGLyUqtMFm3rfRsS3zVCMUk29GznXVznXzd/pV+05utpvGo33lbs8x019y5NpWfIEAAAAAAAAAAAAAAAAAAAAAAAAAAAYjhd3d3fKQe9SqvYi4ryHIQ1vc641GS4gpappHn34zCNdNg2nB31BA5BSdRAR/3+BlVxHxFHO9XyVV9H+3c4WbDz+ZcmG488hz3FT3/JkWpY8AQAAAAAAAAAAAAAAAAAAAAAAAAAAhmVHPehbSlXTtP+q0KCG9wrKiJwtcCkfImKy6qbejZzrm4iYtufsqo8hKfIcN/UtT6ZlyRMAAAAAAAAAAAAAAAAAAAAAAAAAAGBADGugVylVJxHxU0TsLrmOprFwWrARMgxOO8Sk6wCT24g4ahtur8USzb0PU6qO17VOeY6b+pYn07LkCQAAAAAAAAAAAMBDzbuXKVXnKVWzlKqbdpu1/817mQAAAAAAAAAAAACwJoY10JuUqqOI+L7A+d/mXE9yrueqyYicLnAp05zrq3VH0Db3Pm4bi3exyDUuSp7jpr7lybQseQIAAAAAAAAAAADwcUhD877mjxHxJiIOI2K33Q7b//ZjStVVStVEYgAAAAAAAAAAAACwWoY10KezJc/9oXlPPedac2BGJaVq2n5k0cXbPgeWtOfu+re43w5tWSl5jpv6lifTsuQJAAAAAAAAAAAAQErVXkrVeTukYfcZgexHxKwZ7rD14QEAAAAAAAAAAADAChnWQC9Sqibti+OLapoYT/psZAwr1PVjiushDC3JuW4GsFx23O1kRct5SJ7jpr7lybQseQIAAAAAAAAAAADQDGp40zGFZqjDWfsNDgAAAAAAAAAAAACwAoY10Je9Bc/7oZn1MIQmxrAKKVV7C3yA0bUR+Cp1bdR9mFJ1sKr1yHPc1Lc8mZYlTwAAAAAAAAAAAABSqpp3Ml8vGEQzsOGifS8VAAAAAAAAAAAAACjMsAb6crXAed/mXE9yrueqxoh1bdJ9mXM9G0oc7d/nu467dW0G3oU8x019y5NpWfIEAAAAAAAAAAAA2GLtkIXTJRPY944mAAAAAAAAAAAAAKyGYQ30Iue6GdZw/cxzf2jeT8+5XvbldNgEXRt7nw3wms47/v5oResIeY6e+pYn07LkCQAAAAAAAAAAALDdmiELuwUSOGkHPwAAAAAAAAAAAAAABRnWQJ+e08D4bc71JOd6rlKMXUrVQUS86nCZ1znXF0OLJed61g5Zea79lKpJ6XXIc9zUtzyZliVPAAAAAAAAAAAAAJ757cxzNAMfjgQKAAAAAAAAAAAAAGUZ1kBv2ua/X0fE7SfW0DQFTjnXpyrEFun64cT5gKM56/j7Uh+gPCTPcVPf8mRaljwBAAAAAAAAAAAAtlhK1TQi9gsmMHU/AQAAAAAAAAAAAEBZhjXQq5zrpjHxJCK+jYj3EfG3iPgq53qScz1XHbZM1+bWQ27sfdHx96v4aESe46a+5cm0LHkCAAAAAAAAAAAAbLdJ4as/2PZAAQAAAAAAAAAAAKA0wxroXc71Vc71Wc71Uc71Sc5114bAsPFSqvYi4lWH6/jQ/O0M9bpzrm8i4rLDLq9Sqop9OCLPsnkOjfqWr69MPYOe4hkEAAAAAAAAAAAAsJC9wrGVHv4AAAAAAAAAAAAAAFvPsAaAYZh2XMVsA+rWdfBK1wxKHkuem0V9y9dXpp5Bn+MZBAAAAAAAAAAAAAAAAAAAAAAAAAAAjIphDQDD0LWpddem2X3o2ny8z0bp8tws6tv/sAaZlj2WPAEAAAAAAAAAAADG56bwFc3dIwAAAAAAAAAAAABQlmENAMMw6bKKnOuuTbPXLue6+RDktsN5O2VQ8ljy3DjqW76+MvUMepJnEAAAAAAAAAAAAEBnpd8RvVICAAAAAAAAAAAAACjLsAaAYTjssIrLDarZvMNvXxU8rzzL5jk06lu+vjL1DHoOzyAAAAAAAAAAAACAZ8q5bt69vC6YV+nhDwAAAAAAAAAAAACw9QxrAOhZStWk4wq6NMvuW6ePQVKqpsuuV573SuQ5NOp7r1R9ZXrPM+iztv4ZBAAAAAAAAAAAANDRSaHArnOuz4UPAAAAAAAAAAAAAGUZ1gDQvzE39u661oMC55TnvRJ5Do363itVX5ne8wx6mmcQAAAAAAAAAAAAQAc51xcR8W7JzG4j4kjuAAAAAAAAAAAAAFCeYQ0A/evazPpqg2rWda0lGnvL894YG6Wr771S9ZXpPc+gp3kGAQAAAAAAAAAAAHSUc328xMCGZlDDcc71XO4AAAAAAAAAAAAAUJ5hDQD9m3RZQc71bFNqtsAHIdMCp5XnvRJ5Do363itVX5ne8wx6gmcQAAAAAAAAAAAAwGLagQ3ftsMXnuu6eR8z5/pC7AAAAAAAAAAAAACwGoY1APRvr8MKunyYMRTXHdbRJYsSx5Dn5lHfe6XqK9N7nkGft+3PIAAAAAAAAAAAAICF5Fyf5Vw371e+/cw7mdftbyY513NpAwAAAAAAAAAAAMDqvJQtQO8OOyxgEz+0uIqI/Wf+9lWB88nzXok8h0Z975Wqr0zveQZ93rY/gwAAAAAAAAAAAACWknN9GhGnKVXTZiBDROy1x7uJiJkBDQAAAAAAAAAAAACwPoY1ABshpar5AKH5EOGg/Rjh4BnNom/bRthX7T/nOdezDa/4zQDW0FWnNadU7eVcr+s65Tlu6lueTMuSJwAAAAAAAAAAAMCWar9v2PRvHAAAAAAAAAAAAABgoxnWAAxWStVRRHzcdhdYZ7PPYbu9id+Pedt+zHDRbH03kE6pmnbcZb6ipaxSs+bXHY4/WfSDE3l+0sJ5Do36ftJS9ZXpJ3kGPW1rn0EAAAAAAAAAAAAAAAAAAAAAAAAAAMC4GNYADEpK1V5EnETEcUTsr2Btu22T6WY7S6lqhjac5lxfuRMAAAAAAAAAAAAAAAAAAAAAAAAAAAAAYDsY1gAMwoMhDSftQIV1aM7zptlSqt71NLRhr+PvN3GoxLzj77tmssy+8tws6vvYsvWV6WOeQU/b5mcQAAAAAAAAAAAAAAAAAAAAAAAAAAAwIjuKCfQtpWraNn/+bo2DGv6oGdowT6k6WfN5Jx1/v4mNvW86/r5rJsvsK8/Nor6PLVtfmT7mGfS0bX4GAQAAAAAAAAAAAAAAAAAAAAAAAAAAI2JYA9CrlKqziPgpIvYHUIlmUMT3KVWzlKqDAawHAAAAAAAAAAAAAAAAAAAAAAAAAAAAAFgBwxqAXqRU7aVUzSPimwFW4DAi5ilVkwGsBQAAAAAAAAAAAAAAAAAAAAAAAAAAAAAozLAGoA97ETGLiFcDTn83InJK1fEA1vLQzXCW8mxDXrM8x019y5NpWfIEAAAAAAAAAAAAAAAAAAAAAAAAAADoyUvBAz0Y8pCGP/oxpSpyrs9XdPxJlx/nXM9XtI6VadbcZNhBp0z+QJ6PLZPn0KjvY8vWV6aPeQY9YcufQQAAAAAAAAAAAAAAAAD/klK1FxFH7TdUD7+jmkXExSZ+PwYAAAAAAAAA22hH1QE+qxnYMF1RTHvif2SZTOT52JgyUd/Hls1Epo95BpUlEwAAAAAAAAAAAAAAAGBUUqpOI+Kq+QY5Ir6JiMMH23cRkVOqrlKqjlUeAAAAAAAAAIbtpfoAG+I6Imbti0vziLj5k2UftFszXGESEbuFLu8ipWqSc33lhgEAAAAAAAAAAAAAAAAAgO2SUtV8w3wREa+eceH7zTCHlKqjiDjOuf6zb6MBAAAAAAAAgB4Z1gAM2WVEnDdDGhYdktC+wNRsb5a8zt325amJOwYAAAAAAAAAAAAAAAAAALZHSlXzjfGs/ea4i9fNfilVUwMbAAAAAAAAAGB4dtQEGKB3EfFFznXz0tH5ooMaGjnXFznXx83x2uMu41VK1akbBgAAAAAAAAAAAAAAAAAAtkNK1V5EnC8wqOGjVxFx4XYBAAAAAAAAgOExrAEYko9DGo6XGdDwKc3x2qENKSI+LHGo71KqDtw1AAAAAAAAAAAAAAAAAACwFU7agQvLOEypOnG7AAAAAAAAAMCwvFQPYABuI+Io53q26qXkXM9TqqYRcRYRbxY8TLPvUeGlAQD8y3/99a/NgCnDoQAAAAAAAAAAAAAAAKBnv/zyy//e2dk5+e2335ZeyM7Ozv/9r7/+dU9NAQAAAAAAAB6Z/f2HH1benxo+xbAGoG+X7aCGm3Wtoz3XcUpVLDiw4XUz8GEdwyUAgK3UDGs4VHoAAAAAAAAAAAAAAADo188//xwlBjU0fvvtt//1j3/847u//OUvqgoAAAAAAADwmH7P9GJH7ECP3uVcT9c5qOGhnOumEfK7BXc/Xs2qAAAAAAAAAAAAAAAAAACAIfj59ueiq/jvf/63ugIAAAAAAADAgBjWAPTlXTssoVftGj4ssIY3KVUHBdZ+1eXHKVV7Bc65VgusuVMmy+wrz42jvo8tW1+ZPuYZ9IQtfwYBAAAAAAAAAAAAAAAAW+aXX34pesE//1x2+AMAAAAAAAAAsJyX8gN6MIhBDQ8cRcQ8InYX2O9syXN3bWI9iYjZkudct0nH862tUbo8N476PrbWYQ0yLb6vPPkzc8kAAAAAAAAAAAAAAABA/3799ddXEbFXaiG//vrrTUR8UFoAAAAAAACA/6B/Jb0xrAEopWk2ffiMY10ObFBD5FxfpVSdRsT3HXc9LjCsAQDgP/z9hx9OJAIAAAAAAAAAAAAAAAD9S6l67jfUz/LPf/7zw99/+GGqtAAAAAAAAAAwDDvqABTSDC24/cyh3uVcD/LloZzrZv3XHXd7lVJ1sKIlAQAAAAAAAAAAAAAAAAAA/ZoVPvuVegIAAAAAAADAcBjWABSRc30TEZOIeP+J4zVDEL7KuT4eeNqnC+wzyOETAAAAAAAAAAAAAAAAAADA0uaFIyx9PAAAAAAAAABgCYY1AMXkXF/lXB/lXL+IiC/b7Yuc64Oc64uhJ51zfd4Oluhi2WENs46/nyx5vj50zahrJsvsK8/Nor6PLVtfmT7mGfS0bX4GAQAAAAAAAAAAAAAAAFtmBd9ID/6bawAAAAAAAADYJi9VG1iFnOtNbc7cvOD0TYffr7vR9t6azzd28hw39S1PpmXJEwAAAAAAAAAAAAAAAGD43kfE6wKrvMy5vlJvAAAAAAAAABiOHbUA+A/nHeN4tWR8Nx1/v4mNvbuuuWsmy+wrz82ivo8tW1+ZPuYZ9LRtfgYBAAAAAAAAAAAAAAAA2+m00FWfuH8AAAAAAAAAYFgMawB4IOd6HhG3XTJJqZosmmF7vi4WPlePOq15gUyW2VeeG0R9H1u2vjJ9zDPos7b2GQQAAAAAAAAAAAAAAABsp/Y7qW+XvPhvfW8FAAAAAAAAAMNjWAPAY11fdNqTYTGdBmXwWfIcN/UtT6ZlyRMAAAAAAAAAAAAAAAAYhZzrsyUGNnzb7g8AAAAAAAAADIxhDQCPzTpmMlkyw8sOvz1c8lx96LLmroMyPkWe90rkOTTqe69UfWV6zzPo87b9GQQAAAAAAAAAAAAAAABsqXbgQurwHdn75vcGNQAAAAAAAADAcBnWAPDYTcdM9pbMsNP5UqqWPd/aLLDWqwJrk+e9EnkOjfreK1Vfmd7zDHqCZxAAAAAAAAAAAAAAAACw7XKu5znX04j4IiK+jYh37fCGj9vbiPgq5/pFzvVR8/ttzwwAAAAAAAAAhuyl6gA8su6Xnprzve7w+0lEzFa4npImHY9VorG3PO+NsVG6+t4rVV+Z3vMMeppnEAAAAAAAAAAAAAAAAMDvQxua76fOZAEAAAAAAAAAm21H/QB613U4RNdm2X2adjx3iYbl8ry3KQ3gu1Dfe6XqK9N7nkFP8wwCAAAAAAAAAAAAAAAAAAAAAAAAAABGw7AGgP6NubH3QcffXxU4pzzvlchzaNT3Xqn6yvSeZ9DTPIMAAAAAAAAAAAAAAAAAAAAAAAAAAIDRMKwBoGc5100z69sOq5huUM26rPW2zWIp8vy3InkOjfr+W7H6yvTfPIM+b+ufQQAAAAAAAAAAAAAAAAAAAAAAAAAAwHgY1gAwDPMOq9hPqdobet3aNe532KVLBiWPJc/No77l6ytTz6AneQYBAAAAAAAAAAAAAAAAAAAAAAAAAABj81JFAQZhFhGHHRYyjYiLgZdu2vH3s4LnlmfZPIdGfcvXV6aeQZ/jGQQAAAAAAAAAAACMUkrVXkQcte9LHkTEpL3OeURcNe9F5lyfqz4AAAAAAAAAAAAAjM+OmgI8MukYybxAhF2bWh8VOOeqdV1j6UbpXchzs6jvaoY1dCHTsseSJwAAAAAAAAAAAMCaNUMaUqpO24EMP0bEm4g4jIjddjts/9uPKVVXKVVdvzUAAAAAAAAAAAAAAAbOsAaAxw46ZnKzbIY5112bWk+XPecadFnj7QIZ/Cl5ls1zaNS3fH1l6hn0DJ5BAAAAAAAAAAAAwGi0gxfmEfFdO5jhc/YjYpZSdeQuAAAAAAAAAAAAAIDxMKwB4LFJx0zmhTJ83+G3++3HIYPUrm2/w9pW0dRbnuOmvuXJtCx5AgAAAAAAAAAAAAxQStVx+75jl/cjox3qcD7k9z4BAAAAAAAAAAAAgG4MawB47LBDJrc51zeFMuza3Pqk0HlXoevaLlawBnmOm/qWJ9Oy5AkAAAAAAAAAAAAwMO2ghbN28MIimv0uUqr21BYAAAAAAAAAAAAANp9hDQAPpFQddcyjazPup3Rtbn00xA882jV1zXEVjb3lOW7qW55My5InAAAAAAAAAAAAwIC070VeLDGo4aP9iDhRWwAAAAAAAAAAAADYfIY1APyn4455FBvWkHN9FRGXHXbZXaCB9jocdfx45X3O9U3pdclz3NS3PJmWJU8AAAAAAAAAAACAwTlqBy2U0PXbAwAAAAAAAAAAAABggAxrAGilVB1ExOuOeRQb1tA67/j708LnL6Hrmi5WuBZ5jpv6lifTsuQJAAAAAAAAAAAAMBzTgivZT6maqC0AAAAAAAAAAAAAbDbDGgDudW1IfZ1zPS+cX9Pk+rbD75sPPI4Lr2Fh7Vr2O+x/m3PdtZl5F/IcN/UtT6ZlyRMAAAAAAAAAAABgOA4Kr6Tk8AcAAAAAAAAAAAAAoAeGNQDFpFRNm20TE02pmkTEm467FW9InXN90zb37uIspWqv9Fq6atdw1nXtq1yTPMdNfcuTaVnyBAAAAAAAAAAAABiUSeHF9P7OJwAAAAAAAAAAAACwHMMagKWlVJ2mVDUNqX9qtubfU6rOh9BsuoNFBi8UH9bQOu34+90F9lmF03YtXawqw4fkOW7qW55My5InAAAAAAAAAAAAAAAAAAAAAAAAAADAABnWACylGcoQEd/9oaFz8+9vIuIqpWo69ITba3jVcbf3OddXq1hPe9x3HXf7JqXqaBXreY723N903O3dqjJ8SJ7jpr7lybQseQIAAAAAAAAAAAAMxrzwQm6UFgAAAAAAAAAAAAA2m2ENwMLaQQxvnti/GdrwUzMMIaVqb4hJp1Qdf+Ya/szZipd2usA+Tc6TFazlSe05zxfYdZFrXJQ8x019y5NpWfIEAAAAAAAAAAAA6N9V4RWUHv4AAAAAAAAAAAAAAKyZYQ3AMo6fuW8zDOEqpepkSGm36/lxgV3f51zPVrCkf8u5bj4Ceddxt2Y4xmydzb3bc83ac3fxtr3GtZDnuKlveTItS54AAAAAAAAAAAAAg1DyO4DrVX9XAAAAAAAAAAAAAACsnmENwDIOOuzbNH7+PqWqGdrw3CEPK5FStZdSdd6sZ8Hjr2voRHOe2477rK259xJNvZtrOlvRsp4iz3FT3/JkWpY8AQAAAAAAAAAAAHqUc32+wPucf+ZcLQEAAAAAAAAAAABg8xnWAKzbfkT82A5tOGkGJ6zz/ClV07YZ9ZsFD/E25/qq8LI+Kef6JiJOF9i1abSdm3xXtbb22HmBpt6N4/ba1kqe46a+5cm0LHkCAAAAAAAAAAAADEKJdzJvc64XeS8UAAAAAAAAAAAAABiYF3d3d2rCaLSN+H/qcD1vvSC/uJSq8yWGHjz0LiIucq4vVrjWg7ZJ9jLr/ZBzPSm4rGdJqWqGSxwuuPuH5mOSnOtZobU0f2NnEfFqwUO8z7k+KrGWRclz3NS3PJmWJU8AAAAAAAAAAACAfhX4FuLbnOszZQQAAAAAAAAAAACAzfdSDYEllBrW0BzjTUrVbUTMPm451/NlDtoOaGgaUR8v0Rj7o2ZtfTWkbs57FRG7C+zbNOD+KaXqsq1XMxTjpssBUqr22jUsm+N1e4y+yXPc1Lc8mZYlTwAAAAAAAAAAAIB+nURE807l6wVW8c6gBgAAAAAAAAAAAAAYjxd3d3fKydq1jYJP2ia/+yOpQNO0+Dzn+nQAa1mblKqmjt+v8HxNQ+pmaMPNg38+pRnO0AxpmLRNrUtoBjVMlx0esYyUquZ6cqHDXbYDMa7a7aOb9oOTeJDhpMCgixhChg/Jc9zUtzyZliVPAAAAAAAAAAAAgP6130M034DsPnMxzaCGY6UDAAAAAAAAAAAAgPEwrIFepFTNCzbSH5qte/k+paq53rMOHyhsmq9zrs/7XnOb848bl97vvsq5vhjCQj6S57ipb3kyLUueAAAAAAAAAAAAAMOQUtUMbGje7dz/kwVdR8SJ9ycBAAAAAAAAAAAAYHwMa2DtNrw58XN9mXM924yllpFSNYmI8xEO4RjEoIaPNvTvZ1AZPiTPcVPf8mRaljwBAAAAAAAAAAAAhiOlahoRzbcRe+2ibiJilnM9VyYAAAAAAAAAAAAAGCfDGli7lKqLiHg98uTf5lyfDmAda5dS1Vz3dyO4lNuImA7xo4oNa+49+Kbe8hw39S1PpmXJEwAAAAAAAAAAAAAAAAAAAAAAAAAAoB87cqcHe0Ifr3ZIRYqIyw2+yA8RMRnioIb4PeOmUfZX7UCJoWrWljahqbc8x019y5NpWfIEAAAAAAAAAAAAAAAAAAAAAAAAAADoh2ENQHHNkIOc62nbfPp6wxJ+m3PdDGq4GsBa/lTO9UVETNvBEkNzOeRhF58iz3FT3/JkWpY8AQAAAAAAAAAAAAAAAAAAAAAAAAAA1u/F3d2d2FmrlKrziHgz8tSbhv+nA1jHIKRUHUfESUS8GvAym2bUJ5vYjDqlqrnX6NxHCQAAIABJREFUvhvAUm4j4jTn+mwAa1mYPMdNfcuTaVnyBAAAAAAAAAAAAAAAAAAAAAAAAAAAWI8dOdODiy0IfRuu8dlyrs9zricR8WVEvGsbQA9FM6Thy5zr6SYOaojf820ae3/RZtuX5tyTMTT1lue4qW95Mi1LngAAAAAAAAAAAAAAAAAAAAAAAAAAAOvx4u7uTtSsXUpVM8zg9UiT/1vO9ckA1jFYKVV7EXHUbtOI2O1hrU0j6maIxGxDYnuWlKqDiGgafb9Zw+lu28EkpznXV2s439rJc9zUtzyZliVPAAAAAAAAAAAAAAAAAAAAAAAAAACA1TGsgd6kVDXNh48jYn8kVbhuGxyfD2AtGyWlatoObWi2yYqGNzRNqGdtI+qLnOubEUf6x4EYJQejbFWOH8lz3NS3PJmWJU8AAAAAAAAAAAAAAAAAAAAAAAAAAIDyDGsABiel6qAd2tBsB+3WNKp+9cy1Xrb/bBpQX0XEPOd6vs2VbgdiPMz0OUMxmibe848ZtjnO1rTkQZPnuKlveTItS54AAAAAAAAAAAAAAAAAAAAAAAAAAADLM6wBAAAAAAAAAAAAAAAAAAAAAAAAAAAAAADYKjvKDQAAAAAAAAAAAAAAAAAAAAAAAAAAAAAAbJOXqg0AAAAAAAAAAAAAAAAAAAAwLClVexFxFBHTiDiIiEm7wHlEXEXELOf6XNkAAAAAAAAAYDEv7u7uRAcAAAAAAAAAAAAAAAAAAAAwEClVzWCGi4jY/8yKbiPixNAGAAAAAAAAAOjOsAYAAAAAAAAAAAAAAAAAAACAgUipOo6Is4jY7bCid+3Qhht1BAAAAAAeav+f4zQiDtrtpt3mzdDYnOuZwAAA2FaGNQAAAAAAAAAAAAAAAAAAAAAMQErVJCJmHQc1fPQ+5/pIHQEAAACA+P3/N55ExOkz/n/jdUQcG9oAAMA2MqwBAAAAAAAAAAAAAAAAAAAAoGcpVXsRMY+I/SVW8m3O9ZlaAgAAAMD2av9f40VEHHYM4W851yduHQAAtsmOagMAAAAAAAAAAAAAAAAAAAD07mTJQQ2NU2UEAAAAgO3VDmqYLTCoofFNStW52wcAgG1iWAMAAAAA/A9793vbRpLncfgrwe/Fi0C6CKzqBIYXwegiMCeC1URgOoLTRDBUBKuNYOUEuqgITo7gpAh46AONWwzsGYks/pH7eQBigV2qqrt+fNVr9AcAAAAAAAAAAAAAAA5o/QK16wZXcFZKJ9gAAAAAAOM1xBbeb3H3H0rprvx+AAAYC7EGAAAAAAAAAAAAAAAAAAAAgMMaXn521ugKZmYJAAAAAONTSjdN8nODG1+sA7MAAPDDE2sAAAAAAAAAAAAAAAAAAAAAOKxpw93P1y9lAwAAAADGZd7obs9EYQEAGAuxBgAAAAAAAAAAAAAAAAAAAIDDumi8+6V5AgAAAMB4lNINzxh/anjDYg0AAIyCWAMAAAAAAAAAAAAAAAAAAADAYbWOK0zMEwAAAABGpfUzxvd+PgAAjIFYAwAAAAAAAAAAAAAAAAAAAAAAAAAAwNvVOtaQUrqp3wMAAD86sQYAAAAAAAAAAAAAAAAAAACAw1o23v3JPAEAAAAAAADgz4k1AAAAAAAAAAAAAAAAAAAAABzWY+Pd780TAAAAAAAAAP6cWAMAAAAAAAAAAAAAAAAAAADAYbWMK3yptV+aJwAAAACMSvNngrX2orAAAPzwxBoAAAAAAAAAAAAAAAAAAAAADqjWfjFEFhpdwbVZAgAAAMDotI41PPgJAQAwBmINAAAAAAAAAAAAAAAAAAAAAId3leR5y6u4rbW/M0sAAAAAGJda+8cknxve9MJPCACAMRBrAAAAAAAAAAAAAAAAAAAAADiwWvtlktkWwYYh1DAzRwAAAAAYrXmjG38WawAAYCzEGgAAAAAAAAAAAAAAAAAAAACOQK39XZJpki+vuJrhxWm/CjUAAAAAwLjV2t8n+UeDQ5jV2j+N/TwBABiHk9VqZdQAAAAAAAAAAAAAAAAAAAAAR6KUbpLkengpWpLz71zVEHRY1NrPzQ0AAAAAyP8/WxyiDe83PJBbYVgAAMZErAEAAAAAAAAAAAAAAAAAAADgSJXSXSaZJpmsr/ApybLW/t7MAAAAAIA/Wgcb7pL89MrD+SQOCwDA2Ig1AAAAAAAAAAAAAAAAAAAAAAAAAAAA/EBK6a6TDPGFs7+4q8/D9wRiAQAYI7EGAAAAAAAAAAAAAAAAAAAAAAAAAACAH1Ap3SzJNMnFH+5umWRRa780dwAAxkqsAQAAAAAAAAAAAAAAAAAAAAAAAAAAAAAAGJV3xg0AAAAAAAAAAAAAAAAcg1K6SZKr9Wea5OxfLusfSe5q7ReGBQAAAAAAAAAAAABs62S1WjlEAAAAAAAAAAAAAAAA4KBK6eZJrv8QaPiWz0lmtfaPJgYAAAAAAAAAAAAAbEqsAQAAAAAAAAAAAAAAADiYUrrLJIsk719xDc9JprX2S5MDAAAAAAAAAAAAADYh1gAAAAAAAAAAAAAAAAAcxDrUcJ/kbIP9BRsAAAAAAAAAAAAAgI2dOjoAAAAAAAAAAAAAAABg30rpLrYINWT9dwuDAwAAAAAAAAAAAAA2IdYAAAAAAAAAAAAAAAAAHMJii1DDV+9L6eamBwAAAAAAAAAAAAC81slqtXJoAAAAAAAAAAAAAAAAwN6U0s2S/N5ov+ckF7X2TyYIAAAAAAAAAAAAALzUqZMCAAAAAAAAAAAAAAAA9uyq4XZnjdcDAAAAAAAAAAAAAEZArAEAAAAAAAAAAAAAAADYm1K6SZKfG+8n1gAAAAAAAAAAAAAAvIpYAwAAAAAAAAAAAAAAALBPlzvYa2qCAAAAAAAAAAAAAMBriDUAAAAAAAAAAAAAAAAAb92ZCQIAAAAAAAAAAAAAryHWAAAAAAAAAAAAAAAAAAAAAAAAAAAAAAAAjIpYAwAAAAAAAAAAAAAAALBPT04bAAAAAAAAAAAAADg0sQYAAAAAAAAAAAAAAABgb2rtl0meG+/3YIIAAAAAAAAAAAAAwGuINQAAAAAAAAAAAAAAAAD7dtd4v4UJAgAAAAAAAAAAAACvIdYAAAAAAAAAAAAAAAAA7FvLuMKzWAMAAAAAAAAAAAAA8FpiDQAAAAAAAAAAAAAAAMBe1drfJ/mt0Z7XtfZPJggAAAAAAAAAAAAAvIZYAwAAAAAAAAAAAAAAAHAI8yQPW+57W2u/MD0AAAAAAAAAAAAA4LXEGgAAAAAAAAAAAAAAAIC9q7V/SjLdItjwqdZ+ZnIAAAAAAAAAAAAAwCZOVquVgwMAAAAAAAAAAAAAAAAOppRunuQ6ydkLruFzknmt/b2JAQAAAAAAAAAAAACbEmsAAAAAAAAAAAAAAAAADq6UbpJktv68/8P1DIGGZZJFrf3StAAAAAAAAAAAAACAbYk1AAAAAAAAAAAAAAAAAAAAAAAAAAAAAAAAo3Jq3AAAAAAAAAAAAAAAAAAAAAAAAAAAAAAAwJiINQAAAAAAAAAAAAAAAAAAAAAAAAAAAAAAAKPyzrgBAAAAAAAAAAAAAAAAAAAAAAAAAAA4lFK6qySXSabrS7hP8jj8Z639o8EAALALJ6vVysECAAAAAAAAAAAAAAAAAAAAAAAAAACwV6V010nmSc7+ZN/b4TuiDQAAtCbWAAAAAAAAAAAAAAAAAAAAAAAAAAAAwN6U0k2S3CT58Io9P9Xaz00JAIBWTp0kAAAAAAAAAAAAAAAAAAAAAAAAAAAAe/TaUMPgYyndwpAAAGhFrAEAAAAAAAAAAAAAAAAAAAAAAAAAAIC9KKWbbxBq+OqDYAMAAK2crFYrhwkAAAAAAAAAAAAAAAAAAAAAAAAAAMBOldJdJPnvBnv8Wmt/Y1oAAGzj1OkBAAAAAAAAAAAAAAAAAAAAAAAAAACwB/NGW8xL6SYGBgDANt45PQAAAAAAAAAAAAAAAAAAAAC+KqW7TDJN8vVFZ49J7mvtHx0SAAAAALCpdVzhQ6MDPEsyS3JjIAAAbEqsAQAAAAAAAAAAAAAAAAAAAGDk1i9Ju16/3Oz8W6dRSvc5ybzW/n7s5wUAAAAA+7AOq16t46pfLYdPrf3iDQ7hagfriTUAALCxk9Vq5fQAAAAAAAAAAAAAAAAAAAAARmr9wre770UavuG3WvtrvxcAAAAA2I1SuiHOME/y019s8DDECt5KuKGUbrinjw2XfK61nzRcDwCAkTk1cAAAAAAAAAAAAAAAAAAAAIBxKqW7SnL/ilDD4G+ldG/i5W8AAAAA8Nasgwb/fEGoYfA+ye+ldI/rKOuxmza+vjM/cAAAtiHWAAAAAAAAAAAAAAAAAAAAADBC65e3LTZ8odkHwQYAAAAAaGsdavi4waJDjPX+jQQbAADgaIg1AAAAAAAAAAAAAAAAAAAAAIxMKd0kyd2GoYavhmDDld8OAAAAAGyvlG66Yajhq7N1sOHiiMexbLzel8brAQAwMmINAAAAAAAAAAAAAAAAAAAAAONzneS8wV3f+O0AAAAAQBPXDRY5O/Jndo+N12sdfwAAYGTEGgAAAAAAAAAAAAAAAAAAAADGZ9bojs9L6VqtBQAAAACjVEo3SfJzo3v/uZTu4kjP8a7xeovG6wEAMDJiDQAAAAAAAAAAAAAAAAAAAAAjUko3HSILDe946vcDAAAAAFtp/Yzt6hjHUWv/mORzo+U+19q3jj8AADAyYg0AAAAAAAAAAAAAAAAAAAAA43LZ+G4v/H4AAAAAYCutn9kdc2B13mCN5ySzBusAADByYg0AAAAAAAAAAAAAAAAAAAAA4zJpfLetXyQHAAAAAGPTOq7Q+hlgM7X290l+22K9h+G8au0fj+zWAAB4g8QaAAAAAAAAAAAAAAAAAAAAAAAAAAAA2Ita++sktxvsdVtrf1lrvzQpAABaEGsAAAAAAAAAAAAAAAAAAAAAGJenxnfrxWgAAAAAcFyO/pldrf0syackzy/4+vCdT+u/AQCAZsQaAAAAAAAAAAAAAAAAAAAAAMal9YvaHv1+AAAAAGArrZ+xvYnAaq39PMnFOtrw8I2vPKz/t4v1dwEAoKmT1WrlRAEAAAAAAAAAAAAAAAAAAABGpJRuePnbeaM7/qXWfuH3AwAAAACbKaWbJfm91fHV2p8YBQAA/LVTZwQAAAAAAAAAAAAAAAAAAAAwOq3iCs9CDQAAAACwtbvhWVujY3wwDgAAeBmxBgAAAAAAAAAAAAAAAAAAAICRqbWfN3r527XfDgAAAABsp9b+KclNo2NstQ4AAPzwxBoAAAAAAAAAAAAAAAAAAAAAxmm+5V3f1tov/HYAAAAAoIkhsvCw5UJfPLMDAICXE2sAAAAAAAAAAAAAAAAAAAAAGKFa++Hlb7cb3vnwd9d+NwAAAADQRq39U5JZkucNFxz+7so4AADg5U5Wq5XjAgAAAAAAAAAAAAAAAAAAABipUrpFkg8vvPvhhW/zdegBAAAAAGislO4iyV2S969YeXhuN621X5oHAAC8nFgDAAAAAAAAAAAAAAAAAAAAwMiV0l0lGQIM5985iS9JFrX287GfFQAAAADsQynd8CzuOsnZX2x3O3yv1v7JYAAA4HXEGgAAAAAAAAAAAAAAAAAAAAD4P6V0l0mmSSbr/2p4wduy1v7eCQEAAADA/q1Dq1+f2331mGR4Zncn0gAAAJsTawAAAAAAAAAAAAAAAAAAAAAAAAAAAAAAAEbl1LgBAAAAAAAAAAAAAAAAAAAAAAAAAAAAAIAxEWsAAAAAAAAAAAAAAAAAAAAAAAAAAAAAAABGRawBAAAAAAAAAAAAAAAAAAAAAAAAAAAAAAAYFbEGAAAAAAAAAAAAAAAAAAAAAAAAAAAAAABgVMQaAAAAAAAAAAAAAAAAAAAAAAAAAAAAAACAURFrAAAAAAAAAAAAAAAAAAAAAAAAAAAAAAAARkWsAQAAAAAAAAAAAAAAAAAAAAAAAAAAAAAAGJV3xg0AAAAAAAAAAAAAAADsSyndJMnl1+1q7e8dPgAAAAAAAAAAAACwbyer1cqhAwAAAAAAAAAAAAAAADtVSjdLcp3k/Xf2eUiyGD619k+mAQAAAAAAAAAAAADsklgDAAAAAAAAAAAAAAAAsDOldJfrCMP3Ig1/9CXJrNb+3lQAAAAAAAAAAAAAgF0RawAAAAAAAAAAAAAAAAB2Yh1qGKILZxus/0ut/cJkAAAAAAAAAAAAAIBdEGsAAAAAAAAAAAAAAAAAmiulu0iy3DDU8NV/1Nrfmw4AAAAAAAAAAAAA0NqpEwUAAAAAAAAAAAAAAAB2YLFlqGGwKKWbGA4AAAAAAAAAAAAA0JpYAwAAAAAAAAAAAAAAANBUKd0syU8N1jxPMjMdAAAAAAAAAAAAAKA1sQYAAAAAAAAAAAAAAACgtauG64k1AAAAAAAAAAAAAADNnaxWK6cKAAAAAAAAAAAAAAAANFFKN0nyP41P899q7Z9MCAAAAAAAAAAAAABo5dRJAgAAAAAAAAAAAAAAAA1d7uAwd7EmAAAAAAAAAAAAADBiYg0AAAAAAAAAAAAAAAAAAAAAAAAAAAAAAMCovDNuAAAAAAAAAAAAAAAAAAAAAAAAAAAA+LZSussk0yST9ReektzX2i8dGQDA2yXWAAAAAAAAAAAAAAAAALT01Po0a+3vTQgAAAAAAAAAgH0qpRvCDNdJZknOv7V1Kd2XJIskN7X2zf/dDAAAu3XqfAEAAAAAAAAAAAAAAIBWau2XSZ4bLvlgOAAAAAAAAAAA7FMp3RBpeEzy8XuhhrXz9XeWpXSXhgQA8LaINQAAAAAAAAAAAAAAAACt3TVcb2E6AAAAAAAAAADsQyndpJRu+Lcv/5Xk7BVbDtGGe8EGAIC3RawBAAAAAAAAAAAAAAAAaK1VYOFZrAEAAAAAAAAAgD26SfLzhtsNcYe7IfhgYAAAb4NYAwAAAAAAAAAAAAAAANBUrf19kt8arHlTa/9kOgAAAAAAAAAA7Fop3SzJhy23OU9ybVgAAG+DWAMAAAAAAAAAAAAAAACwC/MkD1us+1BrPzcZAAAAAAAAAAD25KbRNmINAABvhFgDAAAAAAAAAAAAAAAA0Fyt/VOS6YbBhof13wIAAAAAAAAAwM6V0s2SnDXa52y9HgAAR06sAQAAAAAAAAAAAAAAANiJIdhQa3+Z5FOS5xfu8XkINaxjDwAAAAAAAAAAsA/Txnu0Xg8AgB0QawAAAAAAAAAAAAAAAAB2qtZ+nuQiya9JHr6z1xBp+M9ae6EGAAAAAAAAAAD27aLxfq3XAwBgB05Wq5VzBQAAAAAAAAAAAAAAAPaqlG76L/stBRoAAAAAAAAAADiUUrrh366cNdz+udZ+YqAAAMftnfkAAAAAAAAAAAAAAAAA+1Zrf+/QAQAAAAAAAAAAAIBDOXXyAAAAAAAAAAAAAAAAAAAAAAAAAAAAjNiy8a23Xg8AgB1451ABAAAAAAAAAAAAAAAAAAAAAAAAAAB2o5TuIsnFvy5ea3/vuI/KY5KfGl7Q4w9wJgAAPzyxBgAAAAAAAAAAAAAAAAAAAAAAAAAAgIZK6S6TXCe5SnL2x5VL6Z6TzGvtb5z7URjiGR8aXogYBwDAG3CyWq3MCQAAAAAAAAAAAAAAAAAAAICDKaWbJhleXjdZX8Ny+NTaP5oKAAAAAG9JKd3wjGuR5OcXXvbnIehQa/9k0IdVSjc8jzxvcBHPtfaTF3wPAIADE2sAAAAAAAAAAAAAAAAAAAAAYO/WL627TjL7kxeg3SaZizYAAAAA8BaU0g1B0rsNXvj/kGQq2HBY6/nVBhfxS6394i2fBQDAWJyaNAAAAAAAAAAAAAAAAAAAAAD7VEp3lWSZ5ONfvLjuw/C9UrqZAQEAAABwzNYv+r/fINQweL+OPHBAtfbDM8tftryCW6EGAIC3Q6wBAAAAAAAAAAAAAAAAAAAAgL0ppRteVPb3V7y07izJ7+vAAwAAAAAcq8X6Wdamfiqluzbdw1qHFoZgw/MGF3KbxAwBAN6Qk9VqZV4AAAAAAAAAAAAAAAAAAAAA7Nw61PBhw32Gl6Nd1No/mRQAAAAAx6SUbp7kY4NL8gzsSJTSXa4DHO9fcEXD3Oa19jejOBwAgB/IqWECAAAAAAAAAAAAAAAAAAAAsGuldDdbhBoGZ0muDQoAAACAY1JKN2n43Gp4BjYz4MOrtV/W2g/Bhl+SfP7OBX1J8qnWfiLUAADwNp2sViujAwAAAAAAAAAAAAAAAAAAAGBnSummSf7ZYP3n4cVnJgUAAADAsSilu0ry94aX87COBHBccx6eS/7rXJ6GoMMBLwkAgAbEGgAAAAAAAAAAAAAAAAAAAADYqVK6+yQ/NdrjU6393MQAAAAAOAaldMOzqo+NL+Xfau2fDBgAAHbr1PkCAAAAAAAAAAAAAAAAAAAAsCuldBcNQw2DmWEBAAAAcESmO7iUSwMGAIDdE2sAAAAAAAAAAAAAAAAAAAAAYJdav6zuvJRuFy/AAwAAAAAAAGBExBoAAAAAAAAAAAAAAAAAAAAA2KWLHax9aWIAAAAAAAAAbEOsAQAAAAAAAAAAAAAAAAAAAIC3ZmJiAAAAAByJpUEAAMDbJNYAAAAAAAAAAAAAAAAAAAAAwC49OV0AAAAAfmD3jW/tuda+9ZoAAMA3iDUAAAAAAAAAAAAAAAAAAAAAsEu7eLGcAAQAAAAAR6HW/m4ILDS8ljuTBQCA/RBrAAAAAAAAAAAAAAAAAAAAAGBnau2XSb40Xn8XAQgAAAAA2NS80ckN0YdrUwAAgP0QawAAAAAAAAAAAAAAAAAAAABg1xYN1/+yDkAAAAAAwFGotb9JctvgWq5r7Z9MFQAA9kOsAQAAAAAAAAAAAAAAAAAAAICdqrWfD5GFRntcmxYAAAAAx6bWfrZlsOG3WvuW0VMAAOAviDUAAAAAAAAAAAAAAAAAAAAAsA9XSZ633Oe21v7OtAAAAAA4Rutgw6cNLu3XWnuRUgAA2DOxBgAAAAAAAAAAAAAAAAAAAAB2rtZ+mWS2RbDhdv2yOwAAAAA4WrX28yT/PjzPesGzsM9JSq39jYkCAMD+naxWK8cOAAAAAAAAAAAAAAAAAAAAwF6U0l0muUty/sL9hhfazb2wDgAAAIC3ppRukuQqyeX6M3hKMoRN79aBUwAA4EDEGgAAAAAAAAAAAAAAAAAAAADYq/VL6q6TzP4k2vAlyaLWfm46AAAAAAAAALQm1gAAAAAAAAAAAAAAAAAAAADAwZTSXSaZJpmsr+EpybLW/t5UAAAAAAAAANgVsQYAAAAAAAAAAAAAAAAAAAAAAAAAAAAAAGBUTo0bAAAAAAAAAAAAAAAAAAAAAAAAAAAAAAAYE7EGAAAAAAAAAAAAAAAAAAAAAAAAAAAAAABgVMQaAAAAAAAAAAAAAAAAAAAAAAAAAAAAAACAURFrAAAAAAAAAAAAAAAAAAAAAAAAAAAAAAAARkWsAQAAAAAAAAAAAAAAAAAAAAAAAAAAAAAAGBWxBgAAAAAAAAAAAAAAAAAAAAAAAAAAAAAAYFTEGgAAAAAAAAAAAAAAAAAAAAAAAAAAAAAAgFERawAAAAAAAAAAAAAAAAAAAAAAAAAAAAAAAEZFrAEAAAAAAAAAAAAAAAAAAAAAAAAAAAAAABgVsQYAAAAAAAAAAAAAAAAAAAAAAAAAAAAAAGBUxBoAAAAAAAAAAAAAAAAAAAAAAAAAAAAAAIBREWsAAAAAAAAAAAAAAAAAAAAAAAAAAAAAAABG5Z1xAwAAAAAAAAAAAAAAAK2U0l0mmXxdrtb+3uECAAAAAAAAAAAAAMfmZLVaGQoAAAAAAAAAAAAAAACwsVK6aZJZkqskZ99Y5yHJYvjU2j85aQAAAAAAAAAAAADg0MQaAAAAAAAAAAAAAAAAgI2U0k2SzJP87YV//5zkptZ+7sQBAAAAAAAAAAAAgEMSawAAAAAAAAAAAAAAAABebR1quE/yfoM/f0gyrbV/cvIAAAAAAAAAAAAAwCGINQAAAAAAAAAAAAAAAACvVkq33DDU8JVgAwAAAAAAAMARKaW7SnK5/kzWVzZE/Je19ndmBQAAwI9GrAEAAAAAAAAAAAAAAAB4lVK6eZKPDU7tt1r7a6cPAAAAAAAAcDildMP/bzt8zv/kIp6T3AwfUX4AAAB+FGINAAAA8L/s3f1RI0maB+C3O/p/8ADOApTlAFoLhrMAjQXDWDBqC4axoIUFp7bgwIFKYcGBBQsW6CJ3q+/Y3m7QRwJS1fNEKCZ2W5WqfDORCkm8PwAAAAAAAAAAAFaWUnMYEXcRcVCpan/Lub22AgAAAAAAAMA+SKmZRES5nX53uiXMoHz2Oc+5ne3JXI7L+UbEyRqH3Zb559wuXvHUAAAA4E0IawAAAAAAAAAAAAAAAABWllJzERF/VqzYVc7txAoAAAAAAABAvzwTanDfhRpc7lPD/5SacUSUEIajFe5eghsudjm0oQtqWGwY1F/mNxbYAFBHSs1hRJyV59aIOO5u5fXmJiIenoQB3Sk5AEBdwhoAAAAAAAAAAAAAAACAlaXUlGYbJxUr9phze2gFAAAAAAAAGLKuSfOoa9L8zT+aM+9bQ/yUmjKP+YqhBqUJ9WTXm093wRNfNjj0qgtteHiF09pKhc9+S+jGaBfnBrBPNnjdnObcXltkAIA6hDUAAAAAAAAAAAAAAAAAK+kaxPz9FaqV9q3BDAAAAAAAANSQUnNcmi5HxPkzw5Wm+LOc2+muF33DUIPHLtBg9kqntZUtghq+ucm5Ha9217eRUlP20h8VHuyvnNuLXZobwD7pXmMuI+JgzdP2/AsAUMlHhQQAAAAAAAAAAAAAAADe2aEFAAAAAAAAYGhSakqT5f95IaihOCqN9VNq7lJqRrtapi1CDUqD6i/d8TslpWa8ZVBDcdqFI+yELqS/VoPv37rAEQDW1L2mbxI05rEBAAAgAElEQVTU8O35dydDjgAA9o2wBgAAAAAAAAAAAAAAAGAlObcPKgUAAAAAAADb6xos/7nmQCW04XoXAxu6hv2XWw7zZQfnVqsR9h87FGpwtmFj8OfGA2ANXXDOfMvn4/Mu+AkAgC0IawAAAAAAAAAAAAAAAADWcataAAAAAAAAsLmusfL5hgMcdIENu9L4/5tZpQCAeZ3T2V5KzaQLyKhlVxpqj3d8PIAhuKj0GjO1WwAAtiOsAQAAAAAAAAAAAAAAAFjHde1q5dxWHxMAAAAAAAB2URey8OeWp3bQhSPshJSaUUScVjqXoy4kYRfUPo+zHZlX7aCPUeXxAHotpeawYoDPwQ69bgIA7CVhDQAAAAAAAAAAAAAAAMA6ajd9+ar6AAAAAAAADMi00lRPU2rGO1K2Wg2nv9mVptO1Aii+Oao83q7o67wAXstZF7xUy65cDwAA7CVhDQAAAAAAAAAAAAAAAMDKcm4XEXFTsWK1wx8AAAAAAABgJ6XUHEbEecVz25VQg9pNomuHJKytWytW86hOAGup/bp5rPwAAJsT1gAAAAAAAAAAAAAAAACs66JSxW5ybueqDwAAAAAAwEDUbs58tiNlO9qBc2B1D5VrtVB7gLXUDlcYKT8AwOaENQAAAAAAAAAAAAAAAABrybktzTY+b1m1xx1qHgMAAAAAAABvoXYz5YOUmsP3XLn3fvzXknNbAg1u+zi3iLiuPJ6wBnqvPNel1Iyf3qw6WxCuAACwQz5ZDAAAAAAAAAAAAAAAAGBdObfTlJrjiDjf4PAS1DDuGpwAAAAAAAAAmxu9QvN9/qnU9aRiLXYl/GEeEX9WHG9WcSzYGV0YzVlEXPzouSCl5rH7ebrw/QfemdAcAIAtfFQ8AAAAAAAAAAAAAAAAYBM5t5OI+LzmoTcRcZxz6w/FAQAAAAAAYM91DcprhxA87khVLiuPN6883kZybu8i4qrScDc++6WPUmpKSEP5WfnyTGjLQUScl/ul1ExsBNZQ+3nzTvEBADYnrAEAAAAAAAAAAAAAAADYWM7ttPQpeKGZR2mm8jUi/pZzO+4atgAAAAAAAABbyrm93oEa1g412IU51Q41KGYVx9rWtFIoxsX7TgPqS6kpz2n/1YUxrKLc70t3HKyidrjCTrxuAgDsK2ENAAAAAAAAAAAAAAAAwFZybhc5t5Oc2w/lVkIZntxSzu1hzu3ZjjSKAQAAAAAAgPdS+/Oy+x1ZyXmlxv9Px9sVtUINPnfhDzuhO5dtgxZ+LZ8V78qcoIaUmvIz/9uGQ/2WUiPAhFXUvB543LHXTQCAvfNhuVxaNQAAAAAAAAAAAAAAAAAAAAAAAAB4ZSk1DxFxUOlR/sq53YnG4F2D8j8rDPVYwuArjFNNSs0kIr5sMd5tzu1ol+b0zRZzK0ENs9c5K3gfKTXjiPjvCg+eBJnwkpSaEppzVKFQJQxoquAAAJv7pHYAAAAAAAAAAAAAAAAAAAAA9FVKTWnyeRYRpeHe8XfTLI3zZhroAQAAb+gyIv6o9HCXu7JwObeXKTXld6/TLYfaifCJp0ooQUpNbBhqcNv9PrqTurktur20ytqV+Vzk3F7v6pxgC7Wefy53+eeenVFeM6+3DHC636VrAQCAffVhuVxaPAAAAAAAAAAAAAAAAAAAAAB6J6WmNNmbrtD07KZrNim0AQAAeFVdoFz53eNoy8f5K+d2p4INurmVxtMnGw5xlXM7qXxa1aTUjErg3xrz+6v8Tppz+7Crc3oqpaY0l590Teaf7s/7bl3nObfz9z9TqK97/vp7xYGT95l4SUrNpAtb2CSw4bE8X9tnAADbE9YAAAAAAAAAAAAAAAAAAAAAQK90DfZKA8nTNeb12AU2zOwGAADgNXVN//MWD3GbczvaxUXaIrChhOid7UOwQUrNWTnXH4QaRBdsUH4fvcy5vXunUwTW1DXN/1Kxbp9zbqfWgZd01wTzNUOcvI8JAFCRsAYAAAAAAAAAAAAAAAAAAAAAemOLxqDf/GfO7dyOAAAAXlPXGPwyIg7WfJjbEhKwy6EG3e9lpUn5byseoqk58K5Sai7XeM5axdec2zOryiq6182L7vbSdcF9F260UFwAgDqENQAAAAAAAAAAAAAAAAAAAADQGyk1JWjhly3m8xgRx7vc+BQAAOiHlJpRRMzWCJv7q4Qg7MvvKyk1x13j6dKw/Oi7fy7Npsvvb5c5t3fvdIoA/5BSU4I/TytW4ybndqy6rKMLbSivmWXvlNfQUXd4CWYor5XXObczRQUAqEtYAwAAAAAAAAAAAAAAAAAAAAC9kFIziYgvFebyOed2alcAAABvIaWmNGae/CR4TqgBwCsT1gAAAMP1ydoDAAAAAAAAAAAAAAAAAAAA0BO1AhYuKo4FAADwrJzbeRfIUBqGjyLisLv/Iuf2QfUA9s7CkgEAwH4Q1gAAAAAAAAAAAAAAAAAAAADA3usamh5VmsdBSs0k53ZmZwAAAG8p51aDb4C3dx0RpxUf1XM5AADsiY8WCgAAAAAAAAAAAAAAAAAAAIAeOKs8hbFNAQAAADAI85qTFAAKAAD7Q1gDAAAAAAAAAAAAAAAAAAAAAH1QO1zh2K4AAAAA6L+c20VE3Fea6FdbBgAA9oewBgAAAAAAAAAAAAAAAAAAAAD4dyM1AQAAABiMaaWJ1hoHAAB4A8IaAAAAAAAAAAAAAAAAAAAAAAAAAACAwcq5nUXE1y3n/znndmEXAQDA/hDWAAAAAAAAAAAAAAAAAAAAAEAf1G6Ep7EeAAAAwLBMIuJ2wxmXoIap/QIAAPtFWAMAAAAAAAAAAAAAAAAAAAAAfVA7XOHOrgAAAAAYjpzbh4gYR8TNGpO+j4i/CWoAAID99GG5XFo6AAAAAAAAAAAAAAAAAAAAAPZeSk1pqHdQaR6/5tzO7AoAAACA4UmpuYiI6TPvNX2NiLn3jwAAYL8JawAAAAAAAAAAAAAAAAAAAACgF7omen9WmMtjzu2hXQEAAAAwbCk14+8K8JBzuxh6XQAAoC+ENQAAAAAAAAAAAAAAAAAAAADQGyk11xFxuuV8fs25ndkVAAAAAAAAAP310doCAAAAAAAAAAAAAAAAAAAA0CNnEXG7xXSuBDUAAAAAAAAA9J+wBgAAAAAAAAAAAAAAAAAAAAB6I+f2ISLGEfF1gzldRcSF3QAAAAAAAADQfx+Wy6VlBgAAAAAAAAAAAAAAAAAAAKB3UmrOImIaEScvzO2x3C/n9tIuAAAAAAAAABgGYQ0AAAAAAAAAAAAAAAAAAAAA9FpKzSgixt3t8MlcryNikXM7twMAAAAAAAAAhkVYAwAAAAAAAAAAAAAAAAAAAAAAAAAAAAAAMCgfLTcAAAAAAAAAAAAAAAAAAAAAAAAAAAAAADAkwhoAAAAAAAAAAAAAAAAAAAAAAAAAAAAAAIBBEdYAAAAAAAAAAAAAAAAAAAAAAAAAAAAAAAAMirAGAAAAAAAAAAAAAAAAAAAAAAAAAAAAAABgUIQ1AAAAAAAAAAAAAAAAAAAAAAAAAAAAAAAAgyKsAQAAAAAAAAAAAAAAAAAAAAAAAAAAAAAAGBRhDQAAAAAAAAAAAAAAAAAAAAAAAAAAAAAAwKAIawAAAAAAAAAAAAAAAAAAAAAAAAAAAAAAAAZFWAMAAAAAAAAAAAAAAAAAAAAAAAAAAAAAADAonyw3AAAAAAAAAAAAAAAAAAAAAAAAAAD7KqXmMCIuIuIsIk6+m8ZtRMwj4jLn9sEiAwAA8M2H5XKpGAAAAAAAAAAAAAAAAAAAAAAAAAAA7J2UmmkX1HDwwrk/doENU6sMAABACGsAAAAAAAAAAAAAAAAAAAAAAAAAAGDfpNQclvCFiDhf89Svcm4nFhwAAICPg68AAAAAAAAAAAAAAAAAAAAAAAAAAAD7ZpOghuI8pWZmtQEAABDWAAAAAAAAAAAAAAAAAAAAAAAAAADA3kipmW4Y1PDNeTcGAAAAA/ZhuVxafwAAAAAAAAAAAAAAAAAAAAAAAAAAdl5KzWFE3EXEwZbn+hgRxzm3D1YdAABgmD5adwAAAAAAAAAAAAAAAAAAAAAAAAAA9sRFhaCG6Ma4sOgAAADDJawBAAAAAAAAAAAAAAAAAAAAAAAAAIB9cVbxPGuOBQAAwJ75ZMEAAAAAAAAAAAAAAACAl6TUHHZNKsptHBEHTw75GhGznNu5QgIAAAAAAADwyk4qDl9zLAAAAPbMh+Vyac0AAAAAAAAAAAAAAACAn0qpmUbExXcBDT9yU8Iccm4fVBMAAAAAAACA2lJqDiPi7zWHzbn9YKGAoUmpOY6I4yfTvsu5vbMRAIChEdYAAAAAAAAAAAAAAAAA/FBKzSgiZhFxskaFHiNinHO7UFUAAAAAAACGKqVm/HTqObfXNgNsT1gDwOa659CLiJhExNEPBrrvvit0mXP7oNQAwBAIawAAAAAAAAAAAAAAAAD+TRfUUBrGHGxQnRLYcOyPtgEAAAAAABiSlJrS+PgsIn75ybRvu+bHMxsDNpdSU7WRprAGYAhSakpIw3TF7wKV7/5Mc24vbQ4AoO+ENQAAAAAAAAAAAAAAAAD/IqXmOCIWGwY1fHOTcztWWQAAAAAAAPquC0IvAQwnK071voQ65NwubA5YX0rNYo2ft5fc5tyOLAPQVyk1h911ys/CpJ5zlXM7sTkAgD77aHUBAAAAAAAAAAAAAACA78y2DGooTlNqhDUAAAAAAADQayk1pYHx9ZqN44/KMd2xwPrmFWtWcyyAXXS5YVBDcZ5SM7OqAECfCWsAAAAAAAAAAAAAAAAA/k/XEOa0UkUuVBYAAAAAAIC+SqkZRcSXDYPQyzGX3RjAekrj8ccKNXvsxgLope57QOdbzq0ENvgOEADQW8IaAAAAAAAAAAAAAAAAgKfOKlZjrLIAAAAAAAD02HzLqZXAhpkNAuvJuX2oFLJw2Y0F0Fe1AmmmdggA0FfCGgAAAAAAAAAAAAAAAIB/SKk5jIhfKlbjIKVmpLoAAAAAAAD0TUrNJCKOKkzrpBsLWEPObWkcfrVFza66MQB6qbu+OKg0twPXKwBAX32ysgAAAAAAAAAAAAAAAEDnNYIVDhUXAAAAAACAHrqoOKWziJjZJLCenNtJSk055nzNQ0tQg6bjA5BSU55fx999H+I6IhY5t/Oh14feG1ee4Nj1CgDQR8IaAAAAAAAAAAAAAAAAAAAAAAAAAGBFKTUlsPykYr1+UXvYTBfYcNcFqBy8MMhjRFzm3E6Vu99Sasp+mP5kT5zGP+9jP9B3x5XnV3s8AICd8NEyAAAAAAAAAAAAAAAAAAAAAAAAAMDKRrVLlVIzVn7YTNdsvzQR/xwRtz8Y5Lb7t2ON+fsvpWYWEX+uEN5R/v2PlJpFSk3153XYAbX3tZ8TAKCXPllWAAAAAAAAAAAAAAAAoPNQuxA5t9eKCwAAAAAAAMBryrktn3dPuxsD1QU1nK85+5OIuC6hOTm3C3sHAACG5aP1BgAAAAAAAAAAAAAAAOKfzStK04FHxQAAAAAAAAAA9klKzXSDoIZvDiJinlJzaNHpkdrhI8JMAIBeEtYAAAAAAAAAAAAAAAAAPDWvWI1blQUAAAAAAAAAXlNKzXFE/LHlQxxFxKWFokfuKk+l9ngAADtBWAMAAAAAAAAAAAAAAADw1KxiNTQxAAAAAAAAoI8Wlef0mHN7bacAbGxaqXTnKTUjy0BP1L62cK0CAPSSsAYAAAAAAAAAAAAAAADg/3RNYP6qUJHbnNuawQ8AAAAAAACwE3JuH8rnYRXPZW5lATaTUnMYEWcVy3dhKeiD7ns795Wm8uh7QABAXwlrAAAAAAAAAAAAAAAAAL433bK5zGNETFQVAAAAAACAHrusOLWpjQKwsRLUcFCxfDWDH+C91QofEWICAPSWsAYAAAAAAAAAAAAAAADgX+TcPkTEeMPAhnLMOOd2oaoAAAAAAAD02LwLMd/W55zbOxsFYGOjyqU7SKk5thz0Qc5tuV652nIqVzm3MxsCAOirT1YWAAAAAAAAAAAAAAAA+F4X2DBKqZlGxEVpRvBCkUojmsty644FAACA3kupOewCD0fdf78pvxtfl5tAQwAA6KfymVhKzSQi/muLCX7NuZ3aIgBbqR3WUJSwBkE69ELO7SSlpkzlfIP5XHXfGwIA6K0Py+XS6gIAAAAAAAAAAAAAAAA/1TWenHS3kyf3e+waT87LTUgDAAAAQ5JSU5qUTVcIOLwt98u5ndsgAADQPyk1JdD8tw0mdhMRZz5jA9hOSk353sJp5TL+Lef22tLQJ2teszx272le2gQAQN8JawAAAAAAAAAAAAAAAAAAAACAFXWhhrOI+GXNmn0tQYgasQIAQP+k1JQgtz/WmNjnnNuprQCwvZSa+Qbv07xEWAO9lFIz7gJofxZwcl/e+3SdAgAMibAGAAAAAAAAAAAAAAAAAAAAAFhRSk0JajjfsF63ETEW2AAAAP3TNT++eKZheGl+XBqKX+bc3tkCAHVsEJizCmEN9FpKzXF5nzIijrt5lvcrr3NuF1YeABgaYQ0AAAAAAAAAAAAAAAAAAAAAsIKUmklEfNmyVjc5t2P1BgCA/uqCG566E9AA8DpSakYRkSsO/phze2i5AABgGIQ1AAAAAAAAAAAAAAAAAAAAAMAKUmoeIuKgQq1+z7m9VHMAAACA7aXUXEfEaaVSet8GAAAG5KPFBgAAAAAAAAAAAAAAAAAAAIDnpdRMKgU1FFPlBgAAAKjmotJAN4IaAABgWIQ1AAAAAAAAAAAAAAAAAAAAAMDLxhVrdNCFPwAAAACwpZzbRUT8vuUwtxFxZi0AAGBYhDUAAAAAAAAAAAAAAAAAAAAAwMuOK9dopOYAAAAAdeTcXkbEXxsOdlOCOnNuHywHAAAMi7AGAAAAAAAAAAAAAAAAAAAAAHhZ7XAFYQ0AAAAAFeXcXkTErxHxuOKo5X6/59wKagAAgIES1gAAAAAAAAAAAAAAAAAAAAAAAAAAAOy9nNtZRBxHxNUzoQ23JaSh3C/n9tKqAwDAcH2y9gAAAAAAAAAAAAAAAAAAAADwokVEnCoTAAAAwG7LuX2IiEk5yZSa8Xcnu+j+HQAAQFgDAAAAAAAAAAAAAAAAAAAAAKzgrnJYw7WiAwAAALyunFvvwQAAAD/1UWkAAAAAAAAAAAAAAAAAAAAA4EW1G/vNlRwAAAAAAADg/XxYLpfKDwAAAAAAAAAAAAAAAAAAAAAvSKl5iIiDCnW6z7k9Vm8AAADgJSk1ZxExjohRRBxGxElE3EZEeZ9iUQImc26FQgIAAGzgk6IBAAAAAAAAAAAAAAAAAAAAwEouI+KPCqWaKjcAAADwnJSaSfcewtEP7nbS/fc0In5LqbmPiLOc24WiAgAArO6jWgEAAAAAAAAAAAAAAAAAAADASkpYw+OWpfqacztTbgAAAOBnUmrKewdffhLU8CPlftcpNWeKCgAAsDphDQAAAAAAAAAAAAAAAAAAAACwgpzbh4iYbFGr2y2PBwAAAHquC2o432CWBxExS6kZ2SMAAACrEdYAAAAAAAAAAAAAAAAAAAAAACvKuZ1HxK8R8bhmzW4iYtwFPgAAAAD8m5Saiw2DGr4pgQ3zlJpD1QUAAHiZsAYAAAAAAAAAAAAAAAAAAAAAWEPO7awEL3QBDC8poQ6/59wKagAAAAB+qgtYmFao0FFEXKg0AADAyz6pEQAAAAAAAAAAAAAAAAAAAACsJ+d2UQIbUmpGETGJiNF3A9xFxHUX7AAAAADwkhKwcFCpSpNKwQ8AAAC99mG5XFphAAAAAAAAAAAAAAAAAAAAAAAAAAB4Jyk1JfjxqOKjpy5sEgAAgJ/4qDAAAAAAAAAAAAAAAAAAAAAAAAAAAPA+UmpGlYMairHlBAAAeJ6wBgAAAAAAAAAAAAAAAAAAAAAAAAAAeD+Hr/DIrzEmAABArwhrAAAAAAAAAAAAAAAAAAAAAAAAAAAAAAAABkVYAwAAAAAAAAAAAAAAAAAAAAAAAAAA9MuD9QQAAHiesAYAAAAAAAAAAAAAAAAAAAAAAAAAAHg/i1d45NcYEwAAoFeENQAAAAAAAAAAAAAAAAAAAAAAAAAAwDvJuX2IiNuKj36fc3ttPQEAAJ4nrAEAAAAAAAAAAAAAAAAAAAAAAAAAAN7XZcVHn1lLAACAl31YLpfKBAAAAAAAAAAAAAAAAAAAAAAAAAAA7yilZhERJ1uewWPO7aF1BAAAeNlHNQIAAAAAAAAAAAAAAAAAAAAAAAAAgHc3KWELW57E1DICAACsRlgDAAAAAAAAAAAAAAAAAAAAAAAAAAC8s5zbRURcbHEWVzm3l9YRAABgNcIaAAAAAAAAAAAAAAAAAAAAAAAAAABgB+TcziLi1w3O5GrLoAcAAIDB+bBcLq06AAAAAAAAAAAAAAAAAAAAAAAAAADsiJSaUUTMI+LohTN6LCENXcgDAAAAaxDWAAAAAAAAAAAAAAAAAAAAAAAAAAAAOyilZhIR44g4johRd4aLiLiLiGshDQAAAJsT1gAAAAAAAAAAAAAAAAAAAAAAAAAAAAAAAAzKR8sNAAAAAAAAAAAAAAAAAAAAAAAAAAAAAAAMibAGAAAAAAAAAAAAAAAAAAAAAAAAAAAAAABgUIQ1AAAAAAAAAAAAAAAAAAAAAAAAAAAAAAAAg/LJcgMAAAAAAAAAAAAAAAAAAAAAAADAv0upGT/9P3Nur5UJAODnUmoOI+IsIsp11HF3O4qIm4h4iIhyPTXPub1TRgDgvX1YLpcWAQAAAAAAAAAAAAAAAAAAAAAAAAD+2WB40jUY/uUH9XgszYUjYqrBMADAv0qpGXXXSkcrlOamu6YShgUAvBthDQAAAAAAAAAAAAAAAAAAAAAAAAAMXtdceBYRJyvW4nPO7XTodQMAiP8PvLqMiIM1C/JXzu2FIgIA70FYAwAAAAAAAAAAAAAAAPAPKTWHETH69r9zbq9VBgAAAAAAgCHYornw14iY5Nw+2CgAwFB1oVfXG1xLfXOVczuxgQCAtyasAQAAAAAAAAAAAAAAAAasC2i4KA1kIuLoJ5W4jYhZuWkyAwAAAAAAQN90zYXzFtO6ybkd2xgAwBB13z9aPPPdo1X9nnN7aRMBAG9JWAMAAAAAAAAAAAAAAAAMVEpNCWgof+B8sGIF7kuoQ87ttT0DAAAAAABAX6TU3FVoLvw553ZqUwDUk1JTgnDK7bi73XW3ec7tQqlhN6TUlGugPyqczGPO7aFlBQDekrAGAAAAAAAAAAAAAAAAGKCUmllEnG84819zbmf2DQAAAAAAAPuuCzj/Umka/5Fze2dTAGyna/x+EREHzwx0HxFT31+A95VSc9iFqDz387qO/8y5nVtWAOCtfFRpAAAAAAAAAAAAAAAAGJauqcGmQQ3Fl5SasW0DAAAAAABAD1xUnELNsQAGJ6VmlFKziIg/Vmj8ftR9f+G6axYPvI+zikENhe8kAQBvSlgDAAAAAAAAAAAAAAAADEhpbNA1NdjWTLMDAAAAAAAA9ln3eddJxSmc2RAAm+m+z3C9wfPyaTnOdxjg3dQOVxhZSgDgLQlrAAAAAAAAAAAAAAAAgGG5qDTbo4iY2DsAAAAAAADssdrNgI9Sao5tCID1dEEL84g42LB0J93xwNurfe0jeAUAeFPCGgAAAAAAAAAAAAAAAGBYzivOVlgDAAAAAAAA/CthDQDruyyBN1vW7TSl5kLt4c3VDr86sYQAwFsS1gAAAAAAAAAAAAAAAAADkVJzWHmmJ68wJgAAAAAAAAAwECk1JeTmvNJsp/YN7L1bSwgAvCVhDQAAAAAAAAAAAAAAADAco1eY6WuMCQAAAAAAAAAMw1nFWR6k1NQcD3jZonKNHtQcAHhLwhoAAAAAAAAAAAAAAAAAAAAAAAAAGJyc22urDvDuaocrjC0pvKm7yg9WO/wBAOBZwhoAAAAAAAAAAAAAAAAAAAAAAAAAGKqvNectAAJgbaPKJas9HvC82tc+rqUAgDclrAEAAAAAAAAAAAAAAACG46H2TDWbAQAAAAAAYM/NK55+1eAHgIE4sNCwv3JuZxFxX2kC9zm3Na/NAABeJKwBAAAAAAAAAAAAAAAABiLndhERjxVne2vvAAAAAAAAsM+6BsO1Pve6tBkAgAE6q/SdpKnNAwC8NWENAAAAAAAAAAAAAAAAMCzXFWc7s3cAAAAAAADogUmFBsN/5dzW/CwOYChqBeZ882DnwNvKuV1ExMWW11NXXYgWAMCbEtYAAAAAAAAAAAAAAAAAw3JZabaPwhoAAAAAAADogycNhjd1m3O7zfEAQ7aoPHfBOfAOuqCFcUTcb/DoJahhYt0AgPfwYblcKjwAAAAAAAAAAAAAAAAMSEpNaUxwuuWMP+fcTu0bAAAAeD0pNYcRcRYRo+72Tfndft41lAUAACpJqSnX3fOIOFpjxKsS9JBz+2AdANaXUlOau/93xdL9R87tnaWA99G9p3nR3Q5eOInHiJjm3F5aLgDgvQhrAAAAAAAAAAAAAAAAgIHp/ij6boU/iP6Z25zb0WaHAgAAAKtIqSnNzKYv/P5+3zUzmykqAADUk1Iz6RoMnzwz6H0X0jBXeoDtpNTcrRmU8zNXObcTywHv70kQbQlkOX4SRrvovrd07X1NAGAXCGsAAAAAAOB/2bv7qzaStG/At338P2QATwRQnYA1EQwbgTURDBOBmQiWiWDkCF4cwcgJdEEECxEsRKD31G55H9aPsZFUMuru6zpHZ84ZpFJ9tDA0VfcPAAAAAAAAgAlKqSsHoJcbBDbclEPUOff3rhsAAABorxYxK8Ve367R+MeImPt9HQAA2qvBDce10PBtfVzl3F+bboA2UurK99i/tmzsoRSDz7m/tSwAAMBzCWsAAAAAAAAAAAAAAACAidqg+OMfEXGh8CMAAADsRv1dvYQrnmzwBgIWAQAAgMFKqbuIiIWJLsoAACAASURBVPdb9P+XnPuFKwAAAFiHsAYAAAAAAAAAAAAAAACYuJS6s4iYR8TPX5mJhxrosMi5X059rgAAAGCXUuqunvj9/Lk+5dzPLBIAAAAwRFsENghqAAAANiKsAQAAAAAAAAAAAAAAAPiPlLrHBR3vc+6vzQ4AAADsXg1T/H8N3ui3nPtLSwYAAAAMUb1HUu5tHD2j+58i4tzeBgAAYFPCGgAAAAAAAAAAAAAAAAAAAADghaXUlaKCJw168ZBzf2g9AQAAgCFLqZtHRAlumEXEwaOh3EXEMiIWOfdLiwwAAGxDWAMAAAAAAAAAAAAAAAAAAAAAvKCUutOIyA178EvO/cKaAgAAAAAAADzttbkBAAAAAAAAAAAAAAAAAAAAgBc1a/zmrdsDAAAAAAAAGB1hDQAAAAAAAAAAAAAAAAAAAADwslqHKxxbTwAAAAAAAIBvE9YAAAAAAAAAAAAAAAAAAAAAAC/rsPG7n1pPAAAAAAAAgG97Y34AAAAAAAAAAAAAAAAAAAAAAPjRUupKsMjsi8CS+4hY5txfWxAAAAAAAAB2SVgDAAAAAAAAAAAAAAAAAAAAAIyLIvfstZS6eURcRMTRU/1Mqbsrz8m5X1hNAAAAAAAAdkFYAwAAAAAAAAAAAAAAAAAAAAC8rGVEvG3Yg1vryT5KqTuMiKtnXu8lyOHPGuxwlnN/b1EBAAAAAABo6bXZBAAAAAAAAAAAAAAAAAAAAIAXdd34zZeWk31Tgxo2CSYpz1/W1wMAAAAAAEAzwhoAAAAAAAAAAAAAAAAAAAAA4AXl3F9FxEOjHjzk3C+sJ3uoBDWcbNitEyEkAAAAAAAAtCasAQAAAAAAAAAAAAAAAAAAAABe3kWjHpxbS/ZNSt3FFkENn53UdgAAAAAAAKCJV6vVykwCAAAAAAAAAAAAAAAAAAAAwAtLqVtExLstevEh535uHdknKXWHEXEbEQcNuvUQEcc59/cWGQAAAAAAgG29NoMAAAAAAAAAAAAAAAAAAAAA8PJq0MKHDTtSXnduGdlDZ42CGqK2c2aRAQAAAAAAaEFYAwAAAAAAAAAAAAAAAAAAAADsiRrY8EtE3D2zRw8R8Vt5Xc79vXVkD80ad6l1ewAAAAAAAEzUGwsPAAAAAAAAAAAAAAAAAAAAAPsj534REYuUurNamP40Ig4j4iQibiKihDJcR8Qy5/7K0rHnjht3r3V7AAAAAAAATJSwBgAAAAAAAAAAAAAAAAAAAADYQzWIQRgDQydcAQAAAAAAgL302rIAAAAAAAAAAAAAAAAAAAAAALAjtyYWAAAAAACAfSSsAQAAAAAAAAAAAAAAAAAAAAAAAAAAAAAAmBRhDQAAAAAAAAAAAAAAAAAAAAAA7Mqycbut2wMAAAAAAGCi3lh4AAAAAAAAAAAAAAAAAAAAAAB25Coi3jds+spCAQAAALCNlLrjiDirj8euS1hozr17UAAwEa9Wq5W1BgAAAAAAAAAAAAAAAAAAAABgJ1LqlhHxtkHbn3LuZ1YJAAAAgE3UkIaLiHj3nZc/RMRlzv2FiQaAcRPWAAAAAAAAAAAAAAAAAAAAAADAzqTUnUZEbtB+yrm/tlIAAAAArKveoyqhogdrvPQuIs7ckwKA8XptbQEAAAAAAAAAAAAAAAAAAAAA2JVazO6XLZv/RVE8AAAAADaxYVBDcVRel1J3ZuIBYJxerVYrSwsAAAAAAAAAAAAAAAAAAAAAwE6l1J1HxN83eI/fcu4vrQ4AAAAA60qpO4yI6xq8sKmHiJgJEwWA8XltTQEAAAAAAAAAAAAAAAAAAAAA2LUauPBTRNw9863K834S1AAAAADAFs63DGooDiLiqgY/AAAjIqwBAAAAAAAAAAAAAAAAAAAAAIAfIud+mXN/HBG/RMTHJ96z/P9fyvPK860MAAAAAFuYN5q8oxr8AACMyKvVamU9AQAAAAAAAAAAAAAAAAAAAAB4MSl1M8EMAAAAALRU7jlFxF8Nm7yrQaQAwEi8tpAAAAAAAAAAAAAAAAAAAAAAALwkQQ0AAAAA7MBp4yaPUupatwkAvCBhDQAAAAAAAAAAAAAAAAAAAAAAAAAAAMDYHO5gPDNXCQCMh7AGAAAAAAAAAAAAAAAAAAAAAAAAAAAAgO/bRQAEAPBChDUAAAAAAAAAAAAAAAAAAAAAAAAAAAAAY3NvRQGAb3ljdgAAAAAAAAAAAAAAAAAAAAAAAAAYs5S604g4fDzEnPulRQcAGLXrHQxOAAQAjMir1WplPQEAAAAAAAAAAAAAAAAAAAAAAAAYlZS6WUTMI+IsIg6+MraHiLjMub+w8gAA45RSdxsRRw0H95PQLwAYD2ENAAAAAAAAAAAAAAAAAAAAAAAAAIxGSt1xRCwi4u0zx3RTQh1y7q9dBQAA45JSV4K53jca1F3O/bFLBADG47W1BAAAAAAAAAAAAAAAAAAAAAAAAGAMUupOI+J6jaCG4iQilvW1AACMy2UJWWg0ooVrAwDG5dVqtbKkAAAAAAAAAAAAAAAAAAAAAAAAAAxaDVtYRsTBhuMoRXxPc+7vXQkAAOPR4OfE4i7n/thlAQDj8tp6AgAAAAAAAAAAAAAAAAAAAAAAADACV1sW4D2KiEsXAgDAuOTcX0fEPCIeNhxYed2ZywIAxkdYAwAAAAAAAAAAAAAAAAAAAAAAAACDllI3r2EL23qXUnfqagAAGJec+xLsNYuIuzUHVoIaZjXwAQAYGWENAAAAAAAAAAAAAAAAAAAAAAAAAAzdecP+t2wLAIA9UQMXSjDX7zWE4Xs+RMSxoAYAGK9Xq9XK8gIAAAAAAAAAAAAAAMAEpNSVg8aHn0eac7+07gAAAAAAAAxdSl35G9g/Gw7jIef+8BnPAwBgwFLqzmp4w5fuI+Iq5/7W+gLAuAlrAAAAAAAAAAAAAAAAgBFLqZtFxDwiysHig6+M9GM9WLxwHQAAAAAAADBE9W9ifzXu+v8ozgsAAAAwbm+sLwAAAAAAAAAAAAAAAIxPSt1hRFxExK/fGdzP5ZFSVwId5grOAAAAAAAAwL8cR4S/nQEAAACM2GuLCwAAAAAAAAAAAAAAAONSgxqWzwhqeOxtRFyn1J26HAAAAAAAAAAAAACAsRPWAAAAAAAAAAAAAAAAAONTghpONhjVQXmtwAYAAAAAAAAAAAAAYOyENQAAAAAAAAAAAAAAAMCIpNRdbBjU8FkJbFi4JgAAAAAAABiKnPulxQIAAABgXcIaAAAAAAAAAAAAAAAAYCRS6g4j4rzBaE5q6AMAAAAAAAAMxceW/RQAAQAAADB+whoAAAAAAAAAAAAAAABgPOYRcdBoNOc1/AEAAAAAAACG4KphH5sGPwAAAACwn4Q1AAAAAAAAAAAAAAAAwHjMG46khD6cuTYAAAAAAAAYgpz7RUTcNOrqpUUHAAAAGD9hDQAAAAAAAAAAAAAAADACKXWHEXHSeCTCGgAAAAAAABiSEm7+sGV//8i5X1p1AAAAgPF7Y40BAAAAAAAAAAAAAACAJ8xMDAAAAAD8t5S6EnJ6Wh8lRPU+Iq4jYqmwMwC8rJz765S684j4c8OO3OTcn1tGAAAAgGl4tVqtLDUAAAAAAAAAAAAAAACMQEpd88NCOfevXBsAAAAwDbUA/awWoH+sFKIvBeivcu5vXQ5MUUrdcURcRET5nBx8YwruyvNy7hcuFAB4OSl15Wfaq4g4WqMTHyLiPOf+3tIBAAAATIOwBgAAAAAAAAAAAAAAABiJlLr77xSKW5uwBgAAABi3lLrDUpC2Pp5zX+FjLWArtIHJSKkrIQ3v1xzvh5z7uasEAF5WSt28/qx78o2O3NWfca8sFwAAQ1bv934O5J3VoZQ9ZdclkDfnfmmBAeC/CWsAAAAAAAAAAAAAAACAkUipKwVkfm45GmENAAAAMG4pdYuIeLfBIH/Pub9weYxDLeJ2Vgu4HT8aVCnkVgq4LXLu7yc6L5cbfkZCYAMA7Jca3HBcf+a5rY+rnPtrSwUAwJCtEcpbgsoucu4XFhwA/k1YAwAAAAAAAAAAQEMpdbN6iO+xcohvOcWiBQAAAPxYtcDMnw3f9GPO/ZllBAAAgHFKqSthC++3GJxC9ANXi7iV62D+nSJuMcWAji3CTB77Lef+sm3PAAAAAODfUupOSwhZRBytMSWfSnirs04AIKwBAAAAAAAAAABga7VwwXl9fKtwwYdS4CDn/tasAwAAsAv1d9TbZxTWe66/5dxfWSwAAAAYn5S644j4R4OBTa6A/1hsWMTtrhZxu57A/GwbZvLZQ0QcK3wHAAAAQGv1Ht9yw/1iNxExc98KgKl7PfUJAAAAAAAAAAAA2Ebd1HxdD+d/b2Pzu1Looh7mBwAAgObqwdnLRu1+EtQAAAAAo9bqb9fnLpPheVTEbZ2ghqjPX6bUnY18fg4bXttlP8m8UVsAAAAA8C/1HtamQQ3FSQ1zBYBJE9YAAAAAAAAAAACwoZS6cpA+b1C44H1K3cK8AwAAsCMlrOFmy6YfImLUBfcAAABgymoRr3eNpuBg7IX7x6au/9UWRdzK6xY18GGszreYn6/xGQEAAACgtcsG97De1vNRADBZwhoAAAAAAAAAAAA2UAsOXG4xd+9S6i7MPQAAAK3l3N9HxLwGLmyivG5W2wEAAADGqXXh+JnrZFBKEMHRlh0uReCuavDDGLX+jLwd6TwBAAAA8AJS6o4bBvI63wTApAlrAAAAAAAAAAAA2MxlLTywjfd1czQAAAA0lXN/XYsk3qzZ7qeIOK6vBwAAAMar9d+qT10rgzJv1NmjGvwwRifjvwwAAAAAGLCW9+WOUupah5cCwGAIawAAAAAAAAAAAFhT3YD8ttG8XZh/AAAAdqEELuTcl0KJv3wntOEhIj5GxE8597Oc+3sLAgAAAKM3s8TTlFI3qyELrbQKftgbKXWHU79OAAAAANh7rQN0BfICMFlvLD0AAAAAAAAAAMDaWhYaeJdSd64QJgAAALuSc7+IiMXn5mtBvs/uS6iDyQcAAACYjNZF145S6k7dYwIAAACAH+pt4zcT8AvAZAlrAAAAAAAAAAAAWF/rDcilvSvrAAAAwI+Qc7800QAAADB51zso5sUwHO6gl7N6TY1Czv19Sp3LGQAAAAAAYAJeW2QAAAAAAAAAAIDnS6k7joiDxlN2agkAAAAAAAAA+IFuG7/VvcWbtF0EQLy0m8bv/2l4UwAAAAAAADB+whoAAAAAAAAAAADWc2y+AAAAAAAAABi4q8bdX7ogBkOwxvO0/oy0bg8AAACAabtrPPrrqU8oANMlrAEAAAAAAAAAAAAAAAAAAAAAJiTn/jYiPjUcsUL0w7GLomtjDIC4jIiHRm2VdhaN2gIAAACA2EGArrAGACZLWAMAAAAAAAAAAMAacu5bb2aOkRYtAAAAAAAAAGC/XTTq3cca/sAA1H0Pd417OrpCbjn39zWwoYWL2h4AAAAAtNI6QFcgLwCTJawBAAAAAAAAAABgfa2LFuwiAAIAAAAAAAAAnlSL9v/RYIbOzfLgLBp2+K5eS6OTc18CTT5sOa4POfetQh8AAAAA4F9y7q8anm/6IGwUgCkT1gAAAAAAAAAAALC+q4ZzVooWXFsDAAAAAAAAAH60nPsStHCzxdv+nnN/a+EG57JhIbeWwQ97J+d+vkWoyYf6egAAAADYhRb3nh4E8gIwdcIaAAAAAAAAAAAA1nfZcM5GXbQAAAAAAAAAgL032zCwoRSiv7C8w5Nzfx8RZ7UQ2zbupnAN1FCTn9b4nDzUIBNBDQAAAADsTM79styH2rL9s3q/EAAm69VqtbL6AAAAAAAAAAAAa0qpK8UG3m85b6VowbG5BwAAAAAAAOCl1b+Dl6L0B9/pSilEfymoYfhS6kpgw+IZa/415TqY5dxfT2zOSrjJvIacHH3x5RLmcFU/HwrcAQAAAPBDbHjGqdzfm+fcX1klAKZOWAMAAAAAAAAAAMCGUupKwYGTDV8+yaIFAAAAAAAAAOyvlLrDiDirheiPv+ho+fv2UvGucUmpO60BA18GD3yLPQ8AAAAAsEdqyOjimff5PtWghltrCADCGgAAAAAAAAAAADZWi1QsNwhsULQAAAAAAAAAANgLdf/DeX0cfKdPH8rzcu7vrR4AAAAA7JeUunkN5D39IrjhpgbyLnLul5YNAP6XsAYAAAAAAAAAAIAtpdRdRMT7Z7byKSLmOfe35h0AAAAAAAAA2CcpdZ8LuX2phDNc2e8AAAAAAADAmAhrAAAAAAAAAAAAaCCl7jgiziNiFhEnX7T4UAoWRMQi535pvgEAAAAAAAAAAAAAAAAA4GUJawAAAAAAAAAAANiBlLrTiDiMiOuc+3tzDAAAAAAAAAAAAAAAAAAA+0NYAwAAAAAAAAAAAAAAAAAAAAAAAAAAAAAAMCmvLTcAAAAAAAAAAAAAAAAAAAAAAAAAAAAAADAlwhoAAAAAAAAAAAAAAAAAAAAAAAAAAAAAAIBJEdYAAAAAAAAAAAAAAAAAAAAAAAAAAAAAAABMirAGAAAAAAAAAAAAAAAAAAAAAAAAAAAAAABgUt5YbgAAAAAAAAAAAL6UUjeLiNOIOKxfuo+I65z7pckCAAAAAAAAAAAAAAAAAGDoXq1WK4sIAAAAAAAAAABACWgowQznETGPiKMnZuQuIhY59xdmDAAAAAAAAAAAAAAAAACAoRLWAAAAAAAAAAAAQAlqOI2Iq2+ENHyphDac5dxfmz0AAAAAAAAAAAAAAAAAAIbmtRUDAAAAAAAAAACYtpS6s4hYrhHUEPW5y/paAAAAAAAAAAAAAAAAAAAYlFer1cqKAQAAAAAAAAAATFRK3WkNajjYcAYeImKWc3/tGgIAAAAAAAAAAAAAAAAAYCiENQAAAAAAAAAAAExUSt1hRJSQhaMtZ+AuIk5z7u9dSwAAAAAAAAAAAAAAAAAADMFrqwQAAAAAAAAAADBZZw2CGqK2ce4yAgAAAAAAAAAAAAAAAABgKIQ1AAAAAAAAAAAATNdZw5HPXUcAAAAAAAAAAAAAAAAAAAzFq9VqZbEAAAAAAAAAAAAmKKXuNiKOGo485dxfu5ZeXkrdcUQc145c59zfT3k+AAAAAAAAAID/lVJ3GhGHn/9Hzv3S9AAwBCl15d+vs7o/bhYRZW/cdd0nd2URAQAAAFiXsAYAAAAAAAAAAICJSqlrvYHst5z7S9fTy0ipKwdP5/Ug6sEXnbiLiHIQ9TLn/nYqcwIAAAAAAAAA/Nt39hUUHyNiodA1APuohjSU/YnvvtO9j3WfnCAiAAAAAJ5FWAMAAAAAAAAAAMBE7SCs4fec+wvX04+VUndciiVExNtnvvEfEXGRc38/ljkAAAAAAAAAAL6uFrcu+zl+feYUfSqBDvYVALAvauDQ1RNhQ0+xnxEAAACAZ3ltmgAAAAAAAAAAAGCYUupOI+J6jaCGqMUXlrUYAwAAAAAAAAAwUnVvwHKNoIaoexBu654EAHhRKXXziPhrzaCG4n1K3aXVAwAAAOB7Xq1WK5MEAAAAAAAAAAAwQSl1rTeQ/ZZzv5eHG+uBzflXQg0ealGCq5z7xQt1byO1KMJyg0Oon91ExCzn/v7lRwMAAAAAAAAAtJZSdx0RJxs2W/ZUHNtXAMBLabBHrvhbzv2VRQQAAADgKa/NDAAAAAAAAAAAwGTdNB749b5NZDmsmVJ3GxF/fiWoIeohzp/L11Pq7muow1AstjyEWooxXAxovAAAAAAAAADAM6XUXWwR1BB1T4Li1gC8iJS6w/rv0DZ75IrL2hYAAAAAfJWwBgAAAAAAAAAAgOlaNhz5Xc59y/a2VoMXSp+OntnWQQ1tWOz74cw6tm0KKnz2a0rdcZteAQAAAAAAAAD7oO57OG/QlbcpdTOLCsALOF9j79+3lDbOLCAAAAAATxHWAAAAAAAAAAAAMF2LhiNv2dbWUupOS/BCDWBY17uIuNqn8XzFxZ62BQAAAAAAAAC8vPmGeya+pkXoAwA8W8PQoc/8WwYAAADAk4Q1AAAAAAAAAAAATFTO/XVEfGow+oec+30r+L9t2MLblLq9DDGoQRRHDZs8a9gWAAAAAAAAAPDy5g17MLOeAPxgpw1Dh4qTGgABAAAAAP+HsAYAAAAAAAAAAIBpK4fzH7acgb0KNUipmzcKM3ifUnfcoJ3WThu3d7Cn4wQAAAAAAAAA1lSLUZ80nLeyr6D1XgUA+NH8WwYAAADAV70xLQAAAAAAAAAAANOVc3+bUjeLiGU5XL/BRHzIub/cswk8b9xWy/Za2EWwQmnz9scPBQAAAAAAAABobBfFqA/HsEg1dOI/Y8m5X75sjwAAAAAAgJcmrAEAAAAAAAAAAGDicu6va2DDVUQcrTEbv+fcX+zT7KXUlQP1Jw2bPNvDsAYAAAAAAACASXtUcP02514wPfCkuidmXveAHDx+Xkpd+c/HiFjk3F+ZRQAAAAAAmB5hDQAAAAAAAAAAAPwrsCEijlPqLuoB9W+FNnyIiMv6mn1z2rg/64RX/Cj3e9gnAAAAAAAAgJ1JqTuuQfuzLwP8HxVbv8q5X4x1FWpAxayGVET92/F1zv3yhbsGeymlrnxWyj6YX7/Tv5/LI6XuUwl0yLm3LwPg5QnjAgAAAOCHebVarcw2AAAAAAAAAAAA/+UrRR6KEs6w3OdD6Sl1pc9/tWwz5/5Vy/a2NYUxAgAA6/tGwcKbiChFCheKjAEAAABDs0ax9c9uarH10RT4Tak7i4jLiDh64il39d7PxQ/uGnuq3iv8R8veDW1fQf3esfwy3OUZHso91pz76xfpOAD/kVJ3+42ff9ZmjxwAAAAATxHWAAAAAAAAAAAAwGjsIsggIn7KuV/u0xyl1JUCqweNmvuYc3/WqC0AAOAHq0XHSrG+d99551Jk7FLRPgAAAGAoUupOawjlZIutp9QtnnHf57My7ouc+8vd94x917jA9U3O/emQFj2l7nqD7x2flc/SsfBbgJeVUlf+pvW+USfskQMAAADgSa9NDQAAAAAAAAAAACMy+GIbz3S1p20BAAA/UC1YePvMgn0l8O19KVJWAx4AAAAA9la977HcsNj6QQ15GLQ1gxo+j/vv9XXQ8joY1DVVi3tvGtQQ9bNkLwXAy7usATotCLMCAAAA4EnCGgAAAAAAAAAAABiNnPv7HYxlF21u66LRQdSbnHuFOgAAYIAeFSw8WLP3pUjZUmADAAAAsOcWG9z3eOxkyKEFKXXnawY1PPYupU5BYloVuH4YUlhDve953qCptyl1swbtALChuhewxff0P3Lul9YBAAAAgKcIawAAAAAAAAAAAGBsPjUcz0PO/fW+zU/O/W2Dg6iloMK8UZcAAIAfKKXueMOghs9OaggcAAAAwN5JqZvX+xfbelfbGpRabH7beze/KjQ/bbXAdYvQjvPa1lDMtwx6+a+xD2jcAKOUc18Cg/7YYmw3Ofe+nwMAAADwTcIaAAAAAAAAAAAAGJtFw/G0bKupehD1wxZtnu9jEAUAAPAsiwYFxxTsAwAAAPbVWcN+DTGw8rxRsXlhnROXc1+ugU9bzMKHujdhSFoGtLh/CrAHatjC3yLiYc3efPC9HAAAAIDneLVarUwUAAAAAAAAAAAwGil1h/WA3emjMd1HxFJh+ulIqStrfbLlgMvhzuOc+/t9nriUulJo4HKNYh13pbiJzwMAAAxT/R3gz0adL8XWWhYvAwAAANhaSl3rYig/5dwvh7IyKXW3EXHUqLn/ybm/bdQWA1T30Sw32EPxew17GIw61n827m+yvwJgP9Tv8/P6+Na/a2V/3HnO/ZWlAwAAAOA53pglAAAAAAAAAABgDFLqSjjDeUS8e2o4KXXlEN5iaIfJ2ci8Fht4boDB18z3PaihyLlfpNSVsV586/qv4RMl1OFyCOMCAACedNZwalq2BQAAALC1lLrjHczirP79eO+l1M0aBjVEvf9zOYSxsxtlf0C9ri6/s6fgs09l/8GQAk4eOd1Bm4c7aPOHq/uq/jOWga4vMHF1z9vl559tasD5cf1Z77Y+roTsAAAAALCuV6tV6zB5AAAAAAAAAACAHyulrhSpf7/Gm5bQhjOH8satHsb8c8NB/lJCEIY2QSl1h7X4wOyLLy0dtAcAgOGrP/P/s/FAkt+PAQAAgH1Ri8r/1bg7H3PuBxFamVJ3HhF/b9jkYMbO7tXPV7nGfv7izUpAQ7lHuBjyvcIdff/4aaj7Lep8zGtoy8FXnnJT1ryu+/0LdBEAAAAAAPbCG8sAAAAAAAAAAAAMWUpdOTT8bs0hHJXi9eVQsoKU41XCFlLqyvpe1TV/jhLkMR/qQft6eH5ZHwAAwPic7mBEh64TAAAAYI/somD4kO5/tO6rez/8R90LYT/ByNXQ34uI+PU7Iz2p4TAXJSim7LOZ+twBAADA1NT7CI/3pF0LdQRgil5bdQAAAAAAAAAAYKjKQeENgho+O6iBDQoTjFgJ48i5P46IXyLi5hsj/VSeU5471KAGAAAAAAAAgKErf+PdwRBuJ3xhvN2DPsCP0vz7x9D2kNR9UMtnBDU8VvZQ/ZlSJ6wBAAAAJqDcPyjnsVLqyr2Uf0bEX48e/0ypK2etzlwLAEzJG6sNAAAAAAAAAAAMUT1cfLFl18th48uImLsIxi3nvhwod6gcAAAAAAAAYP+VIP6Thr0cUljDfeP2Hhq3B3sr5/4+pa7l94+bAa72covxv0upu82533Y/FgAAALCnUurK7/3n9TzVU0oA7NuUuk8RcVbuuVhPAMbutRUGAAAAAAAAAAAG6nubg5+rHDQ+dhEAAAAwAM0PvubcLy08AAAAsGda36+4GtACX+95e7DvFg3717KtnavFFrcNqnifUjcbwHABAACANaTUHabUlXuF79c4i1VCG5blteYagLET1gAAAAAAAAAAAAzVecN+n7kKAAAA2Hc59+XA7EPDbt5YdAAAAGAPXTbs0l29nrpU0QAAIABJREFUpzIINVjzrmFfb4cydmhk0ege6sOQwhpq0cRWe6kuGrUDAAAA7IF632C5YcjjyQ7CdQFg7whrAAAAAAAAAAAABielroQrHDTs98xVAAAAwEBcNezmYIqNAQAAANORc18CBv5oNOAhFh1vec9GITUmJef+PiLmDcZ8UdsainnDvVRvU+pOBzT2r0qpm6fUXaXU3afUrR49ruvXDvew2wAAALALFxsGNXx2klIn3BGAURPWAAAAAAAAAAAADFHrcAWHbwEAABiKVsX6HoQ1AAAAAHusFP+62bJ7n3Luh3j/4zIi7hq0czfQ8cNWcu6vtgx8+ZBzfzmwVWgRULHL9n6YGsRQgjb+jIifvxJicVK/dptSdz7UcQIAAMBzpNSV81e/Npisc8GHAIyZsAYAAAAAAAAAAGCITq0aAAAAU5Rzv9yy0NhnFzn39y4iAAAAYB/V+xazLQIbyuvOhri4dexnNWxzUw9DHT+0kHN/vuF91D9y7gcVVFALJZ40bnZwe7PKPKTUXdUghi8DGr6mPOfvKXVLxSYBAAAYsVb3OQ52EBYJAHtDWAMAAAAAAAAAAAAAAAAMy8UWhQqLDzn3l9YcAAAA2GePAhs+rNnNUmz9dMhBlTn317X42SaBDeU189oGTFYNbPjbMz9Hd+W59TVDs4tghbcDnIcS1PDzBq8rYxXYAAAAwFi1DHQV1gDAaAlrAAAAAAAAAAAAiFCgAAAAgMF4VKhwk8CGUqzQwVkAAABgEMp9kHov46eI+PSdPpev/zTQYuv/R879Vb0HdLfGy8pzZ/W1MHn1s3AcEb995X7qXQ2DKSENxz43w5VSd7FlwMRJRCymPo8AAACMS0pdCXg8aDioE5cIAGP1arVaWVwAAAAAAAAAAGBQUurK4eifG/b5bw5cAwAAMES1CNX5Mw7WlsJj537/BQAAAIYspa4UXT+LiMNHw7iNiGXO/e0YFzel7rDe/ymhFUdPPO2uFhq/rEGfwESk1JVQl79ajzbn/tUQZrD+u/CPRs2VwJ9lo7YAAADgRe3onoHfnQEYpTeWFQAAAAAAAAAAGKBlw7CGB4UqAQAAGKqc+4uUustarK88Th4N5a7+Dn3ld18AAABgDGogw+WUFrOGL5TAzotaYO30UVjFfQ2quH7hbgIvZ+qf//OGbZXvtbOG7QEAAAAAMADCGgAAAAAAAAAAgCEqBSb/3qjfkyriAAAAwPjUgn2XfscFAAAAGLec+2UN5wT4l3J/OKXu5osg323dDGh2zxq29bZhWwAAAAAADMRrCwUAAAAAAAAAAAxNzv1tRHxo0O27nPsLFwAAAAAAAAAAADBQi8bdHlIw8FHLxlLqZi3bAwAAgBd0vYO3vregAIyRsAYAAAAAAAAAAGCoSsjCwxZ9L689s/oAAAAAAAAAAMCAlbCGu0bdv8u5bx3+sBMpdYdD6CcAAAC8hJz7EqzwseFbP+Tc7yIAAgBenLAGAAAAAAAAAABgkHLubyNitmFgQ3nN3CZhAAAAAAAAAABgyGrxxXmDIZQ9VWcuBgAAABiNq4YDadkWAOyVV6vVyooAAAAAAAAAAACDlVJ3+v/Zu5/dRpI7T+C/KlcDBrxoyQYamD2VGrMn7yzEyNMM9iD2E7SMfYBSHd2XZj9BqZ6gVZfZY6ueYFRP0KoXyJAuvlq6rgG3BOwObGANLaKdNVVbfyQmGRSZ5OcDEIZtMjLi90sKRTIzvt0Fv4+nXMNlualYUAMAAAAAAAAAALAuUmpKYMMPMy6nBDVMcm6Ph1SOlJqqG2jl3D6oOd59SKnZLr3rgjZ23zvkeXdt3VEX6gEAAMCGSak5jYi9Cqv+Kuf21PkDwDp6qKsAAAAAAAAAAMCQldCFnNudiHjeBTF8ymX3nJGgBgAAAAAAAAAAYJ10QQtf3XEN1ceUDf3HQwtq6PRd61pJqTmMiIuIePaRoIbo/rfy/110zwUAAGDzHHQhjfN4IagBgHX24OamajAwAAAAAAAAAADAUqXUjEsgQ0Rsd/O4iohTAQ0AAAAAAAAAAMC6S6nZ7jZiPPjEBv5vvIqIk4GGNPwspabM/Uml4S5zbncqjbVQXY+PZlj7y5zbgyGsEQAAgHpSasp9ViVsYWuGQd+EPF5pCQDrSlgDAAAAAAAAAAAAAAAAAAAAAADAmkqpGb+7spzb03VYaUrNfkT8W6XhXuTcTiqNtVBzhlQIbAAAANhAMwY2CGoAYCMIawAAAAAAAAAAAAAAAAAAAAAAAGBwUmrOImK3wry/zLm9WPX1p9QcRsSzOYd5nnN7WGlKAAAADERKzXZEHE0RAHhdnuezIwCbQlgDAAAAAAAAAAAAAAAAAAAAAAAAg5NSM4qIPOe8X+TcTlZ97d2mmiVQYmvOocqmmzs5t1eVpgYAAMCApNTsRET5HDx+LwDxPCKOy8NnRgA2ySPdBgAAAAAAAAAAAAAAAAAAAAAAYGhybs9Sap5GxA8zTr1sRHk4kGVPKgQ1RDfGZEDrBgAAoKKc24vucyEAbLzioSoAAAAAAAAAAAAAAAAAAAAAAAAwRDm3xxFRAhuue06/BDWMc26vBrLs/RUdCwAAAABgsIQ1AAAAAAAAAAAAAAAAAAAAAAAAMFhdYMMoIl5OuYbnObejAQU1FLsrOhYAAAAAwGA9uLm50T0AAAAAAAAAAAAAAAAAAAAAAAAGL6VmJyImETF+L+DgPCJOIuI45/ZiSOtMqdmOiJ9qjplz+6DmeAAAAAAAQ/RI1wAAAAAAAAAAAAAAAAAAAAAAAFgHXRDDRDMBAAAAALjLQxUCAAAAAAAAAAAAAAAAAAAAAACA1ZRze6U1AAAAAAD1CWsAAAAAAAAAAAAAAAAAAAAAAACA1XZecXY1xwIAAAAAGCxhDQAAAAAAAAAAAAAAAAAAAAAAALDaTirOruZYAAAAAACDJawBAAAAAAAAAAAAAAAAAAAAAAAAVttRRFxXmOF1NxYAAAAAwMYT1gAAAAAAAAAAAAAAAAAAAAAAAAArLOf2qlLIwlE3FgAAAADAxntwc3Oz6TUAAAAAAAAAAAAAAAAAAAAAAACAlZdScxwRT2ac58uc2wNdBgAAAAD4u4fqAAAAAAAAAAAAAAAAAAAAAAAAAKuvC1t4OcNEBTUAAAAAALznwc3NjZoAAAAAAAAAAAAAAAAAAAAAAADAQKTUHEbEJCK27pjxdUQc5dwe6i2rIqVmOyL2I2InIsYRcRURZ+WRc3uiUQAAAADcF2ENAAAAAAAAAAAAAAAAAAAAAAAAMDDdhveTbtP73fdmfx4RJ11Qw5Xesgq6c/YoIp7cMZ1X3bl7qnEAAAAALJKwBgAAAAAAAAAAAAAAAAAAAAAAAAAWJqVm3AWIbPU4xouc24muAAAAALAowhoAAAAAAAAAAABgA6XUbEfE6J2VX+XcnjkXAAAAAAAAAAAAqCml5iAifphxyPOIGOfcXmkKAAAAALUJawAAAAAAAAAAAIANklKzHxHlxtevP7Lq64g4iYjjnNtT5wUAAAAAAAAAAADzSKkZRUS5Hm1rjmFe5tweaAQAAAAAtQlrAAAAAAAAAAAAgA2QUrPdBTHsTbnaFxFxmHN75fwAAAAAAAAA+LRuA+ISnF/+c7t74kVEnJXfaXNuL5QPANhE3XVr5d9Ejyss/3c5tydOJAAAAABqEtYAAAAAAAAAAAAAa67bGOQ0IrZ6rvQ8IsYCGwAAAAAAAAA+lFJTAhqOpth8+FVETIQ2AACbJqXmMCKeVVr2Zc7tjpMIAAAAgJqENQAAAAAAAAAAAMAaS6nZjoiLGYIa3jjPuR05RwAAAAAAAAD+rvsdtoQ0POlZkqc5t8fKCABsggrXrn1Myrk9cwIBAAAAUMtDlQQAAAAAAAAAAIC1djLnza67KTWHThEAAAAAAACA/3A6Q1BD8UNKzYEyAgAbYlQ5qKHYd/IAAAAAUJOwBgAAAAAAAAAAAFhTKTXjiNirsLpJSs228wQAAAAAAADYdCk1RyX0fo4y/ND9lgsAQH87agYAAABATcIaAAAAAAAAAAAAYH1NKq1sKyIOnCcAAAAAAADAJutCFr6tUIJjJxIAwEyENQAAAABQlbAGAAAAAAAAAAAAWF/jiisT1gAAAAAAAABsulqB+Y9TavwGCwDQ36maAQAAAFCTsAYAAAAAAAAAAABYQyk1o4jYqriyXecJAAAAAAAAsKlSarYj4uuKy68V/AAAsKouFjCvRYwJAAAAwAYT1gAAAAAAAAAAAADrabv2qlJqxs4VAAAAAAAAYEPV/r1UYD4AsNZybkuwwmXNNebcHjtrAAAAAKhJWAMAAAAAAAAAAAAAAAAAAAAAwO1GtesjMB8A2AAnFZd47oQBAAAAoDZhDQAAAAAAAAAAAAAAAAAAAAAAAADUdlRxvJpjAQAAAMDPhDUAAAAAAAAAAADAejpbwKoWMSYAAAAAAAAAAABrKOf2IiKeV1jZZc7tsXMEAAAAgNoeqSgAAAAAAAAAAFBbSs04IkYRsd0NfVU2ec+5PVVsuB85t1cpNecRsVvpgOdlTO0DAAAAAAAANtTFApYtMB8AWHs5t4fddaV7M671OiL2nSkAAAAALIKwBgAAAAAAAAAAoIqUmhLMMImIg4h4/LExU2ouI+K43Hin6nAvjiPi+0oHOtIyAABYrpSad4MRQygiAAAAwL2q/V3MpcB8AGCD7HfXs33dc8klqGGScyvkCgAAAICFeHBzc6OyAAAAAAAAAADAXLrNIk8+FdLwESW0Yd/Nc7BYXYjKRURszXmg85zbkXYBAMD9S6kZd8GI+7f82/6829zm2AZ/AAAAAIuTUlOuc9itdIDnObeH2gUAbJKUmvLvn2dTLrn8BnbgWlMAAAAAFumh6gIAAAAAAAAAAPNIqSmbRZ72CGqI7rmnXcgDsCDdJq0Hc45+3W0KCwAA3KMSvpZSU4IRf4yIJ3eEsJUNAr+PiLMu3AEAAACAxTiqNOp1xbEAAAajC6v6MiJedv8m+phXEfE053YkqAEAAACARXtwc3OjyAAAAAAAAAAAwEy6sIXTOzaMvE250a7cTHehA7A4KTVlk49vZzhAeY+O3fAKAAD3qwQ1dJ+3d2c8cNm85ljbAAAAAOpLqSnf2+zNOfB3ObfCGgCAjdb9JjZ6twY5t6ebXhcAAAAA7pewBgAAAAAAAAAAYCbdTXJlA/fHc1bwdc7tWBdgsVJqDiLiqEe4yuuIOBCmAgAA9y+l5iQivp7zwF/ZzAYAAACgvu56iYsev72+72XO7YHWAAAAAAAAwPI91AMAAAAAAAAAAGBGkwpBDcVeSs1IE2Cxcm6PI2InIp5HxOUtB3sVEU9LiIqgBgAAuH8pNfsVghqK427jQAAAAAAqyrm9iohyncP5DKMKagAAAAAAAIAV8uDm5kY/AAAAAAAAAACA3lJqLiqFNRQvcm4nugAAAMCmS6k5qRTWUHyXc3u06TUFAAAAWIQuKPMwIr6dYvgSqD/JuT3RDAAAAAAAAFgdwhoAAAAAAAAAAIDeUmrGEfFjxcqd59yOdAIAAIBNl1JT82Yfn7cBAAAAFiylZici9rtH+S5mqztiCWg4i4iTnNtjfQAAAAAAAIDVI6wBAAAAAAAAAADoLaXmMCKe1axczu0DnQAAAGCTpdRsR8RPlUvw65zbKycWAAAAAACwCrrfQyZd0NHue1M6L0FHEXHk9w0AAIDl6j6/jd6ZxFXO7Zm2ALBuHukoAAAAAAAAAAAAAAAArITRAiZRxjzVXgAAAAAAYNlSag67oIatT0xlt3tMUmpKYMOhpgEAANyvlJoSrncQEV+/f+CUmusuZO8459Z1aQCsBWENAAAAAAAAAAAAAAAAAAAAAAAAwEKk1GxHxFFEPJly/BLm8CylZifn9kBXAAAAFq/77FaCGPZuOdhW99nuSUrNi4g4zLm90h4Ahuyh7gEAAAAAAAAAAAAAAAAAAAAAAAAL0ieo4V1l889jTQEAAFislJpRRFzcEdTwvm8j4rQLeQCAwRLWAAAAAAAAAAAAzOKsctUudQEAAADiqnYJcm5PlRUAAAAAAFiWlJrDGYMa3njSjQEAAMACdGEL5TqzrRlG3+1eCwCDJawBAAAAAAAAAACYRe2LaGuHPwAAAMDg5NyWz8fXFed97iwAAAAAAACWpdvwc1Lh8JOUmh2NBAAAWIiTGYMa3tgVsgfAkAlrAAAAAAAAAAAAesu5vYqIVxUrd6ILAAAA8LOaAYnHSgoAAAAAACzRZM4NP98oYxxoJAAAQF0pNeOI2Ksw6KQL7AOAwRHWAAAAAAAAAAAAzOqoUuUuc25tHgkAAAB/V+vz9rWwBgAAAAAAYMn2Kx5eWAMAAEB9k0ojCtkDYLCENQAAAAAAAAAAADPJuT2NiBdzVu+68s2YAAAAMGjd5+3XFdZwlHN75WwAAAAAAACWaLfioR+n1GxrJgAAQFXjioMJawBgkIQ1AAAAAAAAAAAA8ziMiPMZX1+CGsY5t2c6AAAAAP+f/e5z86zOc24PlRQAAAAAAFiWBQUrjDQUAACgjpSa8hlrq2I5awb2AcC9EdYAAAAAAAAAAADMLOf2qgQuzBDY8LrcNCmoAQAAAD70zuftWQIbzrvXAgAAAAAAAAAAwKdUD9lLqXHtGgCDI6wBAAAAAAAAAACYS9lAMud2FBHPI+LyjrFKSMPTnNtxzu2FygMAAMDHdQGHO91n6Wm9KEENXdgDAAAAAADA0vi9AgAAAAAYgke6BAAAAAAAAAAA1JBzexgRhyk1JbhhHBHb7wxbNpg8dfMlAAAATK/7HD1OqdmPiIOI+PojL76OiJOIOM65PVVeAAAAAABghZxHxG7F6VxoLgAAAABQ04ObmxsFBQAAAAAAAAAAAAAAgAFIqRm/M8urnNszfQMAAAAAAFZRSs1hRDyrNLXLnNsdjQYAAKgjpWY7In6qXM5f59xeaREAQyKsAQAAAAAAAAAAAAAAAAAAAAAAAKiq2/jzIiK2Koz7Iud2okMAAAD1pNTU3Jz6dc7tWHsAGJqHOgYAAAAAAAAAAAAAAAAAAAAAAADUlHN7FRFHlYasNQ4AAABvvaxYC5/bABgkYQ0AAAAAAAAAAAAAAAAAAAAAAABAdTm3hxU2/3yRc3uhOwAAANXVClh4nXN7oj0ADJGwBgAAAAAAAAAAAAAAAAAAAAAAAGAhcm4P5ghseJlzO9EZAACA+nJuzyLi+ZwDn0fEvvYAMFTCGgAAAAAAAAAAAAAAAAAAAAAAAICF6QIbvouI6ymPUZ73Xfc6AAAAFiTn9nCOgL0S1DDOub3SHwCG6sHNzY3mAQAAAAAAAAAAAAAAAAAAAAAAAAuVUrMdESWAYT8i9j5yrNcRcRIRxzb7BAAAuD8pNeWz2lFEbE1x0BKwd9QFPQDAoAlrAAAAAAAAAAAAAAAAAAAAAAAAAAAAANhgXcDepAvZe/yRSpyXcD0BewCsE2ENAAAAAAAAAAAAAAAAAAAAAAAAAAAAAADARnmo3QAAAAAAAAAAAAAAAAAAAAAAAAAAAAAAwCYR1gAAAAAAAAAAAAAAAAAAAAAAAAAAAAAAAGyUR9rNukmp2Y6ISUTsR8TuO8u7jIijnNsjTV9NKTXjiBh1j53uP7fumOx1RJxFxEX3OM25Pd3UGr5LPetSz/Wnx3WpZ13qCQAAAAAAAAAAAAAAAAAAAAAAAAAAUNeDm5sbJWUtvBPSMLlj8+IXObcTXV++rmf73ePryhN6HREn5ZFzezHE+vSlnnWp5/rT47rUsy71BAAAAAAAAAAAAAAAAAAAAAAAAAAAWCxhDayFlJqykfFRRDyecj1f2px4eVJqRl2oxpN7msSrcn7k3J6uYj3mpZ51qef60+O61LMu9QQAAAAAAAAAAAAAAAAAAAAAAAAAALgfwhoYtJSa7S6koe+Gxt/l3B7p/v1KqdmJiOOI2FvSFF5HxOG6bEitnnWp5/rT47rUsy71BAAAAAAAAAAAAAAAAAAAABiubj+s0ZsF2MMBAAAAAIZBWAODlVIz7jY1fjzDGp7n3B7q/v3ofkQo9f52Rab0MiImObdXKzCX3tSzLvVcf3pcl3rWpZ4AAAAAAAAAAAAAAAAAAAAAw5VSc1D2aoiI3U8s4nXZKyvn9libAQAAAGD1CGtgcCptaiys4Z6k1JSk55MZQzUW6Toi9oeWPq2edann+tPjutSzLvUEAAAAAAAAAAAAAAAAAAAAGKYZ9o24jIgD+zkAAAAAwGoR1sCgdF9OH9+SIDwtYQ33oEt8/mHFpzmYc0E961LP9afHdalnXeoJAAAAAAAAAAAAAAAAAAAAMExz7hvxNOf2eJ1an1KzExGj7vFGCaU4y7m9Wu7sAAAAAOB2whoYjJSaslnws0rztfnwgqXUTCLi+4FM92XO7cEKzOOT1LMu9Vx/elyXetalngAAAAAAAAAAAAAAAAAAAADDlFIz6oIItuZYwFoENnShFWUfjd1bnvYyIg5zbi/ucWoAAAAAMLWHSsWqK19Mp9ScVQxqYMFSao4GtAl18SSlZmV/uFDPutRz/elxXepZl3oCAAAAAAAAAAAAAAAAAAAADNrxnEENxQ8pNeOhFiGlZjulpgRW/HBHUEPxJCL+mFJzeE/TAwAAAIBehDWw0lJqSmJunuLLWFZEl3T87QD7sZKbUatnXeq5/vS4LvWsSz0BAAAAAAAAAAAAAAAAAAAAhqvbO6LWfliD3MshpWYUERcRsdfzpc/sXwEAAADAKnpwc3OjMayclJqd7ovkvl/GTut5zq2U3cpSavYj4t8qjfo6Ik67L+UvPvGcne4xrniuPM25XYkv9NWzLvVcf3pcl3rWpZ4AAAAAAAAAAAAAAAAAAAAAw5ZSc1p5X6xB7eWQUrPd7XkxT2DFi5zbScVpAQAAAMBchDWwclJqypeoJUhha4FzE9ZQWRewcTZn3153IR0nObdXfV/cbYRdkqe/nnN1Kef2bM4x5puAelalnutPj+tSz7rUEwAAAAAAAAAAAAAAAAAAAGD4Umpqb9r2Oud2PJTCpNQcRcS3FYb6Kuf2tMI4AAAAADA3YQ2sjC4x97jCJsLTENZQWUrN2Rxpx2UD6sNaX553m2IfzXEuXUbEaJbNsGtRz7rUc/3pcV3qWZd6AgAAAAAAAEPXXds1emcZV4LeAQAAAAAAAACATdJdR/VT7SXn3D4YQhm7PSv+WGm4QYVUAAAAALDeHuovqyClZj8iLu4pqIHKUmoOZ9yE+joivitfmtdMOc65vci5LefU77pj9PW4bIy9rPNEPetSz/Wnx3WpZ13qCQAAAAAAAAxZSs04peaku8H4x3ceOaXmKqXmuDxHkwEAAAAAAAAAANbeQcUF7nXhDwAAAACwdA9ubm50gaXpkoKPlxDS8Dzn1kbDFcyRdnwZEfs5t2cLnl85x05n3Cj7q5obZE9DPetSz/Wnx3WpZ13qCQAAAAAAAAxV93viUUQ8mXIJL0rwe87tlaYDAAAAAAAAAADrKqWm+qZtObcPhlCulJqyz8RexSG/y7k9qjgeAAAAAMzkobKxLCk144i4qBTU8Eojl2aWL7vPI2K06E2o4+8/RJQbwMfdMftaRqCHetalnutPj+tSz7rUEwAAAAAAABicd4Lfpw1qKL4tr+leCwAAAAAAAAAAsK6uK69rlj0flqVmUEMxGs7SAQAAAFhnwhpYipSaSUT8GBFbcx6/fNGcZtwMmTl1gRt9wzbKjw373QbR92KOzaj3UmoO7mue6lmXeq4/Pa5LPetSTwAAAAAAAGDATiJid4bp73YhDwAAAAAAAAAAAOuq9jVSm3zN1c4KzAEAAAAAhDVw/1Jq9iPi+woHfp5zO8q5PdPGpTmc4cDjnNuL+55wtxn1wQzJ1LOscVbqWZd6rj89rks961JPAAAAAAAAYHBSasrvgHtzzHu3GwMAAAAAAAAAAGAdnVRe05GzBAAAAACWS1gDyzDvl8Pn5b7gnFs39S5RSs14hhuzny8zXKM7dt/z5nEXMLJQ6lmXeq4/Pa5LPetSTwAAAAAAAGCIUmq2I2JSYeqTbiwAAAAAAAAAAIC1knN7HBGXldb0Muf2YoPPkKXtswEAAAAA7xLWwL1KqRmVjX3nOGbZyHi0zM2M+Q8HPUtxuQoBGzm3JSzkdc+X1bgJ/S7qWZd6rj89rks961JPAAAAAAAAYIjK739bFea9NcPvpgAAAAAAAAAAAENRY4+I60rj3Ke+e1LcxT5iAAAAAKwEYQ3ct+0Zj3desh5WYSNjfg7dKH180rMUq3QDdt+NpfdSanYWNBf1rEw9158e16WedaknAAAAAAAAMGA1f7sU1gAAAAAAAAAAAKylnNvjiHg559omObcXA6vPSeXxTiuPBwAAAAAzEdbAfZvly+HnObejnFspuKuj783Ur3NuV+aL8e5c6vtjR9/Nq/tQz7rUc/3pcV3qWZd6AgAAAAAAAIPThbQ/rjjvXWcBAAAAAAAAAACwxspeC69nXN7TLvBhaMqcryvN+eUAwyoAAAAAWFPCGrhX3Zejl1Me87zcB5xze6hLK6fvRtRHK7iGvj9W7C9oHqGe1ann+tPjutSzLvUEAAAAAAAAhmin9pxTasbOBAAAAAAAAAAAYB3l3F7l3JZrpJ73WN6bPbWGGNTw85ojosZ+YNeVxgEAAACAKoQ1sAzTbGL8POd2lHN7pkOrJaWm3Ji922NSlzm3J6u2jpzb0+7Hi2k9TqkZ1Z6HetalnutPj+tSz7rUEwAAAAAAGJKyifq7D80DAAAAAAAAAAAA6CfntoQOfBkRL8o+Eh95cfnfXkbE79ZhT62c26OIeD3nMJOc24tKUwIAAACAuT1SQu5b2QA4peZpRJQvXbfeO3zZGPhASMNK2+85uVVOcS7n4A89nl+CRiaV56Cedann+tPjutSzLvUEAAAAAABWWkrNQfebxtfvzzOl5joiStCK9GjAAAAgAElEQVT0oRvgAAAAAAAAAAAAAKbTXXc52aB9F/a7a073Znjt05zbVd5vAwAAAIAN9FDTWYbuy9JRRHwXEa+6VOC1SP7dAAc9l7jKX4yf9Hz+eAFzUM+61HP96XFd6lmXegIAAAAAACsppWaUUnPWhTV/ENTQ2YqIJxHxx5SaQ52EjbOIa7YEvwAAAAAAAAAAAKyZnNurnNuyz8TzHiu7jIivBDUAAAAAsIoe3NzcaAyDl1JTvrj9scc6nufc2ligp5Sa7Yj4qcerzksAx0pM/hNSak57JjR/2SVZ1zi2eqrnrZZZz1Wkxz/znrmFetblbxAAAAAAAKyHlJoSOH3UhTH08TLntm9YNTBgXajLbqUVXObc7jgfAAAAAAAAAAAA1ldKTblObBIR+xHx+CMLPe+uYz0pIQ9OBQAAAABW0UNdAXoY9yzW6QCKe9Lz+X1rUHMs9aw7lnoOjx57z9xFPevyNwgAAAAAAAYupaaER/8wQ1BD8SSl5tg5ABul5nve3w8AAAAAAAAAAIA1l3N7kXM7ybktoQ1fRsRXbx45tw9ybkc5t8eCGgAAAABYZcIagD76bsLcd5PnZei7WfYyN/ZWz7pjqefw6LH3zF3Usy5/gwAAAAAAYPjm/U2iBDYcOA9gY5SAhesKiy1jHDltAAAAAAAAAAAANkcX3HD65qH1AAAAAAyFsAagj1GfJw/hC/Oc27OeN5n3qkHNsdSz7ljqOUh67D1zK/Wsy98gAAAAAAAYti5k4XGFRdhwHTZEzu1Vpff8YTcWAAAwg5SaUUrN+M1DDQEAAAAAAAAAAAAAFkdYA9DHXo/nvh5QZc96PHe34nHVUz2nsax6riI99p6ZhnrW5W8QAAAAAAAM16TSzLdSavadB7AZcm4PI+J8jsW+zrkV8gIAAD11wQzHKTUl+CxHxI9vHik1Nyk1Jz6fAwAAAAAAAAAAAADUJ6wBmEpKzahnpfps7rxsp32OX26EmXe+6vmWet7p3uu5ivT4Le+ZO6lnXf4GAQAAAADAAKXUbFcOWvYbAGyW8YyBDeU1No8FAIAeymf4lJqjLpjhSQlN/MSrv46If0upOe0+9wMAAAAAAAAAAAAAUIGwBmBa67wRdd+57lQ4pnq+pZ63W0Y9V5Eev+U9czv1rMvfIAAAAAAAGKbam6X3/T0EGLCc26susOFFj1W8LK/pXgsAAEyhC104jYhve9RrLyIuUmp8VgcAAAAAAAAAAAAAqEBYAzCtvpsvXwyosn3nWmMjavV8Sz1vt4x6riI9fst75nbqWZe/QQAAAAAAMEw2bATmUkIXcm4nEfFVF8Rw/YnxXpXn5NweCGoAAIDeSlDD7gyv2yqv7cIeAAAAAAAAAAAAAACYwyPFA6bUayOHnNvToRQ25/YspabPS8YVDqueb6nnLZZUz1Wkx295z9xCPevyNwgAAAAAAAZLWANQRff75mB+4wQAgKFIqTmcMajhjRLYcOK6PQAAAAAAAAAAAACA+TxUP2BK2z0KdT3Aol72eG6fWtQYQz3rjqGew6THb3nP3E096/I3CAAAAAAAsFE7AAAAVJJSU661m1QYbS+lRlgDAAAAAAAAAAAAAMAcHikeMKW9HoU6G2BRLyLi8ZTP3a1wPPV8Sz3vdt/1XEV6/Jb3zN3Usy5/gwAAAAAAYHiuKs94iL9xAAAAwKo6iIitSnObCFkEAAAAAAAAAABgWVJqtiNi9M7hz3Jua9/fBgAL9VB5gQUY4j+Ke825+zBwX9SzLvVcf3pcl3rWpZ4AAAAAAMB9qLpJY87tia4BAABANQcVxxprCwAAAAAAAAAAAPep7DeXUjNJqTmLiJ8i4sd3Hj+l1Fyk1Bzalw6AoRDWANwppabvDRxnA6xq3zmPpnjOR6nnR6nn7e6tnqtIjz/Ke+Z26lnXRv8NAgAAAACAgaoZrvDKSQAAAAB1dDee7lYs51ZKjev2AAAAAAAAAAAAuBclhCEiLiLi+1uuh3scEc/K81JqDnQGgFUnrAEAAAAAAAAAANZIzu1FxZCFI+cGAAAAVLOIYIVt7QEAAAAAAAAAAGCRUmq2U2rOuhCGrSkPVZ73Q0rNseYAsMqENQDT6HvzxsUAq3rW8/nz3NCinh9Sz9vdZz1XkR5/yHvmdupZ16b/DQIAAAAAgKGaRMT1nHN/kXN76gwAAAAAAAAAAAAAAAAA2EwlqCEiyn1muzMW4ElKzaHTB4BVJawBmMaoZ5WGuBH1Vc/n963JPK9Vz7qvVc/h0eMPec/cTj3r2vS/QQAAAAAAMEg5t+V3ifEcgQ3nObcT3QcAAAAAAAAAAAAAAADYaCdzBDW88Sylxj51AKwkYQ0AAAAAAAAAALCGcm7PusCGy56re9m9DgAAAKjrrPaAObenegQAAAAAAAAAAMAipNTsR8RepaEnmgTAKhLWAAAAAAAAAAAAa6oENuTc7kTE04g4v2OVJdThdzm3Bzm3V84JAAAAqKv7vH3X53MAAAAAAAAAAABYFTUDFp7oKgCr6JGuAAswxA0bVnnO6lmXeq4/Pa5LPetSTwAAAAAAYClybo8jojwipeYgIkqAwzgiLrrHSQl20B0AAABYuPL5/PtKB3mlXQAAAAAAAAAAACxCSs12ROwpLgDrTlgDMI1RnyoNcfOGMueUmj4v6VWTeV6rnnVfq56DpMcf8p65hXrW5W8QAAAAAACsny64AQAAAFiO8rl8EhGPKxzdZ3wAAAAAAAAAAAAWpfq+cik145zbUx2D6aXU7ETEQUSMu/flVvfi1xFR9rg88b6C+TxUP2AK24r0gXlqop4fUs+61q0mevwh75m61LMuNQEAAAAAAAAAAIBPyLm96m6Ym9ernNsTdQYAAAAAAAAAAABYPyk12yk1xxHxx4h4FhF77wQ1RPffv42IH1NqTlNqqgeswKYQ1gAAAAAAAAAAAAAAAAD3JOf2NCKeznG080qBDwAAAAAAAAAAAACsmC544SIinkw5sxLckFNqXF8KMxDWAAAAAAAAAAAAAAAAAPco5/Y4Ir6KiMueR30ZEeOc2yv9AgAAAAAAAAAAYIHOFjC0a9/gDl1Qw2lEbM1Qqx8ENkB/whoAAAAAAAAAAAAAAADgnuXclhvpyg1130XE+S1Hv+5CGr7KuT0Q1AAAAAAAAAAAAMCiddeq3XZtW1/XObeLCICAtZFSsx0RJzMGNbxRAhvGzgqY3iO1AgAAAAAAAAAAAAAAgPvX3cx61D1+9t4NclduTgUAAAAAAAAAAGBJjiPi+0qHPtVEuNMkIh5XKFO5LnWk3DAdYQ0AAAAAAAAAAAAAAACwInJu3ZAKAAAAAAAAAADAKihhDYcRsVVhLkc6Cp+WUrPdhTXUsJtSM3ZNKkznoToBAAAAAAAAAAAAAAAAAAAAAAAAAAAA8EbO7VWlkIXXNo2HO+1XCkZ540DJYTqP1AkAAGB1/P6bb8oXkiMtAQAAAAAAAAAAAAAAAAAAAAAAAJbpn//ln+Msn/3vv/zlL/9plmk8fPjw/6YmPfr9N98Ia4BbfPHFF//lT3/6U7US/fKXv/wfv//mm50B1fz4f/7rvx6vwDzYQMIagGlcRMTetJVKqdnuks8Go8y551wv5liben5IPW9xz/VcRXr8Ie+ZW6hnXf4GLcWoz3kFAAAAAAAAAAAAAAAAAAAAAAAAsCj/9N/+Kf7whz/Ev/+ff+91hF/84hfx2//620efffbZf9ccuN1f//rXqhXqAlaGtK+hQBeW5qHSA1Pou+nyaIBF7TvneTf27kM9675WPYdHjz/kPXM79axr0/8GAQAAAAAAAAAAAAAAAAAAAAAAAGysR48exW9/+9v4h//8D1OX4PPPP4/UpPjVr37lxAFgpT3SHgAAAAAAAAAAAAAAAAAAAAAAAAAAAAA+pgQ27OzsxG9+85v40//6U/z5z3+Ov/3tbx8889e/+XV88cUXPz8PAIZAWAMAAMBqOY6IUz0BAAAAAAAAAAAAAAAAAAAAAAAAVsnnn3/+8+Mf4x/1BSr67LPPxhHx/9i7n9i6rvw+4D8pshNnMiEdJ1mk45IBUs+mBXku2nhXPe8LiLPS0hS66NIcpKu2gOlNd4HpzaQ7UbsaKGAK7d5PmwJa9B6y7Wa0CQVPgv6JYBIFxqgbhMWZubJoSSTfn/Me35/PB3hjesx33z3fc/gkvnff+d6udcQ333zzf0bEv5ujObIHI9dGWQMAAMAM+Yuf/WzffAAAAAAAAAAAAAAAAAAAAAAAAADAckip2apZ1vDtt9/++7/42c92LR+42k0ZAQMYtlVocw5D7Q35/eM0LcnzVfK83DTznEXm+FV+Zi4nz7qW/TkIAAAAAAAAAAAAAAAAAAAAAAAAAGBicm4PIuK04vH3zRYMRlkDMAmrUq1KnnXJc/GZ47rkWZc8AQAAAAAAAAAAAAAAAAAAAAAAAAB42V6lRB7l3B5KFwajrAEYxMmQKc3jRtTDnvOwmYxzX3nWva885485fpWfmcvJs65lfw4CAAAAAAAAAAAAAAAAAAAAAAAAAJionNvdiDga8zFOI2LbTMHglDUAVxqhBWlzDlMd6pzHaYaS56vkeaWp5TmLzPGr/MxcSZ51LfVzEAAAAAAAAAAAAAAAAAAAAAAAAADAlGx1hQuj2s65PTZZMDhlDQDDG+cvK7xKnnXJc/GZ47rkWZc8AQAAAAAAAAAAAAAAAAAAAAAAAABG0BUtbEbE0ZD3LvtBfpBzeyB3GI6yBmBQj4b43ttzmOow53xY4fHk+YI8rzbtPGeROX7Bz8zV5FmX5yAAAAAAAAAAAAAAAAAAAAAAAAAAgCkohQ05t6Ww4ZOuhOEqDyJiPee2b35geMoagEGdDJNUSs3qvCQ7wrkeV3hYeb4gz0tcU56zyBy/4GfmEvKsy3MQAAAAAAAAAAAAAAAAAAAAAAAAAMD05dzu5tyWfSF/EhGfRcSjc7dS0HAvIt7Oud3OuR1qb0zghVuyAAZ0GBF3hgirNC/NS5PS5pDfX2Mjanm+IM/LXUees8gcv+Bn5nLyrMtzEAAAAAAAAAAAAAAAAAAAAAAAAADANcm5PYiIA/nDZNyUKzCgwyGDGnZz5+vUG/Kxa2ywLc8X5Hm568hzFpnjF/zMXE6edXkOAgAAAAAAAAAAAAAAAAAAAAAAAAAAFpKyBmBQi7wR9fqQ339c4THl+YI8L3cdec4ic/yCn5nLybMuz0EAAAAAAAAAAAAAAAAAAAAAAAAAAMBCUtYADCTntmy+fDpEWr05SnaYcz3tshiLPL8jz6tNPc9ZZI6/42fmavKsy3MQAAAAAAAAAAAAAAAAAAAAAAAAAACwkJQ1AMM4HOJ711JqVmc93e4c14a4yzAZ1DyWPOseS57zyRz7mbmUPOvyHAQAAAAAAAAAAAAAAAAAAAAAAAAAACwyZQ3AMPpDfn9vDtId9hyHzaDmseRZ91jynD/m2M/MVeRZl+cgAAAAAAAAAAAAAAAAAAAAAAAAAABgYSlrAIYx7CbMW3OQ7rDneJ0be8uz7rHkOX/MsZ+Zq8izLs9BAAAAAAAAwNBSalZTanrnb1IEAAAAAAAAAAAAAAAAAGaRsgZgYDm3w27CPA8ftB7mHE9HyOBC8pTnAK4tz1lkjv3MDECedXkOAgAAAAAAAAbSFTTspNQcRsTXEfHl+VtKzUlKzX5KzbpEAQAAAAAAAAAAAAAAAIBZoawBGNbDIb5/LaVmc1YT7s5tbYi7TGITannWJc/FZ47rkmdd8gQAAAAAAACWTkrNbkQcR8SnEbFxwfhXIuLDiPjL7vsBAAAAAAAAAAAAAAAAAK6dsgZgWMNuxrwzwwkPe24HEzgHedYlz8VnjuuSZ13yBAAAAAAAAJZGSs1qSs1hRHzclTEM6uOUmn0rBQAAAAAAAAAAAAAAAAC4bsoagGENuxnzVvlg9qyl3J3T1pB3m8RG1PKsS56LzxzXJc+65AkAAAAAAAAshe59xVJovzHieD9Mqdm2WgAAAAAAAAAAAAAAAACA66SsARhKzu1xRDwa4j4rI2z4PA1b3bkN6mHO7Unt85JnXfJcfOa4LnnWJU8AAAAAAABgiRyMUdTw3N4sFtwDAAAAAAAAAAAAAAAAAMtDWQMwiv0h77M7gykPe04HEzqPkGd18lx85rguedYlTwAAAAAAAGChpdSUAvjbFcZYSuS3rRYAAAAAAAAAAAAAAAAA4LooawBGUTZlPh3ifmspNTPzweruXNaGuMtpzu2wm28PQ551yXPxmeO65FmXPAEAAAAAAIBFt1NxfMoaAAAAAAAAAAAAAAAAAIBro6wBGFrO7Um3GfUw9lJqVq877e4c9oa827DfPxR51iXPxWeO65JnXfIEAAAAAAAAFln3vuLtikPcsGAAAAAAAAAAAAAAAAAAgOuirAEY1e6Q91sZ4T6TsNudyzD2p3Rew5Dn5eS5+MxxXfKsS54AAAAAAADAotqsPa6Ump7VAgAAAAAAAAAAAAAAAABcB2UNwEhybo8j4sGQ9/0opWbruhLvHvujIe/2oBvrRMmzLnkuPnNclzzrkicAAAAAAAAAAAAAAAAAAAAAAAAAAMDsU9YAjGN3hPvup9RsTjv17jH3R7jrKGMclTzrkufiM8d1ybMueQIAAAAAAAAAAAAAAAAAAAAAAAAAAMwwZQ3AyHJujyPiwZD3X4mI/jQ3o+4eq9899jA+6cY4FfKsS56LzxzXJc+65AkAAAAAAExKeX0/pWY3paYUQfe7r7cFDkzJoaABAAAAAAAAAAAAAAAAgEWhrAEY105EnA55jKltRj3GJtRlTHsTOq3LyLMueS4+c1yXPOuSJwAAAAAAUE1KzVZKTSlTzhHxcUR8GBG3u6/vp9ScpdQcKm4AJinn9iQijmo+RM5t36QBAAAAAAAAAAAAAAAAANdBWQMwlu4D2LsjHKNsDJ1TanYmNQPdsfMIm1AX293Ypkqedclz8ZnjuuRZlzwBAAAAAIAaUmpWU2r2I+KLiFi74pAbXXHD8TTKoYGltV9x4A8tIwAAAAAAAAAAAAAAAADgutw4OzsTPnMvpaYXEV8OMY5Pcm5H2TyZC6TU9CPi9oj5HEXETs5tv0a+3XrY6zahGMXDnNut65xredYlz8VnjuuSZ13yBAAAAAAAxpFSczjia/unEdHLuT00AUBNpUQmIo5HLId/2b2c25rlDwAAAAAAAAAAAAAAAAAAA1PWwEJQ1nD9Kn0I+1FElA9fH+Tcngxzx+7xy+bR22NsiF08jYjNYR+/NnnWJc/FZ47rkmdd8gQAAAAAAEaVUlNKmD8a4xCn3ev7xyYBqCmlplx79fGYhzzKud00MQAAAAAAAAAAAAAAAADAdVHWwFR1mwXvdJsFry1I+mXj4n3lD7+a3/Lh6VzpcGVT6n63ufX5TSPKBtGr3dfrZVOJ7jbO5tPPlU0qejm3hxWONTZ51iXPxWeO65JnXfIEAAAAAACGlVLTi4gvKwT3MOd2ywQAtaXUlPcPN0Y8rPcgAQAAAAAAAAAAAAAAAIBrp6yBqRrzA7qz7kHO7fayr6iUmpLB/Rk4lVH8JOf2YJZOSJ51yXPxmeO65FmXPAEAAAAAgGGk1JTX5u9UCu2Pc26PB/g+gIGl1Kx2RfPDXg9Wihp2cm73pQ0AAAAAAAAAAAAAAAAAXCdlDUzNnG9QPKgPcm7783GqkzOnc31vVj8ALs+65Ln4zHFd8qxLngAAAAAAwCC6DdC/rhjWT3Nu94QP1NY9X+1GxEcDHvppRGzl3B6aDAAAlk1KzXopLouI3kulZ0cRUa7T28+5PbEwAAAAAAAAAAAAAACm56asmaKtJQi7NwPncO26DZ3vzdEpz/Qm1PKsS56LzxzXJc+65AkAAAAAAAyo9vUHrmcAJqJsJJtzWzab/SAiHkTE6QWPc9S9/7iuqAEAgGVTSs5Sasq1eH/ZFZ1tvBRB+fdPI+I4pWbXAgEAAAAAAAAAAAAAmJ4bZ2dn4mYqUmr6EXF7wdP+JOfWhyM6KTWloKN8qGRlJk7oVeXD4b15+QC4POuS5+Izx3XJsy55AgAAAAAAl+k2Zvy4YkiPcm4VNgAAAMCUpdRsRkR/yOsFj7pr+E7MFwAAAAAAAAAAAADAZN2ULzApObcH5UMi3YdFZs2jiNicp02o5VmXPBefOa5LnnXJEwAAAAAAuIJiBQAAAJhzIxY1FBvlfik1q9YAAAAAAAAAAAAAAMBkKWtgmo6lvXzKRs85t+VDJp/MyOBPI+KnObe9nNu5W5PyrEuei88c1yXPuuQJAAAAAABMkZJmAAAAmKKUmvURixqeK4UNu+YMAAAAAAAAAAAAAGCybpydnYmYqUip2YqILxY87VQ2Xp6B85hJ3QdOygdGPrym83tQHn9RNqCWZ13yXHzmuC551iVPAAAAAJ5Lqek9/zrnti8YgOWUUlP+DLhdcfD3cm73LScAAACYjoq/23/gtWIAAAAAAAAAAADmTbcP8XZE3Dl36qcRUa6JOyi3nNsTEwvALFDWwFSl1By89JekRfJZzu2OFXW1KW9Ifdr9JXxhN6CWZ13yXHzmuC551iVPAAAAgOWTUrPaXWhUbhuvCeAoIvZccASwXFJqynP/R7UGnXN7wxICAACA6UipKa/33q/0YA9ybrdNHQAAAAAAAAAAAPOg++x02ePu9hWnW/bC28u53TWxAFw3ZQ1MXUrNbrfZzNqCpP+02+R4fwbOZa50f4He6m41SzyWsilNnnXJc/GZ47rkWZc8AQAAAJZDSs1OV965MsCAy3tSOzm3B5YHwOJLqSnvEXxRaaBHObeblg0AAABMR0rNQcVr/05zbldNHQAAAAAAAAAAALMupWaz2+tukM9OP3dU9inOuT00wQBcF2UNwMxIqelFxGZ3W+/+edVfsMum0+Uv1MfdPw9zbvtmVZ61yXPxmeO65FmXPAEAAAAWT0pNKQL/cISBfZJzu2tJACy+lJqTIS9Kvci9nNt9SwYAAAAmL6WmFCt8XfmBkg+hAgAAAAAAAAAAMMu66+eOR/xMXNk3r+daOQCui7IGAAAAAAAAgCkao6jhOZtuAyyBlJqdiPh0zJE+zbldt14AAABgOlJqehHxZeUH+yDntm8KAQAAAAAAAAAAmFUpNeU6t9tjnF4pbNjMuT02yQBM202JAwAAAAAAAExHSs3WmEUNxf2Umk1TBrDYcm73IuLBGIMsF6duWSYAAAAAAAAAAAAAAAAATEpKTW/MooZiJSL2TRIA10FZAwAAAAAAAMD07FV6pFrHAWCG5dxuj1jYUIoadnJuD80vAAAAAAAAAAAAAAAAABO0U+nQt1Nqtk0UANOmrAEAAAAAAABgClJqtiJirdIjlYuN1s0bwOLrChs+GWKgRxHRy7ndtzwAAABg6k5qP2DObd80AgAAAAAAAAAAMMN6FU9ty0QDMG3KGgAAAAAAAACmo/bFQS42AlgSObe7EfHHEfEgIk4vGPXDiLiXc7uZc3tobQAAAMD0db+TX/S7+yiOTCMAAAAAAAAAAACzKqVmMyJWKp7eHZMNwLTdkjgAAAAAAADAVGxWfpBeROyZOoDlkHN7HBHbKTWrL/+ZknPbtwwAAABgZhxExIeVTmbftAIAAAAAAAAAADDDVmufWkpNz2fmAJgmZQ0AAAAAAAAA07FR+VGqX7wEwOzLuT2JCBeaAgAAwOzar1TWcKqsAQAAAAAAAAAAAABgsm7KFwAAAAAAAAAAAAAAAMaXc1tKFj+rcKjdrrQRAAAAAAAAAAAAAIAJuSVYAAAAAAAAgKl4GhFrogYAAAAAWHi7EdGLiI0RB/og53bPMgEAAAAAAAAAAGDGHU7g9E5MOssgpWY1Ira6W7nudOXcsI8iYr/ccm79TMCE3RQwAAAAAAAAwFTUvthoEhcvAQAAAAAwpu5Dcb3ug3LD+izndtscAAAAAAAAAAAAMOu66+VGuVbuIqc5tz5DzUIrJQ0pNbsRcRwR9yPizktFDcVGRHxavielZsuKgMm6JV8AAAAAAACWVfemdLmtR8TtLoan3ZvaBxGx310gAjX0uwslaumbFQAAAACA2dS9v7DZfZhu5zUfontZeX9iJ+f2wJQCAAAAAAAAAAAwR/a7TeVrcA0dCy2lZrP7mdkYcJzl+tMvUmo+y7ndsTpgMm6cnZ2JFgAAAAAAgKWSUtPr3sBeG2Dcn0XErtIGxpVSs9oVgVy1IdcgnubcrpsUAAAAAIDZ170+vN3dzn+47mlXzHugpAEAAAAAAAAAAIB5VPkz1B/k3PYtBBZRV9TQH+NnRWEDTIiyBgAAAAAAAJZKSs1uRHw85JiPygZKObeHVgvjGHH9vc69nNt9kwEAAAAAAAAAAAAAAAAAAFynSp+hthE9Cy2lpuxXsTHmGH+Sc3tgpUBdyhoAAAAAAABYGik1exHx0YjjPY2IzZzbYyuGcVS4iOJhzu2WSQAAAAAAAAAAAAAAAAAAAGbBmJ+hPoqIXs7ticlkEaXUbEfE/QpDK/terPtZgbpuyhMAAAAAAIBlkFKzNUZRQ7ESEQcWCxX0uguGRlHut20SAAAAAAAAAAAAAAAAAACAGTLqZ6gVNbAMdiqNccV+A1CfsgYAAAAAAACWxV6FcW6k1HjjmrF0FwqVi40eDXmcBy40AgAAAAAAAAAAAAAAAAAAZs0In6E+jYhPcm43fX6aJbAx1hB/8FbcWP3d5/9mzwuo7MbZ2ZlMAQAAAAAAWGhdwcL9SmN8mnO7bsVQQ7c2d664uKJckLSbc9sXOgAAAAAAAAAAAAAAAAAAMMtSara6z1Dffs1pHkXEfrkpaWAZpNSsRsTX4wz15p/+o7i5/ke/+vrs5P/Eb/zTf/wv4wdvPYmIZxHxN497d59YTDA6ZQ0AAAAAAAAsvJSag4i4U3GcKef20MqhlpSaUgDSi4jzRSBljR3m3B4LGgAAAAAAAAAAAAAAAAAAAOZLSk3ZRyp8oJgAACAASURBVODLcU76N3p/Gjf+8O3v/v3Gn6z9pxt/8PZfv/Rt30TEV92tfP3zUubwuHf3mSUDl7slHwAAAAAAAJZAzaKGYqvbSB+q6AoZ9qUJAAAAAAAAAAAAAAAAAAAAfOftHw6SxVsR8V53K/5Z+Z/3+5+Xf/yiFDecK3P45ePe3ScChl9T1gAAAAAAAAAsrJSa1a5co9w2I2LtpbEeRUS/FCXk3CrgAAAAAAAAAAAAAAAAAAAAAGbDm2/EjTfG3kr+R91t49z/9y/MMPyasgYAAAAAAAAWWkpNzwwvp5SaUs5w8JqChvM2uttHKTWPImI75/Z42bMDAAAAAAAAAAAAAAAAAAAAxnYyzgFurPzw1f/vD97+6zFP6smY94eFctN0AgAAAAAAsMhybvsmePmk1GxFRP+KooaX3Y6Iw67kAQAAAAAAAAAAAAAAAAAAAGBkObeHEXE66v1vvP1SWcNvvvmswmzUOAYsDGUNAAAAAAAALIOR37i+wIlVM7u6soX9iFgZ4STLffoKGwAAAAAAAAAAAAAAAAAAAIAK+iMf4o03vvevN95eeVLhfJQ1wDnKGgAAAAAAAFgGo79x/Xq1j0clKTWrEXEwYlHDcyvdMQAAAAAAAAAAAAAAAAAAAADGsTfqfW/8we+9+JebN7+98ff+8OcVZuKrCseAhaGsAQAAAAAAgGVQc+P9o5zbQ6tmZu1ExFqFk1tLqdle0IwAAAAAAAAAAAAAAAAAAACAKci57UfEo5Ee6Qdvvfj6ndX/Fm++8W2FM35m3uGFW7IAAAAAAABg0eXc7qfU7FbaxH9v2nGl1GxGxFZE9M7936Uw4rCMbdrnM+NqFiyUzOULAAAAAAAAAAAAAAAAAAAAjKPsX3AcESvDHOPGD37r11/85pvPbv7J3/8vNWbgce/uV2YSXlDWAAAAAAAAwLIom/h/OeZYH02zHCGlppzzRSUTt7vvKeURuzm3Uy+RmDUpNb1KhRzPbS5MOAAAAAAAAAAAAAAAAAAAAMC1yLk96fZE6A9a2HBj9Xd//UUpaviH/+A/VjrvZ1YAfN9NeQAAAAAAALAMcm7LG9b3xhjqUURsTSOqlJrVlJqDiLg/QPlAeRP+05SafrnfNM5vhtUuV6hZ/AAAAAAAAAAAAAAAAAAAAAAsqZzbw4hYj4hHAyXwg9+K+L2V//6rooY33/i2UmrKGuAlyhoAAAAAAABYGjm3+11hw+mQYy5vdPdybk8mnVVXuFCKJe4Medfb5X5LXtiw7GUVAAAAAAAAAAAAAAAAAAAAwIwq+1bk3PYi4icR8fCCsyx7Yjz4jdv/5F/f/PEf/+eKRQ3FE2sDvu+WPAAAAAAAAFgmpbAhpaaUIex3BQeXeRoRezm3e1OM6CAiNka870Y3rq3K5wQAAAAAAAAAAAAAAAAAAABABTm3B93+EpFS0zt3xFLmcFi+eL//+XZErFXO+5fmD75PWQMAAAAAAABLJ+f2OCJ6KTXrXbFBeeN69VwO5Y3rfvfm9tSk1OwMUCBxlTspNVvTPvcZcbKEYwYAAAAAAAAAAAAAAAAAAADmVM5t/4Izf2cCI/rKOoHvU9YAAAAAAADA0upKG/a627VKqSllEbuVzqEcZxnLGg4rH++o8vEAAIBO9zvQ5vk8LrmoGAAAAAAAAAAAAAAAAGDZvDeB8f7CKoLvU9YAAAAAAAAAs6EXESuVzmQjpWYz57Z2ecFMKxu7ptQ8jYi1Sudpo1gAAKioK2jY7m4bLx85pab842Epn8u53Zc9AAAAAAAAAAAAAAAAsIze73/+2xMY9jePe3d/aUHB992UBwAAAAAAAMyEzcon0VvSaa25oavNYQEAoJKUmt2IOI6IT19X1HDOnYi4n1JzWEro5A8AAAAAAAAAAAAAAAAsoR9NYMhfWUjwKmUNAAAAAAAAMBtqlyssZVlDzm3ZAPa0wqEe5dweVjgOAAAstZSa1VK8EBEfR8TKEFmUQod+Ss32smcIAAAAAAAAAAAAAAAALJ13JzDgZ5YRvEpZAwAAAAAAACym1SWe190x71/KHmwICwAAYypFDaVwoSteGEUpd9hLqdk0FwAAAAAAAAAAAAAAAMASeWcCQ1XWAK+hrAEAAAAAAABYKDm3exHxYMQxlaKGXs7tsVUBAABj2x2jqOG5UthwYCoAAAAAAAAAAAAAAACAJfLuBIb6cwsIXqWsAQAAAAAAAGbDiXmoJ+d2OyI+GfKAT7uihsNZHhsAAMyDlJpeRHxU6VTXUmq2TTwAAAAAAAAAAAAAAACwJN6ZwDC/sXjgVcoaAAAAAAAAYDb0K59F7ePNnZzb3bJHbEQ8uOLcS0nDJzm364oaAACgmtrlCjumBgAAAAAAAAAAAAAAAFgS1csaHvfufmXxwKtuyQQAAAAAAABmQu1yBaUDvy5sKDlsp9SUjV17EbF57j+flNwVNAAAwERsVT7ohmkCAAAAAAAAAAAAAAAAFt37/c/fm8AQf2HhwOspawAAAAAAAIAZUAoDUmqOKm1Aeppze2BeX8i5LcUMB90NAACYoJSaUpK2ImMAAAAAAAAAAAAAAACAof32BCL7pWmA11PWAAAAAAAAALNjNyK+qHA2u9McUUrNekRsdbfzm7I+jYh+ueXc7k/znAAAgGu1Kn4AAAAAAAAAAAAAAACAkbw7gdiemAp4vZtyAQAAAAAAgNmQc3sQEQ/HPJmHObd70xhQSs1qSk15rL+MiE8j4va5ooZiLSI+jIj7KTXHKTVb0zgvAAAAAAAAAAAAAAAAAAAAgDk1ibKGZxYDvJ6yBgAAAAAAAJgt2xFxNOIZPezuP3EpNZsR0Y+IjwZ8rFLc8EVKzb71BgAAjOCR0AAAAAAAAAAAAAAAAIAl8NYEhvg3Fg683i25AAAAAAAAwOzIuT1JqelFxEFE3B7wxE4jYjfndm8aA0mpWe2KGlZGuPuHKTVlnFMplQCAWdX9ef+dnNu+yQIWyOEEhjKJYwIAAAAAAAAAAAAAAADMmvcmcD6/MMvwejfOzs5EAwAAAAAAADMopWanlDBcUopwFBH75VZKHqY1gpSa/hBFEhf56bTKJQBgVqTUlLKirYi485pTOu3Kmnam+ec6wKSk1Bxc8Hw3qpRzq7ABAAAAAAAAAAAAAAAAWFjv9z9/JyL+beXxffO4d3fHqoHXU9YAAAAAAAAAMy6lpted4WpEPN+8+fA6NnLuNpm+X+FQZUPqdZtRA7AMUmo2u4KljQGGe9oVNuxbHMA8636P+bLSEB7l3PYG+D4AAAAAAAAAAAAAAACAufV+//P3IuLPKp//k8e9u39uVcDr3ZILAAAAAAAAzLac2/4MneBupeOsREQpftirdDwAmEld0dFe92ffIMr33S8FDzm3O2YVmFfl95iUmgcR8WGFIdT6PQQAAAAAAAAAAAAAAABglr07gXN7ZsbhYjdlAwAAAAAAAAyibBodEWsVw9oWPACLrPuz8/4QRQ3nfZRSo6wBmHfleexozDF8MmMFdgAAAAAAAAAAAAAAAACT8s4EjqusAS6hrAEAAAAAAAAYVK9yUhuSB2DBHYw5vE+7wgeAuZRze9L9HvFoxPN/kHO7a/YBAAAAAAAAAAAAAACAJfHuBIb5c4sHLnZLNgAAAAAAAMCAVmsHVTagzrk9NAHXL6WmbKK7eW6ey8a6ffMDMJqUmu2IWKsQ394ECpMApuZ5YUNKTSld2ImIlQEe+7R8b87tvpkCAAAAAAAAAAAAAAAAlsg7ExjqMwsILqasAQAAAAAAALhO1QsgGFxKzWq3Ye6FG4qn1DyNiLJJ7l630S4Ag9mplNNt5UbAIsi53U2p2bvi759H3d899/3dEwCAWVV+T+/+Trv50ikedwW4SscAAAAAAAAAAAAAGFX1sobHvbvKGuASyhoAAAAAAACA63Qs/evRbSh2cFFJwznlv39cNh9LqdmyWTjA1boynI2KUW1FhOdfYO51BQy73Q0AAOZK95pqKSC7fcF5l///w66kbDfnds8MAwAAAAAAAAAAADCo9/ufvzeBsH5hAuByN+UDAAAAAAAADKh6sULOrbKGa9BtKtYfoKjhvPK9/VLYsGh5AExA7efKTZMEAAAA1yelZrt7TfWioobzViLi05SaflfoCAAAAAAAAAAAAACD+P0JpPRM8nA5ZQ0AAAAAAADAoPqVk3oo+elLqVnv5nJlhAcv99nvyh4AuFjt50kbOwIAAMA16Qps74/wmurtrgDX7/UAAAAAAAAAAAAADOKdCaT0leThcrfkAwAAAAAAAAwi5/Y4peZRt8FUDQeCvxb7IxY1PLfSzd36fMcAMFFKbQAAAGABdEUL+2OMZKO7/5b1AAAAAAAAAAAAAK/qrtU7/5m8k5zbQ1GxpN6dwLCfWUxwuZvyAQAAAAAAAIawWymspzm342xwxQhSarYrlW2spdTUWgsAXM2FpQAAAHA9dscsvy3udK/NAgAAAAAAAAAAAJ1ybV1KzUFEfB0RX5675ZSak5Sa/ZSanrxYMu9MYLh/YxHB5ZQ1AAAAAAAAAAPLue1HxIMKidmY6nrsVHxUcwhwsZPK2ShrAAAAgClLqVmt+Dqo8lsAAAAAAAAAAAD49fV56yk15TPr9yPizgWZrETEh6XAIaVmr7umD5bBj2qP8XHv7hMrBy6nrAEAAAAAAAAYVtnw/2iM1O51pQ9MUblwKSI2Kj7iWkpNzxwCvFbVP+dybvfFDAAAAFO31X3Ys4byeuqmKQQAAAAAAAAAAGCZddfSHUbE7SFi+Kh8Zk9hA4vu/f7n70xgiN9YOHA1ZQ0AAAAAAADAUHJuTyKibNL/cMi7nnZFDTacvh6TKFawuRjA6x1UzGXYP28BAACAOmq/prplXgAAAAAAAAAAAFhWXVFDPyJWRohgo7svLLJJlDV8ZcXA1ZQ1AAAAAAAAAEMrhQ05t2VjqZ9ExNMB7v+gbOyvqOFarU/gwVfnaPwAU5Nze1yxZGHPzAEAAMC1qP2a6iQKdQEAAAAAAAAAAGBe7I9Y1PDcRkrNrtlmgf14AkNT1gADuCUkAAAAAAAAYFQ5twcRcZBSsxkRWy9tNlU2qj4s/73btBoAlslO9+fiOBePfpZz27dqAAAA4Fpsih0AAAAAAAAAAADG15UsbFQ41E5KzV7O7YlpYQG9NYEhfWOhwNWUNQAAAAAAAABjy7k97IoZWC4uZAK4QCkqSqkpZQ39EQsbjnJud+QLAAAAAAAAAAAAAAAAwLxKqVktJQuVTr98Vm87IvYsCBbQuxMY0s8tFLjaTRkBAAAAAAAALIVJlGn0LR2Ai3VlRqWw4emQMT3o7gcAAABcn9qvqSo8BgAAAAAAAAAAYBltdSULtWxbRSyoSZQ1PLNY4GrKGgAAAAAAAACWQylWOK040qfdJuQAXKI8V+bcrkfEvYg4uuq5NSJ+knO7nXN7IlcAAAC4VseVH9zrqQAAAAAAAAAAACyjrcpj3rCKWFBv1R7W495dZQ0wAGUNAAAAAAAAAEug2/R7r+JI960bgMHl3O7n3G7m3N7oihs+iYhHEfGg+zqVUoec2wOxAgAAwEzoVzyJ0/LagGkFAAAAAAAAAABgCfVqDzmlpvox4Tq93//8vQk8/BOTCoO5JScAAAAAAACA5ZBzu5tSsx0Ra2MO+Gnl4geApWJzRgAAAJh95ff3lJryOuhKhZP1WgAAAAAAAAAAAADLqsZ1eLDofn8C4/vGqoHB3JQTAAAAAAAAwFLZiojTMQZc7ruVc3ti2QAAAAAAC26nwvDKa6q7FgoAAAAAAAAAAAAAF3hnAsF8JWwYjLIGAAAAAAAAgCWSc3sYEb0RCxvKfba7YwAAAAAALLSc2/2IeDDmGJXfAgAAAAAAAAAAQF0+68yieW8C41HWAANS1gAAAAAAAACwZLqyhc2IeDTEyJ+Wkoec2wPrBQAAAABYIjsR8XCE4Zby23s5t32LBQAAAAAAAAAAgCU2yjV4lznKuT2xoFgwvz2B4fzSIoHB3JITAAAAAAAA8y6lZrXbeP47Nj+Cy+XcHpfyhZSa7W6zsY0L7lA2FNvLud0VKQAAAACwbLoPdG6l1JTXUcvrpCsDRFCKcre712EBAAAAAAAAAABgme1HxJ2K49+3mlhAP6o9pMe9u08sFBjMjbOzM1EBAAAAAAAwd7qChq0rNpk/6jaZd8EFXCGlZr2UN0TE+rnvPIyIfrcZGQAAAADA0kup2epeS918TRalSHpfSQMAAAAAAAAAAAC8kFJTrq+7XSGSp+X6PZ99Zh50e2J8d71pzm3/daf9fv/zdyPi31Qe0rPHvbv/ykKBwShrAAAAAAAAYO50GyGVAoaVAc+9XHSxlXN7aLYBAAAAAAAAAAAAAAAAAABgOrpN64+H2B/gIh9ctOE9zIqUmu2I2ImIjQtO6ajbL2O/FI+83//8vYj4s8qn/+Rx7+6fWxQwmJtyAgAAAAAAYJ6k1OxFxBdDXoixFhH97k1tAAAAAAAAAAAAAAAAAAAAYArKhvQR0YuI0zEe7Z6iBmZZSs1mSs1hRNy/pKghuv/2aUQcptSUn4sfT2BYX1ksMDhlDQAAAAAAAMyNlJrdiPhoxPMt5Q575Q1uMw4AAAAAAAAAAAAAAAAAAADTkXNbNrFfj4hHQz7g04j4IOd231Qxq7p9LPpXlDS8bC0ivvy7x//1zgSG9cxigcEpawAAAAAAAGAupNT0IuLjMc+1FDa4CAMAAAAAAAAAAAAAAAAAAACmKOf2JOe27BvwQUQ8jIjTSx79KCJ+GhGbObd988SsSqlZ74oaVkY5xbP/8eyfn/3vr/+o8vC+mtnAYAbdMikAAAAAAADMiZ1Kp7mRUrOdc6u0AQAAAAAAAAAAAAAAAAAAAKaoK19QwMCi2B+1qOFX3v5hnB3/Ve/Gyu/8h3jzjW8rZfLM6oLB3ZQVAAAAAAAAsy6lZjUi7lQ8zS2TDgAAAAAAAAAAAAAAAAAAAMAoUmq2I+L2yOG9+UbceONWxN/+7e+c/dX/+nGtSXjcu6usAYagrAEAAAAAAIB50Kt8jjWLHwAAAAAAAAAAAAAAAAAAAABYLlvjjPbGyg+/+/rs69P3KiX3pNJxYGkoawAAAAAAAGAebNY+x5Sa2gUQAAAAAAAAAAAAAAAAAAAAACy4lJrViLgz1ih/560XX//fb9+Jb//fmxVS+6bCMWCpKGsAAAAAAABgHlQvawDg/7N3B791Xfl9wH9kNJrawYScaGbaYEYRB0mcIkkhnlu0XBSFXlqgXYoDtGW7EiebWXRhDvIHiEaL7oKhV21XppYsUIRGumsBP68GRJt7KKQtYKPFUJCRoMgQIYHADhy0LM7MVUxrRIvvvXPfexQ/H4CwaPGde+7vd/X4+HjP+QIAAAAAAAAAAAAAAAAAADCGiffBWHj9tc99fnb651+r0IinFcaAa0VYAwAAAAAAAFfBsi4BAAAAAAAAAAAAAAAAAAAA8CpY+Pov9nEWwhpgRMIaAAAAAAAAuAqGugQAAAAAAAAAAAAAAAAAAADAK+HmjT7O4tjFAaMR1gAAAAAAAMBVcFR5jqc5twIgAAAAAAAAAAAAAAAAAAAAABjVyaQVW1j+yuc///pX/3jSMQ8GG08nHQOuG2ENAAAAAAAAXAX7ledYezwAAAAAAAAAAAAAAAAAAAAAroGc28OIOB33TBeWf+Hz/+PLN48rVK3GGHDtCGsAAAAAAABg7uXcnkTEo4rz3NZ1AAAAAAAAAAAAAAAAAAAAAMY0HPuRP//XPvfpwleXPqzQBGENMAZhDQAAAAAAAFwVWxFxWmGub+XcHuk6AAAAAAAAAAAAAAAAAAAAAGPaGfeBC8u/8Nkni4ufLnzzGx9UaEKNwAe4doQ1AAAAAAAAcCXk3J5ExPqEc30353ZbxwEAAAAAAAAAAAAAAAAAAAAYV87tMCLeH+vhP//aZ3++tfxHcfNLn1ZoxMeaCaMT1gAAAAAAAMCV0f2i+rsRcTrGnMsvuDd1GwAAAAAAAAAAAAAAAAAAAIAK1sfZA2Ph9S6s4cs3jxd/9Zf/sFIjnmoojE5YAwAAAAAAAFdKzu1uRAwi4skI834r53aQc3ui2wAAAAAAAAAAAAAAAAAAAABMqtvHYjBqYMPCN77606CG3/q1P6jYhI80FEa3cHZ2pmwAAAAAAABcOSk1yxGx1X0svWD+JcxhPyJ2cm6PdBgAAODq6X72Wz038SM/4wEAAAAAAAAAAAAAAADzpFsHVfa4uPfSad38Utz4ne/898Vvf+u/xc0vfVrrNA4GG99zUcDohDUAAAAAAABw5aXUDJ47B5t3AgAAXFHdjcmb3cfdF5xFCefb7cL5TvQZAAAAAAAAAAAAAAAAmAcpNevduqj7L5jOaQl0WPx76b/c+Cf/6O9Xnu6HB4ON33MRwOiENQAAAAAAAAAAAABzIaWm3Ii8ExFLl5hPuTl5O+d2R/cAAAAAAAAAAAAAAACAeZJSMzg3nZOc28Pyh7Xh3j+MiH9Weao/PBhs7LoAYHQ31AwAAAAAAAAAAACYtZSacjPwgxGmUQIdfpBSsx4R6zm3J5oIAAAAAAAAAAAAAAAAzIOc2+EF03i9h+kdazqMZ1HdAAAAAAAAAAAAgFlKqdkeMajhvHsRMUypWdZEAAAAAAAAAAAAAAAAYM690cP0nmo6jEdYAwAAAAAAAAAAADAzKTWDiHg44fHvRsSOLgIAAAAAAAAAAAAAAABz7lYP0zvWdBiPsAYAAAAAAAAAAABglrYrHftBF/wAAAAAAAAAAAAAAAAAMK+qhzUcDDae6jaMR1gDAAAAAAAAAAAAMBMpNasRca/isbd0EgAAAAAAAAAAAAAAAJhHa8O92z1M61izYXzCGgAAAAAAAAAAAIBZ2ax83Ps6CQAAAAAAAAAAAAAAAMypWz1MS1gDTEBYAwAAAAAAAAAAADArq7WPm1Iz0E0AAAAAAAAAAAAAAABgDt3uYUofajSMT1gDAAAAAAAAAAAAMCv3VB4AAAAAAAAAAAAAAAC4Jm71cJrHLh4Yn7AGAAAAAAAAAAAAAAAAAAAAAAAAAAAAAIB+9RHW8GM9g/EJawAAAAAAAAAAAACmLqVmuadjnugmAAAAAAAAAAAAAAAAMIfe6GFKH2k0jE9YAwAAAAAAAAAAAPCqOM25PdRNAAAAAAAAAAAAAAAAYJ6sDfdu9TCdTw4GGx9rNIzvhtoBAAAAAAAAMGspNcsRMYiI1XNTOYqIYc7tkQYBALx6cm5PUmrejYj7FU9u36UCAAAAAAAAAAAAAAAAzKE+whqeajRMRlgDAAAAAAAAADPThTRsdR9LL5pHSs3jiNjJud3VKWAedM9d58NlyobjQ80BGMtO5bAGrxkBAAAAAAAAAAAAAACAeXS7hzkd6zRMRlgDAAAAAAAAADORUlM2Ot+PiDsvOf7diHgnpWYzIjZzbo90DJi2LqBhvQuXufv84VNqTrvntG3PUwCXV8JuUmoeRcSDCmV7W3gOAAAAAAAAAAAAAAAAMKdu9TAtYQ0woUUFBAAAAAAAAGDauqCG4SWCGs67FxGH3WMBpialpoQ0lACGd14U1NBZ6jYa/1FKzbbuAIykBOE8nrBk5fGefwEAAAAAAAAAAAAAAIB5dbuHeX2g2zCZG+oHAAAAAAAAwDSl1Kx0QQ1LYxy2PGaYUjPIuT3UOKBvKTU7EfHmiId5WJ7rcm43NQjg5XJuT8rru4jY7wK6RlWCGsrrwxPlBgAgPguLHXQfy+eKUt6XPMy53VcoAAAAAAAAAAAAAKbsVg+H+0QTYTLCGgAAAAAAAACYtt0xgxqeWeo28l3ROaBPKTXbYwQ1PPMgpSYENgBcThe0MOiee7cu+XrxNCJ2cm63lRkAgPjpz/LrEVFeH969oCD3uq8rryW3c253FA4AAAAAAAAAAACAKake1nAw2HiqeTCZRfUDAAAAAAAAYFpSajafbYg2oTvdRr4AvUipGUTEwwnHftA97wFwSV3wQgnleisinlzwqMcR8f3ydYIaAACIn/4cv5xSUwJef/8LghrOK+FgP0ip2VVAAAAAAAAAAAAAAPq2Ntx7o4dDfKRxMLkbaggAAAAAAADAFG1VPFTZAN3mvEBfaj1f7USEjR8BRpBze9K9zvNaDwCAlypBDRExvGRIw/NK0GJ5DSpsEQAAAAAAAAAAAIA+vd7D2B/rGExuUQ0BAAAAAAAAmIaUmpUxN0y7yJ2UmoHmAbV1mzzerzTsUkrNuiYBAABAb/YnfN+xBDYIawAAAAAAAAAAAACgT7d7GPtDHYPJCWsAAAAAAAAAYFr6CFZY1T2gB7WfrwTLAAAAQA9SarYi4l6Fkbf1BwAAAAAAAAAAAIAe9RHWcKxhMDlhDQAAAAAAAABMy0oPx1nWPaAHtYNgBMsAAABAZSk1yxVDFu6k1KzrEQAAAAAAAAAAAAA9ea2HYX+sWTC5G2oIAAAAAAAAAACfM1AOAAAAmHslXGGp4iTL+wH72g4AAAAAAAAAAADzJaVmOSJWz03qMOf2RJu4Yt6oPd2DwcaHLgKYnLAGAAAAAAAAAK4yN1IBAAAAwPW0Wvmsa48HAAAAAAAAAAAAjKkLaNjsPu4+P0pKzeOI2C0fghuYd2vDvVs9TPETjYc6FtURAAAAAAAAgCk57OEwQ80DrgDPVQAAAFBf7XCFZT0CAAAAAAAAAACA2Uup2Y6Io4j4wYuCGjp3u78/TKkZaBtzro+whqeaDnUIawAAAAAAAABgWspm5acVj/Uk57aPAAiA2s8tnqsAAABg/l20mBMAAAAAAAAAAACYgpSa5ZSash7vYUQsXfKIdyLivZSaTT1ijv16D1MT1gCVCGsAAAAAAAAAYCpybk8iYqfisXZ1DujJsOawObf7GgUAAABz77EWAQAAAAAAAAAAwGyUoIZubd/dMSfwTkrNQPuYU6/1MK1PNBvqENYAAAAAAAAAwNTksQJdmAAAIABJREFU3G5HxJMKx3tSOfgB4K904QqnlSryrsoCAABAL6qGLUbEiTYBAAAAAAAAAADAzGxPENTwzG4X+gDz5nYP8/lAl6EOYQ0AAAAAAAAATNv6hJugl8eu59zaPA3o03alsQXLAAAAQD/2K496qE8AAAAAAAAAAAAwfSk1g4h4s8KB70TEphYyh/oIazjWaKhDWAMAAAAAAAAAU5Vze9jd6DROYEN5zGY3BkBvcm5LyMKjCcd/K+d2qEsAAABQX/ce4ZOKA/sZHgAAAAAAAAAAAGajZsCCsAbm0Wu153Qw2BDWAJUIawAAAAAAAABg6nJu9yNiMOJmauVrB91jAXqXc7s5QWDD2zm327oEAAAAvar1s/ep9x0BAAAAAAAAAABgZtYrHviuNjJP1oZ7b/QwnY80GeoR1gAAAAAAAADATOTcHkbEakS89ZLQhvJ3b+XcrnSPAZiaLrDhrRGOV56zvpNzu6VLAAAA0K+c292IeLfCQQQuAgAAAAAAAAAAwAyk1JS1xktqzyvsaz2c2rELBuq5oZYAAAAAAAAAzErO7Um3Edp2dzPVICKWu+mUvzvMuR1qEDBLObflOWq3e75av+DGz8cRsRMR+91zGwAAADAdJWixvId4d8yjPcq53dErAAAAAAAAAAAAmInl2gdNqRlYn8wcudXDVJ5qMNQjrAEAAAAAAACAuZBze1jCGXQDmEc5t0dl88eUmnLj5+pzUzwU0AAAAACzUX4mL4sqS4BiRNwbcRKPImJL6wAAAAAAAAAAAADoye0ehj3WLKhHWAMAAAAAAAAAAFxSF8owVC8AAACYH93P64OUmhK8sB0RSy+Z3GkJaci53dVGAAAAAAAAAAAAAHp0q4ehf6xhUI+wBgAAAAAAAAAAAAAAAK68nNudiNhJqdks4Q0RsRIRq915HUbEUQlhFNIAAAAAAAAAAAAAc+Owh4n0MSaM61u1K3cw2PhQN6CehbOzM+UEAAAAAAAAAAAAAAAAAAAAAAAAAAAAYKpSavYj4n6lYz7OuV3VQebB2nDvVkT8m8pT+eRgsLGlwVDPDbUEAAAAAABgHqTUrETEyvmp5NwONQcAAAAAAAAAAAAAAAAAAABeWbsVwxp2XCbMkVs9TOWpBkNdwhoAAAAAAACYmS6goST2r0fEnefnkVJz2t0MsZNze6JTAAAAAAAAAAAAAAAAAAAA8OrIud1PqXk/Iu5NeFKPc253XRrMkV/vYSrCGqAyYQ0AAAAAAADMRErNdkQ8fMmxl7qv2UypWc+5PdQtAOZdSs0gIgbPTbN8DxsKHwIAAAAAAAAAAAAAAAAA+BnrEXHU7TEwjtNuDJgnr/Uwl2MdhrqENQAAAAAAADBVKTXLEbEfEfdGOO6dssF1Ss1Wzu2ujgEwb7rvb1vdx4U3AqbUPIqI7ZzbI00EAAAAAAAAAAAAAAAAAIjIuT1JqRmUfQXGCGwoQQ0DazeZQ7d7mNJTjYa6FtUTAAAAAACAKdsdMajhmXJDxTvdDRYAMDdSalYj4jAiHl7iBsAHEfGjlJptHQQAAAAAAAAAAAAAAAAA+Kmc27JWcyUi3h+hJOVrV7vHQu9SapbLvhfPPl5yvD7CGo51GepaODs7U1IAAAAAAACmotuY+uGExzotN1jk3J7oGgCzllKzWcKExpzGo5zbTU0EAAAAAAAAAAAAAAAAAPhMtwn+VkSU/y69oDTvRsR+zu2usjEN3Zrick3efcHhHkdEuRZ3n+2FsTbcez0iflB7ageDje9pONQlrAEAAAAAAICpSKlZiYgfVTqWza0BmLmUmtWIGF5wk99lfT/ndkc3AQAAAAAAAAAAAAAAAABgvnTriXcvCGl43mlE7OTcbq8N996IiN+tfDIfHgw2fs8lAnUtqicAAAAAAABTsl3xMA9SapY1DoAZ25kwqKH4QRdoBAAAAAAAAAAAAAAAAAAAzIkuqGF4yaCG6NYdP0ypOTz7kz/tY/3wJ64NqE9YAwAAAAAAAL3rghXWKx+n9ngAcGkpNeX70L1KFasZaAQAAAAAAAAAAAAAAAAAAEwgpWalC2pYGmOUu//3P//w38Wnf3mzcg+eVh4Prr0Q1gAAAAAAAMCUrI75C+gvsqJ5AMzQZsVDP+iCjQAAAAAAAAAAAAAAAAAAgNnbnWSfjIWlr3z7//3P//2PK5+FsAbogbAGAAAAAAAArqqBzgEwQ/crH9r3NQAAAAAAAAAAAAAAAAAAmLGUms2IuDfRLG7eiPjkL37p7E/+dKXi2XxccSygI6wBAAAAAACAq+pE5wCYhZSa1R4O28eYAAAAAAAAAAAAAAAAAADAaNYnrdfC8ld+8t+z/3P8t2rV/mCw8WGtsYDPCGsAAAAAAADgqjrUOQBmZFnhAQAAAAAAAAAAAAAAAADg1ZJSU9YR35/kpBaWf+GzTz75i1+KT//yZoUiHVcYA3gBYQ0AAAAAAAD0Lud22MMxhDUAAAAAAAAAAAAAAAAAAAAAUMvqxON86cbnPj07/fOvVZibsAboibAGAAAAAAAApuXdmsfJud3XOQBmpI/AoBPNBAAAAAAAAAAAAAAAAACAq23hG7/Yx/yfuiygH8IaAAAAAAAAmJaa4QpVgx8AYBQ5tyVY4Unlog01AQAAAAAAAAAAAAAAAAAArriff62P+R+7LKAfwhoAAAAAAACYipzb3Yh4XOlYO7oGwIzVDCF6knN7qKEAAAAAAAAAAAAAAAAAADBTJ5MefOH1z4c1LHz9q39c4YSeVhgDeIEbigIAAAAAAMAUbUbEMCKWJjjk2zm3Q00D5kFKzeD8NDw/XSslOOjNSie8e92LCQAAAAAAAAAAAAAAAAAAs5Zze5hSczrRvhhf/cpnf/7yzeNKp1RrHOA5C2dnZ2oCAAAAAADA1KTUlMCGd8Y83uOc21XdAmapex5bj4j7F0zjUdl8X3DDqy+lpkZgw5Oc25XrXksAAAAAAAAAAAAAAAAAAJgHKTX7X7CW/Ivd/FLcWP8Hf/UlC3/j6z9c+PY3/2jS0zoYbHzPxQH9WFRXAAAAAAAApinndrf8brpsTj3iYcvm5wPNAmYlpWaQUnPUBc580c01DyLivW4jf15hObdbJUhogjM87YI/AIAJpdQsd6/Xnn0I+gMAAAAAAAAAAAAAAADGMfY68YWlr3z2yeLipwvf/MYHFTrwYYUxgAssnJ2dqQ0AAAAAAAAzkVKzGRFlo+u7X3D8EuqwlXO7r0vArHTBC2+Ocfiykf8g5/ZE815NZWPoiBi+5HvZi5x218bhda8hAIyr+z682X286Hvxafd9eifndqjQAAAAAAAAAAAAAAAAwGWk1JT1SPdGLdbCt78ZP/d3fuunn3z9F/9w8Vd/+Q8rFPyHB4ONXY2DfghrAAAAAAAAYC50wQ0rZePqiDjqPvZtYg3MUrcBcAlqeDDBNAQ2XAMjBnq8XzaVzrk9uu51A4BxpdSsR0S5wXjpkkOU77/rXpMBAAAAAAAAAAAAAAAAL9OtMz8aYf3STyz+5q/G4m/+SsSXbx4vNr/xHysV+j8dDDb+QNOgH8IaAAAAAAAAAOACKTXbEfGwQn3ezrndUudXW0pNCR0qfS6bR9957mRPSwhR2VQ653Z43WsFAJMYMSTpvNMuREsoIAAAAAAAAAAAAAAAAPCFUmpWI2I4SmDDzw3+bizc/uvHi7/1a38QN7/0aaUK/9uDwYY1UdATYQ0AAAAAAAAAcIGUmqMXbLo/rt+2Sf/1klIz6E74MOf25LrXAwBqSKnZjIh3JhiqBDas+N4MAAAAAAAAAAAAAAAAvExKzXJE7EfEvcsU68aD+/918Td+5X9UDGoo/vXBYOOpZkE/bqgrAAAAAAAAAPyslJrVikENRdlYWFjDNSKcAwDq6m5s3plw0KXu5ujBJb4WAAAAAAAAAAAAAAAAuMZybk/KWqSUmvVuvfj9F1TjtFuztLu4+jf/Re1qCWqAfglrAAAAAAAAAIAXq72B77o6AwBMZKsLW5jUvXJzdM7tvnYAAAAAAAAAAAAAAAAAL9OtRfrJeqSUmvPr0E9ybg/LH9aGe7d7KOSx5kC/hDUAAAAAAAAAwIstV67LUkrN6rObbQAAGNlmxZJtPrs5GgAAAAAAAAAAAAAAAOCycm6HF3zprR6KKKwBeiasAQAAAAAAAACmp3YAxLWSUlPqN4iI1XPnfRQRw5zbo+teHwB4laXUrETEnYqneN8FAwAAAAAAAAAAAAAAAFR0u4difqhB0C9hDQAAAAAAAADAXOtCGra6j6UXzTWl5nFE7OTc7uomALySVmqfVErNIOd26HIBAAAAAAAAAAAAAAAAKrjVQxE/1hjo16L6AgAAAAAAAMALnSjL7KXUrEbEYUQ8vCiooXM3It5JqRmm1FTfzBkAAAAAAAAAAAAAAAAAAOAL9BHW8FTBoV/CGgAAAAAAAADgxQ5r1yXndqjWl5dSsx4RpWZ3RnjYvdK7LuQBAAAAAAAAAAAAAAAAAABgGt7o4Rgf6Rz0S1gDAAAAAAAAALxAF6xwWrE2j9T58rqwhd2IWBrj4eUxQ4ENAMBLnCgQAAAAAAAAAAAAAAAAMKm14d7rfRTxYLDxseZAv4Q1AAAAAAAAAMDFdivWpuZYr7SUmuWI2B8zqOGZpW4MAODVcFj5LE5zbmuPCQAAAAAAAAAAAAAAAFxP3+rhrD90LUH/hDUAAAAAAAAAwMV2KtXm7ZzboTpf2lZE3Kkwzp2Umu0pzRkA6FHO7UlEvFvxCEKdAAAAAAAAAAAAAAAAgFpu91DJY92B/glrAAAAAAAAAIAL5NweRcRbE9bnSc7tlhqPZLPiWFspNctTmDMA0L+aAQu7+gUAAAAAAAAAAAAAAABU8noPhRTWAFNwQ5EBAAAAAAAA4GI5t9spNesRcXeMMp1GxLryXl5KzSAi7lQccikiBpU3dwYAZiDndjelpoQ63Zvw6G/n3A71EABgtrqAzdVzkzjJuT3UFgAAAAAAAAAAAACuoDd6mPIHLgTon7AGAAAAAAAAAHi5stn/cMTAhhLUMLDB3MhWK48X3ZjCGiibQK50ASrl3/RyV5Hyb/SwbACuQgBXwmb33L005mQfR8S2VgMAzE4X1rkVEfefn0RKzZOI2C0BqloEAAAAAAAAAAAAwBVyq4epfuICgP4JawAAAAAAAACAl8i5PSkb/qfUbHcbyb1sc+BH5eu6xzGaZfWiti6koYQx3HvB0D/5fyk173QbeO8IbgCYXzm3R93mvsMxAhsed2FaXqMBAMxASs1y9/P5z4Q0nHMnIh6m1JT34LZzbnf0CgAAAAAAAAAAAIAroHpYw8Fg46nGQ/8Wzs7OlBkAAAAAAAAARpBSs17CG17wiLLx737ZRFg9x9MFYjysPOxbObfb0zoH5ktKzeoYG3o/iYj1nNtD7QSYT93ze9no9+4lJnjahfF4PQAAMCNdUMPwkq/fznu/+xld4BYAAAAAAAAAAAAAc2ltuPdGRPxu5bl9dDDY+Fc6Dv27ocYAAAAAAAAAMJqc2/0SyqBsvehj4z3hGdfUmEENxZ3yuJSarZzb3eteR4B51AXqrKbUbEbE1gWb/j7uAh12be4LADBz+2MENRT3up/RB17TAQAAAAAAAAAAADCnXu9hWh9rNkyHsAYAAAAAAAAAYJ4c9jCXoQ5fW/tjBDU8Ux63k1Jz2G0IDsAc6kJ1BOsAAMyxEobYhS6M6273mm9dnwEAAAAAAAAAAACYQ7d7mNKHGg3TsajOAAAAAAAAAMC8yLktwQpPKk7ncc7tkQZfPyk1mxFxZ8ITX7IBOAAAAIwvpWY5IrYrlPB+97M+AAAAAAAAAAAAAMybPsIajnUZpkNYAwAAAAAAAAAwb2pujr+ju9fWVqUTv2szSAAAABjbeheGWEON0AcAAAAAAAAAAAAAqO21Hsb8sS7BdAhrAAAAAAAAAADmSs5t2XjvSYU5vZ9zWzP4gSsipWa5hCxUnO263gMAAMBYBhXLdielZlUbAAAAAAAAAAAAAJgzb/QwnY80GaZDWAMAAAAAAAAAMI/K5vinE8yrPHZTZ6+t2uEK9697QQEAAGBMK5ULJ1ARAAAAAAAAAAAAgLmxNty71cNcPjkYbHysyzAdN9QZAAAAAAAAAJg3ObeHKTUlbGE3IpZGnF4Jahjk3B5p7LVVeyPISKkp19TwuhcWAAAARrRauWADDQAAAAAAAAAAAADOS6lZfu6exZOyTlWRmJI+whqeah5Mj7AGAAAAAAAAAGAu5dzulw3yI2I/Iu5cco5PImLdTXTXno0bAQAAAAAAAAAAAAAAAOAVlVJTwhm2IuLBi84wpeY0IoYRsZNzO3Qd0KPbPQx9rGEwPYtqDQAAAAAAAADMqy50odww91YXxHCR8ndv5dyuCGogIo4UAQAAAOaC92kAAAAAAAAAAACAqlJqtssS1IuCGjpLEXE/It5LqRmm1CzrAj251cOwwhpgim4oNgAAAAAAAAAwz3JuTyKi3Di3nVJTghsGEfHsprjyd4c5t0NN5BxhDQDAKymlZr17Pbz63PmVjbCHObf7Og/AnCk/o9+rOCXhDwAAAAAAcA2sDfdWDwYbfi8AAAAA/IyUmt2XhDS8SLmX8SilZpBz6z0Harvdw5gf6BJMj7AGAAAAAAAAAODK6G6CcyMcL1M2KX5YsUqnAkEAgFnqQhp2IuLOBdMoC0feTKl5UkLOcm53NQyAOTEcY0HkF/G+EAAAAAAAvOLWhnvld+SbEbGu1wAAAMB5KTWbE9yXuFTua0ypWcm5PVFYKrrVQzE/0SCYHmENAAAAAAAAAADXVErNoFvQOHjBxr+Pu9CDnat242EJ9eg2Kr5oM+NR7U9v9gAAn5dSszvCYpLy+ued7nXelgUkAMyB/S5waKnCVE4FEgEAAAAAwKttbbi33P1uAQAAAOBzUmpqvG+w1N3bOFBdKqoe1nAw2HiqQTA9i2oNAAAAAAAAAHC9lM17U2oOI+K9buPfF4Ua3I2IhxFxlFKzfQULtFVpnNOKYwEAjGTEoIbzymOGqg3ArHXBQbU2VLqK708AAAAAAACj2eruabzTBTcAAAAAPLPVhS1M6l5KzbqqUsPacO+NHgr5kebAdN1QbwAAAAAAAAAgug38I2I1Ip4tbiubux52m+rxCkipWe42NnxzhLMpNy8+TKlZybndvCpVyLndT6l5NObmxudt+TcAAMxCF5g1yWuZuyk1Ozm3gqcAmLUS1rB5QVjkZb2fc1sr9AEAAAAAAJhDa8O9lXK/4rmZrXb3sgIAAABEdy9iLWWsfVWlgtd7KOKxxsB0Lao3AAAAAAAAAFxfZQP+lJrdlJqziHgvIn7QLXR72H3+Zyk1+12QA1dYF9QwHDGo4bwH5Vq5YhUoGxM/nuDxb+fcXrVzBgBeAeV1evdaZlJvdmMBwMx0IYjrEXE65hwed48HAAAAAABebc/fr7eq3wAAAEB8tj7yTsVi3FdYKrndQyGfag5Ml7AGAAAAAAAAALimUmq2I+JHZRP+l1Sg3HT2XhfasOx6ubLKIsa7E06+BDbU2DR4KspmkDm3ZbHm22Mc7/s5t1fmXAGAV055HbJU6aS2XR4AzFrO7WH3/W3UwIZ3I2LQBT4AAAAAAACvqLXh3iAi7j13dsIaAAAAgGeqv0+QUjNQXSroI6zhWGNguoQ1AAAAAAAAAMA1lFJTNu5/OOKZl9CGocCGq6e7afB+pYlvX7VroAtd+O1ug8eXeb+ULOd2Z7azBgCuufWKp/+ycDYAmIqc2/J+VHmP4skljvc4Ir6Tc7suqAEAAAAAAK6F3Rec5IrWAwAAADDnbvUwvR9rOkzXDfUGAAAAAAAAgOulC2oYd8PWuyWwISJWXTZXymbFyS51412pMIOc22F37ZZ/A5vdNfzsOi6bPh5GxH7O7eFsZwoAXHcpNeU1yp2aZSjhXd3rIQCYqe7n7pWUmvXu5/LBufmcdD+7D/18DgAAAAAA18facG/7gt+T33MZAAAAADDnvlV7egeDjQ81HaZLWAMAAAAAAAAAXCNlk9YJghqeuZtSs51zu+3auTLWK090/aqFNZyXc7s7P7MBAPgZyz2UZEWZAZgnObf7JTRRUwAAAAAA4HpbG+6V32dvXVSEteHe6sFgQ8gzAAAA0Mf7AyfXvqpMZG24d6uHCn6iKzB9i2oOAAAAAAAAANdKrU3qt1Jq+thEln4sVR51VZ8AAK4UYQ0AAAAAAAAAzKOdl9zj6H5FAAAAIHJuS7DC44qVOM25FRDJpPoIa3iqKzB9whoAAAAAAAAA4JpIqSkL1u5UOtuyMG7TtXNt1Q5/AACgX0fqCwAAAAAAAMA8WRvuDSLi/kumtKJpAAAAQGe3YiH2FZUKfr2HIgprgBkQ1gAAAAAAAAAA18d65TMduHYAAKC6kx7GFNYAAAAAAAAAwLy5zAaL7lUFAAAAninvJZxWqkbN4Aeur9d6OPNPXE8wfTfUHAAAAAAAgBpSapYjYvX8UDm3Q8UFmCu1F6ytXuJreDU90VcAgH7k3B6m1JQFJEu1DuA9GgAAAAAAAADmydpwbzsi7lxiSu5VBQAAAH4i5/YkpWYnIh5OWJG33WNPJbd7KOQHmgPTt6jmAAAAAAAAjKsENKTUbKbUHEbEn0XEe+c/UmrOyt+Vr1FkgFfSZRbJMR/erzyLQ30FAOjVbsXBH2kVAAAAAAAAAPNibbi3EhFbl5zO0tpwb1nzAAAAgPhpYEMJgHw8QTHKY7cVk0r6CGs41hyYPmENAAAAAAAAjCWlZj0ijiLinYi4+wVjlL97J6XmKKVmVbUBYCb2Kx+05ubBAAD8rJ2KNak5FgAAAAAAAABMqvwee2mEMaxDAAAAAM4bjBnYUB4zyLk9UU0qea12IQ8GG8IaYAaENQAAAAAAADCylJqyOOL3R1wgcScihik1myoOMDO1byB7opVXRglXOK002fdzbmuHPwAAcE7ObQnIfKtCTd7OuT1UWwAAAAAAAADmwdpwr2ymeH/EqQw0DwAAAHimC1so7xe8f8milLWVb+XcrgpqoJa14d4bPRTzIw2C2RDWAAAAAAAAwEhSarYj4s0xq1bCHXZSalZVHWAmhpUPatPXK6K7gXC7wmzLTYmClwAApiDntrx+ezTBkR7n3G7pFQAAAAAAAABzZHeMqVh/AAAAAHxOWTOZc1sCG77zBaENjyPi+xGx0t2fDzV9rYdqHusQzMYNdQcAAAAAAOCyUmrKDQsPJyzYUrfAwoIJgOmrHdawr4dXR87ts8CkB2NOutyYuJlze3Qd6wcAMAs5t5spNTHGa7h3hWwBAAAAAAAAME/WhntbEXFnjCmtaCQAAADwIjm3+9a6MiO3ejjsU82E2VhUdwAAAAAAAEawValYd1NqbBgIMGU5t4cR8X6lo566ge3qKZv9RsSjMSb+KOd2tbuGAACYou413Hci4skljlq+5rs5t+s5tyf6BAAAAAAAAMA8WBvuLUfE9phTuauJAAAAAExDSs1qSs3g2ccXHPJ2D9M51mSYjRvqDgAAAAAAwGWk1JTFEfcrFms9InYVH2DqSvBOrnDQbZu/Xk1ls9+UmqPuWlh6yUmUUI6dnNtxF0gCAFBBzm0JSttPqSnvp5Sb/VcjYqUb+aj72O++DgAAAAAAAADmzc4l7lm80Npwb3Aw2BjqKgAAAAC1daEMW916jc+9h5VSU/7zbtkb47k1G7d6mMqPNRdmY+Hs7EzpAQAAAAAAeKluM8Dfr1mpnNsFlQeYvpSasvH+wwkO/G7O7brWXW1dENNWF6B097mTeVw2++2CGoRyAAAAAAAAAAAAAGMpQQsR8d6E1fvuwWBjVwcAAAAAqKVbZ1vW0t675JDvlzW5Zd3t2nDv39duxMFg43uaC7NxQ90BAAAAAAC4pNXahUqpGeTcDjUAYLpybrdTalYi4sEYBy43Em1q2dXXhTBsdx8AAAAAAAAAAAAAfdipMGb19QwAAAAAXF8pNeX9prLXxdIIRSihDkd/+1/+zj+/8U//ce3aHbscYXYW1R4AAAAAAIBLsrgB4BWSc1sCF74bEacjnNVbObeDbpN/AAAAAAAAAAAAALjQ2nBvKyLuVqiQ9QwAAAAAVJFSszxGUMMzS2f/6+l/iE//8mblbghrgBkS1gD8f/bu5jeu9M4P/SNd2Un3jEN6NA4wgxZEI4AaCQKIz9kceDYq3yyymUFzFncKdyX26mJmIxr9B4j9BxhNbyaLu2hqE+DcjdmYVVY+2nhQm/NQmwAWEJiCGpMAGWEoBOgOnMC+eLqP3LSsF5J1nuIp1ucDFESRrOc8L0dVpfPy+wIAAAAAwGmtmymAyyWlbj+EsJFDGEIIT14zuBzm8CCE8P2Uul27AAAAAAAAAAAAAABvU7dNvgdhqGtP75hwAAAAAAZycM6ghq9c+d53v/Pr//xf/v3Ai/F04PaAM7hmsgAAAAAAADil1g0OAJdPSt1xfyPcbozVRh/e8MJRSt2RZQcAAAAAAAAAAADgjPbmKXr3srptNmaTqetaAQAAADi3GKutuetm/ME7IXz5P//kN//9n/70yve++w8DrcazgdoBzkFYAwAAAAAAAKc19E0Nz1PqWrMPMB59MIOb2AAAAAAAAAAAAAA4t7ptJiGEuwPP4KbrXAEAAACY0/a8DVx5952v/vzNf/vHfztgWMPTgdoBzuGqSQMAAAAAAOCUDgaeqKHbAwAAAAAAAAAAAAAALt5egR5sWlcAAAAAzivGaj2E8MHcE/jd73z95xdf/umAi/FswLaAMxLWAAAAAAAAwKmk1B2HEB4MOFu7Zh4AAAAAAAAAAAAAAC6Pum22Qwi3CwxIWAMAAAAA85j/+NK3vxWufOva11//+tff/s3x/7g+xIrMJlNhDXCBhDUAAAAAAABwFjshhOcDzNjHKXVHZh4AAAAAAAAAAAAAAC6Hum3WQwh7hQYjrAFWuplFAAAgAElEQVQAAACAC3Vl7Tu/u/n/9b//2QD9eWxV4WJdM/8AAAAAAACcVkrdcYzVVgjhZ3NM2mcpdbsmHQAAgEWLsVp/6cb945S6QwsBAAAAAAAAADCIfK/AWqGpvJnDIGaT6bGlAgAAAOBC/OE7Jbb6pcWEiyWsAQAAAAAAgDNJqWtjrD4MIeyd4yaKhyGEbTMOAADAIvXBg/n/ox+8vNkYq+chhIMQwn7+P6+FAQAAAAAAAAA4u7ptNkMI9wpPXd6G6zsAAAAAOI+5Q0CvvFskrOFpiUaB07tqrgAAAAAAADirlLr9EMIkhPDkDE/9OKVuklI39wlsAAAAOI0Yq/UYq3yD/k9fFdTQy0GEd0MIP4ux2svPMbkAAAAAAAAAAGe2t4Ap27QsAAAAAJxHSt1hCOH5PJN35Xt/9NLfv/sPAyyGsAa4YMIaAAAAAAAAOJf+RHS+0eHjN5yQzmEOPwkhfD+lbtdMAwAAsCgxVvn/rEchhDtn2OS9EEIrsAEAAAAAAAAA4PTqttk+4zUa5yWsAQAAAIB5tHM9+9vXvvn6D//gaKCV+GKgdoBzumbiAAAAAAAAOK+UuuMQQg5h2I2xmrzUzFFK3VAnlwEAAODU+rCFfPH02jlm7Xb/XDf3AwAAAAAAAAC8Rd02+TqNvQXN04b1AAAAAGAO+TjWB+d9+pX173zz9R+vPx5iIWaT6SDtAOcnrAEAAAAAAIBBpNS1ZhIAAICRODhnUMMLt2OsdlPqdi0oAAAAAAAAAMAb7c55ncZZ3LEUAAAAAJxXrosRY/XwPMeZrqz/i2/+8s4//69X/uR7RwMsxDOLCRfvqjUAAAAAAAAAAAAALosYq8lAN+bvxFit2zEAAAAAAAAAAF6tbpvNEMK9RU5Pv00AAAAAOK+tEMLzMz/3W9e+/vPq1V9d/Tf/6j8NNPvCGmAEhDUAAAAAAAAAAAAAl8nOQGNZCyFs2zMAAAAAAAAAAF5r7wKmRlgDAAAAAOeWUnccQpicNbDhyr/8o6+CGq68//2/C9/+1q8GWoHHVhIunrAGAAAAAAAAAAAA4DKZDDgWYQ0AAAAAAAAAAK9Qt02+ruLOBczNhvUAAAAAYB4pdYf9caaHp23myh9/9xdX47/+j1fWv/NswMn/wkLCxRPWAAAAAAAAAAAAAFwKMVabIYS1Acdy254BAAAAAAAAAPC76rZZDyHsXdC0TCwHAAAAAPNKqTtOqcvHmv4yhPDZa5p73v/sh//H1v/5/4Zvf+tXA0/8UwsJF++aNQAAAAAAAAAAAAAuifWhhxFjNUmpa+0gAAAAAAAAAAC/tRNCWLug6di0DAAAAAAMJaXuIISQH1/dR3Si2RzmcPjiL3Xb/N8FJv1zCwkXT1gDAAAAAAAAAAAAAAAAAAAAAAAAb1W3zUYI4f4FztRa3Tbrs8n02GoBAAAAMKSUuvZVzdVt826JiZ5Npl9YQLh4V60BAAAAAAAAAAAAAAAAAAAAAAAAp7A/gknaHEEfAAAAAFgd7xUY6WP7D4zDNesAAAAAAAAAAAAAXBKHBYZRok24VGKs1kMIOyGErRDC7ZfG9iiEcBBC2EupO7byAAAAAAAAAMurbpt8XvjOCAYwCSG0I+gHAAAAAKvhRoFRPrPvwDhctQ4AAAAAAAAAAADAZdAXgn804FAeKS4PbxZjtRtCOAoh3H9FUEPov5d/dtT/LgAAAAAAAABLqG6bHOS/N5Keb46gDwAAAACsjncLjFRYA4zENQsBAAAAAAAAAAAAXCL7IYRPBhrOWAoMwOjEWL0ownH3lH1by6ENMVYbKXXbVhRg3PrX+a0QwiSEsHGi4NFhH9LTptTtW0YAAAAAAFgpOyGEmyMZ8MYI+gAAAADA6rhVYKRP7T8wDletAwAAAAAAAAAAAHCJ5KLBzwcYziMFiOHVYqxywe72DEENJ92NsRKEAjBSOaQhxmq3D2T4tH+tv9OH7qz1X+fvfRpjdRxjtWMtAQAAAJZH3Tbr+WHJADirum1yOML9EU3c7RH0AQAAAIDVcb3ASJ/Zf2AchDUAAAAAAAAAAAAAl0ZK3XEIYXvO8eSwhy17Bfy+GKuNPqhhnsIX92KsJqYXYFz6MJ7DvtDS2ik6l3/nkxirNoc8WE4AAACApZCPAR1YKgDOYX9sk1a3jfPOAAAAACzK4GENs8n0qdWDcRDWAAAAAAAAAADA0skFJHOBX0V+AXiVlLpcYOYn55ycHNQwSak7MrnwSvunLOD9Nrumd/xyOMeLz90KscPlFmO13Yfx3DzHQO/k53qdAAAAAFgK+TqLO3Xb7FkuAE6rbput/nzA2GxYRAAAAABKq9vmRoFNPLNwMB7XrAUAAAAAAAAAAMugLxy5/fJNnzFW+Y9HIYRcmHsvpe7YggKQUrcTY3WY3xvOUFj+YX6vEdQArxZjNWQBjjs5CMC/t/HpA9F2+oJdv/P6GWP1pC/mvmvt4PLIgYhn/Mz0Krf7QJ8tuwYAAADAUrhXt83hbDLdt1wAvEndNuv9eYQx2rR4AAAAACzA9QKbENYAI3LVYgAAAAAAAAAAMGa5WGyMVS4E++kbigPnopD3QwhHMVY7FhSA8HVgQy4usxFC+DiE8OQNk/JZCOHDlLqJ4uPwRtsDT4+C3iOSwzNirHIQw89CCB+8pmj7zRDC3RDCL2Os9mKs1ld2wuCS6P8dH8wZ1PDCB33gCwAAAADjdfL4zV7dNopcA/A2O/15wjHyPgYAAADAItwosI3HVg7G45q1AAAAAAAAAABgrGKstvuQhtPKxSU/ibHaTKkbupgwAEsope44hLDbP4D5DF3oYsN6jEP+/BxCaM9YrP1eLuqVC7P3r7XAcpoMXGBpp389AQAAAGD88jHhgxzYMJtMHecF4PfUbbPRH/sfqztWDQAAAIAFuF5gE19YOBiPq9YCAAAAAAAAAIAxOkdQw0l3Y6z2LSwAwKCGLOYdCoQ/cA7nDGp44XZ+bozVurmHpTX0a/EHXhMAAAAARu3lotb52P+BJQPgNfbOeR5xYfpACQAAAAAoqURYw1MrBuMhrAEAAAAAAAAAgNGJsdrob/ScRw5s2LK6AADwRgdzFljJgQ27phiW1qRAx4XxAAAAAIxQ3TavC9m8U7fNvjUD4KS6bfI5hA+WYFKclwAAAACgtFsF2v/cqsF4CGsAAAAAAAAAAGCMducsGPvCvIEPAAB84/nAc9Ga24sVY5U/d98coBP3+sA1AAAAAADG603FrO/WbbNt7QA4YVmCfIQ1AAAAAFBM3TbvFmj7y9lk+oVVg/EQ1gAAAAAAAAAAwKj0RV7vDtSnmzFWigkAAAzjcOB5PLIuF27Iz8q7SzoHAAAAAACrYv0t4/y0bhsFrwHIBeiGCn1fBO9dAAAAAJT0XoG2n1oxGBdhDQAAAAAAAAAAjM3WwP0Zuj0AgFV1MPC4h26PM4ix2hy4wMrE/MNSOi7Q6RJtAgAAADC/0xSzbuu2eVuoAwCXWN02GyGEnSUaobAGAAAAAEq6UaDtZ1YMxuWa9QAAAAAAAAAAYGSGvnnSzZgAAMPYDyHshhDWBmjtQUqdYt4Xa+hwhZsxVhspdUfLNhGw4toQwgcDTsGTlLrDVZ9UAAAAgJE6TQjDWn/MyLUWAKtrb6BzwotyMwcNzSZT558BAACA3xNjlY+Nb/eP2y/9/GEIIV/zuO/aR97geoHJEdYAI3PVggAAAAAAAAAAMDIbA3fnpgUGAJhfH66wO9BUDtUO53eaolxnNfRneaC8duAt7FszAAAAgNE6bQDD7bptHOcBWEF120wGDnl+2fMc/FygXSFDAAAAwO+JscoBDUchhE9eEdSQ3Qkh3MuXysdYtTFWE7PIK9woMCm/MNEwLtesBwAAAAAAAAAAAACrLMYqF5jf6h8nHeYi1il1B3aQr6XU7cVY5UIXd+do5uOUuqMh+wXA+aTUHcZYPXrNTYhn9TylThgPAAAAwHidJXD3bt027WwyFdoAsFpKv+7vhBBykcSbA7e7WSCgGgAAAFhiMVb7Z7zmPQc3/CzG6mPXQvKS6wUm5EuTDONy1XoAAAAAAAAAADAyxwN357kFBgBeJYc09Ddh/DKE8El/g8XJx70Qwk9jrI5jrNxw0Uupy8UzHpzz6Q/cvHKpDf1ZHliMoV6Xvb4DAAAAjNtZC2N/WrfNxJoCrIa6bXYLhCic9KgPASoRqrBZoE0AAABgSfXX/p8lqOGk+/09BvDC4GENs8n0qdmFcRHWAAAAAAAAAADA2BwO3J+h2wMALoEYq83+c8JpbsJY62+6OOyft/L6wIaPzzgPD/rnMQ6DF0FJqfPZG5ZQSt1BCOGzOXv+MKVuz/oDAAAAjFPdNhvn7NjBHM8FYEn0r/U7hXv7ov0S5xS9VwEAAABfibHKIcT355yNuzFWrnsnHze7VWAWPjezMD7CGgAAAAAAAAAAGJuDgfszdHsAwJLrAxfaPoThLG7n5wls+FpK3W4I4fs5hOEtv/o8hPAjQQ3jklLX9mszlHkLvQMXK79GPzpnD/LztqwfAAAAwKidt4j1Wh/YsG55AS613XOcPz+LB7PJ9EWY/FGB9u+U6TYAAACwhHYH6vJejJVj47xbYAa+WPlZhRES1gAAAAAAAAAAwKik1B2GEJ4M2CdhDQDAb/U3TBzMUWjiq6JEbrz4WkrdUR/CkEMbPgwhfBxCeNg/8td/mVK3nlK3N4b+8nuG/Ky8b3pheaXUHYcQJv3r91nkoJZJ/3wAAAAAxuu8YQ2hD7N2nB/gkqrbJp8fuFtwdDlAfufFX2aT6WGJjdRts1miXQAAAGB5xFhtDhjqmO8b2Lb8K+9GgQl4vOqTCmN0zaoAAAAAAAAAADBC+ebMnw7QrZ/kAsIWGAA4IRcTujnnhNzsP6/smtiv9Z+5FOtfPnkf3pojvOSFhyl1QtJgyb0IbIixevEe96bXhhyyuJtS57UfAAAAYDnME9aQ3a3b5nA2mQptALh8Sr+2784m05dDnx8OWDjxhVyMsUgQBAAAALA0hg5X2BZmvPJKhDU8W/VJhTG6alUAAAAAAAAAABibvtDrgzm79UgBZQDgpBirfLPE3YEmZcfksuz6kI159+Xn/j3A5ZJSt5dStx5C+DCHIPYFk148Ps5vqSl1G4IaAAAAAJbK5gCd/aRumy3LDnB51G2Tz/PdLjigR68J+ikRqjBvMBEAAACw/IY4Fn5SyeMmLId3CvTyH609jM81awIAAAAAAAAAwEjt9BdInueixlwwdjul7tjiAgAnDBnktBZjtdWHTMHSysXWY6wm5wwyefG5u0QxFeCCCWMAAAAAuFTWBxrMft02k9lk6rgwwJKr22Z94HPor/K60PejAtuaFGgTAAAAWC53rBcDu1VgQj+3SDA+whoAAAAAAAAAABilPmhhM8ZqL4Rw7wx9fBhC2BLUAACc1BejvznwpORgKWENnEmM1XpfKGTS70PrfUDZoxBC/gybC1y1iwwCSanbjrFqQwj5s/faKZ/2pP/crSAXAAAAAMD4bQ7Uw7UTgQ2uywBYbmc5N3geD2aTafua55U4xzjUex0AAAAA5LDT6wVm4cvZZPqF2YXxuWpNAAAAAAAAAAAYs5S6nRDCD0MIn72lm7m47YcpdRNBDQDAK0xMChctxmqzLzzy0z6Q7E4f1BD6P+/03/9pjNVRjNX2orqcUrffFzB5EEJ4/oZfzSENH+ffFdQAAAAAALA0hizGnY9n71t6gOWVQ3dCCHcLDiCfb9x53Q/fEOIwj7W6bdaLjAYAAAAYvRgrxwUYWomwhqdWCcbpmnUBAAAAAAAAAGDsUuryzZltf9HkpC8i+8JR/llK3ZGFBABgrGKstvriVactiHUzhPBpjFUOI1tIaEP/mfqrbeXtvhRyctx/7hbQAAAAAACwROq22SzQ2w/qttmdTaa79gWApbRXuNP5PeL4Lb/zpD8nOqT8nlciCAIAAABYTQ+t+0q7UWDwz1Z9UmGshDUAAAAAAAAAALA0UuryDZwH/QMAAJZCjNXmGYMaTrobYxUWFdjwwovAtEVuEwAAAACAItYLtXu/bpvD2WTqGg6AJVK3zU4I4XbBHj+aTaanCYM4LBDWMHGOEwAAAFZTvu8wxurRwMc9Du1OK+16gcELa4CRumphAAAAAAAAAAAAAOBcFHngrWKs1vuwsfMENbyQAxt2zDYAAAAAAOcwKThp+3XbbFoUgOVQt00+d7lbuLOnPa9Zotih9yQAAABYbfsDj37o9lguNwr09hf2ARgnYQ0AAAAAAAAAAAAArIKhCz08SakT1sBp5GIkNweYqdJFUwAAAAAA4KxyUPFBX/wbgPHbmzNk/m0+m02mpz2PXuJ8+0aBNgEAAIDlkcMVng/U24cpdSXCJlkeJcIanll/GCdhDQAAAAAAAPxWjNVGjNXk5MPsAAAAAJdBSt3BgDdeBIXzOYPtgSZrLcZqqLYAAAAAAFgdpa8FzYHFB/YngHGr22YzhHC3YCef90H2p3VUoA+3C7QJAAAALImUuuM+rHII7hfgnaFnYDaZCmuAkRLWAAAAAAAAsOL6gIa9GKt8s8MvQwg/O/mIsTqOsdqNsVpf9bkCAAAAlt5QN148SKnbtzvwNn0Y6s0BJ0q4KgAAAAAAZ7WI6z/v1G0z1HkYAMoo/Tq9N5tMTx3A0P/u86E7UbeNc6oAAACwwlLqcsjCozln4OOUutZ+tLrqtrlVYPCfr/q8wpgJawAAAAAAAFhhOYShD2i494aicWshhPshhMMYq037CwAAALDEcvGJJ3N2/0lK3badgFMa+njahokHAAAAAOCMbi9owu7VbeMcCsAI9a/Pdwr27MlsMt09x/MOC/TFOVUAAABgMkdgw4M+8IHV9scFRv9s1ScVxkxYAwAAAAAAwAqKsVqPsWr7EIbTymEObYyVG+kAAACApZRSdxxC2AohPD9n/5/3z4fTWh94poSpAgAAAABwanXbDH2c+m326rZxLBtgRPr3gr3CPTrvPQYlwhq8DwEAAMCK6+8byIENPznDTOR7BT5MqVNLgex6gVl4amZhvIQ1AAAAAAAArKb9EMKdc4x8LYTwaYzVxH4DAAAALKOUusP+xotHZ+x+vvli0j8fAACAC1S3za26bf5d3TbvWgcAAHijRReszteZHlxASAQAr7fbvz6X8tlsMm3P2bawBgAAAKCIHNiQUrcTQvhhCOFBfz/Aq+T7Cn4UQthIqdu3GvRuFJiIZyYXxuuatQEAAAAAAFgtMVb5ZosP5hz0QYxVvuDg2O4DAAAALJs+cGGzP06yc4rCFPnmjB3HQjiHofcZYSEAAKycPpDhvRDC+yGEW/3jhfy9v7VXAADAa11EaMLNEEKrWDbAxavbJr8W3yvYkef9OffzKnH+806BNgEAAIAllVLX9ses4SyuF5itf7QCMF7CGgAAAAAAAFZIDlgIIdwfYMS5gOFeCGHb/gMAAAAsq5S6HNawG2O19ZqCQbnQ/kFK3ZFF5pyGLi5iXwQA4NKr2+Z6H8Lw3ok/X+d23Tbbs8l0354BAACvdFGBCfmz+v5sMnWdKcDF2iu89b3ZZHruc5izyfSwbpthe/T18aWNefoFAAAAwMp70/VK5zKbTB+v+qTCmAlrAAAAAAAAWC27A472bozVTkrdsX0IAAAAWGYpdQc5lMEiMrSUujbG6kkI4eZATbcWCQCAy6ZumxshhFshhBd/Xj/jEH9Qt83j2WT6czsHAAD8no0LnJK7ddu0wtUALkYOuAwh3Cm48SezyXSI+xMe5ZCfAdo5aVMQPgAAAADnUbfNWa9dOo0vLQaMm7AGAAAAAACAFRFjtR5C2Bp4tLk9N9EBAAAAwOvl42f3B5if50JFAAC4LOq2+YsTAQ3vDDCsXAQ2CGwAAIDfc5FhDdmnddsczibTwwvuB8BKqdsm3zuwV3jM2wO1c1gorMG5VQAAAADOo0RYw1MrAeN21foAAAAAAACsjHzDwdrAg73om/gAAAAAYNRS6nb7oIV57aXUHVttAACWXd02+dz1n/dhDUMENbzwV3Xb3LCDAADA7xjDdZ5tXzQcgMXZLXDvwEkPZ5NpO1BbRwO1c9JmgTYBAAAAWGIxVpsxVpMXjzeM5P0CoxTWACMnrAEAAAAAAIB5vOkkNAAAAADwtd055+FJDmswlwAAXBK3Cg0jBz98VLfNdTsKAAD81s0RTMWawAaAxemDMu8V3uD2gG0NFfpwkrAGAAAAAEIfzLAfY3UcQkghhJ+9eMRY/SbG6iDGauulmXqnwMx9aTVg3IQ1AAAAAAAAMI9jswcAAAAAb5ZSl4MWPjvnND0PIWyl1DkWBwDAZfF+wXHkm6X/pm6bd+0tAACsurptNkY0BbeFEgMsTOnX249nk+nRgO0dDtjWCzeFBAEAAACsrhir9RirvT6Y4W4fLP0qH4QQfhpj1ebn9D+/UWDifmF3hHET1gAAAAAAAMA8StwYAQAAAACDibHaiLGanHxc0OxuhxAenPE5OahhJ6XOcTgAAC6FPkThvcJjye1/ZI8BAIAwprCG7G7dNjsj6AfApVW3zVYI4U7B8T0ZOgxiNpke9+0ObbNAmwAAAACMXB+60IYQ7p2hp/mY2lGM1WahsIZn9hsYN2ENAAAAAAAAKyKlri0wUkXiAAAAABidfINFjNVujNVRCOGXIYSfnXzEWP0mxmp/kcENKXXHKXU5sOHDPoThbXJBkklK3b49DACAS+TWgobyXt0223YcAABW3BiLVH9St81FhSoDXGp126wPHaTwCjt9uMLQjgq0KawBAAAAYDXluhq3zzHyta+e+6v/tTb0rM0mU2ENMHLCGgAAAAAAAFbLZ0OONqXuwP4DAAAAwJjEWG31xTzuhxBuvqFrd/vghoMc7rCoIeTwhZS69T604UEI4WEf3vC8/zp/78OUuo2UOmGpAABcNosKa8h+ULfNX9iDAABYYQs79n1GB3XbbNgxAQa385bzo/N6OJtMS90/0BZoU1gDAAAAwIqJsdo9Z1DDV65874/Wfv2f/8u/H3jWHg/cHlDANZMKAAAAAACwUvLNER8MNOBBgx8AAAAAYF4xVnshhHtnbCYfL2tjrCYpdceLWoQc2hBC2F/U9gAAYCQWXSTvz+u2eTabTH9uBwAAYAWNtUj1Wh/YMJlNpgs7Lg9wmfUhOPcLD3G7YNslQuwFAwEAAACskBir9T7Q9Pz+8J0Qvvyff/Kb//5Pf3rle9/9h4Fm70v7IYzfVWsEAAAAAACwOvoCcI8GGvCeXQcAAACAsYix2j5HUMMLt/vAhnULCgAAZdRtcz2EcP0Cpvdu3TY3LCsAACtozMe8b7sOFWBQpUPiP55NpkcF2y/R9p0CbQIAAAAwXtt9YPS5XXn3na+e+pv/9o//dsBRPrXPwPgJawAAAAAAAFg9+STz8zlH/ZOUuta+AwAAwGWSi7TnYu8xVgcxVocxVr/pH/nr/b4QPDBCMVYbIYRP5+xZLgy1Y30BAKCY9y9waj8S2AAAwAraHPmQc7Da7gj6AbDU6rbZKhxM8KR0wM5sMj0s0W7dNmN/LwQAAABgOHPf83Ple3/09RdffPmnA/ZLWAMsAWENAAAAAAAAKyal7nDOonOPUuoUrQMAAOBSibHK/9c96ou9f9AXbX8hf303/yzG6khoA4zSUMWc7vfBDwDF5debPihqL8aq7R+7MVZbZh+AS+rWBQ7rnRDCX9dt866dCwCAFbK2BEO93xcZB+Ac6rZZLx2kkO89mE2mxwtYn4cF2hTWAAAAALACYqzWX7oP6Hy+fe3rp/3619/+zfH/uD7QzH1hH4TxE9YAAAAAAACwglLq9vM55xDCkzOO/kEIYWKfAQAA4LLIF2TnwsghhE9OWbDmZh/asN9fzA1csP7f4t0BeyGQBSiqD2nIx+l/2QdF3Qsh3Okf90MIP42xOu7DpADgMrnIsIYs30D9kcAGAABWQd02y3St537dNoppA5zPTn8dQykPZ5PpwYLW5rBAm4L6AQAAAFbDIOcZrqx/55u//K///c+GaHM2mT4eoh2gLGENAAAAAAAAKyql7jClLt988GEI4dFbZiGHOvxlSt12St2xfQYAAIDLoC/w3vaFkc8qF4ZfVEEC4M22Bp6fodsD+K0Yq90+pOFtITM5ROqTPtQBAJZe3TbX+7CEi/ZeCOGv7FEAADAqa31gg6B0gDOo22ajD4EuaZFB90cF2lym8CIAAAAALtCV9X9RYuPPrCksh2vWCQAAAAAAYLWl1OVCT18Ve4qxyjdTbPQ3JRz1j4Mc7LDq8wQAAMCllIsl355jYHdyweWUul27B1yojYE3Ps/rAsAr9SFRe6cIaXjZ3RirzXzcXpgyAEtuc0Td/0HdNmE2mQpFAgDgMlu24tS3+2tZBSoDnF7pYxs/mU2mJQIUXqfEPQtjOiYFAAAAwJh9q0ipdmENsCSuWigAAAAAAABeyMENucBkSl0u+rTdfy2oAQAAgEsnxioXqLk3wLjux1gNXSgeOJtlKzgFrKbzBDW8kAvVHdhvAFhy74+s+zmw4c9G0A8AAOAbH9RtIyQd4BTqtsnnSO8UnKvnIYSFvibPJtO2QLNrddusF2gXAAAAgHGZuybGlX/5R7/79+999x8GGOHTAdoAFkBYAwAAAAAAAAAAALCKtgccs6IxAMBrxVjtzBHU8MKdGCufOQBYZrdG2Pe7ddtsjqAfAABQwrIGHd+v22bI83gAl9V+4XHtzCbT4wuYuycF2nT8BwAAAOCSS6nLx7IezTXKP3jnm6//8A+OBpqxZwO1AxQmrAEAAAAAAAAAAABYRfMWTD5pyx4EF6o1/cBYxVitDxjstNO3BwBLpW6bGyGEd0ba5+2+fwAAcNmUOI702YLmaE+wGsDr1W2TzzvcLDhFD2eTaekwiNc5LNDmsgYYAQAAAHA2e/PM15V3v7m86cofrz8eaO6fDtQOUJiwBrjKYPwAACAASURBVAAAAAAAAAAAAGClxFgNfSP+WoyVgjFwcY4G3vIjawkMaDt/VhioubW+PQBYNrdG3N98l/VHddtcH0FfAABgSLcLzOb2go6h5+NgB3XbCC4FeEndNhs53LnwvJRu/01KhDW4ngMAAABgBaTU7c91HuO73/n6z3f++X+98iffG+oehWerMPdwGVyzigAAAAAAAAAAAMCK2SgwXMVi4OK0A2956Pa4AH0wz6QvvrLeh3rkx2FK3YE1YYG2Bt5Ubm/PAgKwZMZeEC8HNvxN3TY/nk2mX4ygPwAAMJdCIQdPZpPpcd02W30h7aECSl/nZg5s6I/zAvCNvcKvwT+ZTaYlAhNOK5+rvT9wmyWuEQEAAABgnLb7Y0xnO4b27W+FK9+6FsLVq7+6+m/+1X8aamSzyVRYAyyJqxYKAAAAAAAAAAAAWDFuxIdLJKUuF+B/MOCIFEFfYjFW2zFWeZ/4WV/I5YMQwp0Qwt3+7z+NsTqOsdqPsfJ+wCIMXZx67MWuAeBVbi3BrLwXQvjrEfQDAACGUOIYUj7umosKHRUIKH2dO3XbOGYP0KvbZtKf+yrleQhh94Ln+6hAm7cLtAkAAADACKXUHfZB0M/P0rsra9/5Kqjhyvvf/7vw7W/9aqCRPbaPwPIQ1gAAAAAAAAAAAACsmkMrDpfOUEVDftKHP7BkYqzWcwBDCOHTEMLNt/R+rQ9v+GWM1UUXnOHyWxt4hEO3BwBF1W2zDEENL9yq22Z7HF0BAIC5rBeYvt+eX5tNpm0I4UcLWqJ7PqcD/NZ+4anYmU2mxxc53X0o0JkK6Z1GH3QBAAAAwAroAxtysPXD0472yvX1dDX+6/94Zf07zwacoS/tb7A8hDUAAAAAAAAAAAAAq6ZEcYELLVgAq64PWJi3MNSjAUMfWLy9PoDhrO73IQ8AAJTx/pLN6w/qtvmLEfQDAADmsVlg9n7nXNhsMs3HZB8saJU+rdumxJgAlkbdNrunCCyfx8PZZDqWc2aHp/ids9oo22UAAAAAxiTfX5BSlwM8PwwhfPaarj3vf/bDa//P/3U/fPtbvxp4CE/tFLA8hDUAAAAAAAAAAAAAKyWlru0vqh7Kk5S6EsUCgDNIqZunMFQOapik1AleWUIxVjvnDGp44a7ABgp6MnDTQ36GAYBFuLWEs/znddv82Qj6AQAA51WiIPXvnQubTabb/fH1RWjrtlm3RwCrqG6b/Lq+U3jopds/ixLXXwj9AQAAAFhBKXX7KXVbKXVXcijDiUdMqVvvf9YWusZJWAMskWsWCwAAAAAAAAAAAFhBB3MW9j7pYNHTF2OVCwls5eLyJ76dCxYc5ovJF90fGIuUuu0Yq3yzRA5uWDtltz4LIWwLalhOMVa5ONfuAJ3PgQ1HKXVDtAUn5ffnmwPOSGt2AVgWddu8u6RhDdndum2eziZTN00DALCMSoQ1vO4Yej5XdXSGY/LntdYfG1NsG1hFZzn3eR4PZpNpiYCE8xLWAAAAAMDg+lCG17leYJPPrCIsj6vWCgAAAAAAAAAAAFhBQxXjft4XRliIGKtciD4XvEkhhPshhDsnHvdCCJ/GWB3HWO3HWJUoxAOj1weW5P3/4xDCkzf0N4c0/DClbktQw1LbHrA4zU4f/gBDGjpEaeEhUQAwh2UNanjho7ptboyjKwAAcCYlzhG9snD2bDI9filcvKTbddsILQdWSt02+TX2g4Jjztc87IxsTkuENdwp0CYAAAAAl8fgYQ2zyfSp/QOWh7AGAAAAAAAAAAAAYOWk1B31hdzntdu3VVQuHh5jlYszfxpCuPmWbeWi5XdDCL+MsRoqlAKWSg5fSKnL/z5zQaqYQxn6f/Mf9l9/tw9paK3s0tsacABrIyxGw5JLqcvv3w8HGsVzYQ0ALJkSYQ1fhhD+fkHT8E4I4a/rtnl3QdsDAIChvO1c0pn1oQyvNJtMD/vj74twt26bbXsKsEJKh9Tsvuk1/iL07yuDq9umRJgRAAAAAEuubpsbBUbwzH4By0VYAwAAAAAAAAAAALCSciH3EMKDOcb+IKVur/Tc5aCGEEIuKP/BOZ5+P8aqdPEGGLWUusMcytCHN+z3X4+q4AhzuTPw9A0Z/gAvbPdBC/Pa9foFwJJ5v0B3H88m0/z/3McLmorrIYSPBDYAALAsChWifmsYaf85fZ7zbmfxad02mwvaFsCFqdtmp0QAzwmPZpNp8WsezulRgTa9dwAAAADwKtcLzIqwBlgywhoAAAAAAAAAAACAlZVSt33OwjE/6Z+7CAchhNtzbOeuwAaAU5vn9RZeKaXuKIQwmbOw0EJCogBgKH24wXsFJvQX/Z//IYTw+YIWLI/jrxa0LQAAmFeJsIZTmU2m24WKa79KWyiYAmAU6rZZzyHOhfuyM+LVPizQprAGAAAAAF7lRoFZeWymYbkIawAAAAAAAAAAAABWWh+68JchhCenmIdcYOaHKXULKVoQY5W3c2eApnJgw6LCJQAWIsZKQRWWRkrdYUrd5jlDoh4sMCQKAIZS6rPaVzcyzybTL0IIfxtC+HJBK/aDum28HwMAsAxKfBZvz/C7k1Oec5vXWg4874uZA1xGe/1rXSkPZpPpWV7fF+2owPacWwQAAADgVa4XmJUvzDQsF2ENAAAAAAAAAAAAwMpLqTtIqdvItb9DCB+HEB6+9Mjfi7nIckrdQgoWxFjl4jK7Aza5N2BbABcuF7+3CiybPnQhf654foqu59/5WFADAEvqVoFuP5tNpk9f/GU2mT4LIfx4wYENf7agbQEAwHldaHjBbDI9DiFsnfL417xuO/8FXEZ12+Tgm7sFh5Zfo3dGPnUlrssQ1gAAAADAq5QIa3h6it8BRkRYAwAAAAAAAAAAAEAvF/5OqdtNqZu89Ni9gKLguQDD2oDtrcVYbQ3YHgBwDvlzRQhhow9tePSKFh71P9vofxcAllGJsIbHL3+jD2/YX+D83K3bRmE/AADGrMTn1TMVzJ5NpocLLAKeP6OPveA4wFmVDqLZ7cN1xqzE9Rk367a50FAjAAAAAEapxHVOn1tqWC7CGgAAAAAAAAAAAADGqUQxnYm1Bi6ZhwMP51WF82FwKXXHfRjUZkrdlZcem/3Pxl4oCQBeqW6b6yGE6wVm5/fCGsI3hWAfLHA1tuu2ubHA7QEAwFmUKEJ95uNUs8k0h6r9pEBfXuWTum2cAwMuhT6A5nbBsTyaTaalwyDm1odJPCnQtBBOAAAAAH6rbpt3S8zGbDL9wizDchHWAAAAAAAAAAAAADBOJYrKKDwAXDYHA49n6PYAAFbR+4XG/IvX/WA2mf48hPD3C5rrd0IIH/WhFAAAMDaDnwvqA9LO87ydAoG7r3NQt43zYMBSq9smB+7sFh7DzhLN0VGBNr1XAAAAAHDSewVm47EZhuUjrAEAAAAAAAAAAAAAgGW1H0J4PlDfczt79gQAgLndKjCFz2aT6bM3/cJsMs2fDR8taPlyYMPf1G3z7oK2BwAAp7U28EzNe/x1K4TwZKC+vEke935f6BxgWe0VeB0/6cFsMm2XaG5K9FVYAwAAAAAn3SgwG2+8xgkYJ2ENAAAAAAAAAAAAAAAspZS64xDC7kB93+vbAwBgPiWK3h2e8vdyYMPnC1q/90IIf72gbQEAwFvVbTMpMEun/Sz+SrPJ9LgPbBgqdPdNbvf/JwBYOv1r+N2C/c6vwztLNi9zvQe9xkaBNgEAAABYXu8W6LmwBlhCwhoAAAAAAAAAAAAAxqlE4YHWWgOXTUrdXgjhwZzDepBSN1ToAwDAyqrb5kYI4Z0C4398ml+aTaZfhBB+vMCbnm/VbbO9oG0BAMBFmDvgdjaZ5nNei/rc/EHdNo71Astor3Cf9/oAnWVyVKCvd5ZsDgAAAIAFi7Faj7GanHisW4NL7VaBwT1d9UmFZSSsAQAAAAAAAAAAAGCcSgQrlAiAALhwKXXbcwQ2POifDwDA/ErcwBxOG9YQvgls+A8hhC8XtJ4/qNvmLxa0LQAAeJNJgdkZ5NzSbDI9CCF8PERbp3C/bputBW0LYG59EOTtgjP5ZDaZLl2QTR/2M7i6bTYvdmQAAADA2PQBDTsxVvl4xD+FEH524vFP+fv9zwU3XD7XC4zo2apPKiwjYQ0AAAAAAAAAAAAAI5RSl4vWPB+wZ8/7Nhcmxmo7xmo/xqqNsfpN/2j77ymMDgyqD1z40RleO/Pv/UhQAwDAoN4vMJ2f9wEMpzabTJ+GEP52gUv753Xb/NkCtwcAAItyNNR2+kLhny2o3/uKcQPLoG6bXOBvr3BXl/lc2MMCbXp/AAAAAH4rxmq3Pxb+yRsCNW/3P8+hDSWCk7k4g4c19NctAUtGWAMAAAAAAAAAAADAeO0O2LMh23qjPqQh37DwaQjhbgjhzonfv9N/79MYq2OhDcCQUupyMZuNPrThdcVbHvY/3+h/HwCA4dwqMJe/OM+TZpPp4xDCg+G781p367a5scDtAQDAy0oUiBosrKGXzws9GrjNV1nrAxvWF7AtgHns9q9ZpXw2m0zbJV6hwwJtbhRoEwAAAFgyMVbrMVb52MP9MxyfuRlC+Jl7IC6HQtf5PFvFuYTL4JpVBAAAAAAAAAAAABinXEQ8xmqzDzeYx8NFFCTPNyyEEPbO0N+1PrRhKxfnSak7LtxFYAX0ryV7/QMAgAXpb2B+p8DWHp/3ibPJ9Od121wPIfz5sF16rY/qtvnxbDJ9uqDtAQDASSWCCQYNa5hNpsd12+QiVm3h4uTZ7RDCQaEQC4C51W2TrwW4V3Amn4cQdpZ8pYYODQreFwAAAID+voe2P458HvkeiKOUumUOySSE6wXmQFgDLKmrFg4AAAAAAAAAAABgvFLqcsGaB3N08FEIYWtBAzw4Z7DEB/3NDgAAACyvzRI9n02mh3M+/+9CCH8/XI/eKIdVbNdt8+6CtgcAACedt6jUa80m08GLZPef8Rd17upO3TaCfYGxKv36tFfidXzB5jou9BpFjmEBAAAAS2V3gGPq+33oA8vrRoGeP7Y/wHIS1gAAAAAAAAAAAAAwcn1gw8fn6OVnIYRJSt1x6RHGWOVCEnfmaOJ23wYAAADL6VaBXg9yA/NsMt0PIXw+RFun8F4I4SOBDQAALFLdNiUKQj0pNYTZZJpDvH9Uqv2X3KvbZntB2wI4lf51aZ7z62/zZDaZ7i77avTvF0NbK/S+CQAAACyBGKtJPm48QE9vhhAce15uJcIanq3SBMJlIqwBAAAAAAAAAAAAYAmk1OVCCt8PITwIITx/S49z8ZwPU+q2FhTUsDHQDQv3+rYAAABYPqMNa+j9eMGBDX+1oG0BAEC2WWAWjkrO7Gwy3evPey3CXt02JeYI4Mz6oIC9wjN3mQoFlggP8p4AAAAAq2vI4ybCGpbbOwV6/4+rNIFwmQhrAAAAAAAAAAAAAFgSKXVHKXX5gv4caPBhCOEnIYSHJx4f5+yElLqNlLr9BY5qd6RtAQAAsAB125QIash+MVRDs8n0ixDC34YQvhyqzbf4Qd02AhsAAFiU9QLbOVxA33dCCI8WsJ21EMJBXyAd4KLt9q9LpXw2m0zbS7TKJd6PJgXaBAAAAJbD1oC9vG3Nl1qJ650+X6H5g0vlmuUEAAAAAAAAAAAAWC4pdcchhEWGMbzNkDcsDNkWAAAAi7FZYiuzyfTxwO09q9vmxyGEj0II7wzZ9mv8u7ptPp9Npj9fwLYAAFhtJT6TH5ee0dlkely3zVZfiLtk4fLsZg5sUKAbuEh12+TX63sFu/C8D8K5TPJ7xAcDj6fIsSwAAABg3GKsNhdwLJolULfN9QK9/HI2mX5h/WE5XbVuAAAAAAAAAAAAAJxXgRsW1mKsFMkBAABYLu8X6O2jEjMwm0yfhhD+vxJtv8bdvhAjAACUtFGg7cNFrNhsMj1aYJj3nbptxhSIDqyevcIj3utfVy+TEu9HJd43AQAAgPFbH7qH7n1YWiXCGp6uyNzBpSSsAQAAAAAAAAAAAIB5DH7DAgAAAMujbpt3QwjvFejwL0pNwmwy/XkI4UGp9l9hu26bGwvcHgAAq6dE0enjRc3ibDJtQwgfLmhzOVBte0HbAvit/rXnTsEZebKAMIiLUCKs4fb4hw0AAABAQSWu43lmwWB5CWsAAAAAAAAAAOD/Z+8OYuy4zj2xfxY0L0O+vGE7fAmCAQnSCEIBQQB23U1B3rAMbW2I3qiWbK+C9zaiocUAgwRqwcDsCLc2b5CVmsvSxhT8toKLGwm1udVckhuRIJEEiIlHYhASQZJRcKTiPA5NSmR3nep7b/1+QMOyxK5zznfq9m3Wrfr+AACrprIjAAAAa+NCponeyVmAIbDh65xjPOdERHw0BFsAAEAOOcIacjTHfqWuqvcnDFX7rGyb7YnGAkhBDVsTBClc7ap6sqCdqXRVfTciHo89XNk27ksAAAAAmK/TGVYurAHWmLAGAAAAAAAAAAAAAFZNa0cAAADWRo6whqddVd/PXYChGeyt3OMMBDYAAJDTubGPfRwNv7uq3pnwd/R2aJ4OMIWrEXEq4zg3u6q+scE7mSNAKEfQEQAAALDaclxjmDT4mNGczVDK27YH1pewBgAAAAAAAAAAAACOIkejnsmb/wAAAHBo72Qo3Z0JtyMFNjyYaKwzEfF3E40FAMBMlG2To9n0zWOsXhURjycY55QAcWAKw8/pjzMPtbPhm5mj6eF2hmMCAAAAK6zvl+k5hS9GnOG94Zisn9MZZvzUeQDrS1gDAAAAAAAAAAAAAIfW98uDkRvmPB6OCQAAwIor2+b0EEAwtsn+XthV9ZOIuBYRDyca8kLZNpveQBEAgGnlCGs4Nl1VPxoCG6ZwsWybfecrkFnunzOfdFV9d8M3UVgDAAAAMJYxr9W4vry+Rg9r6Kr6/ozqBxtHWAMAAAAAAAAAAAAAR3VjxAqOeSwAAADyeifT0W9PuW9DYMO/j4inEw35btk27000FgAAmy9Hs+n2OKvWVXVqyv2biYa7UrbN1YnGAmambJvLEXEp46rvRcTeDKqaI4wi574AAAAAK6rvl+l5hZsjzO7xTK7LbJyybS5kWNODmZcV1p6wBgAAAAAAAAAAAACOanfECo55LAAAAPLK8fDyw66qH069b11V34+If5hwyA/Ktvn5hOMBALC5tjZxZV1V70fE9YmG+33ZNtVEYwEzUbbN1gQN+652Vf1o0yvaVXWWEKGybc7nOC4AAACw8i4PYQtHcbXvlxt/XWZDncywrCdzLyqsO2ENAAAAAAAAa6woFttFsdgtikX7kq+9olhctr8AAABAbn2/vBsRn4wwzCfDsQAAAFgPOcIa7hzXyruqvjNhM9jkStk2ZyccDwCAzbSdYVVZmmK/qa6qdyLi5kTD3dC0GxjZ1Yg4l7GoN7uqvjGjTbuV4Zg53kMBAACAFTeELFRHCGy43vfLffu8tnLcq3Ns9zsB43hbHQEAAAAAANZPUSzSw2DpA/xLPzD59N8+LIpFuklgt++Xe7YaAAAAyKXvl7vDNYsrhxwiPbCwa4MAftzw8zY1KUuBvRdf+IZ7qalYROwJwAEAcirb5nREnM4wxLE+vNxV9VfD2n450ZAflW1zravq+xONBwDA5tnKsKJHK1SldB30IHPD8+TUENhQdVW9SusH1tAQ/vJx5pnvzOzcOHjJ52JHtT18rgYAAADMTN8vD4b7cW/8SM+GF33iuYe1lyOs4eHMaggb5y1bCgAAAAAAsF6KYrEzPGjwuh/6p4fHfl8Ui7YoFjkeyAMAAAD4Tt8v03WL64eoxvXhewH4EUWxSA94fTM0+HlZQ5rUsOzD9GeGPwsAkMs7mY57+7h3rKvqP0bE1xMNdyI1Vyzb5uRE4wEAsHm2x15RV9UHq1KlITghBTY8nmC4dM11b4JxgM23n3mFn3RVPbfQ7hzrHf09FAAAAFgffb981PfLKiJ+ERFf/Mh16PScRCGoYSOcyLCIP8+wjrBRfvLtt9/aUQAAAAAAgDVRFIv0Yf+fjjDbWxFRpRsH7DkAAACQy3ANY39oGP5D7kXE1b5f3rAZAD9sCONtXxHQ8ENupkZmc7ouXBSL7aF5W/Xcv747BCHf6Pvl3JoXAUAWZdv8/SF+N/kxD7qq/t2q7FjZNv9LRJyZaLgHEXGtq+onE40HAMCGKNtm7MYhj7uq3lq16pRtk4K/P5touN92VS20ATiUsm3SZxR/yFi99Dn79hBmMxtl2xz1WYqX1rKr6vNzqiMAAADA3JVt87+OXYKuqv+nudcV1t1bdhAAAAAAAGA9DI24jtq48OLQKBEAAAAgm75ftn2/TA0Nioj4dGgU/vxX+ne/SH9GUAPAjztCUENyKSJm0VSsKBY7RbFIQQx9RHw8rP3Z15WI+H1EfFMUi/2iWGi8AwBHdyFDDW+v2L5cG0IUppBCIT443uUCALBuhsbVYztYxTJ0Vb0/fMY0hd8PzdYB3kjZNlsTfC6zO7eghkGO96dzw54BAAAAMANl25zOsMqnzh1Yf8IaAAAAAAAA1sfViDg1wmzfTw2r7DsAAACQW98vD/p+ebXvl9ULX+nftTYA4LXtHjKo4Zkrm3xdOIVZFMUihf98lprqvMa3pOCGA9fKAeDwyrY5GxEnMpTwziptS1fVTyLiHyZ8qPrdsm0ENgAAcNxWtgF4V9XpXtovJhpuv2yb7YnGAjbH1df8rOKwbg7hNbMzBFQ8zrBuP+sBAAAA5iNHWMN95w+sP2ENAAAAAAAAayA1mhoe3BjLrn0HAAAAAFh9RbE4HxEfjjDRjbwuPFw/TwFA77/ht6Zw5M8ENgDAoV3IVLqVCmuI7xsBPoyIaxMGNrxXts3PJxoLAID1V2VYwcGKVyVd07s1wTinhsCGrQnGAjZA2TbnR77n/2VyH3/V5XiPEtYAAAAAMB/vZFipsAbYAMIaAAAAAAAA1sPl4aGvsZwrioWHCgAAAAAAVt9YTXfObWgwwX5EXDzC93/mejkAHEqOB5cfdFX9ZBW3o6vq9FD15xMOeaVsG7+jAABwXO6ucuW7qn40BDY8nmC4i8M1SIDXsTfyPf8v+rSr6lUP1MmtzXB812AAAAAA5uNEhpU+df7A+hPWAAAAAAAAsB5yPABw2d4DAAAAAKy8Ma/lbtR14aJYVBHx/giHujHCMQBgbo4SlvQqt1e5hl1VfxUR1ycccqdsm7MTjgcAwHqqMsx6pcMa4vvfzw+GwIYpvF+2ze7xrhhYdWXbjPWZxaukgBo/iyJyhFWcz3BMAAAAAFZTjntxVvqeJ+D1CGsAAAAAAABYDznCGnI8oAcAAAAAwLjOjXi0TbsuPFZTonNFsZiqsRsArL2ybS5kWkOOZnujGgIbvp5ouBMR8VHZNicnGg8AgPW0lWHWKx/WEN//fp5CWD+ZaLiPy7bZqDBcYHT7mUt6tavqR7Yty3vUpQzHBAAAAGA15QhreGivYf0JawAAAAAAAAAAAAAAgBVUFIuxG62d2pR9LorF+ZGb52i0BgCv750cteqq+s467EFX1an54q2JhhPYAADAj7k4doW6ql6LsIb4fq4p0PWLiYbbL9tme6KxgDVSts3uyOHbL7o5XI+Yva6qs4R9+vkOAAAAMBsnxl5oV9XCGmADCGsAAAAAAAAAAAAAAIDVpDHMq1UrfjwA2GQXMqxtLYIanpMaJD6YaKwzEfF3E40FAMAaKdtm7LDX5N4angM7EwWqpTDcG5nqDqypsm1SuPTVzLPPffx1czPDfH0mBwAAALCmimKxXRSL6tnXq1ZRtk2Oe56mun8IyExYAwAAAAAAwHpoM8zywN4DAAAAALCmzo887VNFsdBkDQBez+zDGrqqfhIR1yLi6URDXijbZmeisQAAWB85GkvfXbf976r6UURcjojHEwx3LgU2TDAOsD72hjCXXD7tqtp9//+5HO9VY3/uBAAAAEBGQzDDflEs0mcEfUT86dlXUSy+LYrFjaJYXH5hBn+bYUYP7TNsBmENAAAAAAAA6yHHg10e2gAAAAAAgH+Wo7kdAGyUsm1yvV+u3efXxxDY8G7ZNu9NNBYAAOshR/joWt5b2lX13SGwYQqXyrbZO94VA6ugbJsqIt7POJUUQrNrs/9CjveqKsMxAQAAABhZUSy2imKxNwQzXPmBINV03e4PRbFo0/cM/+50hv24b49hMwhrAAAAAAAAWAN9v0wPFNwbcaaP+365b+8BAAAAAFZX3y/bkSd303b/oLsrPDcAWBUXMszjaVfVa/ng8jDvf5hwyA/Ktvn5hOMBALDacoSpPVrXPe+qOl1P/e1Ew31Yts3ORGMBqyv3/fhXu6pe25/LGeUIaxDoDQAAALDihtCF9FnAh28w00vp/uCiWKTrPycyrPCh8wY2g7AGAAAAAACA9bE74kzHPBYAAAAAAPl8MeKRNynEd/TmRH2/FNYAAD/unQw1urPOde+qOs3/+oRDXinb5uyE4wEAsLrOZ5hZjgbYk+mqem/C38/3yrbR3BtmqmybdD/+uYyrv9VV9SZ9rjOaIZxnbKfKttla/+oAAAAAbLR0XejiIRZ46rvv/b+eXshQnD9nOCZwDIQ1AAAAAAAArIm+X+6P1JTrZt8v9+w7AAAAAMBaGOt67r3hOvOmGLsRz80Nqg0AZFG2zcmIOJPh2LfXfce6qv4qIr6ccMiPBDYAAJAprGH0kNRjcDU1OZ9g2O+aO2nuDfNTts354WdNTrmPv+7uZZi/AB4AAACAFVUUi91DBjU8c+r/+/pgZ+zVdVV9Z+xjAsdDWAMAAAAAAMB62TniA2Tpey/bcwAAAACA9dD3yxRKcH2EyY7+gNFx6vvlwciNeG6sXxUAYHIXMg24EQ8td1X9eUR8PdFwJ9Lvd0OABgAA85UjrOFg3avZVfWj4V7ZxxMMdypDsCyw+naH138u17uq9rPlh+V4v6oyHBMAAACAIyqKxdY44aY/+e++/T//6V/bD+BloqBxgAAAIABJREFUhDUAAAAAAACskb5fPhoeArh5iFl/kb53OAYAAAAAAGui75c7Rwxs+M0Q+rBpdkdaT2ratr+B9QGAsW1nOObTrqrvb8pOdVWdfqd4MNFwZyLio4nGAgBgNZ0be1ZD0MHa66r67oRNty+WbeP6IsxE2TbpZ8uVjKt9PE7juY2XI6whx7UvAAAAAI5uZ4zw1J/89b+Mb/+PP/+PI+7H0xGPBRwzYQ0AAAAAAABrJoUt9P0yPeTx2+FhjB9zKyJ+3ffLy4IaAAAAAADW0xDY8OkhJp+CGjayUdiwrlsjHGrH9XMAeC0XMpQpR2O943ZtysCGsm12VrcUAADkUrbN+QyHvrlJG9ZVdfr7xm8mGu6K381hNvYyL3R3U4JzMstxTSnHeysAAAAARzfe9fcnT//1iPtxf8RjAcdMWAMAAAAAAMCa6vvlXt8vt1IQQ0R8Mjwk9+zriyHMoej75XbfL2/YZwAAAACA9db3y6sR8YvXbJp2L/3ZTQ1qeM7l1ww2fpXrrqEDwI8r2+Z0RJzOUKo7m1b+rqqfRET6HezpREO+W7bNBxONBQDA6tBQ+jV0VZ1+N78+0XCflW2zPdFYwDEo2yZ9TnMx48i3uqrOHQaxKXKENeTcWwAAAAAOoSgWW2Nct/nJ1r/6/h/+43/8q28f/Ycc90ABa+5tGwgAAAAAALDehiZSGkkBAAAAAMxA3y/biKiKYpGafu2kf37hIaQU5LA/g5CG7/T98m5RLKrhOvm5N/z2FNSwk2lqALBp3sm0ntubeKZ0VX2/bJtrEfFRRJyYYMj3yrZ50FX1VxOMBQDAasgRCtBu4t52Vb0zhChM0YS7LdvmfFfVjyYYay2UbVO9MM+0F1vP/f/zL4SPPGu8dW8IwttTT1ZB2Tbp3NzNPJWrNvv1dFV9t2ybFOZ9aszjpp9ZXVVv5PshAAAAwJoa5/OQf/FcG/b/5//9L0YqxcORjgOsAGENAAAAAAAAAAAAAACwZvp+eaBpz/dSLYbwitQk6cPX+JbU5OvqEIYMALyeCxnq9LCr6o19aHkIbPg8Iq5MNOSVsm3+3FX1nYnGAwDgeG2p/xtJgQF3x27q/RKnhsCGahMCBo4QtDCGFM77cbqWW7ZNupa7m5qz5181vNJe5p8h14UEvLH0WdmlkY95/jX+DAAAAACEsAbYLMIaAAAAAAAAAAAAAACAtdb3y9T47GpRLFKzpMvD1/MNelJAQ2py1Pb9ct9uA8AbyxHWsPGhAl1Vf1W2zYmI+GCiIf++bJtrKShiovEAADg+2xlG3tgm4Sk4YQgeaCcIbLg4NHXfyTzODzrmoIUxnRpC8FJA3RepthraM7Xh9ZQzjPGxgO5DyRHWkOP9FQAAAIBj9pP/5r+yBcAPEtYAAAAAAAAAAAAAAABshL5f3h0aoe3ZUQAYR9k2ZyPidIZyHsxhi7qq/nKo4bsTDJeCIT4q2+bfdlX9ZILxAAA4PlsZRn60yfvZVfVB2TapGfpnEwyXggUOuqo+1HXKDQpaGNv76atsm1tDaINgXqaS+zOH3RQqYzffWI5rS8IaAAAAAFbL6NeAfvJf//R/G+lQ90c6DrAChDUAAAAAAAAAAAAAAAAAAK9yIVNl7syl4qmBaNk2JydqnvossOGawAYAgI12aezFpTCDTS/a8Lt5asT94QTD/b5sm0dDkIKghXGlen1Wts1uROwPwQ0a3ZPFEPKS8zV667DBLsTdDCUY/f0VAAAAgMPr++WjoljcOvI1un8xtGH/L/96zGtK7suBDfKWzQQAAAAAAAAAAAAAAAAAXuGdDIV5MMMggdRA9MFEY52JiJ2JxgIAYDM8nss+dlWdGq/fnGi4z1JoQ0R8/NzXlaEZ+LMvQQ2Hd26o692ybVIQx/lcAzFPZdukMJXdzIu/6vQ6nK6q2xzH9bMEAAAAYOXsH3VCP9n6V8P//s2YYQ1PRzwWcMyENQAAAAAAAAAAAAAAAAAAr3IhQ2Vuz63aQzjFtQkf1L5Yto3ABgCADVS2TZVhVQczO1cuR8S9FZgH4zg1hGB8U7ZNm+k1wjztDedXLl/kChyYkVsZlro996ICAAAArJj9Ua7pn/iX//tPzv63d8ZaWlfV98c6FnD8hDUAAAAAAAAAAAAAAAAAAH+hbJuz6VHlDJUZ7cHndXIMgQ3vlm3z3mZUDwCAzB7NqcBdVT8aAhser8B0GNeliPhT2TZ3BdhxFGXbbA8hILmknz9XbdKR5QgbEtYAAAAAsEL6fpmu6R/teu/fnPy/3/rvzwlOBV5JWAMAAAAAAAAAAAAAAAAA8DIXMlVllmEN8X1T2PsR8Q8TDvlB2TY/n3A8AADyqzKMkKPZ9UrrqvpAo/SNdi4iPivb5lHZNrtl22zNvSC8viHoYz9zyfa6qr5rW44sRw2FNQAAAACsmL5fpqCF3xxyVo/fWvwP/xh/feI/jLiqhytXJOBIhDUAAAAAAAAAAAAAAAAAAC+Tozndna6qn8y52l1Vp7CK6xMOmQIbzk44HgAAeeVoOj/LhuFdVadm7J+swFTI51REfBwR/1S2zX7ZNufVmpcp2+bycI48SkEfEXExY6HudVW9ayNG0WY4prAGAAAAgBXU98t0Tf8X6fraG8zuVrre85Otvxk7XEFYA2wYYQ0AAAAAAAAAAAAAAAAAwMtcyFCVOyr9XVPYryLiy4mGOxERHwlsAADYGDmaSM8yrCG+/908NUz/YgWmQn5XIuKbsm3asm0q9aZsm+2ybfaGgIY/DOfIqQkKszP74o/nIMMxz5VtkyMYCQAAAIAj6vtlO3xO8tshiOFV0n/7Td8vt//q9//mr9Qd+DFvqxAAAAAAAAAAAAAAAAAA8LyybXIENSS3Ffp7XVV/XrbNyYh4d4LhUmDDTtk217qqfjLBeAAA5JOjgfRswxoGqXF6avB0cSVmQ26XIuJPZdvci4gU1nGjq+pHqj4PZducj4irEXE5NeU/hkV/0VV1O8fa55Beu2XbPM4QsrE9vC8AAAAAsGL6fpmu5+4NX98pisXzAb0Hw5/J6b7zAjaLsAYAAAAAAAAAAAAAAAAA4EXv5KhIV9V3VPqfdVW9X7bN2Yg4M8FwaYyPIuJ3E4wFAEA+owcKdFU967CGodn3s8CGsRt+s7pSo/7PUkOvsm1SU6/9ub8WNtUQ0HB5CGY5zlCWx0NQBOM6GEJYxiSsAQAAAGCN9P3yh67lnMywkqfOD9gsb9lPAAAAAAAAAAAAAAAAAOAF2xkKIqjh5a5FxIOJxjozNKEFAGANlW2zlWHW95wL3wU2HAyN3JmfFNDxcUR8U7ZNCtTL8fdhJpZ+Xqa//5Ztk17b30TE7485qCHZEwiSRY5QBT8HAAAAADbHWXsJ/BhhDQAAAAAAAAAAAAAAAADAf1K2zcnU1D9DRQ5U+S91Vf0kIvYj4ulEQ75bts0HE40FAMC4cjSP1jh80FX1jYj4ZCUmw3G5EhF92TZt2TaX7cJ6eS6gIb2W/ykiPluBgIZn7nVVvbsaU9k4Oa43nZ95TQEAAAD4YbfVBzaLsAYAAAAAAAAAAAAAAAAA4HkXMlXjjiq/XFfV9yPi2oSBDe+VbfPzicYCAGA8OZpHC1V7ztBM/frKTIjjciki/lC2zd2h+f+WnVhdKVijbJv9IXwmBTS8v4KT3VmBOWyqHKFDl+ZeVAAAAIANctpmAj/mbRUCAAAAAAAAAAAAAAAAAJ6TI6zh6RBIwCuk+pRt83lEXJmoRlfKtvlzV9VCNAAA1keOsIZH9v8vXI2I7Yi4uGLzYnrnhub/e2Xb7EXEflfVORrD84bKttkeXquXI+LUitfvZlfV7QrMYyN1VX1Qts3oS0vnWDr23OsLAAAAHF1RLC4P15yrFw52MHzd6Pula/X55AhreLoqiwPGIawBAAAAAAAAAAAAAAAAAHjeOxmqIRDgNXRV/VXZNici4oOJhvz7sm2uCdIAAFgbOcIaNKJ+QVfVj8q2uTzUZtWbwDONdB58nL7Ktrk+hDZovj+xIaBhZwhoOLdGU99ZgTlsupsRcWnkNW57jwQAAAAOqygWW0PY6NUfuM787HrGXlEsUljsntCG9eA+G9g8b9lTAAAAAAAAAAAAAAAAACC+b3x4MiLOZCjGbQV+PV1VfxkRX080XAqG+GjYdwAAVl+OsAaNn16iq+q7Q0N4eNGViPhT2TZt2Taa8GdWts35sm2ulm2TXpN9RHy4ZkENnww/T8grR41zvOcCAAAAMzAENbRDAOzrBAI/C4s9KIrFtnNkdGc3bD1ABsIaAAAAAAAAAAAAAAAAAIBncj30faDCr6+r6v2IuDXRcAIbAADWx+iNo7uqbu3/yw21+e0qzo2VcCkiPkshAkOYwJZtGUeq5VDTdC3hm4j4/ZoFNDxzLyL2VmMqGy/Hdadq7kUFAAAA3txzQQ0XD/Ht6RpYK7BhdCdGPuDDFVgTMDJhDQAAAAAAAAAAAAAAAADAMxcyVOJhV9UeVH5zKbDhwURjnYmInYnGAgDg8NaxWfla66o6NVq/Pvc68IPODWECKbRhr2yb0UNV5mAIaNgp2+ZGRPzTUNPDNLRbJVe7qn40972dSI6wBk0RAQAAgMPYPeJ1rVPD/SKsLvdAwQb6ybfffmtfAQAAAAAAAAAAAAAAAIDUHPHfRcTpkSvxdVfVHiQ/hLJtTkZE2pMTEw1prwAAVlTZNqlpdD/y7G52VV3Z8x9Xts3BBjSOn8K9FFrw3DiPXtJEvX3h/6f/vpUa2w8hcqfWvwzfBXzsd1X94lp5Qdk2lyMifV3ZsNr4+Tqxsm1yNNL6qcANAAAA4HUVxSJdD/rTSAX7pO+Xu4p/NGXbXIiIj0Y+7J2uqq9NvRYgr7fVFwAAAAAAAAAAAAAAAAAo2+Z0hqCG5M7si3tIXVU/Kdvm2vDg+BSBDe+WbXO/q+ovJxgLAIA3s6Vex6oaQgg2IUjgVQ4VtDBSI/N0jKtl2+wOjfvT/54b4bjHJQUPXCnb5uYQ2iAU7znPBTRc3uDX1M4KzGFu7mX4ubH9kp97AAAAAK8y5jWhneE6Kavnvj2BzSOsAQAAAAAAAAAAAAAAAABI3slUhduqe3hdVd8v2yY19vy7iYb8oGybp11VfzXReAAAvJ7tDHXSgPo1pUCCsm1SYEO/olM8zqCF0QzzSX//2R8a+l+NiEurNMc3lOZ+aQihSOvaW7WaT6Vsm+2hwdzlNQ/ieB2fdFV99+iH4Q0dZDi3Ku+VAAAAwBu4PGKxzhXFour7pWsTR3MywzGfTrkAYBrCGgAAAAAAAAAAAAAAAACAyNT89WFX1Q9V92i6qj4o2+Z6RFyZaMgU2HA/BUVMNB4AAD9uK0ONZtk0/rCG38t/ExGfjXzojQhaGFtX1Tci4sbQ5P/qhH8fyiE1kP84raNsm7Su3Tk08y/b5vwQ0LAzg4CGZ9LreW81pjI76efm+yMvOse1MgAAAGADpWCFiDg18soESR7d2XVfADANYQ0AAAAAAAAAAAAAAAAAQHIhQxVebDDKIXVV/VXZNmci4r0JangiIj4q2+aawAYAgJWRo2G039ffUFfV+2XbVM8FBwhayCyFZKRm/2Xb7A5N/69maHo2lVPDuXOlbJsvUlP/rqo3qtnaENBwediriyswpSndSuen1/exyfGedn5N1g4AAADAdG6rNWweYQ0AAAAAAAAAAAAAAAAAMHNl25wdGvSP7c7cazumrqo/L9vmZES8O8FwJ4aGqCmw4cl0qwQA4BW2MhRGQ/FD6Kp6Z2hEz7R1T6EYu2Xb7A1hACm84dwa78H76atsm1tDaMP+CszpUMq22Rr25PKwrjlJgS03hj28O7O1r5ocYQ1zCxwBAAAA2DSn7SjwOoQ1AAAAAAAAAAAAAAAAAAAXMlVAWMP4Po+IFK5xZoKx0hgfRcTvpl4kAAB/4dLYJemqOkdja8iqq+oUMpKCDfbLtknhAFdzvD4mlJrBf1a2ze6wrr1hjSuvbJudmQY0PH52Dvo5ujpSWEbZNmlvTo05qbJtqq6q2zUvDwAAAMBc5QhreOpsgs3zlj0FAAAAAAAAAAAAAAAAgNl7J0MBHnRV/WTuhR3bUNNrqb4TDXlmaMAJAMBmeWw/WXddVd/oqrqKiJ9FxPU1X865iPg4IlLD+RREcX4F5vQXUkDGML8UKPHZjIIaHg/n2K+7qt7qqvqqoIaVlGNPVvK1CAAAAKyWvl/mCHt0/WkFdVV9f+41gE0krAEAAAAAAAAAAAAAAAAAuJChArdnX9VMhsCG/Yh4OtGQ75Zt86vJFwoAwHfKtqkyVEKTJzZGV9V3u6pOIXM/jYhP1jyM5FREXImIb8q2aTO9/t9I2TbbZdvsDQENfxjmd+q45zWRL54LaNhJASGzWPX6yvHetj2X4gEAAABHNnagbI4AiLk5O/cCAK/nbXUCAAAAAAAAAAAAAAAAgPkq2yYFNZzIUIA7Tqt8uqq+X7bNtYj4nyca8pdl2zzsqvqr41gvAACju6ukbJquqlOYwG76KttmZ/jnc2u8zEsR8aeybe6ltXRVvT/VwGXbnI+IqxFxec1reBgpoCGFMtwYzinWh7AGAAAA4DjtD0GnY/ii75euTR3d2PdDPTiORQD5CWsAAAAAAAAAAAAAAAAAgHl7J8fqu6rO0SCP/7zGKbDh+ogP+/+YK2Xb/LmrakEcAADTqjKMJqyBjTYEG+yXbVMNoQ2X1ni9KSzhs7Jt9iLiu68cIQJDQEMKZ0hBFxfHPv6KuzU000sBDX4+rq8ce7fOPzsAAACACfX9si2KxacR8eEIo+7Zu5X0ZO4FgE31lp0FAAAAAAAAAAAAAAAAgFm7kGHxmvlPpKvqryLi8wmH/Puybc4e66IBAOZnK8OKNSNnFrqqbruqToENP4uI62u+5lMR8XFE/FPZNvtDuMKRlG2zVbbNTtk2KXDxm4j4/YyCGu5FxCfp3Oiqerur6j1BDestvd5zLGCM1xoAAAAwD32/vDpcdzqKT1Pwg1PmaMq2yXE/FLChhDUAAAAAAAAAAAAAAAAAwLwJa1hzXVV/GRFfT7SKExHxd2XbnNzYggIArJ7tDDPSkJxZSU34u6reiYifDg36j9ow7bhdSeEKZdu0ZdtUbzKX5wIabqTgh4j4bGYBDZ9GRNFV9fmuqncFNGycWxkWlON9GAAAANhclyPi8SFXl65t7Do3Vpb7oWBDvW1jAQAAAAAAAAAAAAAAAGCeyrbJEdSQ3HZKTaur6v2ybU5nCt94URrno4j43YqWAwBg02xlWI/m5MxSV9WPhmZnuymwICKurnlQwaWI+FPZNveGdd0Y1vgXyra5PDSKS1+njnfak0qN8VIwxX5X1e2M1j1XBxle09vDOQQAAADwo/p+eVAUixSw2r7hdbgU1FD1/fKl1/d4Y3+rZMDrEtYAAAAAAAAAAAAAAAAAAPO1nWHlT7uqvuOcOhb/fghRODPB4GfKtvmgq+rPV7AOAACbZvRG8l1VC2tg9lLoXWrgX7ZNNYQ2vL/GNTkXEZ9FxF7ZNntDMMHdsm22h7XNLaAhuT6EV2iyPy853t9yXD8DAAAANtgQ2HA+Xa+LiCs/stIUNrrX98td58SoTmc45pNjXA+QkbAGAAAAAAAAAAAAAAAAAJivdzKsXFDDMemq+knZNtci4t9FxIkJZvFe2TYHwjkAAPIp22Yrw8Fv2TL4Z11VtxHRlm2TmqftrnmwQZr3x+mrbJt7Q4jDnHyRAhqGkIZHM1s732uH18CYhDUAAAAAb6zvl+n61E5RLJ5dc3zZ9f6Dvl8KG10f9+deANhUwhoAAAAAAAAmUhSL7eFD9Oq5EQ+GD9D37QMAAAAAAAAAUyrb5mREnMkw5G0beXyeC2z4aKLAhjoifreq9QAA2AA5GkRrYA4v0VX13dQ8bQhJuZr+ec3DDuYS1JACaNL9+PsCGhie0RjbufRzwfkFAAAAHEbfL9N1xz3Fm9zZma0XOAJhDQAAAAAAAJkVxSI9pLP7ioddLsX3f2ZveEBkt++XbuAHAAAAAAAAYAoXMo1xx+4dr66q75dtk+5D+LsJJnKmbJv3uqr+cpVrAgCwxs5nmHqORtawMYaG7On+792ybXaG4IaLdnilPAtouDGEbMB30uu3bJvHEXFq5Iqk8KRWlQEAAADWxokME31o+2EzvWVfAQAAAAAA8iiKxVZRLG5ExGevCGp4XnoQ4MOIuFsUi8u2BAAAAAAAAIAJ5AhreJqCAmze8euqOjXgvT7RRH5Vts3JVa4HAMAayxHW8MgJAa+nq+r9rqpTk/ZfRMQXynas7kXEp+lW/bQnXVXvCWrgFXKEEm0rNgAAAMC8dVUtrAE2lLAGAAAAAACADFJQQ0S0EfH+Gx49hTb8oSgWO/YFAAAAAAAAgMxyNJm7Y9NWR1fVX0XElxNM6EREuNcBACCPHGENOZpYw0brqrrtqvpyRPxsCAx4bMcn8XgIIkwBDee7qr46hBPCD2kzVEdYAwAAAMB6uWC/gNclrAEAAAAAACCPGxFx8QhH3iuKhZv5AQAAAAAAAMiibJvTEXE6w7E1TFwxXVV/HhFfTzCri2XbeNAdAGB8OcIaHtknOJyuqu+mwIDhtfnbiLinlKN7FtDw666qt7qq3hHQwBvKcb7keD8GAAAAYH08sFewud62twAAAAAAAOMqikV6+ObSEQ96KgU2RERlewAAAAAAAADI4J1MRb1ts1ZSCmw4GxFnMk9uJyL+7ZrWCABgVY3eHLqr6tZuw9F0Vf1ouN97r2ybneHvQ0e9h3zuvoiIG+lrqC8c1t0MlfP6BgAAAFgTZduczDDTJ/YfNtdb9hYAAAAAAGA8RbHYiojdkQ54qSgW27YHAAAAAAAAgAwuZDjmw66qH9qs1dNVdXpg/FpEPMg8udNl2/xqHWsEALDCztkcWG1dVe93VV1FxC8i4rrteiM3I+I3EfHTrqovD7UU1MCRdFV9kKOCZdt4vgMAAABgPZyxT8CbENYAAAAAAAAwrssRcWrEI+7YHwAAAAAAAAAyyBHWcMdGra4hsGE/Ip5mnuR7ZducXudaAQCsikxNoW/aYMijq+q2q+p0//fPIuLTiHis1C91KyJ+m+qUQi4ENJBJjvc7YQ0AAAAA8+W+KNhgwhoAAAAAAADGNfbN927mBwAAAAAAAGBUQyP9HM30PZS84rqqvh8R1zLP8kRE1GtfLACA1bBlH2D9dFV9t6vqqxFxfggluGcbv6vBp0NAw3ZX1XupTiswLzZXjvPrvPMFAAAAYC38rW0C3oSwBgAAAAAAgHEJVwAAAAAAAABg1eX6bPvAzq++IbDheuaJXizbxj0UAABHl+N3qta+wDS6qn40hBKkBu+/joibMyv94yGgoUg1SAEWAhqYUI7rVJUNBAAAAFgLpzNM8omth80lrAEAAAAAAAAAAAAAAAAA5uWdDKt90FW1h5LXRFfVX0XEP2ae7Qdl25zcmKIBAByPrQyjPrKXML2uqm90VZ0avRcTBOgdp8fD+n7dVfXWENAg3JHjkOO8E0wJAAAAMF/37T1sLmENAAAAAAAAAAAAAAAAADAvFzKs9rZzaL10Vf3HiHiYcdKnI+K9TawdAMCEcjSF1jQdjlEKLuiqeicifhYRnwzhBpvgi+cCGnZSOIXzjOPUVXWbYfhTZdvkCFICAAAAYFxn1RN4E8IaAAAAAAAAxjX2Df137Q8AAAAAAAAAYynbJj2MfCJDQe/YpLW0n3nSvyzb5vSG1g4AYAo5GkI/snNw/LqqvttV9W5EnI+I30TEvTXcli+Guf+0q+rLAhpYQTleVzmClAAAAAAYV457ox7aI9hcwhoAAAAAAADGNfYDJmOHPwAAAAAAAAAwbxcyrV5Ywxrqqjrt263MM9/ZyOIBAEzj0tijdFV9YO9gdXRV/air6v2uqlNow68j4uaKb0/6O+RvI+JnQ0BDmrsQGFZVjve8ym4DAAAAzE9X1cIaYIMJawAAAAAAABhR3y/Tzfz3Rjri475f7tsfAAAAAAAAAEb0ToZiPuiq+olNWltNRDzNOPkLZdv8fMNrCACwLh7bKVhdXVXf6Ko6NYIvIuL6Ck003R//yRDQsN1V9V5X1XdXYF7wY3KENWyrOgAAAMDKu2CLgDchrAEAAAAAAGB8uyMdcc/eAAAAAAAAADCyixkKmqPxHRPpqvphRPwx82gflG1z0p4CALy+sm2qDOXyuzusga6qD7qq3omInw4hCccRtJICGj5NwRFdVZ/vqnpXQANrKMf73nknAgAAAMDsPLDlsNnetr8AAAAAAADj6vvlflEsLkfE+0c48GNhDQAAAAAAAACMqWybC5kKettGrbeuqr8s2+bnEXEm00JORMQvI+LzudQUAGBFabQOa6Sr6kcRsZu+yrbZGf75XMYVpHvYb0TEflfVrXOFDZAjrCFHECoAAAAALyiKxXZEbD37t32/fK1rlmXbnMxQyyf2BzbbW/YXAAAAAAAgi/QwzK0jHHin75ePbA0AAAAAAAAAI3onRzG7qr5jkzZCk3kR75Vtc3YmtQQAGEOVoYrCGmBNdVWdAhTOR8QvIuLmyKu4HhG/7qp6q6vqHUENbIququ8OISSjKtsmx3s0AAAAwOwVxaIqisV+USxSr40+Iv707KsoFt8WxeJGUSwu/0idzmSo49O57w1sOmENAAAAAAAAGQxBC9UhHoRJDwL8pu+XN+wLAAAAAAAAACO7kKGggho2xBC68XXm1ezMpqAAAEe3laGGwhpgzaUgha6q033qPxtCFg7ri3TfekT8dAhocP86m+ogw7rOO1sAAAAAxlMUi62iWOwNwQxXIuLUKw7+fkT8oSgWbfqeCbfg/oRjAcdAWAMAAAAAAEAmKbCh75fpQZjfDiEMPyYFO1R9v9y3JwAAAAAAAACMqWybk8IaeA2fR8TTjIU6U7bNezYCAOC1bGcok7AG2BBdVd9NIQvgoQ9sAAAgAElEQVQpbCEiPnnN+9VvDfe2p4CGy11V73dV/cg5wYbLEdaQ4z0aAAAAYJaG0IU2Ij58g/VfSp95FMXiZddp/taZBLypt1UMAAAAAAAgr75fpgT/vaJYpIdhUnjD+RcGTDf/7/f9MsdDAAAAAAAAAAAQmYIaIlPDO45JV9VPyrb5Y0R8kHEGvyrb5us0ln0GAPhBWxnKI6wBNswQtrCbvsq2SferX42Ii8+tMgU07EfEjRTwYP+ZIWENAAAAAKutfeGa5us6lb63KBbn+375fCjt6Qyrfegcgs0mrAEAAAAAAGAifb/cHx50AQAAAAAAAICp5QhreNpV9X07uVm6qv6ybJvtjAEfJ4YwCPdQAAD8sMM0JvpBGrXDZuuq+rv71cu2qSKiGgIahCwydzne+y7NvagAAAAAYyiKxe4RPw9JgQ03huuhOf3ZhsNme8v+AgAAAAAAAAAAAAAAAMDGeyfDAu84bTbW55kX9m7ZNrnCIAAA1l7ZNlsZ1nDLmQHz0FV121X1rqAG+P71kKMMZducV14AAACAwyuKRfos5OoIJbxUFIvnwxrcjwK8MWENAAAAAAAAAAAAAAAAALDByrY5GRFnMqzwtvNmM3VVfT8ivsy8uHqu9QUAeA3bGYr0SOEBmKkcgUU53qsBAAAA5mQnIk6NtN4xQh9+yIPMxweOmbAGAAAAAAAAAAAAAAAAANhsFzKt7o7zZqP9Y0Q8zbjAM2Xb/GruRQYAeIXzGQpzoNgAzFSO90BhDQAAAABHszNi/arn/vnk2PvSVfWTsY8JrBZhDQAAAAAAAAAAAAAAAACw2XI0j3vYVfV9583mGh4038+8wPfKtjk95zoDALxCjrCGR4oNwEzdzbBsYQ0AAAAAh1QUi62IuDhi/U4VxeLZ9Zoz9gV4U8IaAAAAAAAAAAAAAAAAAGCzXciwujvOmc3XVfVB5r0+ERH13OsMAPASOcIaDhQagJlqMyxbWAMAAADA4eW4trKVaT/cIwUzIKwBAAAAAAAAAAAAAAAAADZU2TanI+J0htV5EHk+9jOv9GLZNjkCRQAA1lmOsIZHzggAZipHYNG5sm1yNQAEAAAA4BCG+6QA3piwBgAAAAAAAAAAAAAAAADYXO9kWtlt58w8dFX9MCL+MfNid8q2OTn3WgMAPGf0sIauqlsFBmCOuqpOgUWPMyx92wkFAAAAsFJyhDU8tcWw+d62xwAAAAAAAAAAAAAAAACwsS5kWNjDoYE/8/FlRLyb6aH2GI77XkT80TkFAPCdc8oAAKM6iIhLIx8zhTUIQwIAAADWRlEszr8QGH2375d3j2H+B2MfsO+Xbdk2Oe6Tup/hmMCKecuGAAAAAAAAAAAAAAAAAMDG2s6wsDtOl3npqvpJROxnXvQvy7bJFQYBALA2yrbJ8Tv8TWcAADOXI1Qhx3s2AAAAwOiKYrFTFIsUkPBNRPzpua9vimJxtygWe0OQwyT6fvkoIm6NONazY5119gCHIawBAAAAAAAAAAAAAAAAADZQ2TbpAeQTGVZ24HyZn66q74z8oPzL7My9zgAAEbGlCAAwuhzXsyZrYAgAAABwGEWx2CqKxX5EfBYRF19xiHMR8eEQ3LA7YaH3Mxzr5IjHfOZhhmMCK0ZYAwAAAAAAAAAAAAAAAABspguZVnXH+TJbTUQ8zbj4C2XbbM+9yADA7OX4faide1EBmL27GQpwae5FBQAAAFZXUSy2hwDLK28wyY+LYnGQQh4mWFgKWHg8wnEejxz88KI/Zzw2sCKENQAAAAAAAAAAAAAAAADAZnonw6oedFX9xPkyT11VP4yILzMv/oOybU7OvdYAwKzlaID0aO5FBWDeuqo+yFEAoZMAAADAKhqCGlKQ87lDTO/iFCHQfb9Mn13sjHCo3eFYyYURjgfMkLAGAAAAAAAAAAAAAAAAANhMOR5Avu1cmbeuqv8YEQ8zFuF0RPxy7nUGAGYtR9PnLA2qAWDN3MwwXWENAAAAwEopisX5IWzh1BHmdbEoFru519X3yxsR8ekRDnG975d7I07pZR5kPj6wAoQ1AAAAAAAAAAAAAAAAAMCGKdvmbEScyLCqO84VImI/cxHeG85hAIA52sqw5kfOJACIuxlKcF5ZAQAAgBWze8SghmeuTrGsvl9ePWRgw6d9v9x54d+dHGla/0lX1U/GPiaweoQ1AAAAAAAAAAAAAAAAAMDm2c6xoq6qD5wrdFWdQju+zlyID2ZfaABgri6NvW6/xwPAd3K8H1ZKCwAAAKyKolikYMkrI03nVFEsLk+xtCGw4dcR8fg1/vi99GeH73nRmbwzBTaVsAYAAAAAAAAAAAAAAAAA2DwXMqzojvOE53weEU8zFuRC2TY/V3AAgCN7ncZGADAHOcIasgSmAgAAABzS2OEKk1376PvljYhIYRO/jYhbL/znFNBwfQhpOD/82Sm4Vwpm4m0bDQD8/+zdP2wdV5on7BeGEyoRP2hDCeIkVCjWTQp2ohootWFNogrNDmeT9mCyxQdYxiy+bDDqZL/Q7LCUrAw7FaaUuHGTW1QoJk1BDodYKZHSRXlKLY0tUbzkOfdfPQ9ACO3mrTr1vqd0qctT5wcAAAAAAAAAAAAAAGwcYQ1kNa3qV2Xb/BgRdzOe527ZNof9uXQTABiDsm2qDJeZY2NqAFg706puy7ZJPezLZdtsT6v6hRkBAAAArIDUYQ05fm/xQV036z9juT98zaVsmyuLHCuwWT7RTwAAAAAAAAAAAAAAAADYHGXb5Ahq6D01TXjXtKofRcQvGYuylTkMAgBgDI51GQD+5lmGUuwpLwAAAMDS5QhrONFWGAdhDQAAAAAAAAAAAAAAAACwWW7kuJppVR+ZJ7zHQeaifJYxgAQAYNVUGcYjrAEA3jrMUIsc798AAAAALJ+wBhgJYQ0AAAAAAAAAAAAAAAAAsFn2MlzNE3OE95lW9fOIeJS5OLXiAwAjsZ3hMoU1AMBbOcIacnwWBwAAAMB8rqkXcF7CGgAAAAAAAAAAAAAAAABgQ5Rtcykirma4mqfmCKf4KSJeZyzQ1bJtbmsAADACOTZ7FtYAAG/lCGvYUV8AAABgRaT+7CPHZym5XMpw3OercWlAbsIaAAAAAAAAAAAAAAAAAGBz7Ga6kiNzhA+ZVvWriHiQuUBfDmEkAACbbDvDtQlrAIC3cmwweFN9AQAAgBXRJh7GOoU15PBq8y4JeB9hDQAAAAAAAAAAAAAAAACwOXKENbyeVvVzc4TTTKv658yhHlsRsa8JAMCGS77Z87SqhTUAwGB4X3yZuh5l21RqDAAAACxb180eJvzsoz/OwzVqao41U8BICGsAAAAAAAAAAAAAAAAAgM1xI8OV5NyAn83yIPPV3CzbxsP1AMBGKttmJ8N1PTFbAOB3DjOUJMf7OAAAAMB53E9UtftdN3sx5g5Mq9qaKRgJYQ0AAAAAAAAAAAAAAAAAsAHKtrkSEVczXMlT84OzmFb184j4KXOx9jUDANhQOTZ5HvUmSgDwATnCGvYUGwAAAFgFXTe7lyDM+VnC0IdFubJm4wVWiLAGAAAAAAAAAAAAAAAAANgMNzJdRY4N7NhcjyLiJOPVXSnb5kvzBwDYQDnCGvwsDwC/J6wBAAAA2HTVBQIbXkbEna6brVsgdOqwhteJjwessE81BwAAYNyKYrI9fKj27iKg/gOytutmFuPChhru/b3h/n+jv/cPu27W6jsAAAAAAAAAAMBa2s0w6JNpVefceJ8NM63qV2XbPIiIf8x4ZbfLtvnZ3AQANkyOsIZ120gJABbhOMM5bukcAAAAsCr6oIWimPR7S92LiD/OMaw+4GHf/nO/er4CYwAWRFgDAADASBXFZGf4EO3rD1WgKCbPIuIgIu6vYcIp8B5nvPf7ZOP77n0AAAAAAAAAAIC1kyOs4cg0YF7Tqj4s2+Yo05zsbfWbA0TEv2oOALBBcoQ12EwJAH5jWtVt2TbJy1K2zc60qnMEQQAAAADMbdg76puimDzs/4yIr045xq/7zXXd7N46Vrpsm2srMAxgjX2ieQAAAONTFJP+Q7O/nrZZ++B6RHzbL8otismeqQLrrSgm+8Mi+4/d+5fd+wAAAAAAAAAAAOulbJsrEXElw6CFNXBeBxHxOmP1dsu2sc4RANgkOcIaXpghAPBeTzKUxecUAAAAwMrpulnbdbM7EfH/RMQ/RMR3v/n6+66b7axrUMNgK8MxTzIcE1hRn2oMAADAuBTF5OAMG7X/Vh/a0BbFpOq62aEpA+vnAvd+VxSTP3Td7EDbAQAAAAAAAAAAVtqNTIN7qu2cx7SqT8q2eRQRX2Qs4N2ybY6mVf1KkwCADZB8g+dpVbcmBgC8V/+89M3Epenfyx8qNwAAALCKum72YvjswucXZyOsAUbkE80GAAAYj6KY3DvHZu1vXB4CG3ZMGVgvRTHZv8C937tfFJPkC/4BAAAAAAAAAABIKsc6r1/6Dfe1ifOaVvWPmR9evxIRtzUIANgQlzUSABbmOMOJPIcJAAAAsBw31B24CGENAAAAIzGELHx7wavtF/wemDOwPoZ7//4FB+zeBwAAAAAAAAAAWH27GUb4VN9JIPcaxC/KtrmiUQDAOivbJsfmzo9NCgD4oDZDaYQ1AAAAAGyO53oJ4yGsAQAAYDzuJbrSW0UxqcwbWBv3hrCFi7pZFJN9bQcAAAAAAAAAAFg9Zdtci4itDAM70m4ualrV/Tx6krmQ1jgCAOtuWwcBYKEOM5zsetk23tMBAAAAFi/HuqlX+gjjIawBAABgBIpi0i/s+TrhlXqYCdbHnYQjTXksAAAAAAAAAAAA0tnNVEthDaTSRMTrjNXcLdvmc90CANbYXoahtyYEALzftKpfRMTLDOXJ8Z4OAAAAwOmuqQ9wEcIaAAAAxqFKfJU2bIc1UBST/t6/nHCkX+k7AAAAAAAAAADASrqRYVC/TKv6lXaTwrSqTyLix8zFvFu2zSUNAwDW1HaGYb8wGQDgVIcZyiOsAQAAAGADTKv6SB9hPIQ1AAAAjEPqhT2Xi2KyY+7Ayksd1NIHQFgoCAAAAAAAAAAAsHpuZhjRU30mpWlVP+pDQDIWdSsivtA0AGBNJX8GJNMG1ACwSdoM1+IZTAAAAIDFu6LmwEUIawAAAOC8hDXAOG3rOwAAAAAAAAAAwOoo22Y302Bs7EoOTeaq3i7b5prOAQD86oUyAMCpcnz+5flrAAAAgMVLHdbwWg9hXD7VbwAAAAAAgLeKYrIfEdWwQH5v+D/6BfjHEdF23exAuQAAAAAAAABYITdyDGVa1UeaTGr9vCrb5i8R8VnG4vZrP/5F8wCANXMr9XCnVS2ADQBOd5yhPsnf0wEAAABYuOdKDuPyiX4DAABwHl03axUOVl6OhYI5jgkAK6EPaSiKyYuI+D4ivh4WyF8evm4N/+37/nuKYnJQFJMdnQMAAAAAAABgBexmGIKgBnJ6EBGvMx7/atk2t3UQABi5Z2MvAAB8TK5go7Jt9hQfAAAAYDHKtrmm1MBFCWsAAAAYh9TBChbrwnpIvVDwZdfNhDUAsHGKYrLdhy8MIQ2Xz3B9l4fghsM+4MGMAAAAAAAAAGDJhDWwVqZV/WoIbMjpy7JtLpkZAMA6KNumyjBMz38AwNk8zlAnYQ0AAAAAi7OV4Uwn+gfjIqwBAABgBLpu1oc1vEx4pQ/NG1h9XTc7TByu4t4HYFMdDOEL8+pDG74visk9MwMAAAAAAACAZSjbJtfGb081lJymVf1z5lCQ/kH8u5oIAKyJ7QzDFNYAAGeT4z1zR+0BAAAA1pqwBhgZYQ0AAADjcT/hlaY8FpBXys2jbUQNwMYpisk3EfHVBa/r26KY3DE7AAAAAAAAAFiC3QynfD2t6pyb6MMbDzJX4rOybXLcIwAAqeUIYRPWAABnc5ihTpXaAwAAACzMDaUGLkpYAwAAwHj0AQvPElztn7puZrEurImumx1ExJMEo3XvA7BximKynTCM6MAMAQAAAAAAAGAJcjxsLKiBhZhW9fOIeJT5XPu6CQCsge0MQ/QMCACcTY6whhxBTAAAAAAszlO1hnER1gAAADASXTd7ERF3IuLlBa74SdfNvjFnYO3sX/TeT7iRNQCskioiLicaz+WimHi4HwAAAAAAAICFKdvmUkRczXA+DxuzSD9FxEnG810p2+ZLHQUAVlyODZ2FNQDAGUyrus1Qp8tl2+QIYwIAAADg97bUBLgoYQ0AAAAj0nWzwwts2v5k2MwWWDPDvV9d5N4fAl8AYNOkfrDtjhkCAAAAAAAAwALtZjrVkSayKNOqfhURDzKf7nbZNlc0FQBYYTk2cz7UcAA4s2cZSpUjjAkAAACA37uWoSav1RnGRVgDAADAyHTd7OGwafvjOa78T10327NZO6yvIbBhb957X1ADABsudRhZjgflAAAAAAAAAOBDcoQ1vJ5W9XMVZ5GmVX2YOSRkKyJqTQUAVtjN1EObVrVnQQDg7HKEHKV+ZgUAAACABbF+CsZHWAMAAMAI9Zu2d92sX+Tz9xHxQ0S8fE8Vng0btf9d182+MU9g/XXd7Pide//PZ7n3BTUAAAAAAAAAAACsrL0MA8uxMR2cxUHmKt0s2yZHwAkAwIWUbbOToYJPdAUA5pLjM7Ecn90BAAAA8HtX1AS4qE9VEAAAYLy6btZGRP8VRTHpF/a+Wdx7aIN22FzufQAAAAAAAAAAgPVWts2VTA8aH5kaLMO0qk/KtvkpIr7IePr9sm3+57SqX2kyALBCcoQ1eDYEAOaTI6whx3s8AAAAAL+Xeg3ViRrD+AhrAAAA4FddNzuOiGPVgHFx7wMwch5EAwAAAAAAAGBd3cg07qdmBEv0KCI+yxREEsNxb0fEj5oMAKyQHBs559hwGgA2WY73zptmDAAAAMBaEtYAI/SJpgMAAAAAACPVJr5sD7YBAAAAAAAAsCi7Gc5zMq1qDxuzNNOqfhURB5nP/0XZNrnCIAAAziNHWMMLnQCAs5tW9XFEvExdsrJtKm0AAAAAyKdsmxxrqIAREtYAAAAAAACMVeqwhtTHAwAAAAAAAIAPyfGg8ZFqs2zTqu7n4ZPMw9jXaABgheQIa7CmFQDmd5ihZjne5wEAAADI67n6wvgIawAAAAAAAEap62aHCR/uf9l1s4dmEgAAAAAAAAC5lW1zLSKuZDiNsAZWRRMRrzOOZbdsmz3dBgBWhE2cAWA15Ahr8PkDAAAAQF6XMhw955oVYEUJawAAAAAAAMbsXqJrT3UcAAAAAAAAAPiY3UwVyrEhHcxtWtUnEfEoc+X2y7bJ8cA+AMC8km/iPK3qVhcAYG7CGgAAAADWzzU9A1IQ1gAAAAAAAIxW180eRsQPF7z+x103u28WAQAAAAAAALAgNzKc5pdpVb/SQFbFtKp/7OdlxuFsRcQXGg4ArIDLmgAAK+E4wyBuaS0AAADA2nmqZTA+whoAAAAAAICx24+IJ+esQf+6O2MvIAAAAAAAAAALtZvhZB4yZhU1mcd0u2ybazoPACxL2TZ7GU79WEMBYH7Tqm5zlK1smx3tAAAAAMjmitICKQhrAAAAAAAARq3rZi8iojrHw2k/9K8bXg8AAAAAAAAA2Q0by29lOM+R7rFqplXdz8u/ZB7WXY0HAJZoO8OprWsFgPN7kqF2OcKZAAAAAPhPOcIaXqstjI+wBgAAAAAAYPT6wIWum/WBDf8UES8/Uo9nEfGHrpvdEdQAAAAAAAAAwILtZjqdsAZW1YPMD8Hvlm3zue4DAEuSY/PmQ80EgHPL8T4qrAEAAABgjUyr+rl+wfh8qucAAACss6KY7ETEneHrXf2CqLbrZg81GACAs+q62f2IuF8Uk/1hQfy7i+LbiHjYdTMPsQEAAAAAAACwLDk2dzuaVvUrHWUV9XOzbJsfI+JuxuHdLdvm0H0AACzBdoZTvtBIADi34wylE9YAAAAAkM81tQVSENYAAADAWhpCGu5FxNcfGP+tiPhjUUxe9pvtdt3snk4DAHBWXTc7UCwAAAAAAAAAVtBuhiEdaTSrbFrVj8q2+TwirmYa5tYQBmG9CACwaFWG8x3qIgCcWxsR3yYun7AGAAAAgLf7xt0Zfj/ybqD18fC5zMOum80bSr2VuLYniY8HrIlPNAoAAIB1UxSTvWHh8IeCGt51uV8YVRST4+F1AAAAAAAAAAAAAGunbJscQQ29p2YDayB3kMJnGe8xAIBFmncTIwDgrRyhR9fLttk+w/cBAAAAbKQ+pKEoJv26j79GxL9FxFcRceudr34vue/70IaimNxbcg2ENcBIfarxAAAArJMhcKEdQhjmcb1/XVFM9rtu9lDTuaiimPSL4/bfk9Ibw4K81lwDAAAAAAAAAAAgoRs5ijmt6iNNYtVNq/p52TaPIuJ2xqHWEfEvJgMAsEC3Up9qWtU5NpkGgFGYVvWLsm1enuMZ5o9582w0AAAAwKj0e75FxP0zft7Sf8+3RTG5ExF3um52fNo3l22zazYBqXyikgAAAKyLYXP8hxdY5NS/7mAIfIBz6efhkL77fz6Q0tt//TEi/ndRTI6HD4sBAAAAAAAAAADgonI8YCyogXXyU0S8zjjeq2Xb5AyDAADI7ZkKA8CF5Qg+8lwzAAAAMDrD3lvfn2PPuJv9ZzRFMdlZQs2eL+GcwAoQ1gAAAMA6+SYirl9wvP2Hdg+H4AeYyxD00fbpu2d8XT9fvy+KSWvOAQAAAAAAAAAAcF5l21zKFNaQY/M5yGJa1a8i4kHm6n5Zts0VHQQAcivbpspwimONA4ALazOUUFgDAAAAMCrDXl3fX+Caf90r7iPfcylDTV9nOCawBoQ1AAAAsE72E431+hD8AGf2TlDDzXNU7VamBXoAAAAAAAAAAACMQ46ght6R+cM6mVb1z5nn7VZE1CYFALAA2xlOIawBAC4uR7jpjr4AAAAAI3M/weXeLIrJaXvFXTOpgFSENQAAALAWimJSDSELqaQKfmAEimKyPaTsXr7A1fYf/N4zXwAAAAAAAAAAADiHHGENr6dV/VwzWEMHmYd8s2ybXAEpAABv7GWohLAGALi4HO+nt/QFAAAAGIthv7hUn4ecFtaQw1MTFcZJWAMAAADroko8zutFMcmxqJnNdC9RWMiiP/gFAAAAAAAAAABgM9zIcBVH5gbraFrVJxHxU+ah75scAEBm2xkOL6wBAC5oWtWHOWpYto1nmgEAAICxSLnmot8r7s4H/r8rZhSQirAGAAAAxix1AAQbqCgm2wk//L18yge/AAAAAAAAAAAA8Dtl21yKiKsZKvNUtVljjyLiJOPwr5Rt86UJAgBklGPDZmENAJDG4wx1FNYAAAAAjEXqvd0+9LlKjrCGnGtRgBUmrAEAAIAx29Z9zqAPV7icsFBCQgAAAAAAAAAAAJhHro3cjnSBdTWt6lcR8SDz8G+XbZPjwX4AgMj0XNOhygJAEjkCkHa0BgAAABiJ64kvc2EhmNOqFtYAIyWsAQAAAOB0i0rpBQAAAAAAAAAAgPfZzVCVk2lVP1dt1tm0qg8zh45sRcS+SQIAZHIz9WGnVf1CswAgiRwBSKmfVQUAAAAYiw8FYF8zA4BUhDUAAACwLnIsbLIAmbPYUSUAAAAAAAAAAACWKEdYQ84N7mGRDiLidcbz7ZZts6ejAEBKZdvkeFbliSYBQDI5nmn2+QIAAABAWluJj/eL/sB4CWsAAABgXbQZxpljsRQAAAAAAAAAAABAEmXbXImIKxmqKayBjTCt6pOIeJT5Wu6WbXPJjAEAEsoR1vBCgwAgjWlV53im+XLZNttaBAAAAIzAs8SX+LvPajKt43iV4ZjAmhDWAAAAwFroulm/YPiHhGN91nWzHIulAAAAAAAAAAAAAFK5kamST3WITTGt6h8j4iTj5fSBKbdNGAAgoRxhDYcaBABJpd5UsLenRQAAAMAIpN7b7X2/A7lqIgEpCWsAAABgndxPONYDneeMXiQuVOrjAQAAAAAAAAAAsLl2M1zZybSqc25sD8uQe23wF2XbXNNZACCRHGENnlcBgLRyBCFVegQAAACMwMOEl/iy62Ypj3eaowWdB1hBwhoAAABYG10369NS/5RgvE+6bnZP5zmj1Cm9qY8HAAAAAAAAAADA5trLcGU5NpqDpZpWdf/A/JPMY7irywBAIjnCGjyvAgBp5fgMLcdnfQAAAAArZQhXSLWG4/4H/vt/03UgJWENAAAArJt7F/wQ7mVE7Os6czhIXKxFpfQCAAAAAAAAAACwxsq2uRYRWxmu4Mi8YEP1az5fZ7y03bJtPjd5AIAEcoQ1AABp5Qhr8DMAAAAAMBbfJLjOJ6eENVzJUMdXGY4JrAlhDQAAAKyVrpu9iIjqnIENz/rXdt0sxwIpNtQw575LdHU/dN3s2FwBAAAAAAAAAADgDHYzFUlYAxtpWtX9Q/M/Zr62u2XbXDKDAIAL2ktdwGlVt5oCAEnleBb5phYBAAAAY9B1s/73Fn+4wKW+jIj9Yf+vRXlucsJ4CWsAAABg7fQfnnXdbG/YQP/lGcb/cvjePUENnNP9cwaE/FaKtF8AAAAAAAAAAADG4UaGq/xl2NAeNtK0qh/18zzjtW1FxBdmDwBwQZcVEABW27Sqj8/4DPNcyraptB4AAAAYg66bHZwzsOFZRFQf2S/umkkEpCSsAQAAgLXVdbN7XTfbjoh/GMIY3vfVf1C3M3zvIhNS2SDD3KkuGNjwXdfNjs0LAAAAAAAAAAAAzmg3Q6GeKj4j0GS+xNtl2+S4PwGAESjbZi/DVT42dwAgi9M2BDyvHa0CAAAAxmIIbCjm+F3GnyJi7yNBDb2tDCU8yXBMYE18qlEAAACsu66bPYyIhxpJTn1gQ1FM+sCG+xHx9Zyn+nMfGKJBAAAAAAAAAAAAnMWwEXyOh4qPNIBNN63qo7JtHvWhChkvtY6IfzGZAIBz2M5QtBcaAQBZ9JsC3kp84BzBTQAAAAAra8K4S88AACAASURBVAheqIpi0n8usj98PtJ/XY6IZxFxPOwh97DrZsfLuo5pVQtrgBET1gAAAABwRn1gQ/9hb1FMHg6hDdc/8sqX/fcJagAAAAAAAAAAAGBON3IUbFrVhxrBSPwUEZ9nCj3pXS3b5va0qh+ZUADAnHJs0OznfADII8d7rLAGAAAAYJSG0IZvEl37rlkEpCSsAQAAAGBOXTf7NYV3SOq984FXHw7fBwAAAAAAAAAAAPPK8UDxkS4wFtOqflW2zYOI+DrjJX9Zts1f+nOZWADAHLYzFOuFBgBAFscZDnpLqwAAAABWzi9aAuMmrAEAAADgnIak3kP1S6coJn34RRURe785aP/gQNuHZHTdLMcCRwAAAAAAAAAAgFUirAEuaFrVP5dt81mm+6m3FRF3I+JArwCAOVQZiuXZFgDIYFrVbdk2yQ9cts3OtKo9JwkAAABwDmXbXMpQt1d6AeMmrAEAAACApSqKyXZEfDN8XT5lLF9FxL8VxeSH/nuFNgAAAAAAAAAAAJuobJtcG8s/NWEYoQcR8f9mvOzPyrb5eVrVwlAAgGV6ofoAkM2TiLiZ+OB7EeH5SAAAAIDzuapuQGrCGgAAAGBFFMVkPyL6r1u/GdGziGgj4n7XzQ7XuV9FMdkZNuS/ExHXf/N/99f5cLhOi8xGYghqaOdcrNiHNnxVFJPvum52b+w1BAAAAAAAAAAANs5ejguymTxjNK3q52XbPIqI2xkvv1//+z9MMADgjH773NCFTat6rZ83AoAVd5gprOGhxgMAAACsDOuqYOQ+GXsBAAAAYNmKYlIVxaQPJ/j+Awuu+1CDryOiK4pJOwQerJV+Q/6imNyPiL9GxB/fE9Tw5jr7/++v/fcOm/iz+R5eYKHit0UxOTBHAAAAAAAAAACADXMjw+U8MUkYsZ8i4iTj5V8p2+ZLEwwAWJJnCg8AWR1nOHiWsFYAAACAkfhvGg2kJqwBAAAAlqgoJvsR8e8fCC94nz7M4XB43VoYQhfaIYjhrPrvbQU2bLZhHr8voGQeXxfF5N7YawkAAAAAAAAAAGyGsm0uRcTVDBfz1BRhrKZV/SoiHmS+/Ntl21wxyQCA05RtU2UoUI4NpAGAt9oMtRDWAAAAAHB+OdZnvNIPGDdhDQAAALAkw0b135/j7Jf7161RYEO/EO3mOV53M9MiNlZHqpCFb/QUAAAAAAAAAADYELuZLuPIBGHMplV9mPk+2IqI2iQDAD5iO0OBhDUAQF6HGY5+vWybHD8XAAAAAHA+z9UNxk1YAwAAACxBUUyqcwY1vKsPbNhb5f4VxeTeOYMa3rg5HIMNUxSTO/2CwkRXdXk4HgAAAAAAAAAAwLrLEdbwelrVHiiGiIPMNbhZts1Kr+0FAJYux88KwhoAIKNpVb+IiJcZzuAzBAAAAIDzuaZuQGrCGgAAAGA5Uj3s9XBV+1cUk52I+DbBob4djsVmqRJfjYWJAAAAAAAAAADAJriR4RqOzAz4dXPFk4j4KXMp7pZtc0m5AYAP2M5QGGENAJDfYYYzeCYSAAAA4Hy2MtTtRC9g3IQ1AAAAwIIVxWQ/Iq4nOuv14XirKOW4VvUaOb/UCwlThz8AAAAAAAAAAAAsVNk2VyLiaoZz5thMDtbStKp/zPyAfX8f3zY7AIAPyLEps7AGAMivzXAGYQ0AAAAAK2Ja1cIaYOSENQAAAMDipQ4eWNUggzsreiwAAAAAAAAAAABYRTcyjempbsN/cZC5HF8M4SsAAL+1naEiwtkAIL8c77c7+gYAAABwLrvKBqQmrAEAAAAW71biM6Y+Xio3V/RYAAAAAAAAAAAAsIpyPEh8Mq3qE92Gt6ZVfRQRTzKXZF/JAYD3SP58zLSqXyg0AGR3nOEEq/psMAAAAMDYHOk4IKwBAAAAFqgoJttjqPdYrhMAAAAAAAAAAAASyhHW4GFieL8mIl5nrM1u2TZ7ag8AvFG2zU6GYuQOoAIA/jMc6TBHHXx2AAAAADCfsm0uKRmQg7AGAAAA2ADCEVhDLxIPOctiRwAAAAAAAAAAgEUo2+ZKRFzJcCphDfAe06o+iYhHmWuzb5MAAOAdOcIaUj+bAQB82OMMtRHWAAAAADCfqxnq9VoPgE9HXwGADVMUk2r4ZdzesGin//PyR67y5bCx6fHw1XbdrDU31HMM9Dgt9UxLPWEzdd3sRVFMkl9bf9xVKliu62Sj9O9PXyW8IGENAAAAAAAAAADAOsu1MdtTswLeb1rVP5Zts5fpQf7eVkR8EREPtAAAyBTW4FkKAFic/tn9W4nPluPnAwAAAADm81y9AGENwLkVxWQ7Ir6JiP2IuL5BlXwWEQddN7u3AmP5qKEPd4av8250enn4heCbXwp+O2ys26e6P+y/um52vJgrWi713Hx6nJZ6pqWeMCrPEv8M/WxFi5fyOlf1Gjm/g4j4t0T1ezm8zwEwQkUx2Rv+HVW9c/X9g2eHXTc7MCcAAAAAAAAAWBM3Mgzzl2lVn5gAcKomIv45Y4lul23zl2lVe7AfAMixGfOL0VcVABanf1bl68Rnq87wPQAAAAC8dU0tgBw+UVXgAtp+A+gNC2qI4Xr6ja1XeiO3fhO6YYz/JyK+v8Cm3qe5NWye+teimDwsisnG/pJPPTefHqelnmmpJ4xS6k3lV3WT+nZFj8UK6LpZ/0DAd4lGcn84HgAjUhST/aKY9GF03fA55a13vv7Y//uqKCYvimLyjXkBAAAAAAAAwBrYzTDEpxoPp5tW9VFE/CVzme5qAwCQKazB8zYAsDiHGc60p38AAAAAc7mUoVwnWgAIawDOpd8ILSJubnj1vu43z16BcfwXRTHZKYpJO2xClzpx/TT9xuH/3p97kzb4Vs/Np8dpqWda6gmjdj/xxac+XiopA9BWNZCCi+nn7rMLHuPZCt8DAGRQFJPtPoRuCLv7WJDs5T64bvj3z7Z+AAAAAAAAALCKyra5FhFbGYZ2pOFwJg8i4nXGUu2WbXNbKwBg9HKENQAACzKt6hwhSZfLtvG8CwAAAMBy/Yf6A8IagPO6M5LKrcx1DpvQ9RuQ/jUibi1xKLeGDb4P1nmDO/XcfHqclnqmpZ5A182OI+JPiQrx3XC8ldN1s37h2eME43rcdTNhDRuo62Yvhn93vTzn1fWvuzMcB4ARGP7t0g4hdPPo//0jsAEAAAAAAACAVbWbaVzCGuAMplX9KiJ+zFyrL8u2uaQfADBqe6kvPtOm0QDAhz3LUJvkPyMAAAAAbLBc66yAkRPWAJzXWDY1W4lfaBXFpB/HYUT8cQWG88bXEXFcFJNqNYZzduq5+fQ4LfVMSz2Bd9yLiCcXLEgfYnBvxYv6zQU24o/htd8kHA8rputm/ftidY550t8/1fB6AMajD3C6ec6r7V93YK4AAAAAAAAAsIJuZBjSL8MG9MAZTKv6UeaAk62IuKsXADBql8deAADYADmeZ/SMPwAAAMBy/aL+gLAGgBVXFJP9fv/SiLi+giPtFwX9e1FMVn2D4L9Rz82nx2mpZ1rqCbyr62YvhgVU5w1s+HNE3Fn1ol5gI/4YXmMz/hEYerwzzOuP6efFd1032zM3AMalKCZ9gNOtC170V8O/zQAAAAAAAABgldzMMBbrq2B+DzLX7LOybXb1BQDGp2ybvQwX/dhUAoCFy/GZW46fEwAAAAA21aXU1zWt6ldmCyCsAeB0S12YPmxA9/0a9OjbopgcrMA4TqWem0+P01LPtNQTeJ8+sKHfcL7feH6OAj2LiD903Wx/CHxYee8ENsyzCPyxoIZxGe6HfvPsv4uIfxrui99+/UPXzba7biZcCGBkimKyHRGp/v73PgIAAAAAAADAysi4cftTXYb5TKv6eUQ8yly2/162zRWtAYDR2c5wwWvxXBEAbJgcz7zumCQAAAAAZ3ZVqYAcPlVVgFM9XFZ5imJyPyL+uEbt+booJjFsrrpy1HPz6XFa6pmWegIf0288PwSl9PfdnYi4+ZuXvIyItv/5tOtmaxmo8iawoSgm1XCd/Z/Xf/Ntz4brPOi6WbukobJkXTc7joj7+gDAb/Q/I11OVJTrRTHZEwoFAAAAAAAAwIq4kWMY06o+0mA4l58i4vOI2MpUvq0hsOFfp1X9SosAYDSqDBdqLSwALF6O99/fPlMMAAAAwOJYYwX8SlgDwIf9eVkbthXFZH/NNvV+YyU391bPzafHaalnWuoJnNWwQf294WtjDSEMghgAgHntJa7YHQ+oAQAAAAAAALAidjMMw0PEcE59gELZNg/6NfUZa3g1Iu5GxIE+AQAX8ELxAGCxplV9XLbNy4i4nPLEZdtU06r27C0AAADAKcq2uaI+QC7CGgB+71m/0LXrZkvZJLcoJv1Gcd8nOtzjYSPc4+HrfXaGryoibiU4Z7+5d9t1s5VYLKyem0+P01LPtNQTAAAgmdRhDZXWAAAAAAAAALAihDXAiplW9c9l23yW6f5847OybZ5Pq/qR/gPAKORYu3po6gDAUhwmepb/XTtaCQAAAPBROcIaXis7EMIagAV53HUzm5+dQVFM+l+eXXRD7MfDMR523ezFOcbQbyy+HxFfXWAM3xfF5LDrZktd5KOem0+P01LPtNQTAAAAAAAAAAAAADhN2TZ7mQpk7S9cXL+W///LXMe7ZducTKvaPQsAnMfczxwCAEnkCGvI9TkhAAAAAKd7rj5A75MVGAMAbz2MiMvnrEe/offf98EYXTc7OM+m3r2um/Ubgvebe/9dRPxwgd48LIrJ9gVen4J6bj49Tks901JPAAAAAAAAAAAAAOA0uxmq83pa1R4ihguaVvVJRPy0gDrul21zTb8AYOOl3tA5BD4BwNLkeA8W1gAAAADwcdZXANkIawBYEUUxuRcRN88xmpcR8U/Dht5tqqvputnxsMH3PwznmNf1iLi3rOqq5+bT47TUMy31BAAASC7Zv5EGHk4DAAAAAAAAYBXcyDCGI52FZB5FxEnmcm4NgQ2XtA0ANlPZNtsZLuyZ6QIAS3Oc4cTJg50AAAAANlCOtRW514UAa0JYA8AKKIrJTkR8e46R9Atp+g297+e6iq6bPYyIfnxPzvHyPxbFpMowrFOp5+bT47TUMy31BAAAyOJh4oMKawAAAAAAAABgqYaN2a9mGMNTnYU0plX9KiIeLKCc/d8F+9oGABtrL8OF5dgkGgA4g2lVtznqVLbNjvoDAAAALNx/KDkQwhoAVsZ5NubuN9re67pZ9o3lum72ot9A/Jybe9/LMKSPUc/Np8dpqWda6gkAAJDY8O+lZ4mO+rLrZgd6BAAAAAAAAMCS7WY6/ZHGQjrTqj485/r7ed0s2+ZLrQOAjbSd4aKENQDAcuX4rCBHwBMAAADAJsm13gpAWAPAshXFpN8w+6s5h/EyIu4MG24vxAU2975VFJP9RY1TPTefHqelnmmpJwAAQFapAuQE0QEAAAAAAACwCnJsvvZ6WtXPdReSa/r7awFl/aJsGxszAsDmyfH+LqwBAJbrMMPZfSYAAAAAsHi/qDkQwhoAVsJ5Noerum628EU0w+be+8PG4vNY5AZ46rn59Dgt9UxLPQEAADLputlBRPxwwaM/7rrZfT0CAAAAAAAAYAXsZhhCjk3iYPSmVX0SEY8WVIf9sm2ujb3mALBhtjNcjrAGAFiuHO/FwhoAAAAATncpdX2mVf1KzYEQ1gCwXEUxqSLi1pyD+K7rZktbPD+ce96Nuq8XxeROpiH9jXpuPj1OSz3TUk8AAICF6EPnnpzzRP3r/HsGAAAAAAAAgKUr2+ZKRFzJMI4j3YU8plX9Y0T8soDybkXEP5Ztk3yDAQBgaXJsvCysAQCWq81wdmENAAAAAKe7qj5ALsIaAJZrf86zP+u62bybaifXdbP7EfF4zuN+s4Chqefm0+O01DMt9QQAAMis62YvIqI6x79jfuhfN7weAAAAAAAAAJbtRqbzP9VZyOp/RcTrBZS4D3P5R60EgI2xk+FCDk0PAFiqHO/F18u22dZWAAAAgIU5UmrgDWENAEtSFJP+F2Rfz3n2eTcCz2nejbpvFcUkx2KiX6nn5tPjtNQzLfUEAABYnD5woetmfWDDP0XEy4+c+FlE/KHrZncENQAAAAAAAACwQnYzDOVkWtUnmgz5DPfY/1pQiXfLtrmrnQCwEa6nvohpVVsXCwBLNLwXf+yZlvPY01cAAACA3yvb5oqyADkJawBYnnk36X7cdbN2VfrVdbM+5f3Pc75s3s3A56Gem0+P01LPtNQTAABgwbpudr/rZn143h8i4k/9v7Xe+fquz9brutlO180O9AYAAAAAAACAFZMjrOFIkyG/aVX399qDBZX6dtk2n2srAKyvsm12Mgz+iSkBACvhMMMghDUAAAAAvF+OsIYTtQbeENYAsDzzbux9fwV7Ne9Gd3cyjSPUcxT0OC31TEs9AQAAlqQPY+i62TddN6ve+bo3BNMBAAAAAAAAwEop2+ZSpoeH/Z4cFmRa1Y8i4i8LOt3dsm2u6S0ArK0cYQ0vTAcAWAlthkEIawAAAABYHGENwN8IawBYgqKY9Atrbs5x5mddN3u4ar3quln/i8Mnc7zkelFMkv9iUD03nx6npZ5pqScAAAAAAAAAAAAAMIfdTMU60gRYqAcR8csCTrgVEf84BL0AAOsnR1hDjo2hAYD55QhPzfGzAwAAAMAmuKaLQE7CGgCW486cZz1Y4T7dn/P79zOMQT03nx6npZ5pqScAAAAAAAAAAAAAcFY5Hhz+ZVrVr3QAFme45/41Il4v4KRXIuKftRcA1pINlwFgcx1nuLJb5gsAAADAe13KUJbnSg28IawBYDnm3dx6lTf2fjjn91cZxqCem0+P01LPtNQTAAAAAAAAAAAAADir3QyVeqr6sHjvBDYswtWybeZ9fgEAWL69DCNo9RUAlm9a1Yc5BlG2TY6fHwAAAADW3VaG8b8yK4A3hDUALFhRTLYj4uYcZ33SdbMcaepJdN3sRUQ8nuNYN4tispPq/OqZtp6rSI/dM6dRz7T8HQQAAAAAAAAAAAAA2eUIazjSNliOaVU/j4g/L+jkn5Vt87lWAzmUbXOlbJvd/k8FhqS2lRMANto8z+aflbAGAAAAgN+7piZATp+qLsDCVXOesF2DFj2MiFtzfH9fg4NE51bPtPVcRXrsnvkY9UzL30EAAAAAAAAAAAAAkEG/AXKmuj7XL1ieaVX/PNzfny1gEF+XbfN8CIkASGIIgrkbEVvxn/+7/+OXiDgZfs7o//yP/r9Nq/qVqsNckm+2PK3qdXhOEQDG4njOZ/PPYsfsAQAAAMhvWtVHygy8IawBYPHm3dj74Rr0aN5FPcvcKF09148eu2c+Rj3T8ncQAAAAAAAAAAAAAORxLcNRT6ZVfaJfsFzTqj4o26a/x68uYCD/XLbN/7BhOpDCENTw9XsOdXX4uvnufxyCHPpNS16/G+RgIxP4oMuJS/NSqQFgpRx+4Ofpi5h3DwMAAACAMbiiy0BOn6guwMLtzXPCrpvNu2n2wnXd7HDOxT1z1SDlsdRzLemxe+ZU6pmWv4MAAAAAAAAAAAAAIJsbGQ78i3bByvjXYfPy3Lb6wAZtBy6qbJv9c24suzuEOHwxvL4PkfH3EvxG2TY5nr07VGcAWCk53ps9vw8AAADwe6nDGhaxvgNYI8IaABbv1hxnfLxG/ZnnF4g3E55XPdPWcxXpsXvmLNQzLX8HAQAAAAAAAAAAAEB6uxmO+VSfYDVMq/rVAgMbrg6brAPMrWybS8PfIZ8lrN5upo3pYZ1tZxj7CzMCAFbHtKrbDIO5XLZNjp8jAAAAAHjruVoA7xLWALBARTGZd6FZjgT1XOb6BWJRTKqLjkM930pRz1Wkx2+5Zz5KPdPydxAAAAAAAAAAAAAAJFS2zZWI2MpQ0yN9gtUxrer+Yf4HCxrQZ2Xb3NZ+YB59UENE/HPioIY39ofjA/8px3N36/ScIgCMxbMM1ykIDQAAAGBQts01tQByE9YAsFibvLH3vGPdSXBO9XwrRT1XkR6/5Z45nXqm5e8gAAAAAAAAAAAAAEjrRo56DhvDAytkWtU/R8SjBY3obtk2u/oPnMWwiUkf1HA1U8H6YKq7mgFZvVBeAFg5OfYRyBH6BAAAALCutjKM+8RsAN4lrAFgsebdzPp4jfoz71hTbOytnm9t6kbpevyWe+Z06pmWv4MAAAAAAAAAAAAAIK0cm6kf6RGspmlVP1jgPfrfy7a5YioAp1lAUMMbnwmRgb/Jsclyjs2gAYCLyfH+vKcnAAAAAFkJawD+C2ENAIs11y/Dum7Wrkt/um427y8PUywwUs+3NjUVX4/fcs+cQj3T8ncQAAAAAAAAAAAAACR3LcMxhTXAavv/F/Rw/9YQ2HDJfADep2ybz4eghq0FFWhfIyCbY6UFgJWTI6xhR5sBAAAA/uaGUgC5CWsAWKztOc728v+yd7exddz3ntj/dmTLUhyLiZLwJpEoZZOVu/furTlU0andAp7ARbEobJgBSh+0aGveF9yFg6LR0ihQXOTCyibIOysq0E26UIvQr4oRF40CB+juCyOjdmH37C556Htx98LauxuJUh54E8WSH6TITyr+yjCmKYniIWfO4+cDHNAyyXn4/ecMzznzn9+3D8fmXBs/204tqliGevYnY/whz5k7U89qOQcBAAAAAAAAAAAAQAXKBur7aqjla8YHelcza1wpAxuudmAj4znmKYcDsF4Z1PB0B4Maor1pkT9hMCA8WnUJmllDWAMA9J46whoeMs4AAAAAtTqvvMBawhoAOqudSTV1XIyrWzsTfKq4MKieHxrUC63G+EOeM3emntVyDgIAAAAAAAAAAACAahyqqY4XjA/0tmbWiDf3n+zQRj6cFvljDglgVVrk02VQQzc8nhb5XoPBsEqLfKSGXT/ngAKA3lOGKV2uesPSIs8MNwAAAMANdQTTX1FaYK0dqgH0oiSZGA8hxItGB0MI4+XXA3fY1MtlM+yz5delVmux6OMBvtQD29CutrY5SSZGWq3FTu2neg4+Y1wt9ayWegIAAAAAAAAAAADA8Npfw55faGYNNw1DH2hmjZfLhuWPd2Brn0qL/GIzayw5NmB4pUW+O54PYohLl4sQwyKeH+axYKiN17DzZ4e9qADQw+L78Ecr3ryDBhwAAADghjrmXgF8xN3KAfSKJJmYTJKJuSSZiI2eWyGE74YQvl5ejLpTUEO0p/zZp8vf/UlcVpJMnEqSienYRLqbu5okE+0mlvfjhNh2t3nLE43U85bqmLjVNcb4ljxnNqae1RrqcxAAAAAAAAAAAAAAVOhQDcV8zQBB/2hmjRdDCK92aIOn0yLXqACGVBnU8GwPBDVEh9Iif6wHtgO6oY772oU1AEDvqqOfgPv3AQAAAGrSzBpn1BZYS1gD0FUxQCFJJo4myUScHPLDMmhhT4XbFJf1ZAjhB3ECShkGITkcAAAAAAAAAAAAAACATqkjrOGC0YO+M9eh5+6uMrBht0MEhksZ1PKNEMK+HtrxJ5yPGFJ1NFcW1gAAvUtYAwAAAEB99qotUDdhDUBXrIY0lJNCngshHOjAduwpwyB+2qXQhpE2f74fJ8y0e/Gw3Zps53fVs/8Y45t5zmxMPas17OcgAAAAAAAAAAAAANi2tMjrCGqIXjM60F+aWeNKGdhwtQMbHhu1TztEYHiUQQ3P9mCjkl3ORwypOu63q6MJNABQjTr6CTxqbAAAAABuqPoaaCfmbQB9RlgD0HFJMpGVk0GeKwMUuiGGNiwlycSRDq673cTyfmzsfanNn99Oirt63mzQUvGN8c08ZzamntUa9nMQANxSfE8b30vGAMLya/y30KJtKkMd1RYAAAAAAAAAgEG0v4Z9utjMGhcdLdB/mlnjfBnY0AkPpUX+hMMEBl9a5I+EEL5RBiP0oodqDLCCXlXH/Xbt3vMHAHRIM2sUdawpLfKDxhAAAACgcueVFFhvh4oAnZQkE8dDCF/vkaLHoIjvJsnEZAhhutVa7MdG2gAAANQsSSbiTRJHyuC/W0qSiR+FEI63Wou1TKpsRxmSOB1CiF8PrPvVcyGEuI2nWq3FUz2wrX1VWwAAAAAAAAAA2IIHayjaBQMB/auZNZbSIv9xCOHxDuzE42mRn4/rdMjAYEqL/LEQwlN9sHPTaZF/u5k1rvTAtkAn1NFY2d9zAAbSytTYSBl0FB8j5T5udC/Z2dH55V7sEfNqDCqreJmxJvrhAAAAAEMrLfL9Rh/oBGENQEckycRIeSGs6otKVXg0Tk6JzSxbrUWTVAAAAPi9NkIHn4yPJJn4X0IIR1utxUudrmIZfHC8fJ97OwfKYISnk2TidAxK6NZ74X6qLQAAAAAAAAAAbMOhGor3mgGB/tbMGi+mRb43hPBwB3YkNkh/vpk1zjtsYLCkRT7dofNIFfaWITUnHYYMiQNV72Yza5hLD0BfW5kaGy8DjVa/HtzgXrjnNtrXlamxjb59eoPvnb1D+MF2QiKWagprOFXxMgEAAAD6ya4attX8CeAmwhqATujloIZVe0IIrSSZ+JNWa3GuNzYp9OOEmV7eZvUcfMa4WupZLfUEgD5Thg6eukPwwa3E8IGsDATs2N/TuL5ye/e08Wtx34pOhxduI9CxK7UFAAAAAAAAAICtKhux13HD8BmDAgMhNizfH0LYV/POxPPQM2mRf7uZNa44dKD/pUW+Owax9Ph9u7fyWFrkrwiPYdClRX6whl181YEDQD9YmRobKQMGxst+M1kZylB5kNEGNron8E73C245JOKf7Pn0uYsff+CW3/ubBz4VVj7xyVt+7+2du8JPP/35W37vE7+98p+v/OP/6fjo/LL76QAAAACqc1UtgfWENQCd0E+TvX6QJBOhpsCG8XZ+uJONMqsStznWrw1t1WQd9bzZdurZi4zxzTxnNqCe1XIOAoBwfAtBDaseKoMTsk6UMUkmxrcQ1LBqTxcCG45v47OC8YvdFwAAIABJREFUjtYWAAAAAAAAAAC26cE6CqjBMQyGGJyQFvn3Qgh/VlOwy1oxPOaZEMLzDh/ob2VQw7MdCHqpSwyZ+JbDkAFXR1iDBs0A9JSVqbHx8m/e6teD27gfbyB87vKvD3zu8q9vvSs///db3cX/NITw+gYhEZdDCBvdF7i0weuIS3f6XSERAAAAQA+oZf4VwHrCGgBuFgMbzrZai0XFtRlR65tspybqebNBq4kxvpnnTLXUs1pqAsDASJKJyRDC09vcn0eTZOJIq7V4vAN1Ob7FoIZVe8pl1B6AkCQT031WWwAAAAAAAAAA2I5DNVTvjBGBwdHMGhfLwIZnO7BTh9Iif6qZNU46hKA/pUW+vwxe2dvHQ7gvLfLHmlnjpR7YFqhLHWENVd/3DgB3tDI1NlKGMYyX95Jn5d+5A6rXM/bcISRjWwEa3QiJGJ1f9roHAAAAqNtrKgysJ6wB6FXnykkjZ+9wAWY1XT0rL+5tpznlWqeSZGK81Vo86wgBAAAYOlWFABxNkom5Vmvxdu9pt60MltjWhMlSDEDIagguXO9ohcsR1gAAAAAAAAAAQK/bX8P2CWuAAdPMGmfSIo8BCk91YM8eS4v8QjNrvOw4gv5SBjXEYJddAzB0T6RFvhQDa3pgW6AOdYQ1AEBtVqbGxsu/X+Nr+rhUcc8ag6u2kIgNAiJC2Y9oo15AG90feXaj3xUSAQAAAD1rEK6PAn1AWAPQS06HEObihY+thiSUTSrj4+lt7le8KHSqvJAIAADAkCjfVx6oaG/3lO9R52qs3mSFy5q+w2TEbam6tkkyMd1qLdZZWwAAAAAAAAAA2LK0yHeHEPbVUMHXjAoMnmbWeKlsxP5wB3buqbTIzzezxnmHEvSHtMgfqeC+2V6yq5y7/LxDkAFVx/3pmgcDsC0rU2Mj5d+o+Ij/nZWhDFXd7wWdcOAOx2xVIRGvjs4v6zkEAAAAvWF/DVtx1dgC6wlrAHrBCyGEo1sNaFir1VqMAQunkmTiaFzmNiefPRSX02otHnWUAAAADI2s4h3Nag5rqHJ7q973updfd20BAAAAAAAAAGA7DtVUvQtGBQbWybLJQB1BL2vFJunPpEX+7WbWuOJwgt6WFvljMWRlAIfpUFrk482ssdQD2wJVG1FRALplZWpsvAxhWP16cDsN7GFIPbQyNXZwdH55272QAAAAgN7TzBrnDQuwnrAGoJsqC2lYr1zmdJJMHC8bNz60xUU9lyQTc3VsIwAAAD1pvOKNOljzTh7o0WXdSr/VFgAAAAAAAAAAtmN/DdW7oLE6DK74/E6L/PkQwnfKQIU67Q0hPBtC+JZDCnpXWuTTIYSHu7SBV0MI52sMoIqm0yL/U69vGEBVz52PrxMKBwoAq1amxkbKvzfjZUhQVt5rVff9YTBMJkMIx404AAAAdF0dc7AAbiKsAeiGy/GCRKu1WPukkFZrcSlJJrLy4sfTW1zM8fICCgAAALTr0boqliQTwx5WUFttAQAAAAAAAACgAnU0Nn7NwMBgWxPY8I0O7Oi+2Ai+mTXmHFbQW9Ii3x2DDEIID3Vpwy6EEJ4vg2P+rMYAmbjcx0MIJ2taPnTLnorXe9lIAgynlamx8TKEYfXrQfdUQcdkwhoAAACgJ1R9rfKiYQVuRVgD0Gmny6CGS51ab7mu6SSZCFsMbHgyBj50IlwCAAAA2tCx99Y9yg0nAAAAAAAAAAD0sjrCGi4YcRh8zaxxPi3yF7Z4L1y7Hk6L/Ewza7zs0ILeUAY1PBsDVbq0QWdCCN+P4TEhhBgg82II4aka1/dYWuRLzaxxpsZ1QMekRT5ew7qWjCDA4FqZGhspwxjiY6RsEB9DGQ4YduiqJ+Pzc3R+edjv4wQAAIBBI6wBuCVhDUAnvdBqLU53q+Jx3dsIbIjbLawBAACAdp2uq2IxnLB8nzus3HACAAAAAAAAAEBPSou8jqCG6DUjDsMhhieU55KHO7DDT6dFfj6GRDi8oLvSIt8fQngmhLC3SxvySjNrzK39H82s8VLZfL6u1zdRI4TwrRqXD500UsO6NAgGGAArU2PjZQjD6tf4eNTYQk+L4SmnDBEAAAB0R41zsABucreSAB3S1aCGVeU2vLqFX306SSYObnP1Z9v54SSZqGMyTq22sM1t1WQ7v6uefckY38xzZgPqWS3nIACGWNVBfXX/jTzXo8u6larDFbz+AAAAAAAAAACgV+2vYbsuNrPGRSMOw6NsmH6hQzv8bFrkux1e0D1lUMOzXQxq+PH6oIY1Tta87n1pkT9R8zqgU7Ia1lP1XHwAarIyNTayMjWWrUyNHVmZGju6MjVWrEyNnV2ZGrseW56EEH4YQngu9jAR1AB9YdIwAQAAwMA5b0iBWxHWAHRCTwQ1rBEvhFze4u9tR7tNJMe3ub5uaHebO9YoXT37kjG+mefMxtSzWsN+DgJgeJ2qeM+rXt56VYZLVB1Usd7tbt7aqrprCwAAAAAAAAAAW/VgDZXrVMN2oLc8H0K42oEt2lU2iQe6IC3yR0II3yifi93wQjNrvHi79TazRmxY8uOat+vxtMi7FVQBve6SEQLoLStTY+MrU2OTZSDDXBnKEAMZXg8h/CSE8N0ylCEGMhwwfNC3hDUAAABAd+2uYe2dmIMB9KEdBg3YomKTKe2neyyoIbRai2eTZOJoeXGzHXE/jnd36wGAQffM17622ddZANTgP3n4Pwl//ud/Hq68fWXbC9+5c2dIJpIfPvO1r9U2VH/4R38Y/s1f/ptKlnXowUNPP/O1rz1dycJuIda2tdgK165d2/ayOlFbAAAAAAAAAADYqs8mXw4ffOzuSuv3yfO/Cs+cPP2PDQoMl4kQwju7d4a/eXB/5eeVW3nqX/6jf7T37C8dZdBBlz+/N3z6893JKLj7/Q/CZ/76Z2Hnm1f//jMnT2/4s+Mfuzv88g8PhPd23lPb9ux888rff+ak+cH0t/u/8lB46zMjle7D3y5e/e4zJ0+3e188ANt03/V3wx+898aNx30fvBsOvnsxjHxwJYy8r5cbDJE93/z7/+31X+54wJgDAABAF3zp83tvXE+t0p6fX7zjtVG66pvf/973jhoCukFYA7BVMbTgSHydscHvv9BrQQ2rWq3F40kycaTNBPqHkmTiYAx7qHfrAAAA6KaDBw9WEoBw4GA7bzm35oEHHrjxeOONN7a9nE996lO1b++XvvylvqktsDVvv/12+NWvfnXjvLQ++CYGrez++O4b55vPfOYzKgwAAAAAAADAQHrv3ntqaai+880rm/gpYBDde+Va+OT5vwkXD/5B7Xv39qcfCPdevRY+sfK6Ywk6ID6v4/OuG2JQw2dfO3/jHLMZ8edjmMvKg/tr29prn9h9ox4f//X25kbDoNn59m+NKUCNYhjDyPtXfve1DGOIwQwA0fhvz4d/dv8fqQUAAAAMiPvMwQJuQ1gDsCWt1uKlJJkYL0Mbnly3jHMxyKHVWjzV49WNSUk/aPN3shDCXE3bAwAAQA+IwQV/8Lk/CL/8xS+3vDGxCXknwg9CGVwQAxDef//9Lf3+xz72sY6FH/RbbYHNu3btWvh3f/3vNgyPiT8TH6//5vVw4fyFcOjBQ+HjH/+4KgMAAAAAAAAwUK49sKuW3dlsI2VgMMXG5e/s2hneHP1k7fv3+v7PhHuv/DbsfPOqowlqEoOdfvXlz98IJ+iGe65cC6Ovnb8RwNCOeF6I56M6AyZe3//ZsOv1t9reNugVb31mpPItuVdYA8C23Xf93RthDPFx3wfv3ghjWA1mANiI8BYAAADonvfuvUf1gY65W6mBrWq1Fs+2WouTrdbiXSGEr5SPL7Zaiwf7IKghbv9cGSzRjmwbqyza/PnxbayrW9qtT7s12c7vqmf/McY385zZmHpWa9jPQQAMuYMHD94IBdiK+Htf+vKXOlbA2Oj8D//oD2+ELrQr/k783U42S++n2gKb8/bbb4c/f/XPNwxqWC+GNsSgmd/85jeqDAAAAAAAAMBA+e391Tdd3vnmFQcJED55/lcdOx/86stf0PQAahKDGlYe3N+1oIZ4HtlKUMOqT57/m1qDFGJ9Ln7xD2pbPtTp/Xt2VL70GKAEwObFMIb/4NovQ/b2mTD55lKYvvRKOPqrH4f/+df//MZ//723/jJkV878LqxBUAOwCfG8MvK+z2cBAACgG97bWf21l7uExgO3Uf0ZBxhKrdZivzZojqESX2/j5zvZbHukg+saBuo5+IxxtdSzWupJO444ZgB6QwwFuHbt2n/15ptvTl+/fv2OaQZ33XXX27t37/6nX/ryl+Y6vQMxbOHzX/j8l3/x81/8D++9995Dm/mdHTt2vPq5z3/uf/34xz/+1/Vv4Uf1U22Bjf3sZz/78oXzF45v5rm83vvvvx/+7Zl/+/a+/fuOfOELX+j4uQgAAAAAAAAA6vCrL3/+v3//3h2fqXLRH9x99yshhJcNGDDys4s7//0jo//dBzs+tqfuYry194FfffH/+6t851tXrw194aEir+//zGd/8UcHn7p+9107u1HT+9688pdj//rMP9vOMmJQw10ffPBHb37uU3+vui37qDc/OxLC9ZB/5t/9/EJd64A6/PzvHoz3oX+3ykV/8LGPvVrebwZA6QvvXbr/P/zthS//wXtvfPme6+/fP/LB1fF7rr//B/dcf39UjYA6fPXNpX/8g5FH/qniAgAAQGdd/sKnn3r3vnv3V7nSsX995nnD2NPODnsB6B5hDcCwm2szrGFTDS9v41KbP9+PTZrb3eZ2a7Kd31XP/mOMb+Y5szH1rNawn4O65vvf+97SkO46QK8qkmTiG+XNDdMhhAO32M5zMQzw+vXrx//Fv/h/u/lhbwxS/N+TZCIrtzW7xfaeK39u7l/9q3/Z7eDFfqotcAtJMjFSfr7WdlDDqhjycH75/DfOL58fb7UWva8AAAAAAAAAhsLszEJs4HkwhDBePuL110fLuRJn1zyWyjmaS8dOHHZNtQ+kRb47hPBfxz6tVW7ttft3/dP/e/p/PDOodQPakxb5vwkhPBtC2FV36f7yv/yPP9fMGnOGCLYvLfJDIYTJEMLFLpXzx//P49Mv3nilsn1FWuT3hRAO1bWx5w//7T88f/hv/1/NrHGlrnVA1dIir/w+wvd23rP0/e99r9tz/wG6YmVqbO1naAfLx6NGA+i0A+/+Zp/XZAAAANB5aZFPVj0Py3t84HaENQBDrdVaXEqSicshhD2brUOSTMTGcW03US7X1c6vjPfh2LS1zVup49rfVc+P2k49e5ExvpnnzB2pZ7WG+hwEAGuVzcOPxkeSTKxO7F11ttVa7KkQgVZrsSgDGXpev9UWuMmR2wSttOtAuayjSgwAAAAAAAAMkluEMsT/fmiDXTxQPm5qOjc7sxC/nC7/WayGOMSvx04cNo+zd9TVsPhCPxYDqEcza5xPi/xkCOHpDpT44bTIzzezxkuGE7YuLfJHOvScvZ0Xmlnj5YqXGYNc/qzG4Ji9IYTHQggv1rR8qEMd9xGaUw8MtJWpsZF1gaZZ+RlaFfcqAFTlyXi+Gp1fFqoMAAAAnVX1tchuBesDfUBYA8Dvbk5oJz1/RM0qcXkA9qGXqOfgM8bVUs9qqScAQ6MMD3CzQw3UFvrSdIUbPS2sAQAAAAAAAOhXWwhl2KrVex8+cg9EGeRwrpx7sfpYWg10OHbisAZSnbO/hjVdaGaNK726w0B3xKbraZHHRuaPd2ADnkqL/GIzawgHgi1Ii/yJDj1Xb+VqCOF7zaxxpuoFN7PGxbTIX6p53x5Pi3wphtTUuA6oUh33oPv7CwyElamxtZ+fHSwf7fT5YPCdXvPZ5qU7/F3NNviesA/qEo+7U6oLAAAAfU1YA3BbwhoAQijavIg7Xv7OVpxuY139eGG5nW2uYnKQen5oUCdbGeMPec7cmXpWyzkIAAC4rSSZGK948vqBuMxWa9H7CwAAAAAAAKBndTCUYSsOlI+b5oCWYQ6ny38WqyEO8euxE4ddp63WoRqW+Vo3dwjoXc2s8WJa5Ps79LdoOi3y5zVMh/akRT4dQni4S2WLQQ21Pm/L81B8XbyvrnXE808I4Vs1Lh+qNF5DNYXvAX1jZWpsZM3nZiNlY3ON81lrNXB27WeUS6Pzyx37e7cyNbZR0MP4BiERI3f4Wx+/t2ebm0dvmxTWAAAAAJ2TFnkd87AAbktYA0D7k1Q2Sl+/k7bWlSQTI63WYl9Moonb2uavnK1gter5oSrq2YuM8Yc8ZzagntVyDgIAADZho8npW5UJgwMAAAAAAAB6wezMQram+VavhTJs1WqIw0fCHMogh9UmaauPpdVmacdOHNYYtD113CR8oc4NBvreXAjh2ZobpUe71gQ2XHHYwMbSIt8dQnimptcGm3GhDGroxPM1L89DddmXFvljzazxUgf2BbbrYA0VNLcW6DkrU2NrA00Plo+bAkQZaqfXfdZ4dnR+uSf+po3OLxcbfHuj77UtLfLjIYSvf/za1fC3fv3z2/76F3/98xB/5lbuf+e34Yu/+tnvvzNy9a2f7Xv9b/56zY8KieicOu6lAgAAADqrtqB7oP8JawDo7CSVuK4n2/j58aov5tVoowT4W6misbd6fmhQG6Ub4w95zmxMPavlHAQAANzJdgJNb6eOZQIAAAAAAADcVhnKsNpQbvW/DwxhxQ6Uj5ua6pVhDqfLfxarIQ7x67EThzUNXSMt8rqaMb9W03KBARAbsadFvhrYsKvmPYqBENMhhO85duD2yqCGToSo3M6ZEML3OxWs0swaZ9Iij0EKj9W4mifSIl9qZo2LNa4DqlD5+8lm1hCgB3TFytTY2iDTkSH/7IxbWw2AXfuZ4dLo/LK/XR+68fnp2zt3hb/4wpdu+0Mbfe8W/rqZNTYVGrDmeXw74xvcy3On3x3GgJYDMaymV4JHAAAAYAjsrmEXb52YCQy9IKwBoOPaveDST429200Ar2K/1PND/bJf7TLGH/Kc2Zh6Vss5CAAAAAAAAAAAABgYQhm2bbXx1kcacJVBDqtN2VYfS6vN2Y6dODxsjdn217DMi5oSA3fSzBrny8CGZzpQrIfSIn+imTVeNDBws7TI93coPOV2XmlmjbkurPfHIYRHatzvuNyGsBh6WVrkB2vYvFcNOlC32Hi8/KxsfM3nZ8PYhJ3bO73us7+zmtVv2tkalrnp52cZnLFRH4BaegSsTI2tnktuZ6NeBnf63W6fnya30GcCAAAA2Jo65mJ1JPAe6E/CGgA6ayuNvftFu5OIqrioqJ4fquMibS8wxh/ynNmYelbLOQgAAOiGYWvSAQAAAAAAAFRMKENXHCgfNzXJKsMcTpf/LFZDHOLXYycOD2JDqwdrWOaFGpYJDKBm1lhKizw2S3+8A3v3eFrk5+M6HUvwobTID4UQvtbFoIaTzazxUjdW3MwaVzoQGhPDYsade+hhdYQ1mFsLVGJlamykvM85PkZ8bsYtrAayrv0Mb6ls9s8WNbNGkRZ55eWLIVHNrNGz9/ePzi+fvUP/gU6FRJwKIeypeDUxrOFoxcsEAAAAOue8WgO3I6wBoINarcWzSTJxuY2LORulgfeadrb1cqzFdrdfPX+vknr2ImP8e54zd6ae1XIOAgAA7qSOmx3dQAkAAAAAAABsilCGvrIa4vCRMIcyyGG1CdzqY2m1GdyxE4f7sRHcoRqW+VoNywQGVDNrvJgW+d4QwsMd2MPptMifb2YNjQzgd81SHwkhPN3FWrzQzBovd3MsytCYV2OoQo2reSot8jMxHKLGdcBW1RHWUEsjY2CwrUyNTZahDKufnd0UsMlQO73us7izo/PL7uWoVx2vkcfvEIYwlNaHRKxMjZ2q4X3aQzEUolwXAAAAUK+96gt0krAGgM5bauOC9oEkmRhptRZ7+iaDuI1t3thS5cVa9Rz8RobG2HNmQ+pZLecgAABgk6q++etcq7XohjIAAAAAAADg92ZnFkbKplOrzeXGhTIMnAPl46b5uGWYw+nyn8VqiEP8euzE4Z6bv1o2R99Vw6LP1LBMYLCdDCHsDyHsq3kv4znvmbTIv61pOsMuLfInQgiPd6kMV0MIvRSckpcBVnW8LgplQ5bHy3Md9Jo6whoAtuKHqjb0VgNS136mtjQ6v9yP4aiDYKmmsIZTw1nOttQR1hDKAOm5GrcbAAAA+J06whouqi1wO8IaADqvaKOxdygv0vT6RbKszZ+vsvGeelbfHLHXGGPPmTtRz2o5BwEAAHcUg+iSZOKFCictm6QMAAAAAAAAQ+o2oQzxsccxMfRW5+l+ZL5uGeSw2nRu9bG02nzu2InD3Wg892AdC+2hxstAn4jBCWmRfy+E8Gc1NktfFRsjPBMbxTs+GFZpkU+HEB7u0u7HRiLf76XXC82scTEt8hdDCE/VuJrH0iJfamYNoVb0mvEatse9e0BbVqbG6jgX0btOr/ts7Ozo/HLPhZxyY3yq5rm+OXW9lpp0HxQAAAD0p3g909ABtyOsAaD9i1DbvTgZL+Y818bPT/ZBY+/JNn++6kbp6jnYjLHnzJ2oZ7WcgwAAgM06XlFYw7lWa/GoqgMAAAAAAMBgE8pAxQ6Uj0fXL7YMczhd/rNYDXGIX4+dOFxXw7pDNSxTA2JgS8pm6TGw4dkOVPBQWuRPNbPGSaPFMEmLfHcZVlLHa4DNuBCDUmJAS6+VvZk1XkqL/JEQwr4aV9MIIXyrxuXDVoyoGtADnIsGz2pg6drPuJZG55e7EVbK1rTbj2AzhDVsQnyerEyN/SiE8GTFi656eQAAAMCt7VcXoJOENQD87iaPdmzromWrtVgkyUQ7v5L1wRi1s42XYw2qWrF6VlvPXmSMPWc2QT2r5RwEAABsSqu1uJQkE9/c5qTxy1sIjQMAAAAAAAB6mFAGesRqiMNHwhzKIIfVJnerj6XVZnfHThze6j0jddwcLKwB2LJm1jiTFnkMUHiqA1V8LC3yC82s8bIRYxikRb43hPC1msMINvJqCGGuF4Ma1pgLIXyjxuXvS4v8iWbWeLHGdUC7Km+a3Mwa7t0D2tUP9zFza6fXfVZ1dnR+ua7QUTqrjnE8kBb5SDNrCO24s6KOcIWVqbHJ0fnlUzVsLwAAAPChXRXX4oLaAhsR1gDQ/uSXKi6EtZO8fSBJJsZj87sK1lu5uG1xG9tYbh0Tg9Rz8BnjaqlntdQTAAAYWq3W4tEkmYjNVZ7eQg1iUMN0r75HAgAAAAAAADY2O7NwcE0Yg1AG+smB8vHo+m0uwxxOl/8sVkMc4tdjJw7f8vp2WuS7a2rW/JqjCtiOZtZ4KS3yGCbzcAcK+VRa5OebWeO8QWOQlc+pZ2toDLJZrzSzxlyvlzieC9Ii/3EI4fEaVxODYl5uZo2LNa4D2lH1e+HLqg9swUFF62mrAaJrP3NaGp1f1nB/gMVAhbTIL9fwWmHcvf6bEgMVvlvDcifLZQMAAAA1KOdjVa2Xw/CBHiCsAeAWk+s3cLnVWqziQme7ydtHYuO6Hh2rI23+fB0Xm9Rz8BnjaqlntdQTAAAYaq3W4nSSTMSbBI62MXk83mQwKagBAAAAAAAAet+aUIas/HqwzXn40G9Wj++PHOdlkMNqU73Vx9KBv7v30+f/6Df3frDj+jsV7+cFRw5QgZMhhP01hcqsFRvXP5MW+bebWUODAwZSWuTj5T1B3QpqOBlDWPqoti+VYTF7a1r+rnI8nq9p+bBp5fmhaubYAlshrKE3nF772VH8Ojq/7Lw+3JZq+ExdWMMmjM4vn12ZGns1hPBQxYvOatlgAAAAYFXdcxwAbiKsARhqSTIx2eb+V3Whqt3k7ckkmRipKCiiMnGbyrTvdtTR2Fs9B58xrpZ6Vks9AQCAoddqLR5Pkom5NQF1B25Tk9i0Iv7c8V57XwQAAAAAAADDTigDbMqB8vH758bu1+8Nnz37ifDevR/84rf3v/vaW5+6dqaCUl7Q7ByoQjyXpEUeG5l/pwMN5mND9mdDCN8yeAyatMgfCSE83cXdeqGZNV7up7KW55+58rxQl0NxbPqtNgykkRp2yjxbYCvqCI/h1lYDPYvynB2b8S+Nzi87f3MrRU1hDWxOUUNYw4GVqbFxQSwAAADQV6qY0wUMMGENwLCbbnP/KwlraLUWzybJxOk2LqbtKRtoz1Wx/gpNltu2WT+qowmfeg4+Y1wt9ayWegIAAPxO+R7haHwkyURWTvxevfksfq9otRZNQgYAAAAAAIAuE8oA1br6wLs3lrfjnbs/d/9vdn5u96V7/6NrH3/vtTf3/vYvPthx/Z0truw1wwRUZU1gwzc6UNR9aZFPN7NGr90zAVuWFvlTIYTHulTBqyGE55tZ43w/jmAza5xJi/zVGhqjrvVUWuRLgq7osqyG1ZtzC7RlZWpspM37hNmc02Uow9ny3HxWc3a2oI5j5qCB2LT4GcXXa1jupNdsAAAAUJtPKy3QacIagKGVJBPxwtOTbe5/JWENpbk2b2g52oONvY+2+fOnatqOoJ5DwRhXSz2rpZ4AAABrtFqLRcWfpQEAAAAAAABtEsoAnfHbBz6ax3D3B3fdv+vNew7Hx7Vd759569O/XXh35/tvtrkxFwwfUKXY6D0t8hdCCE93oLAPp0V+ppk1XjaI9LsYPhKP6S7txsUQwvf7NahhjXgP1XdCCLtqWn5c7lM9eK8WbNclFQTaNK5gW3auDGMoyvNvbL6+NDq/7FxMVc7WUEmf9W9SDFhZmRq7XEOgzeQWejQAAAAAm7O3hjoJfwc2dNf169dVCBhKSTIx1+bk0nOt1mJlyeJJMjFSXlBr52LOn7Raiz0xYSxJJuIkwx+08SuXW63FkRq3Rz0HnDGufHvUs9rtUU8AAAAAAAAAAACgK2ZnFsbLIIbx8jGiURN0xtUH3g0//zuv33Fd7937wS+uPPDOX1wZeWezjdn+tJk1LhpGoGodbjz/7QFoMs+QSot8dwjF0UNyAAAgAElEQVTh2RDCvi5VIAY3Pd/MGgPRMCQt8kc6EBYT63Wm5nXALaVFXtTwPvwrzaxRqDiwWStTY+3eKzyMTpf3g58tAxnOxibuw14UOiMt8jqafCXNrOEY3oSVqbF2ewxt1hdH55frCOMAAACAoZYW+RMhhMcrroHricCG7lYeYKuSZCKLj34sYJJMjG/hIkqlDbVbrcWYon+qzV87XjYE76pyG463u+11brN6Dj5jXC31rJZ6AgAAAAAAAAAAAHWLoQyzMwuTszMLR2dnFk7Nziwszc4sxAZPrRDCD0MIz4UQnhTUAJ1zbfd7m1rXjnfu/twDv77vv/jsv//Ef/OJX933x3e/d9e9G/z4RUENQF2aWWOubALfCc+WDe+hr6RFvrfLQQ2vDlJQQ/jdueflEELdjU+ma14+dJqmv0C7DqrYDefKUIZvhhD+YQy/CSF8cnR++a7R+eVsdH55enR++ejo/PIpQQ102OkaVjduEDet3V4Qm9WXfZcAAACgD+w3SECn7VBxoF1JMnE0hHAkhLAn/O7fl8uLEkfKZtX9YCvBC5WGNZSOthkasaf8nSM1bEs7jq6OfxvqqN966jn4jHG11LNa6gkAAAAAAAAAAABsWwxlKJurjZeP+N8PqSz0nqsPvNPWNt39wV33f/zyvQ/vfuPew+/c9/7Ztz7924V3d77/5rof61QTdWB4PR9C+E4IYVfNFdhVNrz/lmONfpEW+f7yuK37+XE7r5ShKoNorjz31GVvWuRPNLPGi55wdEHloYnNrCGsAWjXsDUMP10G28RHDF04K3yBHne2htcMQlo2r6hpuZN6LwAAAEAt6rhee9FQARu56/r16woEbFqSTMxt0Ig6hjZMtlqLdV2gqMQd9uF2ftRqLU720PZ8tdVarCu1e0NJMhHr8MM2f+2FVmtxukPbp54DzhhXSz2rpZ4AAAAAAAAAAADAZgllGGqXyyZyS2sayq02k4vHwsiaY2L1cWDYi9aLfnr41+GDHR9sa8veu/eDX7z9yWsLVz/x7s/L/3WymTVeGsR6Ab2jww3pB7n5PAMkLfL4+mu6i0ENA/8aIIYphBAer3k1325mjfM1rwN+Ly3y+P7t9Yorcq6ZNTRfBtqyMjW2NICfLZ4rPzuLPUwurX6GNjq/fKkHtg3akhb5kRDCdyuu2ulm1hi2oJYtW5kaiz0dnqx6uaPzy3d1bi8AAABgOKRFHuczHKpyZ5tZ4x84fICN7FAdYLOSZCK7QwPqPSGEnyTJxAshhCOt1mLPXeBMkonpLTTRjo7XsDmrjm5hm+bieLRaix1N9k+SifEtJnofrWFzNlqXeg42Y1wt9ayWegIAAAAAAAAAAAC3NDuzMFk2fxXKMDxuGcpw7MThje63KMqvp9Z/owz4GFkT6LDaiOvRYS90N7y38/1tBzVEO965+3N7VnY9/olf3ffWlZF3/vXOt+75ZT/WA+gvsZF5WuQnt3ivXbseTov8vCAaella5I906PlwOy80s8bLg36QNLPGi2mRPxxC2Fvjap4KITxf4/JhvfEaKnJWlYEt6OfPG0+X577Vz8/Ojs4vd/S+a+iAOo7pOl6HDLKijrCGlamxydH55Zs+zwcAAOgVaZEfbWYNvePoN5UGNQBsxl3Xr19XKGBTkmRiro3JZvGGgqOt1mKdIQdtSZKJraaM/6jVWpysedvaqe2qWOOONfcum3oXZShHO77Zai129M2Zeg4+Y1wt9ayWegIAAAAAAAAAAABrzc4sxIb6RzXUH2hbCWWo1OzMwtoQh/EyFGT1cWDYB6gOb37mt+Fv/tYblS/5S83PxuMpzkk+fuzEYU1agVqlRR6bmj/WoSo/38waZ4wovabDz4P1rpbPjfPDcmCkRR4bqzxb82pOCoihU9Iij/eg/7Di1cUAl2mDCGzWytRY/Cyo1eMFO1d+bhbvb760+vnZ6Pxyxz4/g25Li7yORl+fbGYNz6NNWJkai5+V/7SGRb8wOr/stRsAANCT1nyG/cVm1jAHhb6RFvk/qXhbLzSzxrccAcBGhDUAm5YkE8UWbg45V4Y2zHWr0kkyEW80OL6FxtmrvthqLdb6xqLcxrNbaJrdkebe22jqHbfvYKu12NELe+o5+IxxtdSzWuoJAAAAAAAAAAAAhN81zz9YzmV/UkEGxtqmcmdXgxk6GcqwVbMzC2uDHOLXrFyUEJEtikENMbChSve9cW/4wl+NrF3ij8rQhqJvCgP0nbTIY9P0Qx3Y7tiU/lvNrHHRUULV0iLfH0LYtW6xD677d/z+/nX/b2/56IYLMaBpmIIaVnUgICOeb/60mTWu1LgOuCEt8hjO+FzF1fhmM2scVWFgs1amxuLnPD/pkYKdXvu5Wfw6Or9c673T0C/SIj9bQ7DuV5pZw2eHm7QyNRbPRw9VvNhzo/PLB2vbaAAAgC1Ki3yk/Hwmvhf9k2bW6FpPWGhHWuS7QwjfrbhoZ5pZ43kDAWxkh+oANYsvzH+QJBNHy5tM5jrZ5DlJJrJyvVu9UPLNuoMaoliTskbtviCMjbZbSTLxD1utxeN1bFuSTBzZxgvV6W409VbPwWeMq6We1VJPAAAAAAAAAAAAGG6zMwvxRtc4l/Drw16LPnZTKEO/N8s/duLwalO8m/ajPGbXhjkcXPOounnYwLj28fcq35Vdb9yz/n/FsJcnZ2cWzpXnlVP9EA4C9J3vhxC+0YGG9bFR/tfSIn9eA3VC/wYsVCUGNQzzc+HHIYRHbjH+VYnLnQ4hfK/zu8YQGqlhlzU1B9qVdbhiaz87u1Set5ZG55d9ZgEbW6rh89bsVp/5cltFDWENB1amxsYF0wAAAD3o6Jr3oZOxF6xBok/sM1BAN9x1/fp1hQc2JUkm4ovrpyuo1gtxcnirtXiqrsonycTB8s3Bdrb31VZrcbzCzbqjJJmIF3Ue3eKvvxpCONJqLVZyEa2CoIsftVqLk1Vsy1ap5+AzxtVSz2qpJwAAAAAAAAAAAAyXsuH9kfKxx/D3hYELZajD7MzC2iCHkTUNALc6V7bvfbDjevjp4V9Vvhuf/6tP3iqwYa3L5bzguWMnDp8d8DIDHVQ2zX+2xsbpa73SzBoagfSptMgPrdvy3bcIUxjUgIWqvBJCODnsoSVpkcfXls/UvJrvN7OGhqnUKi3y7dxHeDtfaWYN702BTVuZGjteU3Ds6dXPzMom82c1I4etS4s89sF5ruIS/qiZNfQB2KQYqhBCaNWw6G+Ozi8frWWjAQAAtqC8DvOR9z/NrHGXWtIPymvSz1a8qT9uZo0XHQDARoQ1AJtWNnr+SYUVu1ze0HDj0WotbuuibBnQELdxuoJJLXHbxlutxY5OXE+SiZHyQvV2bsw5XabWxUCMS1tY/2QFNTxX1q+t9VdNPQefMa6WelZLPQEAAAAAAAAAAGB4zM4sxPl6sRHPAcPek4Qy1KQMKVkb5nBwzWNgnw9vf/Ja+OWhy5Uv94sLnwl3v7fpe+NfKEMbHMtAJdIifySE8HSHqhkb1b9k5DpjkwELtwpT2N+hAI9hIqxkjbTIY5OV9cdnlS6GEL497MEY1Cst8rM1vPf5ZDNruJ8P2LSVqbFagmNG55d95gAVSos83vv/w4pr+moza4wbp81bmRq7VEPg9quj88vGAQAA6Bm3CRr+ajNrnDJK9Lqa5i4IawDuSFgD0JYkmTgSQvhujVU7XSbqX1rzdSNZOYk/XrB4qKJtiLPls+2GR2xVkkxUmcJ9eu3NJGv+/6XyRoiwpn7jFV2A72r91lPPwWeMq6We1VJPAAAAAAAAAAAAGGyzMwtxTvvxCuezsz2vlnMrhTL0iNmZhbVBDiPlfSChhgaCHfWbL7wdXt/3dqWrvPfKjrD/Lz61lV+Nx/3xYycOa/wMbFta5E+EEB7vUCW/38wa7le4DQELA+mFZtZ4ediLsFZa5PH4/bOaj9mXmlnjZI3LZ8ilRV55w45m1th0ghtAqK/x+BdH55fPbuLngE1Kizz2Avhp1fXy2qE9K1NjczWFVTpvAgAAPSEt8ukQwg9usS3xWtW0UaLX1TRv4WQza7xk8IGNCGsA2pYkE9PlzSRVX6ztFX/Sai12dYJ6WeNbvcHpB19ttRZ7KjFPPQefMa6WelZLPQEAAAAAAAAAAGDwlA3oj/d7w/k+9moZxrBUPmIog2bPfWZ2ZmFtiEP8enDN40Av783P/s6l8NsH3ql0mXt+uTt8+tz921nE5fK8NHfsxGFNwYAtS4v8ax0KoroaQni+mTXOD8JopUUewxT2rfvfn95kmML6YAYGy9Wy+YeghltIi/yxEMJTNa/m24NyrqG31NRw+dVm1hg31EA7VqbGKm8eNDq/rPk71CAt8jrCVb7SzBpCizdpZWpsMoTwwxoW/Sej88sCdQEAgK5Ki3yknFN1q/ee55pZ46ARotfVFNYQ5yacMfjARnaoDtCuGGSQJBPxJoa5Dk267KSuBzWED2sc+rC595/0YlNv9Rx8xrha6lkt9QQAAAAAAAAAAIDBMTuzEG9YPRpCeNqwdoRQhgF27MTh2JhstYnYTfNWy1CUtYEOWfmtroekVB3UEO28su1b/eKN9s/Fx+zMwgsxuMHzBdiieH/ds7cIHqhaDCyYTos8NkW40o3BErBABwxUKEkdmlnjpbTIH6n5nDMdQvhW9/aSAVZHU6tLDhigHStTY1kNBTttEKA2SzV8vqnRZnvqCraYLD9TAQAA6KbjG4QEHkiLfLyZNcwlodftN0JANwhrALak1VqML7DHk2TiaDmRu99djpP2y/3qCX3Y3Lsngi5uRz0HnzGulnpWSz0BAAAAAAAAAACgv83OLMRG8UcGZP58LxLKwE3WHAM3Nc8qn5NrwxwOrnkcqLOa13a/V8tyd71xT5WLi4EyT8/OLMTminPHThw2NxjYtBickBb5amDD+oCCqu0rm6h/b7PLTYt8723CFHbf4v8JWKCbLsS/w4IaNiWec75R4/L3pUX+RDNrvFjjOhhO4zXsdV3Ng4HBJTgG+ksdYQ11vCYZWKPzy5dWpsZ+FEJ4suJ9rHp5AAAAbUmLPCvni2xksnxvCr2sjnkKF4w4cCfCGoBtabUWjybJxKkyQa3qi0GdEm/qmGy1Fs/22oaVzb0vlRPNbpdQ1209F3RxO+o5+IxxtdSzWuoJAAAAAAAAAAAA/Wl2ZiGGNBzt4fl//UQoA5U4duLwpTVNTE+tX+bszMLaIIf4NSu/te17X64+8G7lg7jj2sduPGoQ9/fR2ZmFo+U85uNl7QA2FJvLl4ENz3SgUg+lRf61EML5W4Qp7C4DHaDfxGYfz8fwEyN3Z+U556UQwmM1ruaxtMhfbmaNizWug+EzYsyBHlBHWIPP66A+dTy/hDW0r6gjXGFlamxydH75ps+rAQAAOuT4JlYzWc6Dg6Hiui2wGXddv35doYBKJMnEZPkC/UAfVfSbMXCiB7ZjQ0kyMV5Oin+oxzbtdAhhuheDLjainoPPGFdLPaulngAAAAAAAAAAANAfZmcWpsubU/tpjnyvOF2GMpwtmx5dEspAr5idWVgb4jBeNjVcfdzx+f6LQ5fDlU9eq3Rvdr++M3zuTMfyYF4oQxs8J4E7Sov8iRDC4yoFbXklhHBSw4/2pEUew1m+EULYW+NqzjSzxvM1Lp8hkxb5qRqa/H6lmTWKTfwcwA0rU2N1nIu+qtk41CMt8hgq+5OqF97MGncZss1bmRqLnwX/tIZFvzA6vzxd13YDAADcTlrkR0II391kgb7YzBp6zdGz0iL/J1VvWzNr/AMjDtyJsAagckkyES8aHOnBJtRrxRs/jrRai301sTxJJuKNPs/1wKZcjjcdtVqLm0nP61nqOfiMcbXUs1rqCQAAAAAAAAAAAL1pdmYhK0MaHjVEd7Q+lOHssROH3cxLX5udWVgb5BC/ZuX+3DgnnBu/GN7b+X6lu7j33CfCyC93dbps8fk7d+zE4blOrxjoL2mRx/sFHzZssCmvNLOGv61blBb5oRDCszWv5vvNrCG0ikqkRV7U8NmBsAagLStTY0s19Pb4yuj8snMR1CQt8joafmm02aaazp/nRueXD9a+8QAAAGukRR7fh8T3OHs2WZc/cT2LXlZDWINAd2BThDUAtUmSiTgZPU7EnGzjhXvdTpcNqfv2wnCSTBwsb/x5ukub8EJZw4G4SKeeg88YV0s9q6WeAAAAAAAAAAAA0DtmZxbivL7jIYQnDctNhDJACOGr/9s//1tvfPbq/3HfW/c8uOOduz9XVU0+/1efDLveuKdbJT5XnvticMOlbm0E0LvSIt9dNk/fZ5hgQy80s8bLSrQ9aZF/rYaGqWtdDSH8aTNrXOngbjGg0iK/VPU99M2scZfjBWjHytRY5Y2DRueXnYugRmmR1xES8NVm1jhl3DZvZWosfib69RoWnYzOLwuIAwAAOiYt8lNtznf7UTNrTBohelFa5HtDCN+peNOENQCbIqwBqF2STIyUgQ3xkXUpuCE2o57r55CG9Trc4PtyCOHUIDf0Vs/BZ4yrpZ7VUk8AAAAAAAAAAADontmZhZGyUXkn5vH1OqEMsIG0yB9ZPVfce2XH3o+/vvOPd1792KHt1uxLzc/2Qtl/P8/Y8x5Yr2yI8GchhF2KAzeJzf9PCmqoRhkQ852azzcvNbPGyU7uF4MpLfKqm3VcbmaNEYcLsFkrU2Px/uSfVlywy6Pzy85FUKO0yOdquB7xzWbWOGrcNm9lamw8hNCqYdHfHJ1fNhYAAEBHpEUe+7v+pN11CQ6mV6VFHudhPVvx5r3azBrfM+jAnQhrADouSSayMrQhPsZrCm+4XN4YEieJn2q1Fi8N6kivC8NoJ9HuToamhmup5+AzxtVSz2qpJwAAAAAAAAAAAHROGdJwpHzUMa+9V8V5hUtCGaB9aZE/FUJ4bO0v3v3eXfd+4uJ9f7zz7R0P3v3BXfe3u9D73rg3fOGveq4HYgxuOX7sxOFTPbAtQI+oqSkC9LsY1PB8M2ucN5LVSYs8vt56qubVxHE708n9YrBstQHWHZxuZo3MoQJs1srUWC3notH5ZeciqFFa5LGR/3MVr+FHzawxadzaszI1dqmG60Ovjs4vj9e97QAAAOF37zHjfK8DWyjGV5tZw5wQek5N8xJ+3MwaLxpt4E52qBDQaa3WYlHezHFDkkwcLEMb4uNg+YizzB/a5KadLr8W5Y0iS63W4tKwDGzZcHuufKyGYayt52YCMdbebLNU1rC4w+8MJPUcfMa4WupZLfUEAAAAAAAAAACAzpidWZgOIRzd4s2q/WJ1TuFH5hUeO3H4ksMMtuzB9b/4wY7r71wevboQQli4/zc7D9331j0P7njn7s9tdgW73rinF0fj0fiYnVk4F0Mb4vxm5w4gNjVPi/xkBxqoQ7+4EP9GCmqoXjNrvJQWebyP6lCNq4nvCf+0W/sIt+E1N9CuOkIVhqZXB3RRUUNYg3CArYmNSZ+ueJkPrUyNHRydXxaQDQAA1KoMA9zq3LfJ8j0R9Jr9RgToFmENQNe1Wotnyxs/vFivwPowDLZHPQefMa6WelZLPQEAAAAAAAAAAKBaszMLsYHZ3ICFNAhlgA5Ii3x3CGHfRmt661PXzsTHrjfv+fx9b9x7aOfVj92xwfDOKz19i188V343htvMzizEc+fxYycOazIGQ6xsoB6bIzzsOGDIxaCG55tZ48qwF6JGMRzmGzUuf29a5E80s8aLXd9T+pUG6UAvGKlhG3ymCPWr42/+gbTIR5pZw3O4PXWENYTyteJcnRsOAAAMt7TID24zCLCOz7ihCrtrqOJFIwNshrAGAAAAAAAAAAAAAAAABloZ0nA0hPBoH++nUAborg2DGta6+ol3fx4f91z72MLuS/ceuu+te/74ruvh3lv97K43b/m/e82eEMLX42N2ZuFHZWhD4XiEoRUbqO9v57wIA+aV+DwQ1FCvZtY4nxb5j0MIj9e4osfTIn+5mTU0aKFXeH8PtGu8hop5vw81i4EKaZFfLj9zq9K453Db6qrXpLAGAACgZtt9zxFD/8abWUOIMMPg10YZ2AxhDQAAAAAAAAAAAAAAAAyk2ZmFg2VIw9N9tH9CGaA3PdjuVr278/03L49eXYiP+3+z89CuN+7944+9d9fe1e/fe2VHuPu9u/ptuJ+Mj9mZhXPl+fWU8xMMl9igPi3y50MI34mZM4afIfNSM2ucNOid0cwaL6ZF/nAIYW+NK5wOITzfS/tN38hq2FBNsYB2HayhYmeNAnTEUg3h0sIa2jQ6v3xpZWrsR+VnnlWqenkAAAC/lxb5ZEXvKSd9Lk0POmRQgG4R1gAAAAAAAAAAAAAAAMBAmZ1ZGAkhHAkhPNcn+/VCCGFOKAP0tG3dDPzWp66diY9db97z+fveuPfQzqsfO7Tz7b6+ve9ACOEHIYTjszML8fx1/NiJwxo6wpBYE9jwDWPOkHglhPByM2ucMeAdF19nPFvjSg+lRf5YM2u81KP7T+8aqWHLvJ4G2nWg6oqNzi87F0FnFDWFNdC+oo5whZWpscnR+eVTxgMAAKhSWuTxs+njFS0yhjUcNUAMgQsGGdiMu1UJAAAAAAAAAAAAAACAQTE7s3C0bHDYD0ENp0MIXzx24vD0sROHC0EN0NO2Fdaw6uon3v356194u7i4/+3/8+737z4ZQrjc58O+J4Tw9RDCT2dnFk7NzixkPbBNQAc0s8b5MnAKBtXFEMKPQwh/2swac4IauqOs+ys1r/yJtMh392oN6FkPVb1hzayhQTqwaStTY3W8/37VCEDHLNWwooOGb0vqClSYrHm7AQCA4XS0wgDPh9Ii916SXlP5Nbtm1rhilIHN2KFKAAAAAMAwSJKJkXKS43j5WFXESZWt1mIdk1wBAAAAAAAA6JDZmYXpim9IrVNsfHYkBjQ4PqD3pUW+v+qNfHfn+2++9p/98k8/fe7L75dzWvrl/LWRJ+NjdmYhnuOOHztxeK53NxWoQjNrvJwWeQyzeVhB6WMXy8eqqyGEl5tZw7zS3nGynPu7q6YtisuN7ye/14/FofPSIh+pYaXnDCXQpjrORUJjoHPqeL49avzaNzq/fHZlauzVGsK4hNoCAACVSos8Xiv5esWLje9dzO2gl+wzGkC3CGsAAAAAAAZekkzEi46nbnNDe5yI+lySTMQbXI62WosuJAIAAAAAAAD0kdmZhaxsct4PjYhuXJvWwBz6zqEaNvhqM2tcLFt2xXPCXHk+O1KGHvSz2NjsB7MzC8djaEPct2MnDmv4CAOqmTXmylAbTRPopAshhCvr1ndm3b/j98+v+38Xb/z9pa80s8aVtMjj66Vnatzuh2L4TDNrrD+O4FbGa6iK18tAu+o4Fwmrgg6J4XBpkVe+sti4U/DclhQ1hDUcWJkaGx+dXzYeAABAVY7XUMlJYQ0MONf+gE0T1gAAAAAADLQkmZiON39vYh9jkMMPkmQiXkycbrUWLzkyAAAAAAAAAHrX7MzCwfJm0X4Iabgcb5g9duLw0R7YFqB9D9ZQs5tuBj524nBsClaU57cY2hDnvezp4/GK2/5cfMzOLLxQhjYUPbBdQPWeDyF8J4SwS23ZgIAFtqxsZnumphCtVdNpkX87hkMYKe5gpIYCaeILtEtwDPS/0zVc3xj3umJL4rWmr9ew3EnjAQAAVCEt8uma5sg9aYDoFWmR7zUYQDcJawAAAAAABlYbQQ1rxYuJRZJMZAIbAAAAAAAAAHpP2cQ8hh483SfD880yqME1aOhf+2rY8tdu941jJw7H5ohHZmcWjpYNveLXA31+/MRz9tOzMwuvlufEuR7YJqAisbF5WuQxsOFZgQ0DZ32YwtVbhCkIWKBT4uuHP6vxPBMbwDweQjhpRLmDOhqk+8wAaFcdwTHCGqCzztbQaPOgMWzf6Pzy0srU2OUagnNXP9sFAADYsrTI4+dAx+uqYFrkk82sccoI0QPqCGu4amCBzRLWAAAAAAAMpCSZGN/GBceHQgjxYmLm6AAAAAAAAADoDbMzC/HG0yPlo+qGOXV4ITbhKZuuA30qLfK9Nd0MvL6p9U3KkJfYlHhudmZhsjz/Vd3ArdPivJwflEEUc8JsYHA0s8b5tMhP9lGg1iDbTMBCDFL49br/dyEGbwx78ehdMQAkLfKXykCFujyWFvkr8ZzmUGADdTRBXlJwoE2Vfz4wOr9cGAToqKUa3kO7F27rTtUwHg+tTI0dHJ1fdp0IAADYjuM1z5WbLN8TwSByzQ/YNGENAAAAAMCgmtvmBcdHk2TiSKu1WFvCPAAAAAAAAACbMzuzMN2BG0+rcroMadDcDAbDg3XsRTNrrG+kvaFjJw7HG+NPzc4sxMawR8ub5fvhnHg7B0IIz8XH7MzCC2Vogwa10OeaWePlMuSmzkbqg0rAAmxCM2u8mBb5eAhhX431iu8/v2U82EAdYQ0CzIBNi42/a6jWZSMAHVfHZ2HjhnHL6ghrCGWAxlyH9gEAABgwaZFnHQjLF/xHr9hvJIBuEtYAAAAAAAycJJmIN0k9VMF+HS2bfUDfSZKJkfLC+NqJ1vFGrqLVWtTcAAAAAAAAgL4wO7MwWV63PdAH23suNvUU0gADp45GwG0FNax17MThs/FcMzuzMFI2Ej7SJ+fIjcTGAk/PzizEsJu5YycOa14GfaxspP5yCOGREMJjIYRdAzqetwtTuLju/8Wf+UiYQruBPcBN8hDCszWWZV9a5I81s8ZLSs9t1NEk3dxeoB3OQzAAmlmjSIu86h3Zkxb5SDNrCIJqX13Xdv5/9u4+Vq7zvg/8I4mSLFYyr0051y/kkIpdSs3aJS/HyZRquhyVwS4CSMtbLEZTZLvhFbaDRbpYiB4DBdZwoWu0MLDY9Yj+J93FLECyW6QY3T9CrYwGu6hWQzSRM4mHl6zbRGLiiLyUJY0j2mQkk3rX4nEOvdc0X+7Lee6cmfv5ABeipMszz3meM3C0tA0AACAASURBVGfOnPM8v++0sAYAAGAV1qLeybYYlN2r1t0fYtg2Jnj9q5/fA1yXsAYAAAAAYBwdzGmfNk1N7Z6dnz8x6yhhVExN7d6VvQcOXK/JU1O7Y5GYI45tAAAAAAAAiqrZ6FezgP29IzBIF+MzOsXFYWzdn2DHVl2ku9UuX8gW5R/Kgm0Ojsg580Zi+/c2G/3ZrIDZoWw/gRHTq9ZjwYMY2hALncf5TA+HEDYXYC8ELMAYiO/H7PyyL+HePFLpdk5m5zO4Wu5haQoqA8u0K0GHKcYHw3E2wbXFroTBA2Nrcm7hwqBWejqEsD/nfcx7ewAAwDpR6XbiPJCda7S30+4PMaZeN7DAUglrAAAAAADGytTU7omcHzjOZAVAoPBiuEgI4YkltDNO5H5iamp3PL6n5+dPeHAOAAAAAABAITQb/e3ZM9rrhpMXyMUrhdIVE4fxVOl2NoYQtiTYuasLha9Kq10+FkI41mz0d2WhDaNwDr2Rbdn8hyeajf7R+LnQapfPFLe5wPX0qvUYePB8/Kl0O7uywuo7ltlh1wtTuHyN/yZgAdaPb2VFaFMFwdwVQqiHEH7bMcVilW5ne4IOOa6TgWVKcS5yfxOG42SCsIaqsIYV66YIVxjUStOTcwvH1m43AACAUZfdi17LOifT6qpQAMudSwCQK2ENAAAAAMC42ZXz/mybmtq9SzF7im5qaveRFRRbiBO6u1NTu6uOcQAAAAAAAIap2ehPZAs+Hx+RgYjFww8KaYCxlyKoIUpSPLzVLsdn/zPNRv9gFtowk6DY21qLcyEONBv941k4jqJmMKJ61Xo8R52sdDtbF83ze/Gqvbncq9ZzDbQBxlMMg6l0O0+FEH4r4Q7ujEEz2fkLrkhRIB1gufJeNxMUdoehOZkgHCDFOWK9iPcen0ywr9PZtgEAAJbqUAhh0xr2Vnwmsr1XrZ8xQoyZlw0osFTCGgAAAAAAbm5CH1FkU1O7D64gqOGKTVlgQwwl8fAcAAAAAACANdds9GezouJrucB0pWKx8JlWu+zZGqwP9yfYy5djceGUvZcFycRz62yz0Z/JQhv2pnzNNRDbv7fZ6J/NihIcEZgDoykLYxDIAKxaDFGodDunYgGhhL05U+l2vpL6+o2RokA6UAQpgmN8x4bhSBEMJlxqhSbnFs4MaqUU3zGqa7YTAADAyKt0O9UEwX5LEV/3iCOIIdqY90t7xgcsx616CwAAAAAARtfU1O6JrMDCamzy4BwAAAAAAIC1FguINxv9GHrwxAgENcSQhoda7XJVUAOsKzsS7OyaFihvtcsx1CAuqJ8KIRxdy9dOZFsI4ckQwplmo3+k2egrPgcA61snhHA5YQ/cFUJ4eL13Mj9jQncABbAt7yZMzi2kKBgP3FyK917KMLP1IEWQ1rZBrZQi9AsAABhPw6r7MO14Ysi25PzyKZ8hAmNIWAMAAAAAMG4uGFHWmYM5Fa7ZOzW128RfAAAAAAAAkms2+tVmox8LEB1OUVgsZ2dDCI9lIQ0pCvQAxZYirOH0MPa41S6fbLXLMyGEj4UQvhZCuDiMduQozpU4EEJ4qdnod+Nny4jvDwCwAr1q/XwI4ZnEfbev0u2kuC5kNKWYa+t+A7Bkg1opxfffU0YAhqNXrZ9JcZ+u0u24V7ZyxxJtV9FTAADgpirdzuwQ59PtN0KMmXMGFFgOYQ0AAAAAwFiZnz9xMiuWkaeTjhIKbCbHpuW5LQAAAAAAAPgZzUZ/VyyoHUJ4LoSws+C9E4sjfanVLm9vtctHCtAeYI1Vup2tiV7xxWGOZatdvtBql2db7fJEDKMZk4KMe+NnS7PRP9Ns9Geajf5EAdoEAKyRXrX+7BoEYtWNJ5kU15oXdC6wDM5DMH5SrFvb7jhZmcm5hW6ioFthDQAAwA1Vup34Xe6JYfZSpdvx3YWhqHQ7m/U8MGzCGgAAAACAcZRnoYyn5+dPmHhOIU1N7a6GELbl2LaqkQYAAAAAACBvzUZ/e7PRj89x57OC2kX3tVjIqNUuH3IwwLq2I8HOX+5V6+eL0qkxjKbVLu8KITwUQjhagCatVpxDcTiEEEMbDgltAIB15anEO7ul0u084pAihLAr707oVespCjQD4yv381AIoet4gaFKcS2Q4lyxnhxLsK87B7WS+5UAAMCN5FknZaWENTAsKcIaCjNHCxgNwhoAAAAAgHEUC2ZczGm/FN+gyPKePL3TaAMAAAAAAJCXWCS72ejPZoWGDoxAx8ZC5fe12uXZVrss1B+4P0EPnC5ir7ba5W6rXZ6J58AssCaveTfDsimE8HgsNhkDg0Z8XwCAJehV6+dCCN9K3FcPV7qdFIViGC2bcm7tqF97A2svxffcM8YRhkpYQ/GkCrFR9BQAALimSrcTvy/sLUDvVAvQBsiLsAZgWTboLgAAAABg3MzPn7gwNbU7Fvx4cpW79vT8/IlUkyshDxN6EQAAAAAAgCJqNvoHQwizCYoYpnA8hHCw1S6nKIgEjK4tCVr+YpF7o9Uun8nO3bPNRn8m+/O2AjRtpXbGYnfNRr/qHA8A68KzIYQ9IYSUgQrxGukbDqf1qdLtpChS5ToVWC5hDTB+UrwHi1Dgc5QdCyEcTtD+WHz1yPrpRgBgmOIz0izE68r9pzPZ82CgYCrdTqwZcaggrdpW6XZ29ap1965Za/frcWDYhDUAAAAAAGNpfv7Eoamp3XESwf4V7t+pbEEVAAAAAAAAAEvUbPSns8Wjo1Dc+2x8Ltxql4X4Az+j0u1sTlTk99yo9HSrXY5Fw45kRTwOrmIOzrDF0KBuDBHK9gkAGFO9av1SpduJn/dfTriHOyrdzoO9av15xxE5uaAjgWVKUYBd8T0Yol613q10O7k3oNLtbO9V64rxrsDk3MKFQa10PME5N0X4FwDAz2g2+tuzUP4D1/h/V/54dlFo2Jnr/Vm4A6yZ2YLNtZt2v4gxMTLztIBiENYAAAAAAIyzmawIyM9NJriJOJlyen7+hMUvFJ1jFAAAAAAAgELIinnPJioWlre46HxW0W7gBu5P0Tm9av30qHV6FmjTzYp6HMzm42wqQNOWI7b3cLPRn2i1y4dGp9kAwHLF661Kt/PtEMKehJ33aKXbORnDIQzQupOiuK6CV8CSDWqliQS9dTEWJTcKMHSnQgg7c27ErkWFdlm+YwmeeW0a1ErTk3MLx4wHAJC3G4U0XMO2RYXhr3vNs4Rwh5OL1rqfbLXLvl/CMlW6nfjd7fGC9dt0dj6BtXRXgtfyLA9YFmENAAAAAMDYysIWZqamdnez0IabLRS/GB8azs+fsCibUZH3Aq2zRh4AAAAAAIDlyBZ7x2es+0eg4y5mbT1kgThwE1sSdNDIBTUs1mqXY8GNg81Gf3bRwvxtS99CITzZbPR3tdrlmRFrNwCwPE9lhWlTFHUJ2Xbj9cRvGxdyoIAysBy7EvSW0BgohpOJwhqEAqxc7LsnE2y3alwAgDzFwPrs2W3KYu/LDXc4tTjE4Xp/NncHfqKItU12Vrqd7b1q3f1r1tJWvQ0Mm7AGAAAAAGDszc+fOBJCODI1tXsmm9C4fdEk9ZPZIpdu9nswMubnT3SnpnafzbH4gYUWAAAAAAAALEm22DsuFj0wIj32zbg43UJvYInuT9BRIx3WcEV2Hv3JXJxmox/n4RwckcCeKw7EwIY4h8hnAgCMp161fqnS7TyV+PtqLFS0o1etj8U1HktWTdBVil0By5EirMF5CIohxXsxxTlj3ZicWzgzqJXyXLN1xXR2TxUAYFWyeTsHs59NBevNxUFkyw136C76lZ/+udUudwOMmUq3M3Oj98iQVbO5ITCyPMcDlktYAwAAAACwblwJbTDijJl4TD+R0y4dc3AAAAAAAABwIwVf7H0tT8e2ttplRceAJal0OxtDCFsS9Na5cRuBrCBGt9nob4+BOFmhsVH4bNiZtXum1S6fLEB7AICc9ar15yvdzp4Qwo6EfTtT6Xb+RQyHMH7rxkSCHXW/AlgO5yEYX90c1wZdIaxh9eI6q8dz3ua2Qa20a3JuwX1JAGBFRnDezlJcL9zhp9fIi4IdouOL/izcgZFU6Xbie/lQgds+rTYLa2yzDgeGTVgDAAAAAACMtvgQfiZO1l3lXpzNAk0AAAAAAADgmmJR66wY92qfTa2FuDB71uJrYAVSBDVEp8d1MLJAnJmsMMhMVhik6J8VVwIbpn1WAMDYinMiv55w52LRmH0hhGccQuvGzrx3tFetK5IOLEc1QW/5TgzFkKJw/7ZY/LNXrV8wxiuWIqwhZOdzYQ0AwLJl83YOjVFIw0otDnS4WbjDxUXXXheu92ch/wzBbMHfy/t9p2SN5R3WcNkAAsslrAEAAAAAAEbY/PyJC1NTu6ezRRIrfSAfJ5pMOw4AAAAAAAC4lmajX82KXI5CSMPZWCS81S4fK0BbgNF0f4JWv9yr1i+N+/HQapcvZMVBDsUQhCy0Ye8S/uqwxHkWzzUb/cda7fKRArcTAFiBXrV+vtLtfCuE8HDC/nu40u2c7FXr54zReItFqRLs4Nn13q/Asm1P0GUK7kEBxOKXlW7nYoJCnbuEsqzc5NxCd1ArpRiXK0WWAQCWJAtpmB2ReTtFs+mqZ9b7r9W+ZYY7nGm1y0JYWbFKt1NNFAyXt2oWYgejyLM7YNmENQAAAAAAwIibnz9xcmpq90xWIGe5E4DjpJGZuA3HAQAAAAAAAIs1G/1dWbGYIhfaviI+95pttcuK2wCrtSNBD667BcBZaM6xZqO/PSscMp2gqFleDsfPvFa7fLCg7QMAVqhXrT9T6Xbid9stCfvw0RDCN4zR2NuVYAcVdAOWK/einJNzC9YRQHGcTPA8RljD6sX7nAdy3ubOQa00MTm3IDAHALghIQ1Dsdxwh7OL7vOdud6fhTtwlVGZ3zYtrIG1UOl2tupooAiENQAAAAAAwBiYnz9xbGpqdzV74L3USTdxAsi0oAYAAAAAAAAWW1RYO+/iMylczBawHmq1y4raAHlIEdZwer2OTFZ0YqbZ6E+EEGIYwkxBi4k8nn3+zfg8AYCx0wkhfDnhTu2odDv7etX6sw6dsTaRYOfM3wWWbFArpQiNOWsEoFC6icIaWJ1uoudlsejpEWMDAFxLs9GvZvN28r4+JH/bFj3/vu543STc4Ygwh/Wj0u3EeRM7R2SHpwvQBtaHuxLs5XnHDrBct+oxAAAAAAAYD1noQpxI/bWbLJw4m/3OLkENAAAAAAAAXBELaTcb/bjY+6URCWo4Gp95tdrlWYW1gTxUup2tiTryxfU+QPE8nZ2vYyDCYyGE4wVo1tX2x+JrWbAEADAmetV6DM5KHaTwSKXb2eyYGWspCh27lwEsx/YEvaUQJBRLivU9Kc4d682xRPur6CkA8HNiSEOz0Y9hUc8Jahhb27Kx3ZvNzXoiztNqNvpHmo2+6/cxV+l2JrIgllGxqdLtCAFkVAlrAJZtgy4DAAAAAIDxMT9/4kL2kH52amp3NVscdqWIQPx/XQENAAAAAAAAXK3Z6B/MnjNtGoHOiQW+D7baZc+9gLztSLDNy71q3QLgRVrt8pEQQiw2Eec0HCxYQNDOWKwyFkLxOQMAY+VbIYQHQwh3JdqpuN16COG3HTZjK0WhNNebwHKkKIzXNQJQKCkCVBT4XaXJuYULg1rpeIK+rK75zgAAhZUV6T/i+m1di8/MDzQb/aNx/larXRawOJ6OjMjcvMVmsnkdkNL9ehcogluNAgAAAAAAjKf5+RMxmOHQ/PyJ2eznkKAGAAAAAAAAFms2+jPNRj8u8H1yBBaDngohPNRqlxXQBlJJsfj3tNG6tngub7XLcWH/x0IIXwshnC1I0+LnYTd+RhagLQBADnrV+qWsCFJKOyvdTopC2hRDirCGC8YWWAbnIRhzvWo9yXMP16i5OJZgm5sGtdL0EPYFACiQGNLQbPTjfcuXBDWQiaENLzUb/WPNRl/A1xipdDtxPPcn3qOLCbbpOGRUnTNywHIJawAAAAAAAAAAAAAAAFhn4oLeZqPfDSEcDiFsK/jex+Ldj7Xa5V2tdrlbgPYA42tLgj170fFyY612+UKrXZ5ttcux8ORjIYTjBWhWDGw43Gz0DxagLQBADrLit6cS9+WjlW5no/EaSymKpAuiBJbDeQjWhxT3xYQ1rF6KsIag6CkArF9XhTQccChwDbGo/3NxbpfQhrGROlD6a4m+u8Sg6hT3pWCxuxL0xiU9DCyXsAYAAAAAAAAAAAAAAIB1IlvwHQMPngsh7C34Xl+MC0lj8e5Wu5x6wSqwzlW6nc0hhM0JeuHceu/b5Yjn+1a7HItNPBRCOFqAJj2ZFUoBAMZDJ4RwOeGexOvJhx0rYyn3oMtetX5hvXcqsCwpiq0La4DiOZOgRYpqrtLk3MKZLFg8b9Oj2icAwMo0G/2JZqM/K6SBZdgrtGH0Vbqd2RT3mBeJ31cOJQya892F1LbqYaAIhDUAAAAAAAAAAAAAAACMuWzB95FswXfRQxqib8YCQq12ebYAbQHWh/tT7GWvWj/t+Fm+VrvcbbXLMyGE+2JwTxbgMywHsuIXEyPUhQDANfSq9fMhhGcS982+SrezQ/+Pj0q3k6LA8fH12p/A8g1qpfh9dFPeXTc5tyA0BoonRYiKgq75SFH0dNugVkoRxgMAFMyikIYYAvWE8WEF1l1oQ7xWHofr5ez+8sHEL3MwCwfuJtq+75WMHPO1gJUQ1gAAAAAAAAAAAAAAADCmrlrwfWAE9vJoLMzdapcPttplxcKAtbQlwWtZ+LtKrXb5TAzuabXLsTDlY0MMbYjFL2LhC8XTAGDE9ar1Z0MILyfei7rjZKykCGsAWI4U30WFxkAxpQhrcD8rHynCGoKipwAw3q4R0pB7EB/rztiHNgxqpY2DWmkmhPBb8WdQK319UCs9MqiVNhegeStxJPF7/3ivWv/J95UssOHpBK+xv9LtTCTYLlwxqu9vYMwIawAAAAAAAAAAAAAAABhDzUZ/ZoQWfMfiYA+12uWZWJi7AO0B1p/7E+yxsIYctdrlI1nxsmEFNuwU2AAAY+NI4h3ZUul2HnG4jI0U13/dddqXwMqkCI1xDxYKqFetp7hG2KSo5upNzi10E92XnFnrfQEA1kY2Z+ekkAYSGcvQhkGttCOE8NUQwp5F/zkWcX84hBBDG748qJUeHGITl6XS7UxnY5XKxWt8pxA0xyjKO6zhsqMAWAlhDQAAAAAAAAAAAAAAAGMkLsJtNvqx2NbhEVjwfTaE8A9a7XK11S4rVAgMRaXb2RgL6iZ47XNGNF+tdvlkVqTy1JCaED9X57PiKgDAiOpV6/E67VuJW7+v0u3kXVyG4VDcGBg2YQ2wvpxNsLfCR/ORoujpzkGt5HoTAMZIfI64aM7ONmNLYmMT2jColWIA8pdvUrQ9hjkcGNRKhwa10sygVtq6hk1cliw071DilznUq9avvseTav7ddKLtQgrmawErIqwBAAAAAAAAAAAAAABgDGQhDXHB5XMjsOD7YgjhsVa7vL3VLqcobgOwHCmCGqLTRiF/rXb5QgghFpo4OsRmHG42+qkLKwAAaT0bQjif8BXuCiEIeBoPKYobC6wEliNFscWTRgAKK8X7c6SLthaIoqcAwHVlc3aENDAsIxvaEAMXBrXSPwshPLyMvxbvv+8JIXw1/t1BrbRvUCttTNjMlTiY+Fxwtletz179H7PwhlMJXs/3FpKodDuFDV0B1h9hDQAAAAAAAAAAAAAAACOs2ehvbzb6R7KQhr0F35MY0vC1EEIMaThSgPYARPcn6IWXe9X6Jb2bRgxsaLXLsfjxN4fYjMfj52+z0Z8YYhsAgBXKrtVSfy/dUel2HjRGIy/F9d6FddaHwOqkOA+dMSZQWCnCGlKET61HqcLHFT0FgBGWhTR0szk7QhoYtpEKbYghCyGEL4cQtqxiM/HvPhpCeHJQK80MaqWhf/+pdDuxDU8kfpkbhUWn+O6yKdsvyNtdCbZ5zigBKyGsAQAAAAAAAAAAAAAAYATF4tDNRv9QCOGlEMKBEdiDo1lIw2wssl2A9gBcsSNBT1j4uwZa7fLBEMJjQ2xC/PztCmwAgNHUq9ZPhxBOJW78o5VuZ6NDZKTlXoCqV62nKMIMjK+dee/Z5NyC8xAUV4r353bjvXqTcwvx2dbxBJsufBFdAODnXRXSsHdEuijeCz1bgHaQXqFDGwa10sZBrfTlLGQhz0Lte0IIvzWolb4+qJUeGdRKm3Pc9nIcSrz9p3vVevcG/z9V0NyNAiKgSC4bDWAlNug1AAAAAAAAAAAAAACA0dJs9GdDCLFA9aYRaHgsXDPTapfPFKAtANeSIqzhtJ5eG612+Uiz0Y9F7LpD+lyMRTPPxCIXrXZZsUsAGD1HQghfz7kg1GJ3ZQWnjjg2Rlbe15gX11HfAas0qJVyD4xRmBMKL8X9pdxDX9axYwmKMW8a1ErTk3MLqQqqAgA5ajb627NC7PtHqF/jvJ3ZVrv8M8Xds325Euy1+M/xu+jEoj+Pwtwkru1KaMM1j4FhyO51zCS8Jx/FkIaH48+gVopzN749Obfw/FrsbqXbmUkc4HLxZqEJMSy40u3E+z/bcn5tQXOkcL9eBYrilg8//NBgAAAAAAAAAAAAAAAAjIBmox8XW84mWEyZQmEW+gJcT6Xb2RpC+GqCDvpKr1o/r+PXTrPR35UVQR5W8bmLWTiRomoAMGIq3c6+LFAhpW/0qnWBXiOm0u3E4lPP5dzq471qXVErYEkGtVKS89Dk3ILzEBRYpdu5kKAg7kO9at3zmlUa1EqxgPFLCTb9zcm5hYNrujMAwLJkwQZxvs6BEeq5UyGEg3nN28mexy4Ocbjen4U7FNfZbC7XmocLD2qljdl9+D1D6p3LWTjes5NzC+dSvECl24nvgzOJ3wNf6lXrh5bQliOJzlf39ar1Mwm2yzpV6XYeycJV8uSZHLAiG3QbAAAAAAAAAAAAAABAsTUb/Vg869AQC1Avx9AW9gKswI4EnXZZUMPaa7XLJ7PPy+6QPi9jwYXfbTb6X2q1yzctjgAAFEevWn+20u3sSnRteEUMX/yKYSeEcEEnAMuQIlThpAGAwovv0705N3K7YV+9ybmFM4Na6WyCUPXpWEh5GPsEANzYiIY0JJm3E5/HLvrXmwZAXBXusPj77eI/533dy43F69jDzUZ/di3ndg1qpR3ZPfLNQxyfu7KgiD2DWunlEMLzIYRvT84tXMrxNWYTBzWcWkpQQ+ZYovPWdDaHEfIyzPMCwM8Q1gAAAAAAAAAAAAAAAFBQ2aLvIyOyOPliXIzZapdnC9AWgKW6P0FPndb7w9Fql2Ph213NRv/IEAumPBkLj7Ta5Zlh9wcAsCzx+uHrCbtsc6XbeaRXrT9jWEaKIunAsKUorn7GqELhpQhr2GXYcxOLnj6e8za3DWqlXZNzC64VAaAgmo3+RBamdDBx8fU8JQlpWKkVhDtcL9BBuEP+1iy0YVArPRJCeHiI+3otW0IIj8afQa307fgdbLXX4pVup5rge8LVlhzw1qvWj1W6nRRtqAprIGcpwhouGyRgJYQ1AAAAAAAAAAAAAAAAFEwW0jA7xELTy/W1LKjhgmMJGDFbEjT3RQfBcMWghGajH4spPDmkhhzIPsunfTYCwGjoVevnK93OtxIXjXq40u2c7FXr5xwW65oi6cBypAhrUAgcii/F+1RYQ35ShDWErOipczQADNmIhjRczAruj3QB9Va7vDjQ4YbhDtk4XbnGvdGfd6Zr8VhIFtowqJViAfZ/kmhORp72xJ9BrXQ+hBCDG56fnFs4v4Ltp37/He1V6zcNPbnK0yGE/Tm3Y3+l25noVevmQVBYnsMBKyWsAQAAAAAAAAAAAAAAoCBGcNH30WyxrkKDwMipdDuxOMDmBO226LcAYjGSZqN/ISuKMIzP1L2xiEiz0Z/2OQkAo6FXrT9T6Xb2JLpGvOLREMI3HBIjo5qgoa4NgeVIUVzdeQiKL8X7dK9xz8fk3EJ3UCtdTHDPcWYNCrwCADfQbPTjXJ3ZEQtpiNcPh9ZbgHy2v4sL1x+70e8vMdxhexZesB7lGtowqJX2hRAeCSHcNUJ9uTkLc354UCudjsENk3MLzy/lL1a6nYOJg0EuZnMJl+tYgrCGkN03v+F7DpZhq84CiuKWDz/80GAAAAAAAAAAAAAAAAAMWbPRnxliQenlOp4tzu3mu1mAtVPpdh4MIRzI+wV71fp/bxiLo9no78oKdQzr8zUWTqi22uWTRewfAOBnVbqdHSGELyfulqd61fqzur74Kt3OyQRFtu7rVesKpQNLMqiVci8MNDm3cIveh+KrdDspCoO5DsnJoFY6kuLecgjhY5NzC+uq0DIAFEE2X2d2hAr1r9uQhrXSbPS3Z+ENIfvn9f48ruEOZ1cS2jColTZmIWQpgwvW0uUQQrxH/Ozk3MK5a71upduZyAL3Us5HeKxXrS87QKPS7cRj9KUE7Tnaq9ZnEmyXdajS7fzvOe/1+V61/hXHErASG/QaAAAAAAAAAAAAAADA8DQb/elsEfUoLOCNi3FnhDQAY2JLgt047eAolhiSkBXT6A6pKEQsyjDfbPQfW24xCwBg7fWq9dOVbicGKexL+OKPVLqdb/eq9UuGuPByv35UIBlYqkGtVE3QWccNAIyMUwmuRXZlRURZvW6isIb4zNA9RABYIyMY0hAdzYrou65LKOvfJffxDcId4jX4RPbnvaOy/9l74nCz0Z9damjDoFbalQU13LU2TVwTcV/2xJ9BrfRyCOH5EMK3J+cWFt/bP5I4qOH4SoIaQnYvutLtpPhuOZ3z9iBP5/UmsFLCGgAAAAAAAAAAAAAAAIag2ehXs0Xfo7AY9+xSF98CjJD7EzRVWEMBtdrlC9nnbvwc2z+kFsZiFttb7fJsoTsLAIi+FUJ4MGFRqbuyolW/rbeLq9LtTCRo3Nlx6R9g/1nDJgAAIABJREFUTWxP8CIXDB2MjJOJwhqOOQRyEfvxcILtCmsAgDWQPTc8NKSg95US0lBgSwl3yAIdZhOFfqVy09CGQa20MYTwcOIA5CLYEkJ4NP4MaqVvx+9s/9X/8L9MrMH8g4Or/PvHEpzrNlW6nV29av1kzttlnal0OzuMOVAktxoNAAAAAAAAAAAAAACAtRMX3zYb/bgQ8rkRCGq4GEL4WizgI6gBGCeVbmdjtpg+b+ccKMUUAxta7XIsdvbNITbwiWajf6TZ6Kco/AsA5KRXrV9agwKpO2MxI2NWaCnGRzE9YDlShDUoogejI8V1Q9X452NybiGG3xxPsGljBAAJxZCGZqPfzebrjEpQw9MhhPta7fKMoIbRFscvjmMczyx8Y5RcCW0402z0Z660e1ArbQ0hfHUdBDVcbU8I4bf+u9//v4798kt/Eu5561Kq1/lmDoEIqQL7ZpbwOzAM5m0BKyasAQAAAAAAAAAAAAAAYA3EwszNRv9QCOGlEML+EejzuDB4e6tdno0FrgvQHoA8pQhqiE4bpWJrtcsHQwiPDbGRB0IIXYENAFBsWQGk1Nd2j2YhYhRTius1RdKB5UgRGuM8BKOjm6ClRQ8QHzUpip5uGtRK0+PdbQCw9q4KaRiVa6IYDPVQDKMX0jBexiW04el/dPBQFtSwuQDtWnPf/cxnyx95791Nv3L2T8Nv/uHvhen54+GB13J9q54NIcyudiPZs46z+TTpZwiaIw8pnpFdNjLASglrAAAAAAAAAAAAAAAASCgLaYiLJ+OKzMdHoK+fjguC48JgIQ3AGLs/wa693KvWLzloiq/VLh+JxU1CCBeH1NidsUBms9FPUXgTAMjPkcRFXWIRq4eNV2GluFZznwVYju0Jest5CEZHknCVSrfjflR+UoQ1BEVPASA/zUZ/e7PRPzKiIQ3VVrucIsCLghjV0Ia7PnwjPPjWU9s+8uGbj//HOx76jddu++yOd2+5844CNG3N/NVH/sY9g49+/AuLX+8zF18P+17oh8a/fzrse+E74d43V30L5mCvWs/rPk6Kc8nOSreT4t4V68tW4w0UibAGAAAAAAAAAAAAAACARJqN/kxWUOeJEMKmgvfzlQXf03FBcAHaA5DSjgTbPmfERkdW3CQWPjs1pEZvi0URmo3+9Cj2HwCsB71q/XwI4ZnEu7qv0u0oRlNMKQpNJSm6DIytnXnv2OTcgkKfMCKyopwpgkYFAeRkcm4hPks7m2DT7hcCwCotCml4KYRwYET686yQhvXpGqENKb4H5OIz770QgxrCPR+c/8nm3gu33/3abZ+t/untv/obCxs+X14voQ3f3fLZ6vu33nbNfb3j/ffCA6+dDfXvPBvq3/l3YefLfxbufO+d5b7E8V61nmc4XKqgOd9dKKIXjQqwUsIaAAAAAAAAAAAAAAAActZs9KvNRj8W4DucFWMusrjg+zELvoF1JkVYw2kH0WhptcsnhxzYEIOcfjcLdwIACqhXrT8bQng5cctcCxRTirCGC+PQMUB6g1opxTkoRUFxIK0Uz2yENeQrRdHTbYNaadcwdwoARlWz0Z9oNvqHRjCkIc7Z2W7Ozvq2KLQh3hP4WpFCGzZ8+HaYevv3wuffeS5s+PDngwc+CLfd8cNbP11eD6ENZz/+ye1v3rnxU0v53XvfvBh+9c//Q/jHv/9M2PfCd8Iv/uX3l/oyuT4zyDn4YTHfL1mtzXoQKBJhDQAAAAAAAAAAAAAAADlpNvq7mo1+XDz9XAhhZ8H7NS7q/VK24PtIAdoDsCYq3c7WRK/zohEcPa12+UKrXY7Fz44OsfGHm42+z2IAKK7Un9NbKt3OPuNfOCkKpZ8c8T4B1k6Kc9AZ4wcjR1hD8Sl6CgAFkIU0zGbfex4fkTFZHNLgOSE/lT2/ni1KaMPHP3gl7H3rX4dfeP/mtxXGPbTh7Q233/G9T3zmwZX83QdeOxt+/T/9Yfhvv/174Zdf+pNwz1uXrverX+tV6ynu4TydYJv7K93ORILtsn6kCGu47PgBVkpYAwAAAAAAAAAAAAAAwCo1G/3tWZHl+RDC3oL358VsMW9c8H2oAO0BWGs7Erze5V61ft5Ijq5WuzyTfT4Oy4EY+BSLyaz3sQCAoulV6+dCCM8mbtYjlW4nRVEaVm5b3n3Xq9YvGA9giVIU6RYYA6Mnxft2U6Xb2eVYyMfk3EI3UfHcmWHsDwCMmqtCGp6I1zojsAtX5uzsEtLAjQw7tGHDh2+HB979g/DLbz0dNnz4zrL+7riGNpyeLH3h3Q23372abXz07UvhV87+afjNP/y9MD1/PDzw2s/kMpztVeuzq27otQmaY13InukBrIiwBgAAAAAAAAAAAAAAgBVatPD7pVhkeQT68Wi24Hs2LuotQHsAhmFrgtc8bSRHX1bs4rG1LnSxSAx8ioEN28evdwFg5H0rhJAynOsuBVmLo9LtpLgeOz6q/QEMRYogP/eDYcT0qvVuohYrppmvFEVPdw5qJaGuAHADzUZ/ZkRDGrabs8NyDCO04Z4PXg+/8vbTYdu7/2FV2xmn0IbX7960+ZWJT5Tz3OZnLr4e9r3QD41//3TY98J3wq/++al/muf2r5Lq++V0ou2yPqSYvwWwYsIaAAAAAAAAAAAAAAAAVqDZ6B9ctPC76GJBwKlWuzzTapfPGG9gnduRYPdfXO+dOi5a7fKRrGDdsAIbdoYQTjYb/V3j17sAMLp61fqlEMJTiXdgR6XbcQ1QDMKzgGFL8XmQqigfkFaKwCfXnPlS9BQA1lAMaWg2+nHey+ERCWkIQhrIw1qFNnzu3T8OD741F+75IL/s4lWGNpwOIXwphPAvQgjPhhAu59awZXjxk9seTLXtO95/L1Re+k9n/un//a/3DWqlfzaoleI/N+b5Gr1qPZ43T+W5zYzvLazGXTn3XsrQdWAdENYAAAAAAAAAAAAAAACwDIsWfj85Agu/4yLLh1rtcrXVLp8sQHsAhqrS7WwOIWxO0IZzRnZ8ZJ+ZuxIVK1iKeH3Rjdcc67D7AaCwetX6yTW4PpipdDu5FmFiRRRJB4YtxXlIiC+MphTXEFXHQq6OJdquoqcAsMhVIQ3bRqRvjoYQ7hPSQJ5ShTbc9eEb4Vfefjp89t3vJBuvZYY2xFCGpybnFr4xObdwaXJu4dzk3EL894PZe2vNnuX/+Se27Hjzzo2fSrX92z54/51feuWlb2f/uiWE8GiclziolWYGtVKe94hSfHfZJISaAhHWAKzKBt0HAAAAAAAAAAAAAABwc81GPxaviYtd945Ad52NbW21y0cK0BaAItmaoi29av20UR4vrXb5TPbZHz9L9w9h52Jgw+Fmo789K7YBABRDvDb4eqxdlag1cbsPxyJUxnuoJtbxvgPFkHtI8OTcgrAGGE0xrOGJnFu+rdLtbO9V684LOZicW7gwqJWOJ3h+KFQDgHWv2ejHAuAHsxCj3L8nJXQ0m7PjeotksgCQ2Wajfyh7nxxc6fvkM++9EB549w/Chg/fWZMBuxLacOHWyS9MfDD47qfe/7Pv3v7h24tf/OV4Lz4GNFzr70/OLTwfQnh+UCttDiE8GELYE0LYnKKtb2+4/Y4z937qwRTbvmLLj/6y/9G3fvzGNf5X3K89g1opFqCPYQ7PT84trKYY/bEE3y+jmez4gyWrdDs79BZQNLcaEQAAAAAAAAAAAAAAgOuLRZKbjX5crPjcCAQ1XAwhfC2EsEtQA8A1pVjsK6hhTMUCF612eTorqDIsTzQbfZ/pAFAQvWr9UgjhmcSt2adIzdDtStCA7oj1ATAkg1opRXHuU8YTRlOvWk91DSEIIF/HEmxz06BWmh7mTgHAMDQb/Ylmoz/TbPRPhhDmQwgHRiioIQY43ddql2cENbBWsmfaMfx/ezZn7OJSX3rDh2+Hqbd/L3z+nefWLKhhsSuhDX96+6/+xsKGz5ffveXOO0IIz07OLfzz6wU1LBaDCybnFp6ZnFv4SgjhG1mgQa7+5FP3ffH9W2+7I1UffOTdt88/8NqZ797k1zZnIc9fH9RKXx7USisKj+hV6/G8enZlLb0h3y8pCvO3gFUR1gAAAAAAAAAAAAAAAHAN2QLwWBz5pRDC/hHoo2/GhbdxAW5ciFuA9gAU0f0J2nTTIgGMtlhQJYTw2BB34kAsSBOvTRxKADB8vWr92TUo+DJjqIcqxXWXezXAUqU4BykSCqPteILWK6aZrxRhDcE4AbCeNBv9ajZH50chhMMhhJ0jtPvxeu2hVrtcFdLAsCw3tOHjH7wS/u7bc+EX3h/+IRtDG17ZcH/56N3/63/9P0/87i+t5Ln45NzC6cm5hXgO+VII4WgI4eXVtuuViXs//YOPfvzzq93OjfzNH5xbbsBEDHo+MKiVDg1qpZlBrbR1mX8/RSDgzkq3sz3BdhlvG40vUDQbjAgAAAAAAAAAAAAAAMD/L1vweTD72TQCXfN0bKsF3wBLsiVBN6Uu1EsBtNrlI81G/0xWeG0Y1wexIE0MbJhutcsnHRMAMHRPhRC+mrARmyvdziO9av0ZQz0Uu/J+0V617hoOWKrcz0Hx+6Teh5EW38N7c94BIQA5mpxbODOolc6GELblvOnp7HklAIylZqO/fdHnXd6fo2shhjTMttrlFMXPYUViaEM8LpuN/qHrzX974N0/CNve/Q+F6eAf3LY9fPeOvx/eu+XOe0IIT8Q2Z+Eth5Y7H25ybuFSCOH5+JMFGewJITwYQrhrue36s1/Yume5f2c5Nr958fSnL7z+ygr/+l3Zvu0Z1EovZ/v87Wz/byTOdziQYHfiufxQgu0yvpYbNLIUNzv+AW7olg8//FAPAQAAAABAIlNTu6vZYomJ7BXiBIeT8/MnTLwBAAAAAAAooGajvytblDgKi8At+gZYhkq3syOE8OUEffalXrVuwe86UYBrhYux0IHPfwAYvhimEEJ4OHFDvtKr1s8b7rVV6XbyLsRxsVetTyzh9wDCoFaK3zn359wTj03OLRzRuzCaKt1OLHr5uwkaf1+vWhcEnpNBrRQLkz6eYNNTk3MLQncAGCsxnDyEMJPgu89aOZvN1/E9i8JrNvoT2fvt4D0fvL7tC+/8v+GeD4pxy/m9W+74SUjDD26770a/djR7v63qu8ugVnowq/mwcym//8Int3/h7OZPJgtruO2D99/5e3928nfufO/dd3Le9LdjLYsbfYdIcP87erpXrU8n2C5jKtEztm/0qvXTjhlgpTboOQAAAAAAyNfU1O44aeFgNnHhmgvzp6Z2x4k4R+bnT8zqfgAAAAAAgGLIii/HwsebCj4k8VnTwVa7fKwAbQEYJfcnaOt5QQ3rS6tdPrnommFJhRxyFq9Tnms2+o8pAAMAw9Wr1p+pdDuxWNPmhA2Jc1G/YajXTqXbqSZ4McV1geVIEe6iGDuMtlShnbucH3J1LFFYQ9X1JADjoNnob8/udV137fUIENLAyGm1yxdCCIcGtdJ3X7vts199/bbSF98Lt9897P340W2f/klQw+Vb7rnZrx6IP81Gf1WhDZNzC8+HEJ4f1Erxfn4Mbrjuvf23N9x+x8sf+0R5Ja+zVNtff/X5BEENIduvPYNa6XwW3PD85NzC1ekcTycIy9lf6XYmetX6hZy3y/hK+WwNYEVu1W0AAAAAAJCfqandu7IJsE/cZLJQ/H9PTE3tvjA1tfugIQAAAAAAABiuEQlquBhCiIWZtwtqAFiRHQm67bShWH9iQYtWuxyvHY4OcecPNxt9hWAAYPhSfx7vqHQ7+4zzyFOgCliOvXn31uTcQqpC78AayIpdnkrwSilCqtat7Fx7McH+z6z3vgVgtDUb/Zlmox8/J19awtrrolo8X8fzOUZKDCcY1EpfDiE8+sn3v3f68+889zuffP973Q3h3TeHtR8v3PF3wx/duX8pQQ2LxdCGl+Iz8iz8ZUVicMHk3MIzk3MLX8mCkr999Xa++5nPPfj+rbfdkfNu/9Tdb1969XN/+XLquSaxEP7DIYSvx/Ef1EoPLvp/qeYd+o7JcqQIa7g6mARgWTboLgAAAACA/E1N7Z4IIUxnDxSvftgbC/kfmZ8/cVLXj5epqd3T2aK75RTwib/7ZAx5mJ8/YfIsAAAAAADAEIxAUENc9H0o/sTi0AVoD8Co2pqg3cIa1rFWuxyLy5zJCssMw4Fmox/nKc24RgCA4ehV66cr3U4s5rQnYQMeia/Rq9YvGeY1kaKglHnjwJIMaqUVFxu8gRSFw4G1F59j7cz5VRXSzN+xrIhsnnYOaqWJybkF9/8AGBnZPJyZ7Keoc3GWwnwdRtqgVrryXrxr8X7E0Ib489ptn93x+m2lL74Xbr97LfbzjVs3h+/e8ffDG7feu5rNHMiekx8NIcy22uUzK93Q5NxCnO9xelArPRVCiH2175WJe3/l/N2bdqymgTdz/2tnn0+5/WuI+7NjUCs9Gu9V/8YXf+3F36n8lyleZzphEATcVK9aF9YArIqwBgAAAACAnGUF++PEi23X2fLeEMLjU1O7j4cQDgptGA8xbGEFQQ2LHZia2n1mfv7E7HrvSwAAAAAAgLXUbPRnsud7RV0cvuqFpQCEUOl2tl5dgCAn53Tv+tZql2ezwIbDQ+qI/bFYX7PRn3a9AABDc6WQU4rrzZBtN96/+G1DvCYmEryI6zRgqVKENVizAuMhhjU8nvOe7Kx0OxO9al3h4fx0E4Q1hKzo6ZFh7RQALEUWMB4/sw4mCJlaa0IaGGmDWmljdk/5hu/FtQxtOHv73w4v3P5389xknqENMSg5Big8/4+f+d9e3jFYCH/r1TPhjvffy7O9P/ELf/XD/3jvmxeHVVA+PmvY8w+/8+/2fHjLLa/8m1/5Lz6d8/anc94e4y1pKArAStyq1wAAAAAA8jM1tTtOevzdGwQ1LBZDG7pTU7tnDMFom5raPZGl/K+2gM8TWegDAAAAAAAAayALajhc0KCGGP5+X6tdnlF4GSAXKRb5Xu5V68IaiIENcc7QVFa4ZRhikY2TzUbfvBMAGIJetX5pDQqnxkK6CtesjRTXVO7tAEuV4hwkrAHGQ6r3ctXxkatjibZrnAAorGajX202+key+x+HxyCo4ZsxSC8GtgtqYBQNaqV4H/mry3kvxsCGz7/z3O988v3vdTeEd9/Mc7ffuvWe8Mcf2Z93UMNiMbThpXgeajb6qwrBrHQ7sz+452Of+f3P7Qztv7c/PPtAOby0+VO5NfT2995985defek7uW1wFT7/yl+8eu+buZ/iNlW6HXMWGJaX9TywWsIaAAAAAAByMjW1u5s9zF2OWPTl8NTUbinxo216iQEdS3FwvXcmAAAAAADAWlgU1FA0p0IID7Xa5aqQBoBcbU3QnacNEVe02uWTWVHNU0PqlDgPqZtd4wAAa6xXrZ9cg+vDmUq3s9HYJjeR4AXc4wGWalVFBa9DcVEYA71qPV5PnE2wJ0IAcjQ5t3Ah0f1Baw8BKJRmoz/RbPQPNhv9eI3yXLa+ftOIj9LREMJ9rXb5oJAGRtWgVnokhPDlEMLmlexC3qENP7hte/iDO2vhh7d+ei16dFWhDZVuZ/vVdR5e+OT28G+/8GD4V3/n18Mfbftb4a/uXN3t+c/+5fefv/O9d99Z1UZy8qmLr5/Z+fKfp9i0+QrcVKJnXZf0PLBawhoAAAAAAHIwNbX7SAhh7yq2dGRqaneKhT2sjTwnvB5wLAAAAAAAAKRV0KCGWGDnsVa7vKvVLncL0B6AcbMjwf6cc5SwWBa0FAvcHR9Sx8QiOIdjcRwDAwBDEecTX074wrHA1j5Dm9zOvF8gK64MsBS7EvSS+80wPlK8n1Ocd9a7Iwn2f9OgVhKsAcDQNRv96WajfyyE8KMQwpMhhG1jMCpXQhpmsmd9MHIGtdLWQa30z0IID+fR9tWGNrx3yx3hP97xUJi/89fDe7fcudbdudLQhkPXC5154yMbwx/f90vh/9zz6+HYrv88vPDJ5Z/67n770qvbfvhaYc4x97558fz9r5194873cs+O8L2Fpdiil4AiEtYAAAAAALBKU1O7p7OHtqux6eqkfUZK3hOTPYQGAAAAAABIpIBBDRdDCF9rtcvbW+1yiuItAOtepdvZnBW2zduL671v+XmtdvlCq12uZoVdhuXJWHzC8ADA2upV6+dDCM8mftGHK93OVkObRqXbmUiw4bNF2DdgZCyniOBSKTYK4yNFWMNex0fuUoXkTA9xnwBYx2Kx82ajP9ts9ON3i98NIewfk96I4esPCWlg1A1qpRjw++UUxc9XEtrwo9s+HZ7/yKPh+xseGHbPLjm0odLtTC/13Pb9iU+EZx/4Yvg/fvWR8OwD5fD63dfMd/g5X3j5e4UL07z3zYuv3vf6K3lvdmel20lxfwtu5rQeAlZLWAMAAAAAwOodyqkPhTWMrm05tzzv8AcAAAAAAAD+egH5oYIFNXwtFt9qtcuzBWgLwDhLUsy2V61b6Mt1xcIuIYTHhthDB5qN/slmo5+i4DAAcB29av2ZEMLLiftnRv8nk2IOr2J/wHLkvTYhTM4tOA/B+EhS3LPS7VQdI/mZnFs4mSiwS1gDAGuq2ejPNBv9eP3xUgjhiRTfV4bkSkhDtdUuF654OizVoFbaOKiVYkjDoyGEu1J23FJDG753+xfDH925P1y+5Z4ijeMNQxuyAN9l1wt5e8Md4YVPbg+dL/5a6HxxXzi15XPhnds2XPN3P33hL/sffevHb6yw/cl84o0fnXng1SRZw767cDP36iGgiIQ1AAAAAACswtTU7ukcJ5dsmprabfEUAAAAAAAAJBAXXIYQHi9I3x4NIdwXQxpa7fKFArQHYNztSLB/ghq4qVa7HK8//kEI4eKQemtnLOLXbPRTFB0GAK6vk7hvtlS6nX36P4mfK9aVg5Mj3yvAmhjUSimKpZ8yejA+etX6mUQhAMIa8ncswTa3DWqlFNerAPBT8ZlSs9E/1Gz041yWwyGEvWPUO6eENDAuBrVSfP779URzIa7reqENb9y6OTz/kVr489t/ucg9fCW04Viz0V/8HejgauuFvH73RPj9z+0M7b+3Pzz7QDm8tPlTP/1/t7/37ptf+P73+qvZfirbfvjamc9cfD3c89alvF/Bd0xuZnOCHsr9QAbWH2ENAAAAAACrk/eDQg8eAQAAAAAAIGdZUMOBAvTr8Wzh90yrXT5TgPYArBf3J9jPc44elqLVLh/L5gSlKKS3FFcCG8xLAoA10qvWY7DXs4lf7ZFKt5OimM16l6L4raBOYKkmEvSUcxCMnxSFhd03yl+qAtDTw9wpAMZTs9GfaDb6M81GPwZOzocQHg8hbBqjnY3P6B5rtcu7hDQw6ga10sZBrTQTQvitEMJdw9qdK6ENn3n/hf9nsOGzf/JHd+4Pb9x676j07v4QwnPNRr/7j77e/YchhCfy3PgLn9we/u0XHgz/6u/8evijbX8rbD//6tN5bj9vmy6/eeaBV3Ofxri/0u2kuM8FN2IeF7BqwhoAAAAAAFZnV879l2KBD6PHgggAAAAAAICcFCSo4WwW0lC18BtgKLYkeNHThpKlarXLJ7N5RqeG1GmbsoITMwYNANbMt0II5xO+WCzEVTecuUsxl/vkkPcJGB15r08JCYuFA8OT4tpir/HM1+TcQgxwvZhg08IaAMhNs9Hflc2piVW6D2cB4OPkSkjD9la7fMSRw6gb1Eo7QghfDSHsKciuXP7E+wv/428e/Z/+s/duufOhEMLxArRpOfb+4HN/9W9SbfyNj2wMf3zfLz2951/+4T8KIXwjhPDtVK+1Gve+ceHMA6+dTbFpoYDcyFa9AxSRsAYAAAAAgGJJMbme9PJeSG9BBAAAAAAAQA4KENRwcdHCb8+AAIag0u3sSPSqwhpYlla7fCErSHB0iD13uNnoHzJyAJBer1q/FEJ4KvEL7ax0O+Ye5ytFWMOFYe4QMFJSnNPPOARg7CR53lTpdhTSzF+Ksdo7qJUmhr1jAIyuZqM/0Wz0DzYb/fhdYT6bU7NpzIY0ztX5kpAGxsmgVnokhPDlEMLmguxWrK3wlcm5hZ/Mm4jz4lrtcvxOMTKhDT/4xb8KF3/hcsqXiOeig+Gvw9xOT84txPPRl7L5Ai+nfOHl+IU3fvTqR9++FH7xL7+f96YFzXEjdyXonZQB6sA6scFAAwAAAADAqsXJsztz6saz8/MnThoSAAAAAACAlYuLy0MIx2LBkiF1Y1xsGQshH8oKMwMwPPcneOXzWfFdWJbsumAmK4DzxJB67/Fmox+LEM+4TgGAtHrV+slKt3Mqxzmm1zJT6Xa+4vo0NynCGswLBpYqRfFtYQ0wZrJrzIsJiir/N5Vu554QwrkQQry2vNyr1s85flYlPqvcn2C7seipwtMALEuz0Z/OPkMOjHHPnc0+I83VYWwMaqUYzvBPQghbCrJPMd3gqcm5heev9T9jaEMIodps9GNww+wQ5+7d0Ht3fBD+4ouvp36Z2V61/jP3ZSbnFuJ3rdh3zw9qpa0hhD0hhAcTFa5fko++9eM3PvLu2+fvO//q5r/4xGfy3LSwBtZUr1oX1gCsmrAGAAAAAIBisRhnNMXJO4/n1HKTZQEAAAAAAFYhC2rIM2x7uY6GEA5a+A1QGDsSNOS04WU1Wu3ybBbYcHhIHRmLxHVjkQzXLACQXCe7Jk1VbClu9+FYIMtQ5mJb3hvsVeuut4ClSlHA0BoVGGGVbmdrdr0X/7kx+2f89/MJwhp+LYTwweL/UOl2rvzx5SzA4Xz2E72Y/fO8gojXdSzR/b+q9WcALMWV8O7sJ/d7HgUS5+kcyYrEw9gY1Er7QgiPDLOQ/1Xi94LfnpxbuOn1f9FDG8594Yfh/ds/WMJvrtipXrV+6EZ/eXJu4VwWlvfUoFaKgQ27hjXf8eM//qszD7x2dvPvf+5vh7c33JHXZjdVup1dMXAwrw0yVlLM5QJYNWF/PnHMAAAgAElEQVQNAAAAAACrcybnh8NnlvA7FMz8/ImTU1O7j+dwLFycnz8xa3wBAAAAAABWZshBDfF50UyrXfbMD6BYtiZojbAGVq3VLh9pNvons2uXvIvrLUW8XjqTBTYokAAAicTCtZVu55kQwqMJ+3hfpds52avWXaeuQiwclWCzx9dsB4CRNqiVJhK0/+Lk3ILAGCiwSrdzpTjh/dk/r/z71psUZB2EEH4x5z379A3+35Zr/LeHr/xhUajDletRoQ5/XXz1wqBWOpXgueV0ztsDYMw0G/2Z7PNi/xiP7aksvOiIYHLGzaBW2piFrAylcP91fGtybuGZ5f6lIoY2/Phjb4dXHkh+2ji4nF+enFt4PoTw/KBW2hxCiMENe0IIm9M172d96uLrZ16Z+ET5gdfOhlNb/maem55Zbl/ACr2s44A8CGsAAAAAAFid+ID4QI592DUeIys+LD65ysXzHjYDAAAAAACs0JCDGh6LBZeNHUCxVLqdmxU1W6lzhpo8xJCErDDFkSFdw8R5Lt1mo3/QtQwApNOr1p/NggB2JHyZegjhnxvGVUlRKB1gqVIExgjmgyGqdDsbF4UcXB3GsNrrwlcS7NkdWTHQ1QQqXGu/rg51uLzo/uq57N8vLfpvL/eq9UuraEPRxHtuT+bcpk2DWqk6ObdgHSIAP9Vs9Ldna5RnhhQSnrv37nw/vHvnB+HW924Jd176SdnUiyGEYyGEQ4LIGVeDWmlX9j5OMc9hJeL3g385ObewqjkSRQpt+LM9P0j9Ekd71fqKrtUn5xZif8dQjGcGtdKORcENSd375sXzt7/37psPvHb27pzDGqqp287oye6X5G2c7iMAQySsAQAAAABgFebnTxyZmtp9KKeJKxfj9ozHaJqfP3Fmamp3NSsAtJLj4ajxBwAAAAAAWBlBDQBcR4piuJd71bqwBnKzKLDh2JCKUsR5Lofj9VSrXT5kZAEgmadCCF9NuP0tlW7nkV61/owhXLEUhdIV0AWWKsU56Izeh3QWhTHEf14Jjd2a/fuWxF2/mkCFG/l0wm1fcdfNQituEOoQ2/Z6+OtAtNOJ25mXVNeD0641AcjmykxnIQ3DmC+TRAxp+OFnfhze+MRbP9n8e3d88Opbd7/74uV73p1///YPvh+/P1W6f741u0a4NIZhT6xDg1ppYxZ0tq9Ae/9sCOFbk3MLub2/hh3a8MoDF8KPP/Z2ype4mJ2TV21ybiF+5zk9qJWeyu4b7Uv5XfOjb1165d03L+64980L4fW7c8s13lnpdrb3qnX3qFgs9T0TgBUT1gAAAAAAsHrxQfCTOWwnlwevDM/8/ImTWWBDXDy/bYkNiQ/dZ+bnTxwzdAAAAAAAAMvXbPR3LfP5TF7ic55qLLBs2AAKa2uCho1KETBGSKtdvpAVpYgBUAeG1PIn43VVq12ecewAQP5i4Fel2/lWVnArlYcr3c7zvWo9dYHdcZVbBapFLqz3TgWWLMU5SCE8WIVKt7M5hBB/7s3+eeVnLcIYluLVEMKnct5m3N530zR32W4Y6pAFOoQswOHK9e/pRf+tEKEOk3MLJwe10tkEzzGnrUUEWL+yeTIHs8+DTePSER9s+DBcmLwUfrTlx+HDW8I7b2987/SPP/72d9+98/03sl/5GzcJe3o5C2+48vn/YhitkCfWqUGtFOc1/Fb2faMIYlDakXgtm6otwwhteO+OD8LC3/5h6pc52KvWc70nnIVlPB9/smNlTwjhwew7U24+8caPzpy/e9OOB147G37/c7nepoqfVYfy3CBcg896IBfCGgAAAAAAVml+/sShqandu1a5UPro/PyJI8Zi9MXAhhDC9qmp3XHhejX7uXpCbSzcEycRHDPuAAAAAAAAK5ctQO8OYfG5oAaA0XDNYh2rdM7Yk0oMSmg2+vH64skhdfKBZqO/PRZMyAIkAIB8PZsVUkpZdCvOX/2GcVuRXQm26d4RsFTVBD3V1ftwfTcIY9hcoCKpN/JKgrCGT+e8vbWweLyWEupwedE93nNZQefLMVwtYVtj6PzjOW9z26BW2j45tyCYB2CdaDb6E9l9n4MJQoCG6kpIw8VPXg5v/413z1y+593Tlybe+f/Yu9fYuM78zvMP73exbEqmZZFFyu2m1BdbpKoXJxIm0Ek4m2ARKeJulipkdgGxF1MTdM8LM+XNm0ayVjZBv9hMsxVgpxuzHMA0doHBERGEbikJkowmx+iONDXdJZJx0jHZbTdZoi5lqWTSvBTvXDzUU3KJEqVi1XmqTlV9P8ABLZp86pznHJ7znNv/l84xLhGolRgTbIemqvFAYgyQ+JoId4oRfIpcivZ6z2gO+N2rcRXUsJSND8tmaMMvfPfERsWmruZF9XzFtO8HbbaWKzxK83DkptqHXXJ622l7cHfqw4Pt4kt3psSPXjvmVLNCXfMirAHJ9tMbANyqZGtri5UDAAAAAAAAAA7o6jo+lGZgw7vy4ZjR0Ru84AwAAAAAAAAAAACkiKAGAMCzqGJr39bQSd8Jmf5JOh86BQPhHlkEIwfjnARZhKOP8Q4AAM4zbEsWi3tLc9e+GzL911h9e2PYlq2hGFhXyPQzpgLwXNFe75SGgqtdzcMR9kEoWoZttQohaoQQ8mut+lqT9DXfvaKpqOt/EkLMF/GmM5MIcHhKqENaxZyjvV55re/PnZ9V8bvNwxGKngJAgVP3jHrSfH/d1RIhDZ8eWpqP71uVAQ2Ta1UbuRqHJIKdkgMd5PF/JmT6s1K0HsUl2uuVzzN8MylkJNfkdn+5eThyNZfzoSu0Ya45Lv7xX95ysskndP5lq6j7tEp++z15r39g0Dei9QMfbkcXnTy//a+vfvXX5mrq268e9YkPX253qlnphZDpp5YKthm2pSOkhvtiABxBWAMAAAAAAAAAOKir63ifugGcykPysojLhdHRGzwUCQAAAAAAAAAAAOwBQQ0AgOcxbEseK77hdEeFTP/v0PnIhhyOdxIY9wAAoIlhW7II1zGN/SsLa32LQnJ7Y9iW48U3Qqa/RPNsAygQ0V6v4/ug5uEI+yAUNBWCJR1RXwstjCEV/0ZDm/J6FGG1zyYDHYZCpv9mqr8Q7fXOarjO937zcMR0uE0AgAsEA2FZIbtPTU6HuuVcIqThk1fn/3nphZWP4g1rt/NgtieTvi4lQh32Mh4AEqK93m4hxBkXnbfI8e33mocjew4m00XtBy84FVTzk54psVK3rm1+X/nQIw6H9+/89rQ8b1DBDVM6Pjfa6z0nhOh2qr2fH2jp+OilFvMXTQfFX75+0qlmpf8xZPq1h1cgP2gKa/hOyPRzLQNAxsrpQgAAAAAAAABwzujoje0bpl1dx3vky8oyBF8I4VEvVI0LIeSDlfIFZnt09AY3FAEAAAAAAAAAAIA9IqgBAJCiDg0dxYu9yBo55lBFKGzNxZx3I8dao8FA+OsDg74h1jwAAI6Sx9ZvayzGJds9pz4HuTNH3wNIRbTX26mho8bpfOS7p4QxdOz4CiHuCCEOOtwPr3Ad9LlahBC/b9jWlZDpv5zi78hrfGcdno9T0V6vp3k4MutwuwCAHAkGwj0qoMHpY4abTP/sl6JjDw4tfrpZvrWaR/P91LGoYVtCBafK0IZY0nRf/nfI9Lum+D1yL9rrrVV/47m497ubK83DkVTHtFmjwg36goHwhUxDGyJvPNAa1FC2VipaP3jxaf9Lhu28LadgIPyeEOLiwKDPdvjjrzsZ1vDS/Kd3PnqpRRyO3RENy0tivrrWqabl8Y3aKkhopScAuBVhDQAAAAAAAACggQpi4IYhAAAAAAAAAAAA4KBgICxfWH0nB306roIaKHYCAPnjiIY5vcn6RzbJsUcwEDZl4YZMClBk6B0ZljUw6Otn5QMA4IyQ6V8ybOuS5uP7CcO2roVMP4V2U2DYlqmhWQI/AaSqXUNPcS0brmfYVq0qdtuqwqbk11pVCB+pua0prAGpOW3Y1gkZkpbCuHtEU+HtHkLaACC/qeDuflXAvbFAV+ecOhZe/Pv/5edLQoi3XDBPTqrZGeKQoMIcZoQQS+peswx2mBAPrxFy3a6IRHu9chv5psYA372SQSJDzcMRV2+HmYY2rNStidtH9V4i+eL1ZlG+Wvq8H5PnAmeDgfC0uvc/5MRziM3DkZvRXu+MU+fR+5YX56vXVmLLFVVNr96/JcZbvuhEs0KdtwAJOvaDM/QuACcQ1gAAAAAAAAAAAAAAAAAAAAAAAFyPoAYAwB7pKOpGwQxknRqDyAIU8uubOVoDbwYDYY8sFsSYCAAAZ4RM/zVV2PWphdwc0mfY1h/LcAhWW05MFeEyA0hPp4Z+s1kXcDPDtrqFEGdcVKg0X8U0zHe9EKJBCDFfHF2YsSZZcNqwratCiCvPGHuPaLrPaRLWAAD5R91z6VEBDacKeBWOq6LkI4n7S4b980ILakhF4r514jrgafF5kINQ96DjKszhUahDyPTfdOPCYG+ivd5atc67XdR114UQl5qHI3lz3Tjd0IaPv3ZfbFRsapuvxk9qRNPNur38SpsQ4rtyCgbC76rQhkyv4VwTQpzLsI1HXlz8bOq250DTGzd/7mRYQ6NhW50h00/AMbTgPhgApxDWAAAAAAAAAAAAAAAAAAAAAAAAXI2gBgDAXhi2pavgLWENyJmBQV9/MBAey9GYSKiCF53BQJixEQAAzpFFVb+tsT+bVBGwy6yz5zI1tElYA4BUtWvoKc7b4Erqul2fGqcgc7c19eFBwhr2TI67Ow3bGgqZ/ieuIzcPR2ajvV553/GYw5/bo2dxAAA6BANhGdTWr/bfjQXayXPqmtdFVVz9EVmoW3Nwab5K9Mlj4wQV5hDbMSUCHWYoTO1+0V5vqzr/aXHJzMpQkKHm4UjeFszfS2hDrHVRPGhZ1Do/X7z2Uia/Luf9fDAQnlbBNkNp3oe/7mRYw8G5+zKswbdvZUkcmr0nbnkOONV0nzoGAowFALgWYQ0AAAAAAAAAAAAAAAAAAAAAAMC1CGoAAKThiIZOi1HwArk2MOgbUoENdo6K+MgiMVMqsCFvi3gAAOAWIdMfM2zrihDitMZZOm3Y1ljI9N9kxT+TR0ObhDUASJWOsAbO2eAqhm01qcKMFORz1qoq3ut0+MV+gmvTItfDW4ZtfT9k+p+2H5aFq7/r8Gc2Rnu9ZvNwxNa0TACADAUDYY8aB/VpCO1xk/eEECPyXtYz5smxYuJFpGm3sZ4Kc5hR4Q2JsduEeHjdkbFcjkV7vWc0X/fdK7lNfL95OFIQzzw8L7RhvXJT/MJ3T+s8tH7woqharHCiqTZ1nvDdYCD8rgptSHl8L9dptNcrAxtOODEz+xfmYhXrawtr5RX1R+9OOxnWoCMwGRBcvwDgJMIaAAAAAAAAAAAAAAAAAAAAAACAKxHUAABIk46ib7zcC1eQIQkyLEEVd8tFUR8ZEmHLcdrAoG+ErQIAgMyETP9lw7Y6hRAtGrtSFsL7DqvqmTo1tElYA4BUndLQU4Q1wDUM25JjkW7WiDZ3NIQ1HHTR8uWjPsO2vvWU8F9dgQo9GtsGAKRJ3cvp21lAvMBMq/tVQ6pw+q4M2zqpYcyCz68pJu6Pb4cDqCCHuBDiZtJXGfJ1X36VIbL0nR7RXq/bgurk+r/cPBy56oJ5cdxuoQ23j86Klbp1bZ9btVguXvlQR/7v9vyfDwbC8tnFiyoEJ5XnF8ecCmuQ9i0v3Y7VN3a8eu+W+NFrb4iV8konmj1m2FZ7yPRz3byIqTBPAHAtwhoAAAAAAAAAAAAAAAAAAAAAAIDrBAPhoRy9tP7uwKCvjy0CAPJaq4aZJ6wBrpEU2GDnMLDhz4OB8O8ODPousmUAAJAxWT3tLY3d2GHYVnfI9BdkQS6H6KisRdEpAM8V7fVqqezXPBwhiBiuQFBDVtwWQnzV4Q+SxRNlNc5Vly6z29Wo7f5y8nw2D0fGor1eWdS6zeH5l2EN/QXTewCQx4KBcLsq0t6nYX/vJu+qAuJ7CfU+zbaddTVJgQGP3U9UYQ4xNSUHOsiwqZmnhE4hBdFe70kVnFvjkv6akWEqzcORmy6YF62SQxsWX1j5dzdff/BbOj/vi9ebRflqqc6PkH+z78jAhmAgLPe1F+UzArv9sDrXiDkVinNg/tMpGdZQubEuDt+/LT58ud2JZoU6d+H5guKmI6whXuydCsA5hDUAAAAAAAAAAAAAAAAAAAAAAABXIagBAJAuw7ZaNRU/KPgCBsgvA4M+WXizM4fjJum7wUC4k/ETAACZCZn+ScO2rmouZHzGsK2xkOmPsbqeyvEArJDpJ6wBQCo6NfTS+/Q83MCwrU6CGrLitqYPeYXwqYx0G7Z17Snjb1lo9U2HP6st2uttbx6OsL4AIEeCgXCPCmg4W8DrYFoV2B5S96hSZtjWSU3FmZGZJjV17GxFhTlMqn9OqhCH7VCHkOnnvvkO0V5vrdoH5CJkfzdXmocjl9P71fwlQxsM29qvcwFenKkTjdGs5XE0qmcBzgcD4XG1Hx7ZZT983algnLYHd6c+PPgwoOHYzM+dDGswCWuABhyXADiGsAYAAAAAAAAAAAAAAAAAAAAAAOAaBDUAADL0RDEJB1B0Aq4lxy/BQHhMBifkaB5lYQhZnaFnr8V5AADAY64IIU5qCh4Tql2/EOJ7dPvjDNvyaGh2XEObAAqTY9XuklCsGzln2FaTKlYK/VaFEDENBZAJa8iMHH+fkQWtd7RiawhrkHooegoA2aXujfSrMU9jgXb/nAoaujgw6BtLpwHDtmQR+3POzxqyIHHf/bH77yrIIa6KY8eSpvtCiJmQ6V8qppUT7fXK/vmmxuu6eyXXxVDzcGTS2Wbzg2Fbcp98StfMlq2Vild/ojUL4llkGMg7cp8cDISftm++5lRYg9QYX5iaq6lv378wJxqWl8R8da0TzZ6V1+NDpp/nCopXa7F3AAB3K2X9AAAAAAAAAAAAAAAAAAAAAAAANyCoAQDgAB0v9hZlIQPkj4FBnyzE9nVVNCcXZMELWxUmAgAAaVBFzHYWcnXaMcO2Olk/T9DRJxSbApAqwhpQqNxUrLQYxDQs48Fi71QHnDBs67Hixs3DkRFN1/B6srVQAFDMgoGwJxgIyxBtGb7zCxXAU4hBDePqvlO7fJYm3aAGpZtxYUGqUSEOJ1RxePms11syXN6wrT+QBfMN2zqpQtwKVrTXe04tt1u2cfm3+8dFHNTg0R1g9sqHHlG1WKHzI1LRqP7mRoOB8Jg8LomH5xoxJ59t2T8/++j60rGZnzk5/6aTjSHvOJL6sYOOayIAilQ5Kx4AAAAAAAAAAAAAAAAAAAAAAOQaQQ0AAId0aOjIm6wcuN3AoG9IFmOQoQk5Kgx0TAghi0GYGRbtAQCgaIVM/5hhW+PquKrLOcO2JlU4BB7SUSid8RCAVOkoUMc+CDklC7MKIVpYC1l1W8N10YIurJtFZ4QQ39nxcfL63VmHZ+FUtNfraR6OEBoGABoEA2EZ9NivwnEKMZxBqDAh+dzOxYFBnyMBcIZt1aqwBhSXFjWdUNuBLKI9I4SYkIXkQ6Y/7++9R3u9rUIIN533xOXfb/NwpNivB1zQuY+u+7RKeP/hRV3Np0veS3gnGAjLkIqh/6niaz/84tpPHDk3fGn+0zsfvfRwEz9877b40WuO3baQx9IRpxoDhBD36QQATiGsAQAAAAAAAAAAAAAAAAAAAAAA5EwwEPaooiQ6CxHu5uuysDFrHwAKg2FbTZqKiE2wiSAfyJCEYCDcnsOxlSx+MRoMhBljAQCQPksV2q3R1IdyvHxaCHGJdfSIjrAGiuQCSJVHQ085UlgVSIdhWycTRVmRVXc0fdgrKggC6eswbKtTBrMltTCiIaxBqKKnXJMDAIeoZ1l6VEhDLu65ZMv78vih6b5Ot8ZrXMgfiXv4239Hhm3JYIFJIYQMbZgImf7JfFqYaK9XbtfnXDArCZMqqCHmjtnJDTnmFkK8qfPDD4f3u7gHtu/Tv/mD2v/9zV+P/4db+zciP3t546OM/rb2LS/OV6+txJYrqpr2rSyJV+/dEh8fOOTEvPY40QjyltNBkwDgKMIaAAAAAAAAAAAAAAAAAAAAAABAThDUAABwWKuODs23AhEobgODvtlgIGyqwmw6ir6l4h0ZGjEw6LtQ7OsDAIC9Cpn+mGFblzUX/Oo2bGuMce4jOsIaxlL4GQAQOq6NNw9H2AchJwzbanVZ0dJCF1cFbhNfZdHYlxxe5rpi72SHnNsxPpRhDe9o+ByTsAYAyJy6x9InhDhfwN05rY4ZMqRBS9ibCtnv1tE28l6NOheW02nDltm124EDiQCHyZDpX3LbQkZ7vU1q3+CmQuOXmocjV10wH26gdRz80scNojHq/uyZ9ZIqESn/6qF1UXHok7L2kw2bscmXNz7+oGbrs/l02ntx8bOp254DctsXR+9OOxXW0GjYlhky/bYTjQFCiBk6AYBTCGsAAAAAAAAAAAAAAAAAAAAAAABZR1ADAEADHYURKGCLvCMDG4QQPcFA+KIQ4s0czf/bMrBBCNGv5gcAAKQoZPqvGrZ1UgjRorHP/EKIP2KdbNMR1sD4B8BzRXu9nRp6aZqeRy4YtlWrCpe6v3pl/tgZxrCU+HfI9N/cuRSGbf2VhqLSpSHT/zvi8zAOuX5rk0Jzk7+nc+ya75oM2zoTMv0ylE2G6sxGe73jGu6R9hRdzwKAQ9T9DLkf7RdCtBVwv76nAhpGsvBZZxgbYg86ku/1G7YlC29PJAIcZMBtLjtTnb+76XxH9s9Q83DkifOCYmTYVr/O5w/L1krF4fCBvOnZqfI3xCvrE2JTlFXOlb70VTlVby3c8WxGJ17e+GhPz78cnLsvwxp88r8Px+6IqvVVsVJe6cRs9qjnRlF8ap1eYjcG/ADIX4Q1AAAAAAAAAABcr6vruCmEkA8yeNS8yheY7NHRG2OsPQAAAAAAAAAAgPxDUAMAQJMjGpqlwAHy1sCgrz8YCMvna97J0TLIAoGdwUDYJLABAIA9k9cufl9jt7UkF4wtco6HNYRMP4WmAKTCo6GXpuh55Mg5ivXvWewp0335vTSL0doawhpOJf5jR0DEru9z7RLqkCi826SmYtRt2NbVpCKScrz/XYf7oTHa6zWbhyOMRQEgRcFAuEcVYD9bwH0mA90uqpCGrNyrMWxLHu9PZOOzULBa1NSttqmYCm5IhDdk5R5+tNebCKXLxfNtu7naPBy55KL5ySnDtuS1lQs658H7Dy+K8tVS93eGMl+6XyyXNojqzflH31suqT94t6z+4P0y79f2bd6bOLARmazZ+mz+OU2J/QtzsYr1tYW18op6+e+jd6fFeMsXnZjNREASig/XjgC4GmENAAAAAAAAAABX6uo67lE3WeVDDG1Pm8euruPT6uHUi6OjN3ihGwAAAAAAAAAAIA/kMKhhTt5/IqgBAAqajpd6J9lkkM/k2CcYCMtinSOyYFsOFkWO+cZkwaOBQd+uhfwAAMDjZMExWcw1UZBME1kw9lqaxYALyVOfUwaALDA1fAQFupF1hm11U4z3qWaEEEsqDDYuMg9jeB4t110M2zL3EkS1h1CHRIDD/qQAh0IOdZABFqeFEInCurr21z0cCwDg2YKBcLt6d7mngK8JzKn7QjKgIRfHhTM5+EwUtkQAyPZ5h2FbcXUff0KFNzh+Tz/a6+1QNQ7cMi6V5xBDzcMRnl943EWd98Cr5yumX/lwO2szr44XU+VviKOrf//E99dFRf2D0ld8cqrbmpvybN6ZPLAReWbw577lpdux+sbtczUHwxraDNtqD5l+QkeRKfaJABxFWAMAAAAAAAAAwHW6uo53qgeBnnfjWv7/t+XDDl1dx3tGR2/wQjcAAAAAAAAAAICLBQPhTlUgJNuFguWL6CYFggGgcCUV93IaL/Yi78lCPMFAWBYBHcpBYJZQz/jIeegbGPSNsEUBAJCyK0KITo0FwWpUwbHvFOsqMWyrU0Oz72toE0BhatewVLNsK8gmw7ZahRDnirTTd4Yx3FT/ngmZ/qVsz0zI9I8ZtjWn4R6cqaP4f1JB3V2vvxq2VZsU0Cu3tVo1hm1N+l6N0/OmkQxLuyrDOpqHI2PRXu+0hqKvPaoAOQBgB3mPQl0HOVXAfTOuCpePDAz6cnJuYNhWk+Ygrytq3NWaNC4oxKAnPFuNuue5fd/TsC2hxpXbAQ6ZhjdEe73nNIfo7tW4CmrI+nmGm8lgOSHEeZ2zuNyw1iOfNwwGwj3qGHI2H/rmk7LD4qh4Mqwh2WJJY/tiWWN7tOwLC/s2700c2IhM1mx9Nr/z5w7MfzqVCGvYvzAn9i/Mivv1Hidms0cds1Ak1BgBAFyNsAYAAAAAAAAAgKvI0AX1YvheHg7efqG7q+t43+joDV7oBgAAAAAAAAAAcCGCGgAAmh3R0HwsF4XVAB1UEYlEcb1cBDbIMeCfBwPhrw8M+oZYyQAAPJ8cixq2JY+bb2nsrg4ZWCCL+xbpKnGkqhQApElHWAPXwZE1qpD+Nwq4x3eGCUyIx0MG3MjWUDzUzNVyqmuzToQ66Ar6TUdyWJp8B+5Nh9tvi/Z625uHI1P6FwUA3E89p9KvCkJn+1mVbJlT72QPueS5mD6Nbct7t5fVfz+xrKoItJz2q6/JgQ75FPCE9HSo6bQKb5hRY/jtEIdU7vtHe72tahtuSW8WHBdXIQ2c6z+d7nvOf5q4bj4w6JNj95FgINyujit9bj6uxEsaxCdl7eKljeefFqyLivoHpa/45FS3NTfl2bwzeWDj8/OJtgd3pz48+PklrGMzPxdXj37NidkkrKH46AhriBd7pwJwFmENAAAAAAAAAADX6Oo63plGUEOC/J2hrq7j5ujoDR46AAAAAAAAAAAAcBGCGgAAWaCj4JabC68BezYw6JsVQnQGA2H5fM75HPXgOzI0YmDQp7NYDwAABUMWAzZsa1xz2FKfYen6gJoAACAASURBVFvfKtKgsk4Nbdoa2gRQmHTsgyjOjWzq01RoLxtkMb+b6nPyKYzheXSENejYVzlqD6EOTUnbbCL8N/l72Qh1kGFpHWo7szWENQiKngIodsFA2KP2hf05Cq/OlvdVQINrArLlMU7z8fTKs/5nyPTHZKDDbuMBNX8iaRzQoUKe3FKYH85qUVO3eLj+E9uGnCbU9vJItNcrf+6Mi4I9JlVQQyyFny06hm1dkDkCGpdbPnN4Yec3BwZ9U+r40h8MhPvUefEpN/b/rfKjKYU1JFssaWxfLGtsj5Z9YWHf5r2Jgxs/+6Bia2W1Mb4wNVdTv53Y8Oq9W06FNZwybMsTMv2zTjSGonWTVQ/ASYQ1AAAAAAAAAABcoavruHwAaiTDAj2Nqo32FH4WAAAAAAAAAAAAWUBQAwAgS1o1fAxhDShIMighGAjLygxv52j5zgcDYfl8T48KkAAAAM8mi+59W2OhMNnuOfU5xcajYXkZ3wB4rmiv16PjmnnzcISwBmSFYVtnXF78OBHGkPi6lPh3yPQXciE/HaFRjYZtdYZMf97fb0sq4CyeE+ogrzW/pXH87RdC/FHzcGQk2uud03A8IKwBQFGSQdGqaHauwqqzYVpdvxlSBcPd5ozG+ZkMmf5rmTSQFMr1xDjAsK1EaEOtuu/ctGNC/pPr8YSa5DqX5wqTL889mPrj975/4iUhXnLREl5pHo5cdsF8uJJhW+0qMEGnvueFCKiwnCF137tfHYOy/Xzkrj4pOyzWSypF+dbqnn93XVTUPyh9xSenhq3Y5L75hdk5dXZUubEujt6dEh++7Eg5j54ivS9RrHQ81wUAjiKsAQAAAAAAAADgFvImdJsD89LW1XX8wujojQusWQAAAAAAAAAAgNxSL8NnGtidjmlV/JegBgAoAqp4lo7CWYVcuA1FbmDQd0EFNlzMUdGIU7KAYDAQ7nFpQSEAAFwjZPqXDNu6rAIVdDlh2Na1pKJ1xaJTw3JyPQpAKnTsf96n55ENhm11CCFO57izY0+Z7hdBGMMzyUAFw7Z0FP83i2mMI7chw7auatzOWwzbOqkKTsuAjbMOt39KhgI1D0cIEQNQ8BLB0A6+n+xW76mAhhG3zqAaI3Zo/Aithevl9bekEIcnxj1J96NbkwIdajQvM/SqOR6Z+NVf/6frR26++HLZLc9LG9Xrqwt1K/G5fctLs56l+bkc9P+M/FtvHo7wnMKz6b6//X7I9Ke8v1X3uuVxqD8YCPep0IZTGucvZbfKj4q2tX/IqI35kqaOzaUXhBALj7539M60U2ENJmENRaVWw8LGUvgZAEgZYQ0AAAAAAAAAALfoc3A+ZFuENQAAAAAAAAAAAOSQevnwnRzMwbh8kW9g0EcBEgAoHjqKYBR1YTcUh4FB31AwEB5TReFyEdhwTBa8kQFfhGwBAPBsIdN/1bCtTs0F4OS1nG8V2arwaGiTa1IAUuFIRbsd2P9AO8O2ZGG9b2appyd3BDLIMIZYyPRTiO/ZdBT/N1VB1GIiwxq6NYUES+cM2xr7wcPQe6fXl1CFyyl6CqBgySBodR1Dxz7ULabV8XcoT55/8WtsezLXAaNJ942fOh8qrEI6siPUoSV7c4lU1a3Ey39z/IevdnxysznxK5ulpWVLldWNcrrX8IJXfq92dXmuZnVloX5lac4TX5gr39hY19jJcvx5pXk4ssSK3J1hWz1Z2PenXfNC3n+X+20VJtSv2srFffht0+VvZBzWIJWulYrylVKxXrW5/e9Dc/dFw/KSmK/OuPZ+T8Yzh2J3v9g7AICzCGsAAAAAAAAAAORcV9dx+dBum4Pz0SbbHB29YbN2AQAAAAAAAAAAso+gBgBAlrVq+LicFvwAskWGJAQDYVn4eUSFJ2SbLE5hBwPhflW8AgAA7E4eK7+tsX+aDNs6EzL9l4toHZxyusGQ6SeECkAqdIQ1sP9BNnxDY/H6ZFeKbEzipDFNYQ1FJWT6lwzbuiSEOK9puWtUGMSIpnuqJmENAAqNKnzdpyYn30d2m3dVQEPevB9t2NZJzaEErh8XJoVJPHGP2bCtJnndTQixX31NTK1ZGlsjydG7U42/8Q/XjtSvxque1y+J8IZYfeMhmZ5Stba6WL8Sn61ZW1ncF1+cq1lbWXagb+NCiO81D0d4PuE5DNvyZCFE7g9Dpn8q00YGBn2yjf5gIHxBBRL05+JefLykQcyXNomGzcwzD6sWK8R61cqjfx+9MyV+fPjLmTbbaNiWGTL91AQpDjrDyAHAEYQ1AAAAAAAAAADcoFPDPMg2uTELAAAAAAAAAACQZQQ1AAByQMcLvTdZkSgWslhEMBBOFHBzuphfKmRgwzuy0NLAoO8CGx4AAE8XMv0xw7auCCFOa+yi04ZtjYVMP+Ph9Mzl40wDyAkd71AQ1gCtDNs6l6XCeuMENWREvkv1tsNtygKancUWShUy/dcM2+rWWHy6+zf/7Z9c+8G//71xDYVbexxuDwByRj2D0qcjcNFFxlUB8pE8feZF57WqyaQghLwkr+kJIWJPC3IQD8fZidAG+bU2acxNUWuH/cYH19q+Nv3P3nRbXamorJPT9j9eEKJ8Y2OlLhHesLw417C8tLDHJuXf/lDzcGQpe72Q1/o1h/VMOx0Gofbp8h78UDAQ7lTL0KPuj2fFdPkb4qurf5fxR1UvlIvFF5PCGu5OOxHWIFR/UBMEacn3MQIA9yGsAQAAAAAAAADgBh4N86CjTQAAAAAAAAAAADwDQQ0AgGwzbKtJCNGk4WMnWJkoJmoc1RMMhGWxiPM5WvS3VWBDHxsfAABPJwsXG7Z1QtMYOEEWYv5Ooa8Cw7ZMDc1SKB1Aqto19BTXx6GNLNQvC8tnoYdjqpAl0hQy/bZhWzq6r7NIxzqyM9/S1LYsynxGbfPfdbjtxmiv12wejlD0FEBeUgWtEyENWStonWUy8HFEFgYfGPTl7THWsK2Tmq9TFfzYMCk09YmC04Zt1argqFoV5pAIddB1j7wgtcfu1P/m+A87Xliar3Ny+dbLyqrmauub50S9uNvYJEo3NzfqVpdnq7fDG5ZmPUvzuwW7xoUQl5qHI9eKc43snWFb7RpC6XbqC5l+bddW1L6+LxgIe1RAQb+G0LYnRMsOi6+KzMMaylfKRNlaidio2Nr+976VJXFo9p645TmQadOJvkDhq2UdA3A7whoAAAAAAAAAAAAAAAAAAAAAAEDGgoFwv4ZCIql4X760R1ADABStVh0LHjL9TxTDAIqBDEoIBsJ2jgK4pPOqCBNBXAAA7G5IY8FYqcOwre6Q6b/KOtizqTybXwC543gxPgpyQxcVlpqtYMXvh0z/EiszY/Le2SmH2zSLMUhDXic2bEteK+7Q9BEn/ubLxl/+2k9DOtqWRU85NgDIG9kuXp1D8jg9NDDoK5Tj6mmNbV8Pmf6YxvZdT42NE/etnwj1UGN1Oe1XX5MDHWqKue8SfnUifMj4+IO2yo2NMt2ftVlaWjZfXdskp3sNL3jl92pXl+fqVuJzMryhfmVpsXxj46dyH9A8HCnqbTsNuveZ78ngO82fsU3dA5fLM6Tui/er45+WcKL1kipxu/yIeGV9IuO2KuPlIl6x9ujfR+9OOxHW0CbDOEKmn2vrha/F4SWMF3uHAnAeYQ0AAAAAAAAAADfQ8WI1L2sDAAAAAAAAAABkSTAQli8Qns9Bf78rCwqzngGgqOkokkVQA4qaLBAUDIRlMYQRXUUhnkMWYRoLBsIykOuJwjMAABQ7VTBWBil0a+yKM4ZtXS/wYsmmhjYpKAXguaK93nYNvTRNz0Ojb2ap0OulkOm/yYp0hK0prKFYyfug39a17P/3r/zPr/3aT0NyP97mcNOJgucA4GryXoDaZ+XimZNsmVb3XC4ODPoK5tqBYVtnVECALpdzu4Tup8IsYrvd3zZsK3Ev/Yj6Kv9dq6FgtuvUrcTLe8NXO9oeRHVuo8+1VFndKCcZ3vCTti9F/uL1k1Pb13UfBoLdLPZAklQYttWj4fwm2Vyuxs3qXnifCizqU/Ph9HmBuFV+1JGwhqrFChHf93hYw49ee0OslFdm2rRcxxczbQRFh2tIABxHWAMAAAAAAAAAwA10vFRts2YBAAAAAAAAAAD0I6gBAJBjRzR8PC/0ougNDPrsYCBsquJBjheESIH8TFsFNvAcEAAAT7oihDipsXByjSoO9b0C7nuPhjYJawCQCh1hDex/oIVhW31ZKuQqQ6KushYdI6+lvO1wm22GbbWHTH/R7W9kAV3NYWkdnzS88PcvzX/q9DW4NhkQ1Dwc4RgBwHWCgXC7Kkjdk6N7ENnyngz9GRj0jRTaghm2Vas5SPQ6RewzJ0NfVSNPhDmoddiiwhtaVfBG8pS3jkcmmn79n64fqdzYKHPDMixU1qz8me9XfjrVdHBB9XlL4u/HsK1E2EYivIFnFZIYtuVR4Wk6Xcz1ec7AoG9WhRVcVPfo+5x8HvNB6StiubRBVG/OZ9RO1UK5KNkUYqv08+8dvn9bfPhyxpe6CGsocIZttRZ7HwDID4Q1AAAAAAAAAABybnT0ht3VdXzawYeqpkdHb+gIgAAAAAAAAAAAAEASghoAAC6go1jcE8UqgGI0MOgbCwbCnarA37EcdEGjEOLvgoHw1wcGfbqLcAAAkFdCpn/JsC15fPyGxvk+ZthWZ8j0F+ozuZ0a2qQQLoBUmBp6ifcn4DjDtmQw1Iks9OyMEOISa9A5IdNvG7alo2kzC4VS3UprWNpfffVE1fnrf6mjaYqeAnCNYCDsUcWn+3J0zyFbptW+d2Rg0FfI1wm6NYaIxhkf6ievLybdF3/inFIV1q5RQQ6JQAf57w63LlPdSrz8134a8r5x66NDLpidbf9w6Au3/ubLRmSxqmZ9lx9pUudd2+dehm3F1XqZkF8JbxAX1D1jXcZDpv9CbhfxcQODPnlv3g4Gwv3qmNnvRA2OW2VHxBc2f5Lx/FXGy8VK3eeb87GZnzsR1nBKBnOETP9spg3BtXSMGQh1AuA4whoAAAAAAAAAAG4hH9Z926F54eVsAAAAAAAAAAAAzQhqAADkmmFbugpBENYAKAODPlkQoTOHYz/pnWAgbDIGBADgcTJEwbCtSc0F0s7Jz1DF2wqNR8PyENYAIBXsf+B6qjDruSzMpyxEOlSgY41cG9dQCLtowxpUWNpVIcRpHe3/2fFfif2vob9eKtvcqHW4acIaAORcMBDuUcWmzxb42nhXHidVke2CZthWrQpr0OUq48PcSwoJeOq9c3Wvfr8QokUIcUR9zZn22J363wr/3ZfrV+NVbui/1bKyjb/+yomJG94jey0mXqPG8dtjeRXCNpkIcAiZ/qJ5lkEGCQsh3tT8Mf2a20+buk8vx/IX5b1ydSxN+379rfKj4gtrmYc1VC88Htawf2FONCwvifnqzE5lamcr/7UQ4t9lPIMoJoQ1AHAcYQ0AAAAAAAAAAFcYHb1xoavreJ8Dyf7TPEQKAAAAAAAAAACgTzAQ9qj7Mbko1vunA4M+174kCQDIuiMaPjBG8Q/gSTIoIRgIy+Kfb+eoe86rcWifKkwBAAAeksVy/0AV8dKhSRWkvVSA/e108WJZxI5i6QBS0amhl8boeThFFd/t0zi+SHYpqQgsnGVrCmsoWiHTf9mwrRNqjOy4X+w/ePe1T2ZedbjdU9Fer6d5OML1NABZFQyEO9V4Qk6NBdz74+r5mZEiu3dxWuNYUYZ5XdXUNhykQgMeBQeo84gONbVqDph9zG98cK3ta9P/7HXL+p1+sTk27OueXKyqWU/hx1OR6NfTKrxhRgY3JEIcCvj5Bt31It4Nmf68CNhRQUB2MBDuV8fW/r3W5IiXNIhPy14RL2zczmheqhYrhBDLj33v2MzPxI9ey+z0s/5B1Z8EA+HTKvioKEMCC5yO57sAwHGENQAAAAAAAAAA3KRHPQyc7sNXc7KN0dEbPEAKAAAAAAAAAACggSqQq6O4Syq+zot4AIAddBR4mEzhZ4CiNDDou6ACG97J0fKfVUUoegYGfRRCBgDgYVG0mGFbV1WRPF26Ddu6XkiFlA3b8mhodlxDmwAKk46wBs6R4KRzQoiWLPSoHF9cY81pI+/nvelw421yHBUy/cX83pYMMfuGjoZ/3PaliIawBqHe1+MeKwDtgoFwu9rn9OXomZJske8xj8gi4gODvqILTTNsS4YWdWv8iKsE6+cntd7GksMEDdvqUAW6EwEOjoZ8HJifrf7tH//Nl19Ymq9zQ6etlpVthF59ffq/HPHd0vxRLWra/ls0bEuGN9xUzzpMyGvGmj9fO8O2ZBjBKY2fM6cCD/KKCgaSIRYX5T1zdcw9m+oy3Co7knFYQ8lGiShfKRXrVZuPvvelO1MZhzXEWhfFF69vr/NTwUD4ojqHuchzAXgGwj8BOI6wBgAAAAAAAACAa4yO3hjr6jrep26e7jWwQd4U75NtsEYBAAAAAAAAAACcR1ADAMCFWjXMEmENwDPIMVkwEB5T48K9Pt/jBDkWHQsGwmYxFkECAOBpQqb/smFbnZqLKsvne/+ogFaAjkLpxVy0GMDeOH4u1TwcoXAdHGHYliz2eSILvTkTMv3c99HL1tS6qQpUF6WQ6R8zbGtSR5DwX3/ll6Z++8d/q6NbTcIaAOgUDIT7VEhDysWi89T7cn/KsyvijMa24zKsQWP7yLKQ6Z9Mvv9u2FarGkcdUdcym9Kdo1+dCB8yPv6grXJjo8wN6/XT2obF//Tf/dpP7zV4lnPw8Ynwhu1zOcO2ZFiDDHCYkP2fbyG8Kmj3guaPuZDvIXQDgz55XjaiwpL61NT2rN+5VX5UHF37e1G+tZrRZ9d8VinmD3y+qVdurItX790SHx84lHabGxWbYq45Lhqj25kujSp88M1gIPyeOv6mdR4qQ2PUvgi55WhYj0K4EwDHEdYAAAAAAAAAAHCV0dEbI11dxxMP7j7zhnCSafkwF0ENAAAAAAAAAAAAehDUAABwG1XIQcfLvHlVqADIBRmSEAyEO9XzPbkYH8riDHYwEO5nnAgAwCPymPj7GrujRRZvDpn+QimY166hTZ5jBvBc0V6vqaGXxul5OEFdbzuXhc6URXi/x0rTSxYeNWxrXMO1m6IOa1AuCyHecrrRB3X7Vu81eGIH5mfTLlq8ix6H2wMAoe4R9Kt9TC6CnbNlTl1zuTgw6Cv6gDTDtpo0B3tdCpl+Ci8XMBUacDMRyqG2qSMqwKEjlfCGupV4eW/4akfbg6jTY6a0/aTtS5G/eP3ktIvWXJOats8FDNuKq36XBesn8qBw/UXNx5b3Q6b/osb2s0odn2S4xYVgINyjQht2DVD6pOyweGV9IqNZrIw/mZFy9O50RmEN0oOWxURYQzK5LGeDgfC0OiYPPeuYrPYrnWrfkvgbeNqPxtU1/TEZypfRjCMVrfQSgHxAWAMAAAAAAAAAwHVk6EJX1/HEw1rPSvHfvqk6OnrjAmsRAAAAAAAAAABAD4IaAAAu1aFhtuKqQASA55AFEIKBcKI436kc9Jcs0PGOHKsODPoKppgGAADpkuNYw7ZkkbNujZ14xrAtWbgoVgArSkdYw6yGNgEUHh37n6IvGovMGbZVK4T4Rpa6cqhAxhP5QMf9PR2hM3lFFrc1bOu6jmLV//XV1yfPjP/Q6XYbZVhQ83DEdrhdAEUmGAi3q3CG/me881so3lPFoIs9oGgnv8a2YyHTf01j+3AhdV5wTU2J85JEcIMstN6SPNfHIxNNv/5P149Ubmw8WSk+BxYqa1b+zPcrP51qOrjg8u2rJqlfT6vC9ZNq2g5xcEtQimFb8nzjvOaP6dfcfs6o49aIOmb3Pa1Ox1T5GxmHNZSvlImytRKxUbH16HuHY3dEw/KSmK+uTbvdWOuCOBzev9v/lsvxtpyCgfCj43TSfqMz1dAXpUad051QfxPjKrxhgmsW+SEPgmcA5CHCGgAAAAAAAAAArjQ6emM2keKvghvkzXWPmlf5/8ZGR2/wkCgAAAAAAAAAAIBG6sW9kRwENczJlwV58R0A8AytGjqHF3mBPRgY9MlneMxgIDyUhaIZu/luMBDuHBj09bHuAAAQV1RBolSLEe1VjSru9J0C6GodxdLHNLQJoPCw/4FbfUPjGCLZ1ZDpZ5vNHh19fcywLU/I9Bd7UNVlNfaucbLRsPfI7TPjP3SyyYQeFd4BAHsiA5PVPqQvR8HN2TQtCz+r4s8Eou1g2FaH5meHrmhsG3lCBQaMJY9j5bZ3YGH2jf/hg2u/eTh258tuWZLJl1qjPzj2yx8vVtWsu2B20pEIb9hm2NaMLFIvhJjJcbF63SH9f1oM56TqOLZdpyMYCPclH8fnS/eL+dIm0bCZ2SquWqwQS57Vx7736v1bYrzli2m3uVK3Llbq1rbbfubP1a6fje9bO3vuT//zp40v13y85FmdXKvamE/7gx86ljjOqb+H7X2RDMrOsF08lI1rTgCQMcIaAAAAAAAAAACuNzp6Y4wXCAAAAAAAAAAAALJLFr1VRTsas/zRMqjBHBj0cX8IAPAsHRp6h5esgTTIoIRgICzHje/kqP/Oq7GrqQIkAAAoSrKYmWFbl1SxZV06DNvqLICCVjqKpTMOAZCKTg29RCFZZMSwrTOarrXtNBky/ZdYW1mlqzi/qcLei5YsXmvY1lUhxGkn++CG90jss+q6hX3Li/UO963pcHsAClwwEDZVYeeeHDwzkm3vqoAGQm2e7YzGtmMh039NY/vIYz/4978XF0J8SQghv/5wvrq2/rPqusbFqprGxcpqz2ZpaVk2l261rGzjr79yYkKO2wpsu2pR0zbDtuTyTapnKCazUbDesK0LmkNh5lSAQVEZGPRtBxEFA2F5TbxfHt9vlR9tPLr69xl1Q2W8/Imwhjdu/jyjsAYp1rooXvnQ89j3Nsu3RLxhVSy+sCLi+9bEetVG4n+9UDNf4ZPTWtXG1JJn9R/jDWu3M5qBhxJ/D6eT/hbGCJ/MiNNhDfEszz+AIkFYAwAAAAAAAAAAAAAAAAAAAAAAeAxBDQAANzNsq1bDi7zSBCseSI8s8hAMhGWB4qEcFW6ShTvsYCDcx1gSAFDMZLEgw7bGNRe16jNs61syHCKPu9rxsIaQ6aeoI4BUeDT0EmENSJthWx1OF5vfhSyi933WVHaFTP+UYVvTQog2hz+4s9jDGhQZ1tAthKhxstFf7H/l9rGZnzkdoHIs2uttbx6OcMwAsCtVxLlPTU4fO9xmXN3PGCIE+vnUmFFnuNeQxraRx6K93jM7z1calpcW5CSEuCX/LcMbliqr6+aramWAg2e9rKxK1xLf3dc09/8Zv/7Txaqa9SLYruTzGCfUJPcDcVWwXj5TcTNk+ied/DDDthJBAjr1hUx/0e7zBwZ9U6qP+/+Pf/3pv6neWriwXFJ/MN32qhbKRcmmEFuln39v38qS2L8wK+7Xp3/564EKa1ipXd8OZpABDcv7Vp/7exUrZe2N0Zr2hnvVC/GGtQ8WX1iZ2Czfev4vPt+jvwXDtoQaQ4yp8IZ8vkeS77QHyAAoToQ1AAAAAAAAAAAAAAAAAAAAAACARwhqAADkAS3FQJwuKAAUm4FB30gwEDZVsb5cFHJKBDb0DAz6KJYMAChmssDdt50uGpukRhVJu5THfVzoRScBuNcpp+eseTjC+Q/SogJRv5ml3vseRQxzRu4jzjv84WYeLb82cps2bOuS0/373w5/eUpDWIPUI4S4qKFdAHksGAh71P6hX3PwoxvMqfsXF3kuZc/OaGx7knu02Cna621SwTHPHRMlwhuaxYOo/He8oqp6saq6bqGqtnGhqsazUlFZl2kHr5aVbYRefX36vxzx3SrilVWjjhPbxwpVtH4yKcBhJsNzvouan1V8P2T6CZxT/s//+C//n2jv/1YeL9n3L+6Wvfr6fGlTx6Yoq9xrO5XxcrFS93h2ybGZn4urR7+W9rzNvRQXv/DdF5vlm2n9fulmSX3dXOUJOa1VbUzFG9YmlzyrTobWJf4Ozhu2NSOEuKaOZYQH7MKwrVZXzhgAPAVhDQAAAAAAAAAAAAAAAAAAAAAAYBtBDQCAPKGjUBVFQAAHyPFc0pgyF4Wd5Dj274KB8NcHBn1DrFMAQDFSRWMvCyHOaVz8bsO2xvKxmJ5hW50amn1fQ5sACky019uuYYnm2E6Qgbc0hjslu0IB3pzSEdbgePBMvgqZ/muGbXULIVqcWoTLb/yLqcAP39PRIyZhDQASZOixCmlw+hjhRu+rYMuRgUHfLBvB3qjrKFqC9JXLGttGHor2ek+q65ppnavUrK0sy2n/wlxM/nu9rKx8tqa+camyun6xqkZ+3dMzcZ/WNiz+4NgvT041HVxge3pCh5pksK9Qhesn1LMXMrghFjL9sec1YtiWHKee1TyvfZrbz0fXarY+O3Z4fUyGDVy7W/aFjtnS5iPLJfUHU12W6oUnwxpevXdL/Oi1N8RK+Z6zHx5ZfGFF1MxXZNylFStl7XJqiFWvrtSuTy6+uPLBWtXGfMYNf64lcR/GsC25rY+p4AaegX2cjmtPz923AEA6CGsAAAAAAAAAAAAAAAAAAAAAAACJl/GHchDUMC5fiCSoAQCwB60aOusmKwBwhix2FAyEE8XfclXo6R0ZGjEw6OtntQIAilHI9F/NQjE9WeDqW3nYvR4XzAOA4qQjrIHr6kiLYVvnnCwu/wzjIdNPAd7csnV8uiyoGjL9WtrOQ5YKP3HMZHPrVEf0ptPHjbPRXq+neThCoXKgSAUDYblf6VchDW0F3gtz6vmXiwODvikXzE8+0xkGOkmoFxKivd5adb3R0TD48o2N9YfBDXOPCnvP1jY0flZd61muqKpbrKz2bJaWlj3td3/S9qXIX7x+cpqVlLIWNXUnfsGw5VBZxJOex0j8zd9UgQ7ran+t0x+GTD/Hgh2ahyNj0V6v/Ltokv/n5Y2PJuU0X9rUnlJIAAAAIABJREFU9ElZ++uLJZ72TVH2zMSFqkUZqLD82PcqN9bF4fu3xYcvp386s1qz7khYQ0LJlqisXiz/qpw2yrdi8X2rHyztW53aLN9adexDHvZjtwq6jqttXV63k6HXSw5+Dh4irAGAFoQ1AAAAAAAAAAAAAAAAAAAAAABQ5IKBsHzZ9Z0c9IIMajBlQd9iXwcAgD3RUXCWQiCAg9T4ri8YCMvCF2/nqG/fVMWn+hhvAgCK1CUhxO9rXPQmw7bO5GEB5k4NbVKoGEAqdOx/CGvAnqlAp+4s9FwsC0U38RyyKKlhW9MainKbjIEekkWmDduadPK6ddh7VEdYg1DrbURDuwBcKhgIe1Q4Q7/TBdBd6j05/hgY9LGvc4BhWycTRbw1uZTH3QMHRXu9chz1TSFETTb61bM0PyenxL/nq2vrP6uua4zL8IaqGs9sTb34izdOTnz4cvvcs1tCimqSxso7x8w+zQFC8lzoIitqV2M7rw80bMZiDZsxe62kqjJW2tL+oOzQ66ui+qnHgpKNElG+UirWqzYf+/7RO9MZhTUs16+Lxk8yWq5dla2XNNU/qDLrH1SJlZqNyZW6taklz6rTYR41atwlp/OGbc0IIa6pkKKbKfx+oTlShMsMIE8R1gAAAAAAAAAAAAAAAAAAAAAAQBEjqAEAkE8M29IR1CAV4wvRgHYDg74LKrAhF+NN6awsHBgMhBl3AgCKjiz6Y9jWFSHEaY3LftqwrWsh0x/Lo/71aGiTcQaAVOgous3+B3ti2JYssNiXpV77fsj0L7GGXGFMU1gDPieDSb7tVH+EDn/lzm//+G91dG8PYQ1AcQgGwj3qmH+2CBZ4Wu2HZUiD08WWi53Oa0rXi7RgNZJEe721ajvLRpjcrhqWlxbkpP7/9e/89//qP3/4crtXBQu0CiFaWG9aNKiwBp36Q6afaye7u7rb31/F1srqyxsfTcppvrSp6ZOy9tcXSzztm6KsMvnnaj6rFPMHlh/73UNz9+XflQxCSWumtkq3xGrNhqiMl2W+hM9QFS/rkFP9g6qFlbr1iSXP6uRa1ca8ho+S+5Bz4uF1mZg6Rx+TwX8aPqtYMIYAoAVhDQAAAAAAAAAAAAAAAAAAAAAAFCmCGgAAeeiIhlmO5VlxWSCvDAz6hoKBsCw4YAshGnMw78eEEFMqsGGMrQcAUExCpv+yYVsnhBBNGhdbXl/6Th51a6eGNhljAEiFjv2PTc8jVYZtySqJ35S1FLPQae9SfNdVbA3Fuk/leZ84Sl5fNmxr10Kne/XxgUPz9xo8sQPzs06P43uy1ikAsi4YCHeqc/S+HF2Lz7Z3VUADY2INDNvq1nw96XLOFg6uEO31tqr9lVuCEOJyn9I8HBn7vx7+e0YIcU18fi7VkRTe0JHjeS0UugPgQkKIDcO25PFxiedCntQ8HIlFe70zz/s7bNiMxRo2Y/ZaSVVlrLSl/UHZoddXRfX2MWK3QIWjd6bEjw9/Oe15W65b0x7WkFC6WVJfM1/hk9N65ead5fq1iaV9q1Ob5VurGj6uSZ03dhu2FVf3FiZVeEOhBl7quA5FOCgALQhrAAAAAAAAAIAC0NV1vF09LClvSnuSlkg+ZDQyOnqDF4AAAAAAAAAAAADwGIIaAAB5qlXDbE+yMQB6yZAEGZYgi5yo8IRsk4Wp7GAg3C/DI1jdAIAiI499b2lc5A5ZwC9k+q/mSbd6UviZveI6F4BUtGvopSl6HntwLkuFUK+HTP81VoyraCliLYuehkw/76x97ooQ4qRThSg/OPTa1K9++BOni2Q3Rnu9nbIIscPtAsiRYCDsSQpoyMW192ybFkJcVCENnItrogrTn9H4EdcpmF7cor3ebnV+4haTKqjhqdulKqA+lhzYatiWDGw4khTgkI1QvEIir5Ec1Lg8ssj+x0KI08nfNGxLqGCORLhg4lmRm0Uc6CCv659P5QcrtlZWX974aLKxdCZyt+bQFz6tavpCvLLm5ZJNIbZKH//Zo3enMwprWKlfF+J+2r+etvLV0oP1D6oO1n1atbpavTG1vG91Mt6wdlvTx8n9xgk1nTdsazKxrymw7VDHc14AoEXJ1tYWPQsAAAAAAAAAeaqr63inerDo1HOWQD6A1D86emOEdQ0AAAAAAAAAAIBgIHxBCPF2DjriPVkkgJfmAQDpMmzrooZCB5fyqLAskNdU4aiRFJ530ul3BwZ9F9mSAADFxLCtPlXwRxdZ4OpbqnCZqxm25XiRjZDpL+EPCsDzRHu9ju9/mocj7H+QEsO2TqZafDFDM0KI7+TDmKDYGLY1q8IsnfS7IdPPNZYkhm2d2VkQNl3HIxNNFy7/x9/SMJt/2jwc6dfQLoAsCgbC8jy/Rwhxtgj6fU7dV7gog6FdMD8Fz8nj2S6+RVhDcYr2eptUuEyHizrgUvNwJONnBQzbalXLlQhwILxhd5VCiH+lvuoSVlO6iibQIdrrlQE9337eNjtb29A4W1PftFBV41mpqKxLfH9rq6Rsvqq+ZbWyrHbn7/zVV35JfHzgUNrzdmCqXpStl6bwk3ptlm4txBvWPljetza1VrUxn6WPjSUFN0ym8POuZdjWW07v90Om/3fyuU8AuFc56wYAAAAAAAAA8lNX1/G9FNBpE0L8eVfX8XdHR2/0scoBAAAAAAAAAACKVzAQHspSQZ6d3h0Y9HGvCgCQNlXgQEdRg7x+sRnIJyq0y8zhmFT6bjAQ7mRsCgAoMpeEEJ0ai4TVqEJr3yvCDWvOBfMAwOWivV5TwxyOs96RCnVN7VwWOksWsxwiqMG1bA0FveW+jbCGJCHTf9mwLRmS1pRpWze8R2KfVdct7FterHdyHtV6A5CH5HVtIUS/CmlwOoDHjd6TY4uBQd8I22v2GLYli213a/zAKwQ1FKdor7dTXT90S4iBDJobah6O3EzhZ58rZPpvqmL+28EPhm01JQU3dDgxPiwgX9Mc1LCQYVCDUNtporj8E0XmDdsShRLo0DwcWYr2esd2hj3HK6qqP6upa5yrqW9arKz2bJaWlj3t90tKtjaqNpcfrIq6J8IaDsfuZBTWsFy/LupmdW4qqSndLKmvm6s8Iae1qo2plbr1qYUXV3Q/Z9Skjsfdhm3FE8ENclvLw+su7P8A5A3CGgAAAAAAAAAgD3V1HU/3ZeXzXV3HBYENAAAAAAAAAAAAxYmgBgBAnmvVMPtxVTgBQBbJsWEwEJbFBL6bo34/HwyE22VRKxUgAQBAQZPFewzbuqT5utAxw7Y6QqbftWFohm3pKEw7pqFNAIXHo2GJOJfBc6liu9kqiHqJ62yupiusAU+S4+5vONEvv9j/yu1jMz97ojhsho5Fe73tzcORKdYd4H6J69gqpKGtCFaZDCQbUiENjHdzo1vj2DGeKGSP4hHt9SbOSY65aKGvNg9HLun8AFWo/5qaEudmieAGGeLQovPzXUwWbf+q5tmzs7T4hRToILfTE7O1DY2zNfVNC1U1npWKyrpUf7lqfW1+fmtrU5SUlCZ//+jdafGj194QK+XpBS6s1LkjrCFZxUpZu5zqPq06uVq9MbX4wsoHq7XrutdjjQrT2A7UMGxLjpcm5L2JPAkFcTqsgdAnANoQ1gAAAAAAAAAAeaar63hPhi9KycCG2dHRG/2sewAAAAAAAAAAgOJBUAMAoAA4XZRKJL0YDyDLBgZ9F4OB8JQqvNSYg/4/JYt1BAPhvoFBH0WWAQAFL2T6rxm2dULTuDqhz7CtP5bhEEW0RVHkFkAqOjX0UraKDyK/9WWpCOhVOdZgW3E1Hdc+Gg3b6gyZfq6rJJH9YdjWpBPj7v92+MtTGsIahCr8flFDuwAcEAyEPervtEdD0I4bzSUFNHBMySHDtppUWIMuV4vsmlHRi/Z6O9Q5idOFutMlC3wPNQ9Hsh42q7b9scS4XIU3tKjghg7N12zd5KTmeZHr9raLltfVgQ5qv39E/Ns/6fy9v/5/u2rXVuvTbatiY31xrbyiYef3ZWDDeMsX02pztWZdbJYKUbqZ7lzpU7IlKqviZR1V8dqOjfKt2HLd2uTiCysTm+Vbq1n4+GNqOmfY1owKbrheRAGahDUA0IawBgAAAAAAAADII11dxz3qoaNMvdnVdfzi6OgNXg4CAAAAAAAAAAAoAgQ1AAAKhI4CBVkvxADgcwODvpFgIGyqIqO5CGw4pgIbTIpAAQCKhLxG9AeqSJQOiaJ+l13anaaGNnkeG0AqdIQ1sP/BMxm21a3Oe3WbCZn+S6wNdwuZflsVAnWaqSkIIt/J8fBbmS7D5Tf+xVTgh+/p6AqTsAbAfdS18j4V0pCL6+XZ9q4QYkTeJ2BzdI0zGq8ZyWLkV/OwT5CmaK/3nObwj70aV0ENrggMUeENk8nPKxi2JZ+HaE0KcND195grrwshDmr8bFkkPx9DBLMa6KC2s061nT0Kdwy3f/mTX/7ZWNphDVUba/NOhzVIK3Vroma+Iu3fz4ay9ZKmurnKE3Jaq9qYijesTS55VrN13a5FTd2GbcWTQmEm3RCQZNhWa67nAQD2grAGAAAAAAAAAMgv/Q4+ZHVBPbgFAAAAAAAAAACAAhUMhBNh4GdzsIR/ODDou8C2BQBwgmFbtarwq9MmWEFAbsmQhGAg3K4CG7JRRHIn+TzWaDAQ/vrAoG+IzQEAUMhk0SbDtmRhvNMaF/O0YVtjIdN/M4WfzTaPhs+jWDqAVLD/QVapYnjnsvCZshDg91i7eeN9IcQph2eWov9PETL9k4ZtXRdCnMi0rcnm1qmO6M12h2fxbLTX62kejsw63C6APVLXxvvU1FYE/TeujhsypIF9kIsYttXkxHHrGS67oWg09Iv2elvVPq3FJd0dVyENrg8Yk2NIVYh/O9hEnde1qgL+HZqel8im1zV/VlgFNhSiTAMdEiEgu96L/+CVL8R++Wdjr6bbd1VrawsLVU9+f//CnNi/MCvu16d3aWy1Zt31YQ3JKlbK2uXUEKteXaldn1x8ceWDtaqN+Sx9fI06lm8fzw3bGlfPRI3tJdBDwzw5zY33ngAUCMIaAAAAAAAAACC/OBmucL6r63j/6OgNHmgCAAAAAAAAAAAoQCqoIVcFbyl0CwBw2hMvnDtBFTwAkGOyKFMwEE4U9zufo7l5JxgIdw4M+vrZHgAAhSxk+i8bttWpuWCafOb5j1zYjZ0a2qRYOoBUOF0cXXJ9oUnkhgo9/UaWPnwohwX/sHe2hv2RjvFVobis+iej4pRh71EdYQ1CBW2MaGgXwHOoZzl61LmzjnGi20yr/c3FgUEf59DudUbjnMVCpv9qvncQni/a6+3OUmhcqiZVUENenrOoMFw5XROfh6ocUdd1j7goECMVrwgh6jW2L9fxBxrbzwfPDHR4nnsNnuXpF5tjbQ+iaYWClIitjbLNjeWN0rLqnf/v6N1p8aPX0gtrWK5fF42fpPWrOVWyJSqrF8u/KqeN8q1YfN/qB0v7Vqc2y7eyGShyTE3nDNuaUdcSsx20XauhzbiGNgFgG2ENAAAAAAAAAJAnurqOyzuQbQ7Pbad60BYAAAAAAAAAAAAFhKAGAEAB0hHWMMOGAriHDGyQxamCgbD8+maOZuxNNZbuV/MDAEChsoQQb2lcthbDtrpdWIgvvYpQz0ahSQDPFO316tj3zDUPRzhnwW5kUENaxRX36ErI9BMakl/kvcO3HZ7jNsO22kOmnzHRDjLIxLAtOR4+nVE7h79y57d//Lc6ZrGHsAYgu4KBcI/628tVYHG2vSv3MwODPvY1LmfYVqsQ4oTGubxSEB2FXUV7vYnAOB339NN1pXk4crmQ1poKyruW+LcK6pN93qq+uqn/d9I9b9TLcMDkS960wxqkqvXVuaXKmifCGr50Z0r86LX0HmPdKt0SqzUbojJe5uiyZlPZeklT/YMqs/5BlVip2ZhcqVubWvKsZvscukVNpw3biqkwm7EsXNdp1dw+ADiKsAYAAAAAAAAAyB+dGuaUsAYAAAAAAAAAAIACQ1ADAKBA6XiBd4KNBXCfgUFffzAQlkUB3snRzMlCWZ3BQNgksAEAUKhCpn9SFY7t1riIZwzbGlNFxNzC8etlFCYGkAId74JQIB9PZdjWmSwV6JwMmf6CKnxaDEKm3zZsS8eSmkII7g8+XWLMXZNuAx8fODR/r8ETOzA/63QIS4/D7QF4imAg3C7DgdXfXFsR9NH76pgwwvX1vHJO48zGQqb/Wgo/hzwV7fXKc96+TMY7DpuR+6Hm4cjNQt+mQqZ/SV0feHSNwLAteT54JCnAwQ3rpVLzeeo/yn2NxvaLxrXX3oie+tmNL1RubKSVjFC5vr60VPmU72+si6N3p8SHL7en1ZXLdWsZhzVUf1YpVmvXxWb5ZkbtZKoqXtYhp/oHVQsrdesTS57VybWqjfksz0aTCmk6oa4RjKv9yITL7ufshme9AGhDWAMAAAAAAAAAFDdPsXcAAAAAAAAAAABAISGoAQBQwHS8vD/JBgO4kxxXqsAGObZtzMFMyvG0TWADAKDAXVEFxJ0u+pogC4H5hRDfc0M3Gral47npcQ1tAig8OsIaCIrBE1RRztNZ6Jm4EOL7rIG8JYton3J45glr2IUsoGvY1iUVDpq2Dw69NvWrH/7E6XF7oyyu3DwcIQAIcJh6bqNHhTTk4tmNbJtWx4GhgUEf49Q8o8aQOouoXynIjoMMaahVQR8nXNQbMijrSvNwZMkF85ITMqQ3+TkIw7YSoQ0ywKFF47XgZzmise1VIcRPNLZfdD58uf3uG7c+OpTOcpdvbiyXbm2ubZaUVuz8f6/eu512WMNK/boQ9/c4LytlouazClH3aZWoma8UpeslD9uqXRfzB5ZFfN/qdnhDrpRultTXzFf45LReuXlnuX5tYmnf6tRm+dZqDmbpWGLMatjWTCIEJmT6nQi9ycU+BwDSRlgDAAAAAAAAAAAAAAAAAOD/Z+/+Y9s48zzPP5Zl0fpp2bLDJLZoOZ2W3Znu2GkuUGPfHFIzBnZxgL1xY0ETM4uF1X/w9pL9I24GCxwaGbQXPWjg7jZszQGXHMADoixmZ1DmHdaBjQN25rxdmemxjz3LWF4PbtpKd0LRjm3GkS1ZPyj+kHR4lEdZtVs/SKqe4o96v4BCHEuuH08Vi09VPfX9AAAAoAlEI6lj6gV4t1/2n5KFBmLxoM1xBADQQRUJ0cGJF4sBaBKLB0dlWEKN+riCwAYAQLNbVTj2dY2betSwrWNJM1wPBWB1FEunjwCgHDrCYiiCi99g2JYslPqGS63yruxHsAca1qimsAasI2mGrxm2dVIVx63KX3/zmAxrCGpo4yFVTB6AA6KR1BkV0rClgJYGIceJXFIBDYwVaWynNa79mPwe9EIjek02FBhU/Yh6KcItA+Xe9ScyY2X8rqeoYut3VJCFvHbsU+EJch/2b6WPWoHvaJz3NRXYAIfcCBz+otqwBqmtVJye3+Hb8/TfH5q4L7rn58T0zo6K57nQuijmdhVutz9pO7RtSbSt93s7n7R9Fc7wZIfwza1dblv+vW+8a/nPJd+CmNldWA5umNudr3i9nNJaaHmu65Hvuc7HvkJh50J6vqcwlusu3qvR6hxQ0ynDtibUPYSxLTzj0fE9kdMwTwBYRlgDAAAAAAAAADQOHYPpGQQFAAAAAAAAAADQBFRQg3z2s8vlrZEv4MvitfVQcA8A0LwOa9iyiaQZnuCYAerbqsAGm8AGAACcJwvsGLZ1U/P37JBhWz+sg6LOAxrmyT0xAOXQUcScd0HwtLeEEO0utMrFpBmmAGpjk+ePNx3egoOGbQ0kzTBBMuuz1Oe0Kh8HDk882dk50zM/2+XwehG0AWyRGqsxpCa3x2vUwocqpOES98wbnwrM1xWaL132Slt6STYUkAEfp+pok+W9zRF/IkOgXBnUGIlraloJ/ls5FxzWEN4gC7U73YddcV8Wkdc0b89K9z0387ije3b33HRnNW2wY6E0t1ZYg3Tkflr83aGXqmraJ/vmHz3ZN/9R1yPf4M6ZHYdlwEFrfvtyMMNyQMN0m2gpbatonvLf9z5oX54WW5dErrsgZnfnxezuglhsXaxqPbdCBlH4ctsHfbn2we6HO2dy3cVb8z3FdNG3MO36ynxFfn5l8OBJw7Zy6vMmn4mM1vJ5jwqhAQAtCGsAAAAAAAAAgAZx48bH6Vde+e64HMDq4BrzghAAAAAAAAAAAECDI6gBAOAB/Ro2kZf2gQahCj4di0ZSI0KIczVYawIbAADNzlLFuHQVeG5XBdwu1rgddYQ10DcAUA7OP9DKsK2zGgpqruVm0gxfZW82PF1hL/J5JWEN65AhJ4ZtjW2lIPZne5+/d/TuJ04X1D6aDQUG/IkM+w6oQDSS6l0V0FCLkGG3yfeah1VAA+eL5hLWuDVjhHw1l2wo0K/Oe25ce5RDFg6/6E9krnlkF2ihCq6Prq45oYJcDq8KcdiK72hcfYIsNfn7/d/I/refjL5Qzdx9peL09NLSoti2reXpnx15MF51WIO6v3ZrZk/+ysye/J/039ozF/gve8JOBWbJoAcZ+iAnKd9REtP75pfDG0q+ha3OvvL1WdzW1TnVdlxORd9COt9ZSs/sydfye7Vd9XvldM6wrbsq9GVsk/AEHeO9AEAbwhoAAAAAAAAAoLFcEkK86dAaf3TjxscM0AcAAAAAAAAAAGhgBDUAADzC6QJU0kYvCwOoQ7F4cCgaScn+509rsHZH1dgtk2MDANBskmZ4wrCty0KIsxo37aRhW6M1LtKno1g698YAlOOg063kT2Q4/2CZYVvyOdFJF1pjQggxQqs3vqQZnjRs66aG4uKmuneC9cnP0E+qbZ9fHHoprSGsQTqjirAD2EQ0kjqjCgK/5oG2mlLn9WHGhTQnw7ZOaC66f9nL7dtssqGAvOY4rTHstVLyHuOIP5GZ8OQO0Uzdw/36Pq5hW/1qzMbhCkN/2zTdk5VSQohp3W3hVcmBl6oOa5B2LJRmi607up/++578nNg/+VB83ruvmtk+J4S4kDTD95f/76un9teFEOd19NF8c63CN94l9o53LYc1zOwuLAc3zPcUnFpE2Xbktw/IqfOx70Rh50J6dnf+VqGjVOvz34GVZ0qGbU2oZyUyuOHpfqPT3xuc9wFoRVgDAAAAAAAAADSWYQfDGi6w7wEAAAAAAAAAABoXQQ0AAC9QL/7rKPpQyyKxAKoUiweHo5HUpBpH5XY/+NVoJDUiQyPYfwCAZpM0w1dVsWcdxV9XhIUQP65h0+koDDapYZ4Amkg2FDimYWtucoxAfHXfrE8VI3TDe0kzPEfDNw1bU1gDNqBC0q5WG7By+eXfS0f+5kMdTWwS1gCsT43LOK+CTdy+J10L8kRzKRYPEtLU/E5p3MKbNQ7shEOyoUCHEOJ1zfcMK3XFn8gQBuKipBm+I4SQk+zLrlyLrgQ3yKlvnbUZUIENTpPV8m81WTPXlVlfe2nsmf7s4Bd3/NWsl2+hOL1WWIN05MF4tWEN0j9ZK0gyFg/KgKlL0UiqV90nGXLymrc1v130PmhfnhZbl5ZDG3LdMryhIBZbF51azKa2LYk2X277oC/XMbjQujQx31kcm92dv73YuuR+gsRv6lPXuTK0O6fGY41qCrsmrAGAVoQ1AAAAAAAAAEADuXHj4/Qrr3z33wghfrTFtf7wxo2PbfY9AAAAAAAAAABAY4pGUkM1KlAri0CdicWDaQ4dAIBL+jUsJqcKCgBoQLJIVDSSGq1RcNm5aCQlCGwAADSpi0KItzVu2gHDtk4nzXCtiqk5HtaQNMOMxwawGYJioIVhW7Jo6huaQk6f9gH30pqO7MO86fBGHTVsqzdphjlHbeyKEOJEtZ/dMX9/ejB7x+nvlteyoUCvP5Fh3wFKNJIaUOEMMqThoAfa5aYqfCzDijkXeIBhWyc2KK7uBMvrbdwMVPjgkEvXHOW4K89T/kSGa5MakyFkQohralq5Pj0ghOhYNb5jUGMozJgKbIBGt589OFF1WEOxODPjW/tnLzz8XPz8xZdFvrWqHA9zrbCGFaofI8fUDusK3GopbRPdD3cuT1Kup7gc3iCnkm/BqcVsantpW1/nVNtxORV9C+lcd3FsrrdQD2N621VQhpzO1cH6AEBFCGsAAAAAAAAAgAZz48bHF1555bsDW3g4dVMNjgAAAAAAAAAAAEADUkEN79dgzeVzJpOX8wEALhvUsDgKOAANLhYPjqqCWbZ60d9NBDYAAJqSLMJs2NYVjUW0pJOGbV1TBb3c5oUCmwDqzzENa0RQDKSzqhimbteTZvgaLd50dJ1HZOHMSx5u100lzfCcYVtXq+1zpwJHdIQ1CPYd8BU1FkMW9H3NA00ytSqgYbQO1gcuUUXVdd77uV6j+z5wSDYUWDlGTtZRm8r+0xV/IjNXB+uCp8g+rgpQkJa/Uwzbkn3Wf6uprW6zD/T7OHB44vd/mcp3FXLrxC6sb5tYWti+uDC/0LJ959O/1LZQEoe+vCd++WxVlzVnyv1F1b9Zfp6vs4/X/mTH8rR3vGs5rGFmd0FM78uJQkfJ6UWta0d++4Ccuid2FvIdpbHZPflbRd/CtGsr4C7GewHQqoXmBQAAAAAAAIDGc+PGx/KB4AdVrPhyAZ0bNz6mgA4AAAAAAAAAAEADIqgBAOBBOsIaxsr4HQB1TvVNZSG5D2uwpjKwYYRjBADQhGThM50F9dpXCiS5ybAtHcXSP3J7OwA0JB0FtdMcCt5m2NYJIcRxFxrhrhDiotfbuxklzbC8pzKuYdNMr7dtOZJm+HK1fe7kod+5r2m1yi56CjSbaCRlynu90UhqUo3FaPagBnk//XuxeLA3Fg+eJ6jBk2QB/j6NG37Z6w3cyLKhQL8Q4u06CmrICSHe8ycyFwlqaDjnNa3whOb711jll88NZKttD1+pMLXez47e/VW1s91l2FbF152xeFCGU8lrnkNCiB9ouh4WrfntovedHAmQAAAgAElEQVRBu+i/tUccSu0Tz3zaIzoe+0RLyZ3S39uWRNvO2dZv993p/MN96e5/1vXIN9hS2tbmysLdk2uy7QFQZ1rZIQAAAAAAAADQmGRgwyuvfNcWQgzLB4ubbIR8mDl848bHF9jdAAAAAAAAAAAAjYmgBgCA1xi21aGpWMhtDiagOag+6ploJCXHUL3p8kbJwAa5Dq4XnAYAQJekGZ4zbEsGEr2lcTGDssh00gxfc3FH9rq4LABYjbAGOMqwLVk89awLrSqL343IvgF7sGnJd9LOObxxOgKympUMQnm90m37dN/+6YfdvRP7piedvm9OWAM8JRpJDaggQTkd9MC231TvIV9i3Ie3qWevOovwX0+aYYqoN6hsKHBaCHGqjtZenrtGCGloWLqen8paGX8phJDns371d4Pqv/0qLBgO+cXAS9l/NP4PgWrm1lYqzc2tExOwd2ZKdM/PiemdHdXM+oy6nq1YLB5Mqz7RsAzsUsfpmTJqtVSspbRNdD/cuTxJs7vzItdTXP5vybfg9OJ+y/bStr6uRz6z65FP5NsXxvKdxfRcb4F7igCwCcIaAAAAAAAAAKCB3bjxsXwZauSVV7678iDw2KrBYTLRfVQ9bBy5ceNjBlEBAAAAAAAAAAA0KIIaAAAeNahjs5NmeIwDCmgusXjwfDSSGq1Bn5nABgBA05H9ZcO25D2hoxq37axhW6MuFoDWUTi4qoJQADznVQ0bPMph5E2quO7rLhWfvJg0w3e83uZNTkdYg45zXlNKmuFRw7bGqrkHfmv/i+k/+OV/djqsYVc2FDjmT2T4jkHTikZSveod3CGPnK/k+8WXZDFiVZgYECqoQVdfMqfCiNBgsqGA7Fe8IYQ4UCdrLo+ly/5E5modrAuqYNjWkI7i90KIKSHEnyXN8Mo4xjX7roZtyWO6j0CHrXvY3Tv/oKdv6tknE2XtT1+xMNuVz0325mYmeuemp/7T4eAfFVt3dK31u0fvfiJ+/mJVjyBkf+78VjcuFg/Ka2LbrT5i52Pf8rR3vEvkO0rLwQ3T+3Ki0FHStciv+XLbB+XU9cg3k+8s3Z7rLYwVfQvT2hesx+0GXW8ADYKwBgAAAAAAAABoAiuhDexLAAAAAAAAAACA5hONpIaFEG/WYMM+kC+2EdQAAKghHWENd9mhQHOKxYMj0UgqrQpQ6SgAsh4CGwAAzUiOS/6JxsJVcr5nXRz/3KthntwzA7ChbCig49wj/IkM5x/vGlIFJ3W7mjTD17ze2B6gJXjKsC0zaYYJtSrPZSHEW5X+o7/+5jEZ1hDUsD5DThQ9BepNNJI6owrwnnH5vnGtyHEel2Lx4CUORqymgr9OamyUqy6GcsIh2VBAHhOn66h4vXyW/64/kZmog3VB9c5oartLq4Ia1pU0w/L4WTmGCHTYolvPv5BdL6yhZXFxobMwP7krNzPRk5udai/m51f/fPfcdPqLnj3fXuvfHnp4r9qwhoOGbQ0kzbAjYVRqbOxyrZZoJDWgrovkdNCJ+a/FN9e6PPU+aBeLrUtidndezOzOi/nuolhsXdS1WNGyuK2rfXpHUE6ltsX7813F23M9hfRi61JB20IBoMEQ1gAAAAAAAAAAAAAAAAAAAAAAQJ2KRlLyRbBzNVi7Dyg2CwCoA/0aVuE2OxZoXrF40I5GUqYqqFBVdYcqEdgAAGgqsrieYVsXNd+XOm7Y1rWkGR5zoe1MDfNcs9AXAKxyTENjfEQDe5NhWyddus69mzTDF73e3l4gC1satjWuoQClqSsIotnIfrBhW9dlv7iSTfs4cHjiyc7OmZ752S6Hm0RHnxmoCVVo97wqFq2t0G4duSmEGFYhDQR7YT2nNBYfz8mwBlq+cWRDgQ5VjNzNZ2mbueJPZC43cLPiq2tX+R38mqa2cCz4l0CH8t3s/+bEq598vNC2sLBd/iNfsTDblc9N9uZmJnrnpqc2mtGe2Sf31gtr6MnPiRcefi4+3be/mtU6o/o+jorFgzIA4oKcVgV+aR2721LaJrof7lyeJBncIKdcT1GUfAvalttaaHmu65Hvuc7HvkJh50J6vqcwlusu3tO2QOfkGmAdATQwwhoAAAAAAAAAAAAAAAAAAAAAAKhDBDUAAPD1i+5OcqMQLIAaisWDoyqwwSawAQCA6iXN8DXDto5r6pevGDJs609kOEQD7ioKYALYjI6whjSt7j2GbckikGdd2HBZ8O5dr7e3x9gankVS8L8yl9X3RUWFXj/b+/y9o3c/cbqffjQbCgz4Exm+a9CQopFUryqoe77Oio/rMq6KVo+owsLAulTB8ZMaW+hqg97b8aRsKHBMBTXUS6F5WTD/PX8ic6cO1gVbp+s56XjSDLsaCkegw1dmfe3Tk+3dN757Z6ynJzc71V7Mz5f7bw8+epD+xN9fWGjZ3rbWz488GK+rsIbVYvHgJRmEFY2kzrvZx+x87FuepHxH6avwhj15UegoaVnetiXR5sttH/Tl2ge7H+6cyXUXb833FNNF38K0lgVuUdIM810BQCvCGgAAAAAAAAAAAAAAAAAAAAAAqDMENQAAvM6wLV0FYXlxF/CAWDwoiycfq0G/msAGAECzkd+lP9G4TSvFAi9rbrdXnZ5h0gyvWaALAFbp1dAYFOL1GMO2ZMHHt1za6hFVjBLeMarhvonj/a5mJj9zhm1dFUKcqmQzf3HopbSGsAbhRtFTwGnRSOqMOnZrMb7CbVOyaLAKaHC1YDUa3mmNGyD7j1c5ROpfNhToUH0OncEdlZLHzhV/IkPYR/PQ9Yy0LvuoTRzocFcIcVtuU9IMj2X/t38t1/PtambUlc/dm2rvGljrZ4cm7gtfqSDyrWtmOWzkVcO2epNmWHugshp3sByQFY2kBlRogzzOd+letm+udXna83mnKPkWRK6nKGZ258Xc7ryW5bUsbuvqnGo7LqeibyGd7yylZ/bkx7QsDADqFGENAAAAAAAAAAAAAAAAAAAAAADUEYIaAABYdlhDM0xQcA7wFtm/leEJBDYAAFAdVTz2SqXFYyt0yrAtWfSpkYLVpupgHQDUP1PDGhIU4z2vu1S48QpBRJ6kpdC3YVtm0gxTRLx8V1XR5LI/65df/r105G8+1LEuJmENaATRSOqYKpIrQxoOemCnfaSKBF9SBYOBsqki4cc1tpjsR1Jov85lQ4F+dW3RVydrmpPnNX8iwzVIEzFsS+f38kijtlSDBDrk1LrJwvy3nx5X409k7mRDgYlqziF7pyfT64U1SEcejIubB75ZzTqfcfu4iMWDaRXWcF4Fhsn+6GtuLLs1v110P5TTzuX/n92dX55kgIMMcnDajvz2ATl1PvadKOxcSM/uzt8qdJRqPd6K8V4AtCOsAQAAAAAAAAAAAAAAAAAAAACAOhCNpHrly/VCiFdrsDY/iMWDFN4AANSTfg3rMsYeBryHwAYAALYmaYYvG7YlC2Ee0NiUZ4UQ7+iYsSwWrGG2FJIDUI5eDa2UpuW9w7Ct06uKM+o0Jr/vvd7eXiQDOgzbkiFUuxzefFNXEEQzkgWuDdu6WOm9qzF/f3owe2fdoqdVei0bCvT6ExmKwaPuqPEUQ2o66oE9NK7CUy6pwsBAtcIaW04G5V9jz9S3bChwWnMQa6XkM/v3/IkMIR/N54ymLfowaYabun9ao0CHu2pZ5QYpX1X38SvS/zib/vUz6z9aePnOr6oNazBrGeIRiwflON9Lteqjdj72LU9SvqMkpvfNi1xPQRQ6So4uZ9uSaPPltg/6ch2DC61LE/OdxbHZ3fnbi61LBUcXVB7CGgBoR1gDAAAAAAAAAAAAAAAAAAAAAAA1pl7asmtUVOD7sXiwZi+uAQCwDh2F6Mp5wRxAEyKwAQCALbOEEG9pbMZBw7ZOJs3wVQ3zplg6gFpx/H6/P5EhLMYjDNsadKmgak4WSvV6e3ucfD75msNNcMzrjVopWeha9ocrCUhLBY7oCGsQqujpJQ3zBaoSjaTOqOK3Tp+r6tGU+vwNx+JB+n3YMtWn1DkO6Qp7qb5lQ4G3XAqAK4e89rjsT2R03P9DjRm21avxOSzjGrce6HBHfQaF+rMMbaw0MGW0mrAGX6lY2FnMT8zv8PWt9fOe/JzYOzMpvuyq+Da+rnCQisTiwUkVsDUcjaTktfB5tW5OhyKuyzfXKnzjXcs/LvkWxMzuwnJww9zuvKPL2V7a1tc51XZcTkXfQjrXXRyb6y3wrARAUyGsAQAAAAAAAAAAAAAAAAAAAACAGiKoAQCA32TYlnxpvF1Ds4zR1IB31TCwwabPDQBodEkzPGbYliykdlLjppw2bGtUFZ1yko5iwRQgArChbCig49wzTqt7gyqu+IZLG/tOFQUa0Vx0hDWYHCNVqSggLXnod+7/4d/9lY71OENYA2pNFbodUpNrhW5r6EP5ueM+MjQ4rbFRJ2TYEDutfmVDgaE6Cmq4Kwvu+xOZO3WwLtBDV3j9eNIM0zctUzmBDtXyJzIT2VDgZjVjXP1PHo+N9z17fL2fH737K3H1yD+qdLa7DNsyk2bYdmgTt0yFbS1/FqKR1JC6tnI1cKw1v130PmhfnhZbl0SuuyBmd+fF7O6CWGxddGw5O/LbB+TUPbGzkO8ojc3uyd8q+hamHVvA2hjzBUC7FpoYAAAAAAAAAAAAAAAAAAAAAIDaIKgBAIA19WtollzSDFP8AfA4GdgghPjI5VZ4XxVjAACg0V2R/WqN2yAD28Ia5turYZ6ENQDYDOcebMUbmoJMn3aR+2VQzymdJotm6gitaWoyIK2S4pOf7ts//bC71+mgM6EKigKui0ZSA9FI6nw0kpJ9nhtCiDebPKhBFjv+gRDiUCwePMPYDTjNsK1BzYX6OWbrWDYUOCGEWLcwusuu+BOZHxPU0PTOa9pAzjX1paqQnr0zj+9t9PMXHn5e7UbW7bWL7NvJPp7s66k+n+shrC2lbaLzsU8882mPOJTaKw7c2iN2PegQbXOtji1j25Jo2znb+u2+O51/uC/d/c+6HvkGW0rb2hxbAAC4jLAGAAAAAAAAAAAAAAAAAAAAAABqgKAGAADWpaNwCMUfAKw4owphuYnABgBAw0ua4TkXimMd1VDYV0ehYAqmA9iMqaGFdBRUR50xbOusEOKAC2t1M2mGr7L/kTTDo0KIKQ0NoeM86AUV9bdv7X9RR790VzYUIGwDrpH3TaOR1CUhxGdCiJ8KIQ42cevL8+2fCiFeicWDx2Lx4HAsHuT6Erqc1jjvMRUyhDqUDQX6hRBn62DNZKjUO/5E5nIdrAs0UvdzdX1/M76xjvgTmdFqAp33zkxN7CgVZ9b7edtCSRx5UFWXqO6D5mRfT/X5BoQQvy+E+EDTNfimfHOtYu94l+i/tUccHO0TfePdouOxz7H5by9t6+t65DOfSXcP7f680+yYbBtweBPmHJ4fAPwWwhoAAAAAAAAAAAAAAAAAAAAAAKiNSzUIaphSL/7zIiMAoJ7pCGugYAiAZbF4cFIVDCSwAQCACqlivrr71mcN2+pwcH69Ds5rxaiGeQJoLk4XI5MmOUaamypwedKFjZyg4CWeoqNvQ1hDFZJmWH4+yw5S+etvHtNV5J17WNAqGkkdi0ZSI9FISvZv3hdCvNbkLf6hEOJ7sXiwNxYPno/Fg1xTQivDtk5oet66guL7dSobCsh7aq8LIdprvIbXhRB/4k9keEbvDec1beVHSTNMqFH9uVbNGu2em95wXx65P17NbA8atqXjHpwWsXjQjsWDQ+q+4fflMV6rdWnNbxe9D9rFc2O7xKHUPvHMpz2i++FO0VJypky5L7d9sOfLnf/4mU+7/2hXtj24I7+9ewuzkwEh7xE6CsANrbQyAAAAAAAAAAAAAAAAAAAAAADuikZSF4QQr7q8WBnUYPLiPwCgnqmirH0aVvE2Ox7AChnYEI2kZNFA2+UANRnYIAhPAwA0OPk99scai77J64FTQoiLDs3P8e/6pBmmYDqAzegoFMe9/SZm2Fa/S8XRVwrczXm2sbEWW8NzS8IaqndFCHGinP72x4HDE092ds70zM92ObwO7D84LhpJDajvOjkd9EAL31TXzyMqQBhw0ymNyxpLmmEK8NevIU3P2sslrzdG/IkM168eYdiWDMo9o2lreZ5an65WEzS5Z/bJvS969nx7vZ/vn/pSdM/PiemdFec4y+NvuCFaTlF9w+V+Yj30kVtK25aDGuQk5XqKYnZ3fnkq+Ra2Nu/FbV3t0zuCciq1Ld6f7yrenusppBdblwplzmK5T819LABucSayBgAAAAAAAAAAAAAAAAAAAAAAlCUaSckXxH7kcmsR1AAAaBSDOtaToiEAnqaKIJjqBX83ycAGNwpwAgCgRdIMTwghLmtu3ZOqaPWWGLalo1i6230HAI3pmIa15v5+k1LhpUMag5BWu5g0w3e83N5Yk62hWXZp6os1PVWE8mq52/nZ3ufvaWiTo9lQgP2HLYtGUr3yXmg0kpLnmc/UOIlmDmoYF0L8qRDiUCwePBaLB4cJaoDbDNs6oblYv1PhmnBYNhQ47XJA+dPk8/gfEtTgOXIc5C4NGz2VNMOENdQhfyIjnw/crXTNDj56kN6+uLBhgf4j99PVbLCusBBXxOLBdCwevBCLB+X11/eEEB/Uep3an+wQe8e7xMHRvuWpb7xb7HzStuX5thZanut65DP3jXf/0e7PO8326R3Pb/DrK2Gj7xLUAMBNhDUAAAAAAAAAAAAAAAAAAAAAAOCSaCQlX6py+0VCghoAAI1ER1hDxS+KA/AGAhsAAKhO0gxfdaGf7cR3pY4CsxTaBLChbCjQq6NQoT+R4fzTvM4KIQ64sHXXk2b4mlcbGetLmmEdYQ1C3XNBFZJmWIajTZTzL39x6KWqKpqWoaGLnqK2opGUGY2k5LgIeXy+L4R4tcl3iSyq+z1ZZDcWD56XRXfrYJ3gXac0bvl1gr/qUzYUGNS87zdz0Z/IvONPZCio7T3nNW0xQQ31rexwudW68rkNg+aOPBivZravGrbV2ygNt5FYPHgpFg/K5yK7hRDfr4fg6Nb8dtH7oF3s/4decSi1TzzzaY/ofrhTtJSqL2e+bUm0+XLbB3dl208982n3H3U/3PmdHfnt3at+RYb//DhphhnvDMB1hDUAAAAAAAAAAAAAAAAAAAAAAOCCaCQlXwq7pKNI0wYIagAANJp+Det7m6MAwHoIbAAAoGq6C2YdMGzr9BbnoSOsgftsADZzTEMLfUSrNyfDtk4IIY67sHEyZOmiF9sYZdNxniGsYWvK+sxefvn3dBWFZ/+hItFIaiAaSQ1HIyl5TP5MCHHO5bERbrupiujulkV1ZXFdjhjUmmFbJ4UQfRpX4zI7uf5kQwG5z9+o0YrJ64w/8ScyVRVuR2MzbEve/ziqaSOGOTzqWlX3yPdOT2547dKTnxP7Jx9WM+umCpqT4xdi8eBILB6Un7FDQog/VeOAa6qltG05qEEGNhxK7RXPju0Sux50LAc6VKtlcVtX51Tb8b47nX/Ye79Dnk8uJs3wO0kzXFZ4IQA4jbAGAAAAAAAAAAAAAAAAAAAAAADcMazxBcW1yOIAAwQ1AAAazKCG1R3jIACwEQIbAACoXNIM3xFC6C7EdtKwra0UGdQR1jCpYZ4AmgvnHpTFsC0ZWnrWhdbKyZClpBmeY89gA7aGxqHY/xYkzfBoufe2x/z9OgIbXsuGAr0a5osmEo2keuX9zTdf/7v/kuspfjb5bO7NyWdzB3M9RSGnkm+h2Xb3uCqWe0gWz1VFdOmnoS4YttUhhNhq6OVGrlM4uW7JoIb2GqzcVX8i82N/InOnQdoJztP1jPNm0gzrCiSDA/yJjLy/cL3SOfU/zm66X488GK9mBZv22jMWD6Zj8eD5WDwor82+J4T4sA5Wa1nnY5/YO94lDo72iQO39oi+8W7RNtda1bx2PmkTh//Wb/w3//7FXzu+ogBQgerOYgAAAAAAAAAAAAAAAAAAAAAAoGyqAOs5F1tMFpk1KQwAAGgkhm3pCGqQKBABYFOy7xyNpExVnNDNkDUZ2CCXP8JeAgA0oCtCiGNCiK0EKmykXRX9eqfKf6+jYLqOQsYAmouOcw+hzE1GFdN93aWiqiMqZAnYiOzj/MjhFjpo2NYAhVa35LIQ4q3NZpAKHEkPZu/o+P6R98ouaZgvGtx//z9e+xcze+aHFr619AcykKGcUAZZgFXakW8Rrfnty3/2zbWKloUW0VLatvznOjWlPgcymIHrQdSzkxr7ljn1nYQ6kw0F5H2zAy6vlQztGPEnMmWFSqGp6QprGOawaQjXhBDHK1lRX6lY2FnMT8zv8K37PEGGNfz8xZdFvrWtklmfaeSGLFcsHpR90ksyME19/oZcHtewLtmXl1Pvg3ax2LokZnfnxczuvJjvLorF1sV1/11LqUXs/rxz+d8pFzSeWwBgUy00EQAAAAAAAAAAALA8MO1sNhTopykAAAAAAAAAOC0aScmCde+72LAENQAAGtVhDes9kTTDExwRAMqh+tCm6lO76X0V8AYAQENJmuE5WZxN8zoPGrZ1rMp/q6NgLQBsxtTQQoQ1NJ8hjWFHq11NmmGOH5RD13Gi45zoGUkzLIsgX99se5OHfue+pjbxRNFTlCcaSQ38q/P/7//+R//zf/oy++LUv5vdk/+D+Z5CWUENkvxdOU3vmxePD8wuTw8Gp8S9bz0Wd7/zSPza+GJ5uvOdR+Lzb02K+4NT4tH+2eVJ/ptcT3F5ctFHQojvy+vKWDw4RFAD6pkKAjupcRWv8ry1/mRDgROVFkp3gHx+9icENcCwLXlNu0tDQ0wRFtYY1Hmg4u8G/5PHm54/Dn15r9LZ7jJsyzPXnnJMQyweHI7Fg/K5yStCiA/UZ6cuyCC27oc7xXNju8Sh1F7x7NgusetBx9eBbStkmFv/3+9eHdQgnZPXHfWyLQC8p25jJAEAAAAAAAAAAAC3ZEOBlQGJsvjLj2l4AAAAAAAAAE6JRlK9Lr9ASFADAKCR6QhXp1AEgIrIvnQ0kpLFHGTxraMutp4MbJDL113wGgAAR8kCsoZt3dT8vTlk2NYPVThEJaoNeVhX0gxToBPAZno1tBD3/JuIYVsnXbrevJs0wxc907DYkqQZntTUpzNdCPdqdpdVv7Z9ve38dN/+6YfdvRP7piedDoEhrMHj1HiHobnewr+ceWH+iAxN0K3QUfp6CXO78+suTRZ7XSn42v5kx/J/WxZahG/uq9KK8r+yUGyFxtU5ayQWD6a9vv/RUE5u9D2xRTkZ1sDhUF+yoYB8rn7WxZWSx8GIP5EhCA4rdIXQX5LXJrRyw5DBcqcqWdm9M4/vjfc9u+HvHL37K/HLZyuu139GPd/3lFg8OLryeYxGUkOqHV6rpzbofOxbnvaOd4l8R+nrALanQhpWu6DxHAMAG2qheQAAAAAAAAAAAICvX8g8kA0F3BykBgAAAAAAAKD5yaCGgy5tJUENAIBGN6hh/e9wVAColOpTm6qP7ab3VREFAAAazYgq2qZLe5UF6HZxJAGoAceL8PsTGYJimoRhW24VVZXfy+96olHhJB3nGsfDs7wmaYYnyimSfWv/izoKy+/KhgLsQw+KRlJnopHUpVxP8fHn35r86f3Dk64ENVSi5FsQ8z2F5enxgdnlaeLgtLj3rcfL02fBh+LXxhfis+CX4vNvTS5PX7zwRDzaP7s8ySKxcir6Fp4IIT4QQrwSiwcHYvHgBYIa0EgM2+qrtFB2ha5WEZ4JjbKhQIcQ4nWNAR1PGxNC/JigBqwwbEtW0X9VU4MM09AN5VqlK7t3ZmpiR6k4s8nviL0zFQ+B9XzQXCwelIFjsh0OCSF+oILI6ooMVJMhDRsENUjnopFUxWkdAOCEVloRAAAAAAAAAAAA+I0XAE5mQ4FRfyIzRrMAAAAAAAAA2IpoJHVB44uJT/sgFg9S1BUA0LBUoTodBSV47gegKjKwIRpJmapQoePFVjcgAxsmY/HgJfYcAKBRyKJ9hm1d1lx8+rhhW9eSZrisPr5hWzqKyn6kYZ4Amkg2FNBRSKzuCquhOoZtyaKqb7nUfO+qAu9AJeQ9kDcdbrGjhm31Js0wYfNbI8MaTm50D/2vv3ks/Qe//M9BDcuWz6DPa9ou1JFoJHVM7e+hXE9xlww0kEEIjW6xdfHr7VgdN/GF70k631lKz+zJr1xjvm7Yv1r5c25VGLj8ryxUn0uaYQLCUY9Oa1ynXDmBQXCdPFf3ubTQi/5EhmMAT9M1RnE8aYYJBWkg/kRmIhsKyP7TYCVrvXtuOv1Fz55vb/Q7Rx6Mi5+/2FvJbA/KZwIcQ8vjHNIq+GRYjXcYUmEWjRRufUHjuQYA1kVYAwAAAAAAAAAAADwtGwr0rVFU4Y1sKPBDfyIz5/X2AQAAAAAAAFCdaCQlX276kUvNR1ADAKAZ9GvYBgrnANiSGgY2jMjlxuJBzxeTAAA0jqQZvqoCEioqzFQheQ/sh2X+k4oqOZWJIsMANqMjrCFNqzeN1zWFlT7tSrnhRsBTbE0NIu+tEEq5BSoc7aIQ4tx6c/k4cHjiyc7OmZ752S6HF2/q2i7UXjSSGlCFW+W11tFcT1E0S0jDWhZblmZy3cVb8z3FdNG3ML3Gr6y+nv2t+8GGba38cUJNYlVouPz/L8VXn1m+h+EKw7bke5HHNS7rsvwOYm/Wj2wocNql51XynPaeP5HhWTvWomuc4jCt3ZCuV/pMYM/sk3ubhTV8635a/PzFik938tqF5+urxOJBeZ1vRyOp3lX9/lfrZgXXdy4aSV1QwRMA4BrCGgAAAAAAAAAAAOB1x9bY/nb1Msw7Xm8cAAAAAAAAAJWLRlLyvuOIS01HUAMAoFnoKOhK8QgAW6YCG86owg67XGrRXapoAoENAIBGI++J/UTjOvcZtnU6aYYvl/G7a40N3Cq+lwFsRkdBa849TUB+f2kONFoxVub3JPBbkmZ40nKd5gUAACAASURBVLCtmxoKABPW4ICkGb5m2NZJIcSB9eb22d7n7x29+4nT55qj2VBgwJ/IUCSziUQjqSFVrPU1uVXNHNKwtE0U8h2lsbldhduFjtJEGf+kHH1qEmt9v68KdcitelZ1R/3/3Kq/u0shfGzRaY0NOCGDOdlB9SMbCsjzzSkXVihHUAPWY9iW7D8c1NRAbo23hIP8icy1bChwtpJwyoOPHqQ/8fcXFlq2t633O20LJfHCw8/Fp/v2V7KyQ4R+rE2OeVCfsREV2DakJl2fZydc0BgOAwBrIqwBAAAAAAAAAAAAXndine0fzIYCJ/2JDIMKAQAAAAAAAJQtGkn1qpea3CjiSlADAKCZ6ChWN8YRAsAJsXgwLYMTZIACgQ0AAKwvaYYnDNu6orlw3CnDtkaTZnizgnG9GpY9qWGeAJqLjnMPxbEbnGFbx9wsqtrUjQk3jGoKa4AzZAX4t9ab0y8OvZTWENawsg8pntvgopGU/D46r0Ialu9xNnNIQ9G3kM51F8fmegu17Eu1r3r+teZnc1Www8ozrQk1SbfVf3NlXAPDYwzb6hdCHNe41Vc4pupHNhSQATFvuLRCFwlqwAZ0jVX8QIbH0fANa7TS76SufO7eVHvXwEa/c+TBeKVhDUcN2+rlWNqYHPugghAuRCOpM+r64Fwdruq5aCR1Qa0vALiCsAYAAAAAAAAAAAB4lhqkdmCD7T+bDQXGGFwGAAAAAAAAoALDGgqYrOUmQQ0AgGZh2FaHEKJPw+bcLuN3AKAsMjCBwAYAADaXNMOXDds6rqmPv+KsEOKdTX5HR1Fgvo8BbOaYhhbi3NPADNvq01jM8mnvJM3wXLO3KbSzNRRppGCmQ5JmeMywrbH1ir7/7Tdevhf5mw91LPoMYQ2NKRpJDaj9J0MaDq5sRLOGNCy0Lk3MdxbHZnfnby+2LjXaxq31uf467GlVqMNdIcScCmlaed/tjvq75fOEGyuLunBW40pMJM3wNXZzXXlDBcDodt2fyLDvsSbZpxdCvKapdS7R6g3taqVhDXunJ9ObhTUcmrgvuufnxPTOjkpmzbVLBWLxoPzsXYpGUudXXTe4Mf65XBdcvK8GAIQ1AAAAAAAAAAAAwNNOlLHxQ9lQ4B1/IsOLKwAAAAAAAAA2pF5Ycrp4yVqmNBWbAwCgVtYsLLVVFKQB4DQCGwAAKJsshvSWxuYaNGzrZNIMX3V5l1BgGMBmdIQ1pGn1huZWUdWLSTN8p4zfAzZja2qhYxrn7TWyr/2Ttbb5UWdPYczfnx7M3tmw6GkVdBXlhQbRSKpXFVqVRU1fXb2E6X3zyyENJd9C0zT9YsvSTKF9IT23q3C70FGaqINV0u3Aqvn/ViHdVaEOE2qSxlb93R36DI3PsK1BXc9XlYveac36lw0Fhp767Oty15/IUOAcG9FVMH08aYYJa2hg/kTmTjYUuFvJuar/cTb962c2//UXvvxc3DzwzUoah7CGKsTiwUnVbiMq8O28+sy7NSZiPeeikdSFWDzI/VEArmihmQEAAAAAAAAAAOBhx8vYdDna4xQHCQAAAAAAAICNRCMpWWDkpy410hn1chQAAM1CRzGRuxwdAHRQgQmmClFzy0pgg47CrwAAOE4Fp13X3LKnDdvq2ODnr27ws6okzTDBSQA243gBM38iQzGyBmXY1lmXiqrerEGAEZpU0gzLc864hq0jiN4hSTMsi62v+5m//ezAfR3LzYYCZzRvGrZIhr1GI6kRFfT0/uprIhnSMH5sQnzxwpOmCWrIty+MPdk7/5dfvDD955PPzV3zSFBDJfrU87dB9V6cnM4JId42bGvYsK03DNs60Tibg6ec1tggY9z/qB/ZUOBEme/AblVOCPGuB5oUW3NeU/tRWL85XKtkK3ylYmFnMb9p/+3lO7+qtHG49twiGYwQiwfPx+JBGQL3PSHEhzVepQs1Xj4ADyGsAQAAAAAAAAAAAJ6UDQX61cDTcpzMhgIUPAAAAAAAAACwpmgkJV9Ksl1qnR/E4kG3lgUAgFv6NSznNnsPgC4ENgAAUJaLqtCbLu1CiCEXd4WOosUAmkg2FNBRDO4jjpHGpIofn3Rh5ScobAkNdDyLpGCms66s19e+ejioK+SHsIY6FI2kBqKR1HA0kpL7/WeqGP/X4VHNFtKw0Lo0MbMnb38xMD3yeP+sPddbINSqOvJ6+qg8Xgzb+olhW5uFIaKOGLY1qCkIf8Vl9nd9UO+/nnVpZd71JzKE3mBdhm3J/vxBTS3ENW1zqDi82f/k8dhmv9OTnxN7ZyYrme0uw7a4dnFILB68FIsHZXvulmOXZWBoDVbjnLzuqcFyAXgQYQ0AAAAAAAAAAADwquMVbvdQNhQoN9wBAAAAAAAAgLdcWl3wQKMPY/HgMMcWAKAJ6SgosulL3QCwFQQ2AACwsaQZnnOh0NZRVaTwN6jiYU6jCCiAzegoGlZRNTrUB8O23CqqKgu1v6e+cwEn6QhreJU95Bz1ub+61gw/3bd/+mF3r45iywRu1IloJNUbjaTORyMpeX/yMyHEm08XT26mkIbFlqWZ+c7S30/0z/7Fw4Hp/2tmT35ssXWpUAer1izku3KnhBCENjQOncGVY0kzzDPWOpANBeRn8XUVrqLbFX8iw37HZnSdez5MmmHuuzYBfyIzV2kh/70zj++V83tH7/6q0gbi2sVhsXhwUo5djsWDcpzCK0KID1weJ3HBxWUB8DDCGgAAAAAAAAAAAOBVJyrc7nbNgxkBAAAAAAAANKBoJDXsUnGRm9yjBAA0o7UKqzrkDgcMAN0IbAAAYGNJMzzqQpDa0BrFJHs1LIeiYQA2oyOsYZRWbyzqO2nIpaKqF5NmmHtg0EFHWIOuQC3PSprhy0KINUMZfrXvwH0N7XIwGwpwP6qGopHUUDSSuiSEeCyE+KmsW/v02jRLSMPSNlHIty+MPdk7/5dfvDD955PPzV0r+ham62DVmlm7Cm34qWFb8jq7z+sNUo8M2zqhAjZ0uez1Nq4jQ5r39Yqb/kSG/Y4NGbYl77We0dRKl2j9pnKtko3ZOzM1saNUnNns9154+LnwlSrK6tJ1vEKNkYjFg0OxeFCeG74vQ1dcaJdz0UhKx71XAPgNhDUAAAAAAAAAAADAc9QA8WpegBnMhgKnOWIAAAAAAAAAiK+KIciXut50oTFk4Vf5ctMkDQ8AaEKHNWzSRNIMr1mkCgCcRmADAACbGhFC5DQ2U58qKLmaju9IwhoAbIZzD6SzQogDLrTE9aQZrqgIIlCupBlOa7rPQViD8y6uNcf/+Du/e1vT8ih66jI5JiEaSY1EIyk5VuB9IcRra61Bs4Q0lNoW78/sydsPD07/+eP9s/Zcb4G+UG0cF0L8hNCGuvT0/Q8n3UyaYd2BmyiDen/1twJ5NJhQ9+2AzZxRzyadNpU0wxyDTcSfyIyuFyi3nt1z05v299oWSuLQl/cqme1Bw7Z4ju6CWDw4EosH5TnikBDiB0KIcY1LvVA3Gw6gaRHWAAAAAAAAAAAAAC/ayiCLU9lQoJ+jBgAAAAAAAPA2VRTVrZcFz6sCsAAANCMdz94oJALAVQQ2AACwPhWkdlVzE500bGv1tUWvhmVQJBTAZgY0tBDnngZi2NYJVdxYt7vrFWgHHGRraEzCGhyWNMOja90P/zhweKLQuqOgYZGENbhA3u+LRlLD0UhK9gP+gxDi3FoFkhdbl8Sj/bMNH9Kw2LI0k+supib6Z//iy8DM5Zk9+bHF1iUdxy8qtxLa8JZhW4O0X22pvqbO8AyrEdqh2WVDgUHNoRwrZLDqe/5EZs7rbY6ynNfUTAQ1NKeKxrnumX1SVgrDkfsVZwBw/emiWDyYjsWDw0KIIY1LPReNpHTcfwWArxHWAAAAAAAAAAAAAE/JhgIdWwxrkF5X8wEAAAAAAADgQdFIqle9LPhbBRE0+NNYPMiLiQCAZqajuMsdjhgAbiOwAQCA9SXN8GVVWFqn1UWAdHw3NmXBdMO2OmTRTTUxLhLYmqNOt58/kdFRLB0aqNCgcy60rSyqOpI0wxRVhW46zj/cv9Dj8lpz/YdnB3T0X49mQwGKY2ogi45GI6nz0UhK3mO8IYR4UwhxcK0lfR3ScHRCPD4w25AhDUvbRCHfvjA25c9d+eKF6T+f8udSRd/CdB2sGtYmn+W9pUIbOJfXgLpe11nA/7oK20QNZUMBGcbxhktrcNGfyPBMHZtS533H73cow+yBplRRcPPBRw/S2xcXNg3q2j/1peier+hWiM7QAKwjFg/KewkfaWyfC7Q9AJ1aaV0AAAAAAAAAAAB4jBwc1L7FTe5TAzXe5eABAAAAAAAAPGlY40uIq30UiwfPc4gBAJqVKmK31Wd3axnjoAFQCzKwIRpJmaqgoRvhbmJVYIOpAiMAAKhXMpD0bY3rdsCwrZNJMyyLQfVqmH/DfM/K4IVV/3tY/Vdee/WrP8sijwfW+bcyVOOavK5KmmGK9gFl0lS42s0gOGyBKp77ukttOML5GS7REdawSxZ7TZph7l84KGmGxwzbui6EOL56rr849FL66N1PdIQlm6pvjy2KRlLyuuWMml7bbG4ypGHSPyemns2JxdbFhmz+om8hne8spWf25HmO05jkOUUG/cmi/leSZvia1xvERSfV+4y6rBn8A9e9oenZ+dOu+xMZPr8ol66xix8lzXBThuN6nT+RmciGAnfXu/+8lq587t5Ue9em99aO3v1E/PzFsoftHjVsqzdphie9vk9qQAYq/MyJxZbaFkVroWX1X52LRlIXYvEg5w8AWhDWAAAAAAAAAAAAAK855tD2Hs2GAicYmAYAAAAAAAB4SzSSki8gnnNho6dUUQYAAJpZv4Zty1GwDkAt1TCw4VI0kjoWiwcpOAEAqEuyn27Y1lVVYFCX04ZtjeoIWq1lUSfDtvpWFWXsV2ELK39eKeLnVCFeWUTrrFruhArDG6WoMrApHWENfO4ax5Dm4rkrrnI+hlvksWbY1pSGexsm5zctLqt3Zb4u8Py333j5XuRvPtSxrDOENWxNNJJaCWgoa9xBo4c0LLYszeS6i7fme4rpom9hug5WCVsn+z3nDNs6JfsnsvB70gzP0a56qGAwnfdSZB9zopbbiOUAwKFKCptvwV1/IsP3OCqha/wix2Fzu1rJGNu905PpcsIaDj28V0lYg+DapTZi8aAdjaQ+EkK8upUV+OKFJ+KLb0yLb//V/qd/dEHdiwMAxxHWAAAAAAAAAAAAAM/IhgIdDr+EeTYbCtz2JzIMSAQAAAAAAAA8QBY+FUL81KUtNSmyCgDwAKeKia5GUAOAmlsV2HDDxXU5KAMi5HK5lgAA1LErqoisroLWsjhtVMN8bzo5M1VocaUAX8eqILvVoQx9LhX+3ohc/nE5GbYlQxveowAnsK5jGpqGYuYNwLCtkzpCgtZwN2mGLzZZ86H+ySDK1xxeS3m/ZJh97yxZZFsFo51amfGjzp7CmL8/PZi943SgkNPHhCeosQZDaiorBKWRQxqWtolCYedCenZ3/laho8Q7V82rT4X9nVbnoKtcM2pxcnUYj8Ny6l4NaigbCpxQ9190k/v7Xfa1c7KhwIA/kUk3y/Y8zbCtsvstFZKhcJfc2g7UxKjqI5T1/dX/OJv+9TOb59X05OfECw8/F5/u+63i/eshrKF2ZKDCz6pdugxq+OT4F8t/LrUtitZCy+ofn4tGUhdi8WDTnn8B1A5hDQAAAAAAAAAAAPASp1+EkgNF3hBC/JijCAAAAAAAAGhu0UiqVxUkccMPZHFXDikAgAfoCGsY48ABUA9UYMP3hRDvu7g6RwlsAADUM1m00bAtWWj6dY2r+bKGeW76vWrYVv+q4lOHV/1o5bpndUBDI5Lb8bZhWzKwgZA84Lc5XQhblHPuQW0ZtjWoig/qJouqvsPuRg2MagprgB5Xny7offvZgfsawhpkYeIz/kSGArubiEZSA6pA7HkVtFqWRg5pKPoW0tsWt13+8uDMX6lQuvYmuBbC5tpVWMxJw7auqdAGQjocoMIeT2pcBAEbNZYNBfpduqaQ3vUnMnw2nTUiAxtUMfhhfyLTbNfxQ5rmeylphrnn0cT8icxcNhQYLTeIxlcqFnYW8xPzO3ybhhcfmrhfSVgD1581EosH5ZiFj4QQr1a6BquDGqQpf0703el8+tcuaDxHAfCwbUtLS+x/AAAAAAAAAAAAeEI2FPhjTQN8r/gTmcscRQAAAAAAAEDzikZSdjUvDlXhg1g8yEtEAICmp4qL/FTDdr6TNMMENgCoG9FIasjlwAbppiw+QWADAKBeGbb1hgoZ0mFQQxEmGTDxZ+rPq0MZVv/ZSz5ImuFrfMCA/yobCuh4hvD7/kTGrRBpVEjd2/qJS98D3O9CTRi2JftUP9Ow7FeSZpjgeg0M2zohhDi3MucXHn7ePXxx+A81LOoDfyLDM+01RCOp3lUBDRVd85R8C2Ly2ZyY3jvfUCENC61LE/OdxbF8V/HPCu0L1kZF+tcJuetTk9AU8o3auC6EuExow9YYtjVUbqHrKshAsB8S1lA72VBAXlO8veocqBPvvzosGwqs9fzvAxXa0PB9XcO2ZAjFZ5pmz/WAB2RDAdmve6vcLf3lswPfGe97tqzvvP/j906LfGtbubP+XtIMEzRXA9FIquJ7Ck8HNUjP/7JXHErtXevXD8XiwXRDNQqAutfKLgIAAAAAAAAAAIAXZEOBPk1BDdKpbChw25/I8BIMAAAAAAAA0ISikdSwS0ENN1XRBgAAvEBLwR0K1wGoN7F4cCQaSQmXAxtkIThbFkAgsAEAUKdGNBa47tYwz2/IcYIa5tuozhm2Ja/pLlLUEfjagIamoNhYfXvdpaCGK9zvQq0kzbBt2JaOpcuCjRRn1UAGahm2dXLl3ZlP9+2fftjdO7FvetLpItBOh6M1vGgkJQMaZNHm1yrdFhnS8Gj/rJjeN98wzbC0TRTyHaWxuV2F24WO0pVyi/InzfCdVf+77vebYVurAxxkwEOH+t7tX/V3XgzOaySy2PJxw7bkOJj/h/5M5dTnQFdQg3SVa/qaG3IpqOEmQQ3OyoYCMpxpeI2ZytCsc9lQ4KYKbRhp4M3UNYbxJkEN3iDft8+GAhPlnueen3yYLjes4ciDcXHzwDfLbUd57UJYQw3E4kE5XuGjcsderxXUIE30z6wX1nBBfZcCgGMIawAAAAAAAAAAAIBXHNO8nW9kQ4Ef+hMZBikCAAAAAAAATUQVVXjThS2aki8OUUgVAOAh/Ro29S4HEIB6RGADAAC/SRYDNGxLFok7q6FpdIQ13Ncwz0YnC2f1G7b1bjlFWQEPOOj0JvoTGcIa6pRhW6d1BZE+ZSxphimqiloru7BiBXS/2+F1MmHjrZU2+NW+A/c1hDUczIYCx/yJjKcL7UYjqWOqkLEcU7Cr0n/fiCEN+faFsXxnMT3XW/gHIcQ1Vezd8esBNc+V+W5Y5F8FyUl7VxUDXvm7PpcKoWN98j71UcO2xlSoB6EN5Tutcd7y83VV4/yxiWwocFp9PnSbUKGpcNaFTb775b59PxsKDKtQh5EGvMY/o2m+HI/ecrXcZwA987PTO0rFmWLrjq7NfrfCsIYzGsNHsDl5vvzZZr+1XlCDlO8siXxnUfhmdzz9o3PRSOpCLB7kHioAxxDWAAAAAAAAAAAAAK84qXk722UhNSHEuxxRAAAAAAAAQHNQxRXcekFQBjV4upgFAMBzdBS0u81hBKBeEdgAAMBvSprhq4ZtHdNwbaAjrAFrOyCE+GPDtkaSZph7m/CsbChgatj2mxxR9cmwLTkm/ZQLKyeLqr7XiG2EpmNrCGvQcd6EIguhq6Loy/3s//g7v3v7+Kd//20N7SOLnnquDxiNpAZWBTRUFdbUaCENC61LE7mewq25nkJ6sXVpShXdlSENc3WwemJV8f/NQh361btfHasCxVf/3QH9a+tp8pz0lmFbd9Xxc83rDbIRw7b6VEiiLlfq5TPsRdlQYNCla4qcvKbwJzLsawfJwCohxJtlzlEGOvxITtlQ4AMV2mDX+zYatlV1P6cMhDV4y2glgc2756bTX/Ts2fTaZe/MlNg7Mym+7OotZ7YH5XMI7l/XRiwelGMVNgyB/Cz4pbh3ZOOhDBP9s+L5X665vy+o2g4A4AjCGgAAAAAAAAAAAND0sqGAHDzb58J2Hs2GAif9icxVjioAAAAAAACgsUUjqV71cuAuFzbkT2Px4CUOGQCAx+gIa9iwEA8A1BqBDQAA/JaLQoi3HW4WHWMF72mYZ7OQhU1fN2xLFnq87PXGgGeVVRmuQmkOp/qiCjyf1XRPay3vUUAXdcJWBWadJItlDiTNMOc6feRz7p/IuX8cODxRaN1RaCsV2xxe2hlVGLPpqbEDQ2o6Wu32NlJIw2LL0kyhfSE9uyd/q+hbmFYFv+sqpKFSSTN8Z9U/WbdYryqSv3JdeVj9d/XfrQQ8oDoyFOOcYVunVGAAoQ1rC2uc9wTtXjvZUECeS95waQUu+hOZO2X8HiozXGV7nZNTNhSQ4YzD/kSmnkMLdBU+/yBphnlW6SH+RGZCHfNl9aH904/KCmuQjjwYFz9/sexbcqYXg+bqiLxu/Nlaq/PJ8az44oXpTdd0yp9bL6zhXDSSuhCLB7m/AMARhDUAAAAAAAAAAADAC467uI2ns6HAGAPZAAAAAAAAgIY3vJVCCxX4KBYPnudwAQB4iWFbuora8YwOQN0jsAEAgP9KFsuURf6FEKccbBani9CiPKfUtR7FxeFFxzRsMwXk6oRhWx3qe+qki2t08amC0kDNJM2wbdiWjsWbKlAAGiTN8IRhW1dXzl3/8OxA+ujdT5y+L380GwoM+BOZpi2KGY2khlQoxWtbmU8jhTTk2xfG8p3F9FxvYWW/NnxIQ6Xk50cWs1f/bN2QcNVHOKD+VwY4dKgQh371d32awgSbRZ8KbTjrtWNsM+raWud4pSsa543NveFS4Mt1fyJDKIfDsqGA7Bu8usW5ys/3+9lQYFiNTxypp/6UDFXbat9nA/T/vWm03O+15ye/vPf/PXeosNCyfdN7/N+6nxY/f7Hsr8uhLQStYIti8aAcp/DR0+fPcoMapEcHZjf68QWNITMAPIawBgAAAAAAAAAAAHiBjpeg1iMHyw1lQ4F3/IkMg0QBAAAAAACABhSNpGR4wjkX1nxKFncwbKtfvbB/QP23X730fy1phinIBABoRv0atmlCFdABgLpHYAMAAL9BFmU87lARSx2FMO9rmGezkgUl3zZs6z2KjMNjdIxTbtrC143EsC25b8+6XGj5ZtIMX2381kOTuamhaDRhDfrJYtwn5Dsuvzj0ko6wBtGM+zEaSZ1RAQ1y2rWVeeU7SmLq2bm6D2kotS3en+8q3p7rKaQXW5cK6q89F9JQKdUuK2EO64Y6iN8MMd+7ql+x8nerQx+8qH0lGEuFzHDMCXFa47zvJs0wBfxrRBX6d+PzftefyNDPclg2FOh1uNi77Gf8SE7ZUOADFdpg18GmntE033EZBKdp3qhjMjgmGwqcLTeopnduJj3RtWvTa5e2hZI48iAtfvnsQDmzPWrYVm/SDPOMvHZkoMLPVpZeSVDDiil/TuzKrnkYnYtGUhdi8SD3UwFsGWENAAAAAAAAAAAAaGrZUGDQ5RdkhBo0JweKXuToAgAAAAAAABpLNJKShXd+qmOlF1uXlgsyyKnQURR3X5r897ldhf9pnV8/ql4Sk0Wnr6vgBgpQAwCaxWEN23GXowNAIyGwAQCAr8gijIZtyQJybznQJD4NzZrXMM9m1qcCGz6gACQ8pFfDplJcrIYM25LnsqFVRZTdcpfi9ahTtqawBmik+tmy8Pmpv/3Gy/cif/Oh4wv7onv3/+BvgvOWGiMwpIoTH9zq/HI9RfFo/6yY7ymU8du1sdiyNJPvLN2e6y2MFX0Lq6ukEtKgQdIMlxvq0K8KGXesCj7vWyPgoRmthDacMmxLjpG57MUxMirYQ+d+tjTOGxvIhgInVFipbvI8/i77QosLWw1y2sA5OWVDgZsqEOKSP5Gp1XO885rmy7Wut8n7xCfLaYHeuel75YQ1SC88vFduWINQfX2OwxqJxYNyjMJHQohXqwlqkB4dmF0vrEGoc/RQ47UMgHqzbWlpiZ0CAAAAAAAAAACAppUNBYZcGsi2lvf8icwoRxcAAAAAAADQGKKRVK8qgOT4i5VfvPBETO+b//r/Z3cVrk/vm79V4Wzki/vXKXIGAGh0hm0Nq6IrTrqYNMNXOTgANJpoJDXkcmCDJIu9ENgAAKgrhm05MdbvOxrGC6bUhMpdV9dqFHlFU8uGAjqK9+yuYWFGTzNs67QqIOj0vavNyKKq7yTN8B2v7wPUH8O2ZFHL/6BhxXYnzTDnOs0M2/qJLPT+b//P//UfD2bvlF3JtFz/9F/9L52N2N+LRlIDqmDrkFNhJPUe0rC0TRQKOxfS8z2FsVx38d5TP55Q/XdCGhqACpZaCXBYCUhvXxXw0F+DvowOK8ekZ/pHhm29pTGsYSxpht/RNG9sIBsK9KuQUjc+l+/4E5kNg2FQuWwoIPsNn7nYdFOqqPywP5FxLczRsC0ZqPYzTbM/lDTDBFN6lDoPvl3O1udbd7TZh4NlF93/d7/734npnR3l/OqHSTN8xuv7opaikZT5yfHsz6oJapA6H/vEsf+7f6NfORSLBznPANiSVpoPAAAAAAAAAAAATe5YDTdvKBsK/NCfyDBQGQAAAAAAAGgMl9wIasi3L4xVEdQg1AvZg4ZtnRVCjHrtpXQAQHNQBWR0FKKg6ASAhhSLB0eikeX6z24GNsgCdLYsiEBgAwCgjlxU4/22cr3QpmFz6rPSamOQwRn9hm29mzTDE15vDDQnVbDRaVMENbjPsK1BVbC7r0arcJFnPqhjtqZVM9XzWegl+9mv33524L6OsIZ/+deX/o0ww/+6EfZhNJLqEl+PaQAAIABJREFUVQENcnrNqfnWe0hD0beQzneW0nM9hfRi69LTKyn76VeSZvhajVYPVVDXVyvXWOs+HzNsq0NdZx/XGACgk1zv44ZtyW28nDTDTf0s0LCtE5r302WN88Y6sqGA/By+7lJQwxWCGrQZcXl5cvzim3LKhgIfqtAGXX3y1coukF+hDwlq8DZ/InMnGwrcFUIc2KwhfKVioSs/d3/G1/FcOY125H5a/N2hl8r5VdPr+6HW/vaf/2pL55jZ3XmR7ywK3+yO9X7lgsbzGACPaGFHAwAAAAAAAAAAoFllQ4Gtvri5Ve1qMB0AAAAAAACAOheNpIaFEK86uZaLrUvi/uDUbwQ1LLQuTUz557Za6KBdvZT+tmFbfyxf2FYv2QMA0AgO61hHitkBaGQysEEI8X2XN2ElsKGXgwcAUA+SZnhOFZLdiuc1bAohA1sjC3DJe5jHGnkjgA3oCGsYpcHdI5+vGLb1hhDirRoGNVynSDacFo2k+qKR1MloJLXl7+CkGZYBMjc1rCbFMl2QNMPye2Xs6uGglgK5Bx5/8U9VSHPdikZSZ6KRlLz/9lgFpjoS1CBDGj7/1qS4963HdRfUIMclzO4qXJ/on/2Lif7/n727AY7jvO88/wAECRJ8AUiIHL6h+WKJEh1JhALZbfKy8TjIeWMfadHJNqeSTYXw7U4SMXVlelh1L1rpTJ983KtLEaZvd6nbRbZMeuvia876TIesbOIEdmvXIXdszRq0nSwFOxI4BEk1SZAA8UYMXubqoR7IIImXeemnp2fm+6lCiQJmup9+mZ7up/v5/4a/M7RmrPuRoAZ5nXM6EY68wndQ+ZLX2XL7JsKR40KI4yUcfC4DDI6Yjn1EBRqUq70al6u73MMuAsyvQLhLoXiKQA4NXMvY7/UzhTmS5y3fcy2jx7WMNtcytNzXMx1bTvegpmXwO+wCwZT1OWfj0L2sr12eee9Kti+tNx17P/tGcZiOfcqLY8xAaHS+Px+MRZM6+moBVJAaNjYAAAAAAAAAAADKWBAewNzhWkZrKJ7qDEBbAAAAAAAAAMxCFmcQQnzey3Ujgxqu7bwr0nUTH/wuUyXSA+tGnUeKIBRqsxrEdNB07ItyUBsDrAEAAbdDQ/P47gNQ8mRgQyyaFKpgnF9kYMMJVSwIAICik0UkTcferem6IV9j7BkFk+GzL5uOfT4RjlA4EOVGRxCJlmLaeJzp2K1CiH3qOFUsvR6EFQEfiEWTe9SxadeM38mgBbu9o6WQECpn5jQ9QliDf869s3bTjlsrG/rWDvZ7WjB62+3rG1Xf0vEgLbAKKmlTP/VeTluGNNzZNBy4gIap6sxQetlkz0h9+u103cRcn3f5+/MENFQe9RzJcdOxd6jxdrtLcCXItu8wHXtvue3HKoRCZ0F/zjeLwLWMfRrOn2bTRzF8PVQwwomANGeLuod4wrUMub1PhOIpL/sPdBWxH0iEI2c1TRulRT7beiCbFm/sv9VzpXF9Vucqq8ZGxKb+W+Jaw9psXi6vQdkffeZVUINQYQ3r3lk130uO8uwDgEJUs/YAAAAAAAAAAABQjlzLqPPpYbZsHHAto4kdDQAAAAAAAAgeVaTB0wGrswU1SION9515iiJ4QQ5QO2I69jHTsfeZjq1zIDcAAPnScd+MsAYAZUEGNgghvuTzshyMRZMU8QEABIn8XhrNsz0bNCyHzv68SrPXdGzZf1lX6SsCZaVBw8IQ1qCZLFJsOvZrqkhgMYMa5PfdyUQ4MlLENqAMxKLJplg02RaLJk+oAoiPjqOQ//9aLJpsLWBpHQ1rapfp2DqOo3iEKtJ+8edrN9/wet2suj+84pdTb+9WBeCLKhZNbo1Fk4dj0aT8Lv2REOLzXgY1yJCGazv7xfWddwMT1JCpEumxZZPd9564/52b2wf/tH/DyIU5nkmQvzudCEdeIaihssnjQSIckdfdr6iiyaVIPgtzUD0b01om15h7NU77YiIcuapx+piFaxk7NG/XafKa4o1QPMU1hR6HVUhCkNSrc5x3Xcs461qGVwFohzUtI/cg8YA6TmV17rHq/vDg4onxoWzX3DPvXcn2pbpCSTAHL4MapL6m4YVeIp992Mr2AJAvwhoAAAAAAAAAAABQrpoDtlwvqwAJAAAAAAAAAAERiyYb1IBAzwo0jNVNiKvP3nksqOH+8omfjjSk/Sqw1KgG/MqB6YdMxw5afykAoEKpYimbNSz92+xTAMpFe0fLUVk4zefFIbABABAYiXBEFhHtDEh7si4IhazJYoWvmo6tI8gPKAaviiLOpKMgOlTflOnYMqDhiKY+qlydUt97QM5i0WSjDF+IRZPH5HerCnWfL3xE/u1ALJo8It+bxyy7NG0lHcdRzO7cX33Y/LGOdfOrP+uSxTAjxVjv8p6/CiuR++i7QoiveF1UeXDtfXH1uTuBCmkYr53sGVoz5rgfunfq7qZhZ55nEQhpwKzkOciM0IbzBYQmFlOjCt+Sz8bsK9XQBtl2tSy6nCvuElYe1zLk9jzk04KfCcVThHFo4FqGPL/5YsCb+ZIQ4nuuZfS4ltHmWkZeQWjq2cJHA9+8ckLTdFGasr6uXD0ymPWztttvXRO1E1mdp2/hWVr/eB3UIE0unhLDq8cWetnR4i89gFJFWAMAAAAAAAAAAADKVdAemJh+ABQAAAAAAABAcJzycqChDGq4vrNfTNROPvT7iSVTN/o3jBSr8IFcvpdNxz4hCxCZjq1zgDcAAAvZoWkN9bLmAZST9o6WNgIbAACVLBGOnMvjPH+jhlU2WNlbQptGFdiwp0yXD5Vlq4al7Wcf8p465sii9q0BaVJnIhzRVfweZSwWTe6JRZOH1P58II/izrKP9rVYNLkvlzclwhFZKPOKhjVLoUyfyMLsb2155v9N1yz2PG3guWs/l9+Hm/08v4tFk/tj0eRZIcRdIcTXdBQYliENV5r7xM3t90S6bsLryedssibTN1yfvnhz6+Cpvqbh7wytGeueZxqENCArKrThXImHNshAor0qtKGtlJ6LUQETOs9PLxIOVhSHFgjR8srFUDzFMV6fUrpntkWdD8nQhlMqaCIXhzW16011HQE8EIqnutR56oJCg3ey3neWTE6IbbevZ/tyAgM1Mx27QUdQw7S+puGFXiKfe9DRZwugAtSwkQEAAAAAAAAAAFBuXMto1PGgtQd2u5bRpR4oAQAAAAAAAFBEsWhSDjJ8yasWjK4aF+89NSCmaqYe+n2mSqTvbBz+ywBs62VqgHer6diy0F2nEKIrEY6MBKBtAIDK0aRhSXv5PgNQjmRgQyyaFLqKGMxBFi6YDosAAKDYbCHEkRzasERDewlr0Oug6diyYPQZrutQwrZ43XSeM/aWKtbbpjFENB+yP+tMgNqDgItFk03qPl+zR4V/HxS1jkWTcnqn2jtarmb5PkdDPwWFMv3V+XbI+Pvnrv39Ti/nunawv3H7rWsr31m76YDp2NruQat9Vt7n3y+EqNcxD6FCGu5sGhYTtZO6ZpG1qerMUHrZZM/wmrGfjNdOZnN9IgMcziXCkfmCHIDHqM+tDG04p4JX9uYRCFRs8vttt/wxHfui+iwEPaigVWNR/1G1TeEj1zLktcdmH+bYG4qnCODWxLUMea7x8RJser06Xz/oWsabQogToXjq7HxvkEXV1bmVDuyjmM1FdZ4xr439t6//3YZt6cnqRVn1++/q/bm4vD6r+vzyOH2CLaOHOqY4Oms83AtllS12VG1rAMhJNasLAAAAAAAAAAAAZag5wIvUpsIkAAAAAAAAABRJLJqURT++4tXcZbGG6zvvPhbUIN3dMHJuqiaTDti23qwGZh4zHbvNdGwdhbMBAJiNjqJ4b7OmAZQrFZpw2ufFk4ENFE8BABSdKi7amUM7dDyXV85hDaOqkGuxC1fKQppHVDF1oKS4lqHjeeVL7AXeMB27znTsffJeSMCCGuTx93gA2oGAi0WTjbFosjUWTcp9+FX1nel1MWd5z/DVWDS5L8vXOxrWWikWwS1Zshj7vWXLv66j/ea7f7tB7aOtXk43Fk1ujUWTJ2LRZI8Q4kfqPreWoAZ53/9Kc5+4uf1eUYMaMlUiPbZssvvOxpFv3tw++Kf9G0YuZBHUIM/tjyfCkeMENaBQiXDkQiIceUX1TQc97GAuu9UzMYdUSGDgyPNVr4+Zj+gsgbCKsuJaxh617+kmrylOVvr61sW1jIYyKeQuz7O/5VpGj2sZh9VyzUZXCNZAIhzhfiNmcyHbtdIwMtST7WufGBoQK+9nlRm3SwUKwGN+BDVIA+tGxcSSx5/VfoR85iGr9A4AmKmGtQEAAAAAAAAAAIAytCfAiyQfPm9jkA0AAAAAAABQHLFoUg4IOuvVzGXBBlmsYTbD9emL6bqJIA98XqYGCe82HbtPFb+7KIt0BKBtAIDypKMYSi/7CoByJgMbYtGkUIXo/CKLF0yHRQAAUEznhRDNWQYx1GpoZ6mFNcjro+m+vauqeJ+YGXL3aOFWVRyyTXcBpQXIQtGvmY59KhGOdBWxHUCudBT86mcrFM50bPndcUBTkE+hTnIfBvOJRZN71PmPn9/Ne2PRpLxneKq9o2W+Iu86whrkZzacCEe0TBuP+29+/uP/Wwjxz71eNS2py1u/8dFPyv2n1XTsC4UUCFf39Nv8Ok+V9/zvbBouakCDNF472TO6crx7pCGddVFaFdJwjoAG6CBDG2RBZRV2sC9gAVjZ2qWKMgfxs9KqIYhp2miOAZgokGsZTeoaxA8nQ/EUQRz6HBZCbCmj5ZHL8hUhxFHXMuQzk0dD8dTMcw1d9wI9ez4T5UUev1zL6M7mvKJhZPB634r6rM8/dvX+THz/yawuH2RICWEiHvIrqGHaQGhUNF5dvtDLjmo8xgEoU1WZTIZtCwAAAAAAAAAAgLLhWoYcVHOsBJbnfCieOheAdgAAAAAAAAAVJRZNdnk1IOj2liExsH72ejpjyya7724aLtWiIpfkgHsKowEAvKQKuRzRsFJfKaToEwCUilg0ecrnwAbpNIENAIBiUwW327IoYCgLR27wuLkyLOJ6EVdBn/qZ7d+31b97vSj6bTp2q49FBedzPhGO8GwlSoJrGbLg1xc9buuXQvHUUfaA/JiOLZ8jjxQ5gGYuoyqogWLaeEwsmmxSBZubNRZtzpYs7Hy+vaNl1vML07F7NBSv/VIiHOHY56N3fvfpv14+Ntrq9Rw/80d//G/UPy8mwpGcip+qgIb96uclP9ZGEEIaJmsyfaOr0j8ZWZXumarJpHN4KyEN8J261/frAT3Xylafuu68UMxGqPNWneMfubb2kWsZMgjzVZ/C4hiTqpFrGTKU8d2yXcBfeFMIceIzf/THXRqX9wWePcRcXMvYk81977GaxUucp7O/V32vtk78u92fyual306EI/vZQN7wO6hBWvfOSvHUxVA2L93W3tGSSxgegApXU+krAAAAAAAAAAAAAGXH8wfGNdnrWsbboXiKB6MBAAAAAAAAn8SiyRNeDQi6uf3eg+INs5EFFQZCI0Ud2F0guY52mY4tB6lfVMENFMEGABSqScMa7OM7CkClkKEJsWhS+BzYcFDOk8AGAEAxyaJepmO/op4NbJ2ngPESDc28ncVrcjXzmcHpf8tiyFfVv0cT4cjVwmaRu0Q40mk6tpzvoSIXid6rCoC+4UUIBaDZVg2Tp3hYnkzH3rfA90QxyaCG48U4viO4YtFkowpnaPWpsG+2HoRGyNDI9o6W2cY6dGkIawh7PD0sYPnY6HkdY2/2/fj7W889/yvyu2y36dgXsgkSiEWT+2eENNTr3nZTNRlx74n7YmD9SNFCGqaqM0OjK8d/cn/VeM947eRgjm8npAFFo/a7bhU0IM+9dpfg1pBtP2g69t4ihzbs0zjtURW+BP+0+XQ+d4mgBu1yCpsqYR+XP//Pv/3ioP3ir4vOZ14Uw7WeXkpfIqgBC+hSwcHz7ni1E+PpFWMjN4Zq67IKaV41NiK237om3lm7aaGXcg3qkWIENUgDodFsX3pUfU8DQFaqMpkMawoAAAAAAAAAAABlw7WMYwEbrDAfWTjmy6F4igGFAAAAAAAAgGaxaFIOuPmaF3OZL6ghUyXSdzeMnEvXTZRb4Wg56P5iEQeqAwBKnOnYhzQMzpWD/E+ybwCoJLJYos+BDdJpAhsAAEFgOnbdPKENv6+hif8mi9f0qrAFoQIXRmf8+8HvS6mQqlrHR4QQm4vclD4V2EBhcwSWaxmOKnDopU+E4imHrZ49FfDiV3HUfMjvgFMEjmJaLJrco0IafC1kmKdLcv9t72j5YLyD6diHhRBf8XpGiXCkyoflgeJahgwcetfr9XFp81Pdr730+9PfY92JcOT4bK+LRZPN6ti9X0P4x6xkSEN/aEQMrB8VUzVTfszyIfI5grG6ie6R+vTbeT5LQEgDAmdGaENzQAOzsjEdbNDpV2CgWm/HNM7iNM/2+Me1DPkZ2OvDDBmHqplrGfK85FtlvZBzGFmyVPzn7c+KP/3oJ8XNlau9mOTnEuFIpQRfIE+uZbRlE/x0ef3W5640rs86IOrdxg3iz5/bk81LP5sIR86y/fJXrKCGaS+e3SJqhxdn89Jt7R0tBOQCyAphDQAAAAAAAAAAACgbrmU0CSFeLbHluRSKpyggAwAAAAAAAGikij3IQUH1hcxFFnC4tvOuSNdNzPmae0/c/85IQ7qcB/bIgepdaqA6hdIAAFkzHfuEhkItZxLhSCdbAUClIbABAFDpZgltWCmE+G2PV8t1IcT/rkIXhCqKd3v63+VedNt07ANq/RYbRSYRWK5l6CjaszoUT/Wz1RemvgsOZFPYr0j6VN9VV0DbBx/Foskm9b1aisWsR1Vgw4N92XRsuQw/0jCfTyTCEcJqfORaRpfXRTXvLV0+9Lv/5OifzvjVG9PHwVg0uVWFM7T5Wcyz2CENY8smu8eWj/cU8AzBRSHEBUIaEGQLBCuWiunQhgu6r/dNx86qOHWeZH/FKyW03kuaaxk7VOClbnL/PB6Kp3hOSxPXMhrU83C+hEgF2U83bhedOz8iOp95sZBWrk6EI/RtYF7Z1gO4t3T5yosfei6nvv8/+ZV9YqxmyUIv+2oiHDnMVspPsYMapG3JJ8TGyw3ZvJTnHABkjbAGAAAAAAAAAAAAlA3XMoIyODBXp0PxFIMJAQAAAAAAAA1i0aQng4KyCWq4v3zip/0bRiqpr69XDVbvSoQjIwFoDwAgoEzHbhRCHNPQui8THgSgUhHYAADAQwUh5Xfib3m8St5MhCPhSl7NpmPvUYXQi11s86IqeE4fJAJDFXK863F7BkLxVFYVxiqd6djy2L8vwMWAz6vQa45bFSwWTTaqcAa5vzaWwZq4JISw2zta+kzH7i80JH8WX0iEIyc8nibm4VqGXN+f93odHd33T7/5X4ynHxQ6XzRePfyxM9t/rAIaPu7n9ihmSMN47WTP2PKJnpFV6Z6pmkw6z8nIc+Bz5R4Sh/KirtF3l8F3n7bPn+nYuov7E3joE9cy5D7+mk/XJIw91cy1jKNCiC+W9ULm6ObK1Q8CG/5s1z8Qw7U57ebyOMS9RGTFtYxj2ZwzfPfplt8Zr1m8Itvpfv/J58WlzU8t9LIriXBkK1sqd0EIapDW9C4XO9/ckO3Lt7V3tOQboAeggtSwsQEAAAAAAAAAAFBG9pToohxwLeNqKJ6ikAwAAAAAAADgvVOFDgoaq5sQNz90b96ghoklUzcqLKhB2qwK4R00HVsOVr+QCEe6A9AuAEDwPK2jRQQ1AKhkMjQhFk0KnwMbDsp5EtgAAAgKVQT7nOnYGzSENXRV+oaWBR5Nx76qiutuLmJTZLHPJtOxT1KsFgHSrKEpFX/cWYjp2E0qRGZHQJvYrcJl6LOqYLFoco86RhS1aKEGcnl2xKLJc+IfPyjK+JLHs5AhWYQ1+OuUjrCGX/1Z19bLq55bWTu8eGvt6KIddzYNizXXlvu2YMUKaZisyfTdXz7efX/VeM947eRgAZMipAElS12jd8ofFf63t0RDG+Q16G5Nz8Hs83Baj+ojqMFXh3wKarhIUINermVsJajhcesG74rf/uFfPfj5rgpteOeJjdm89ZTPTUVp61T9PPNaPTLYc3PVmmezXdLnr/48m7CGLaZjNyfCEfrjchCUoAbpzubhXF5+VN3nAIB5EdYAAAAAAAAAAACAsuBaRrOmB9x61X91DjRcpm7yv65xHgAAAAAAAEDFiUWThwstFCKDGq7v7J+3kMNUdWbozsbhv6zwPWx6sHqfKiBxgQISAIAZdBTQIyAIQMUrYmBDT3tHy9FKX/8AgEDJqlJYjvrZxO+H5JmOfVw941jMAkzyGc7XTMc+RQEtBISOsIYeNu7sTMeuU8V+W4PYPiHEqAppoIhqhYpFk01q/9Q1piEo5LIdWPfuSnFzWyG16GcVLpu1VCJC8VSXaxkDQoh6L1u849p7v7xqy9Kq6f+XoQkNbp2onqia/40FKkZIg3xOIL1ssmekPv12um6i0HvjhDSgrKjzogsqtGF3gMO25jP9HEy3+nwWdG/SdOwdmtfDGY3TxgyuZfgVatkbiqcofK8f63gBv3b5rQc/P924XXTu/IjofObFud5wJRGOOEFpN0pCVzZhDaHBOzmFNawaGxFPDPWL2ysaFnppmPDU7AUpqGFaX9OwaLyaVTigfMbhaHtHC/2vAOZVzeoBAAAAAAAAAABAmdAx6Em64NMDV5tdy1jwoRIAAAAAAAAA2YlFk3Ig1VcKWV3ZBDVI/etH/3KqJpNm0zzQqAomHTMd+5Dp2Lr6bgEApaVJQ2sJawAAFdgghDjt87r4YiyabGP9AwACZKuGplBYTEmEIyOJcORkAAo/ygLRL5uOva/I7QCkBau95YFiYbNQ9xmOBTiooVMI8QpBDZUnFk02xqLJ1lg0KffPV1VB53IOavjA2ndXTmiYbD33FYvirNcz3TzYW9U4+ou8AXmv/c6mYW3LNlE7+WD6V3b1ibubh7UHNWSqRHps2WT3QGj0/M3tg3/av2HkQoFBDRfV98gpghpQjuQ5UiIckQGAx0v43p4MWDhiOvYRFT6RL53Xst0EG/rDtYzpABLdZCDcyTJfnUXnWsZ+IcTHNbZDBmO9IIT4qvp3SXv2+jvi8522+JOvHxO//YPviOVjo48uzolSX0b4KxRPyfPfSwvNdGP/7euLpiZzej53V+/Ps3kZ97uzFMSgBuneuseOQ/M56nsDAZQcwhoAAAAAAAAAAABQ8lzLqNMY1tAViqeu+jTIsNW1jB0+zAcAAAAAAAAoa7FosqHQwhKDa++L3ufuLFjMYWjNmFNg8YVytksVTzthOvYB07EbK32FAEAlMh1b3svbrGHR32aHAoD3qcCGBQtZeOxrBDYAAAJER1gDHpEIRzpVgc2cKiBpsFcVyaxjG6GIwhpmTXHVGeQ9BflZl/cZAloAv1ceExPhyBkZahOA9sAnsWhyTyyaPKRCRA6oIPOK0nCjTte9UR3HVszP87AG6ek7D3ffD6wfeRCq4CU5vZvb74krzf6ENIzXTvbIZwPcD907dXfTsDO6cvx6gZMkpAEVJRGOdKvQhi+r/b8UyTF/B03HPpZraIPp2DvU+3U5xydKP9cymtT5nx9OqiLm0MS1jAYfwgUOh+IpOT75sOq//JwQ4kqpb9N1g3fFb//wr8Q3/uR/FYc7bbH99genRVrOLVH2sgq/bBgZyinkdPuta9m8bJcKIcA8VLBiT9CCGqSBUE63Kg7GoknuJQGYVw2rBwAAAAAAAAAAAGWgWdMgnO7ph9pC8VSnaxlP+/AwwSHXMl4JxVMM2gEAAAAAAADy5wgh6vN9twxqkIUdFjK2bLJ7aM1Yt8fbaTSgRYcKIZenVf6Yji2LF8mibl0ULwKAiqGr8EgvuxAAPCSsroX8LJIgAxtkWMQpNgUAoMiavZ59Ihxx2KiPkwU2Tcd+RQhxRFMwX7bktearpmO/kQhHrhaxHahcOgp75VR0rlypIBZ5T2FvQBdR3sc5pwJsUCFi0WST2i91jVsoOXUDS26M1Kc3eNzusA8Fc/EwLee8zTe7xIVND9cxd7cPik3/tfA6qDKk4c6m4Qf39HWbrMn03V8+3j28euztqZpM2oPZjapwpnMENKBSqeu3U6Zjy3CBfUKI3SW4KhpVaMNeFTzRmcXzLzqDj2UQhtfPLuERrmXU+Rgkdz4UT7FN9ZMBCls0zuXNUDz1wf2zUDzVL49/8se1jLCa/0sBWA8F+bXLbz34efeJjbe33b4eFuEI9wyRExlo4lrGgs/MNowMXu9bUZ/180dLJifEM+/1iMvrF+zC268+m5iFCmoo6HlsnYZXj4mx5eOidnhxtnM5qvm8DECJq2YDAgAAAAAAAAAAoAx4PtBSufjI/59SD0frtIwb/QAAAAAAAED+YtHkiUKKk/avH80qqEEWZhgIjVzweFOdSYQjciDm8Vn6J8uFLOB2UAhxzHTsNtOxm8p0OQEAv6DjWN9L6A8APKy9o6VfFTW85POqkYENPOcAACi2QBYKKlfyeiwRjryuQlmLqVEFNuypuI2AIPC8oKMsTlfpW9Z07AdBLAEOapDXW68T1FAZYtFkYyyabI1Fk8fUfrmboIZfWNFXe13DZHWNC8EcVNHgb3u9fppvPt49dX9VWoyuGs97mjKkQd7Hv9LcpzWoYao6MzS6cjzZ1zT8jVtbB785uPb+TzwIapDjkM4LIV5JhCOnCGoAHlxX9iXeL+j9BfX50D1eT4dGdd4qn3/Zp0LHHqOuWRs1tuNcUZa+8rRp3o7TLoXiKbapZq5lyOrtX9Q8m8Nz/SEUTzmheEoWiN8mhPiqEGLAz+XXYdvt60/Ie4auZfS7lnFUrWMgWws+h9t018055PSZG1eyedl+ttLsgh7UMG0glNNp5MFYNMnxCcCcqjKZDGsHAACg8N6NAAAgAElEQVQAAAAAAAAAJcu1DPkg41c0tf8LoXjqoSIvrmXIQUBHfFhfZ0LxFAN5AAAAAAAAgByoAqFfy3edyeIO2RR2yFSJ9J3Nw98cr50c9HD7nE6EIw8NOlMDuWXhlz0q5KBc9anCbhcpvA0A5cd0bHlvbYfHC9aZCEfOsLsAwONi0WSDKpqQd4hdnj7X3tFyik0CAPCbKhj0I49n+2YiHAmzMRemik4eCEDx6osqDJf+RWjnWoaO486VUDxVsYXCTMeWRU8jRbiOyZa8jyGLa3cHtH3wUCya3KNCA4K6PwbCra2DG7v/G1dHsMq2RDiScxFO5M+1jMM6xuScfOFl0bXu4fyNJSM1oukna3KajgxpuLNpWGtAg7z/n1462TO8euwn6boJL4MURtV98E7OU4H5qedjWtVPqYYjyc+8DGA7NzOUxXTsYxqL/F9UoRfQyLWMfT4Fysn95suPjmeF91zLkPfRPq5x1X41FE/NGdbwKNcyGlTB+KM6wiGL6LS8lpbhFGW0TNDAtQz5PXlsoSn/zZPP7xuqrduQSwu+/rFPicGls+YpTRtIhCMNbNeHlUpQg7Smd7nY+WZOu8Xp9o6WNn0tAlDKCGsAAAAAAAAAAABASXMtQw6GOKhhGS6F4qmTs/3BtYwD6uFP3eTDdVfZQwEAAAAAAICFxaLJggYHZRvUIN174v53RhrSXhUJGVVFxC7M9yLTsZtUv2RzCQ9Mz8YlIcSFRDjSFfymAgCyYTr2v9awoh4LOQIA/AKBDQCASmI6tgxV+J7Hi/ztRDiynx0pO6rvsi0AgbO9si7wzKKYgA6uZeg47rwZiqcqMiTGdGx572NfgO99nE+EI+cC0A5oFIsmK+U+nKf+5h///Pc1TPZzFJ32l2sZMizoXa9nenHjbvG15x6vf7nunVVi5a2lC77fj5CG8drJntGV490e3vufRkgDUAAVCrhXY8CBH2SgoDyHfFrTuMdpr3ANrJdrGTuEEEd8mJX87jjOWFL9XMuQfX7f0jijASHE1lA81Z/Pm1WfQ5vmY4ff5POAJ0LxFOf5mJNrGa8t1L98ef3W5640rt+dy1r8wZad4ofbPrzQyz6bCEfOsnXeV0pBDdKi8WrxsTPbc33btvaOFoIiATymhlUCAAAAAAAAAACAEqcrNGHO4i6heOqMaxlP+zCwsM21DPmQHQ9nAwAAAAAAAPNQhUhP5TM4aKomI248NSDur0pn9frRleNJj4MajifCkQUH2qrXPBiwqAamy0FnOzxqR5DIYrK7TMfuU4PXLzCwHABKl+nYur6r3ma3AIC5tXe09MeiyXARAhu+FosmBYENAACfNWuYHUGiOZB9l6ZjH1eF5PwOi5pJPtP5munYpwiDhWY6QhWcSttoqt8oEoCgl7l0y/sy3KMoX7FoslGdR7SWeDHooqkbWHJjpD69weP5h6fviUIvdY99v2j41v7PDX5BrJv0tk7ljrvds/7+tjEklt+tFdUTVbP+XXdIw8SSqRv3V4y/PbIq3TNVk8nuIYHsEdIAeEAFtl9Qz8a0Bvh8cT671Y9OFzlX1cu1DHmOeMin2Z0hqEE/1zLk+c8JzTM6nG9Qg3h/7LLsH3Bcyziq+toOl0rB9HnI/sKvuZZxQq3/U6F4iiLpeFTnQiElG/tv9eQa1vDMe1eyCWuQ16GENZRgUIM0uXhKDK8ee3CdmYPpYywAPISwBgAAAAAAAAAAAJQs9cCbjgcuR0Px1EID9eQAgCNCiGUa159ctr3yYTuN8wAAAAAAAADKwal8ioDJoIZrO++KdN1EVq+XhRsGQqNJj9ZX1kENj5oxML1RDUxvLsMiMo2qf3Sv6djdapD5nCG7AIDAatLQsD4KjwDAwghsAABUkAYNi5p3QbVKpYrRnjQdW/ZXHijiapDPdL5sOvb5RDhyrrK3CjTaqmHSFXPcMR27Th0ndBevzZfsdzpD6Ev5ikWTe9S9tWIGDJWFFX211zWFNUCjWDS5/0FIw/s/Dwpwpmqe9TysoXG0TzQNXhVXVz58m2CqZkr0h0bEmmvLH/r96KrxByEN91d5nZ8gxFR1Zmh05fhP7q8a7xmvnRz0fAaENABazHg2RoZ87ZM5MKzph3DNq98hzWNHp10MxVM8E+UPGXywReOc3gzFU57cH1NhBrKY+FHXMqZDG0r9Gkaee35R/riWcVqFNlRceCXm1LVQWMOq+8ODiyfGh8ZrFq/IdjWuGhsRm/pviWsNa+d72X71GatopRjUMK2vaTjXsIaDsWjyaHtHC8ExAB5SlclkWCMAAAAAAAAAAAAoSa5leDaoL121bOm1RU//8rLM4O3lmf5vPmn/6F8u9B7XMvYs9PCHR97IIjwCAAAAAAAAqEixaFIOkvpKrss+UTspbuwYyDqoQRZwuG0M/fupmowX1SF6ZeEyLwtNq4FSe8q8sMyoGpTXmU/IBQDAf6ZjH9Lw3XQpEY6cZHMCQHZi0WRDEQIbpM8R2AAA8IPp2PJ77uMez+oTiXCEQmF5UoU0/SpoOB8ZAvsGBXPhNdcytBx3KqFAoenYe9Sz38U+PsxFFto+z3Gj/MSiyaYZAehB3f+80qe+A7UHotx4un/rOy/e/qSGSW9LhCMUTPRQLJqU+36bKkL6WIHidZPvis8Nxjyf77kP7RXnntz32O+rJ6pF009Xi5qxRdpCGjJVIj1WN9E9Up9+O103oSsAmpAGwEfqWvPXCVx6QB53zgSgHWVLFcf3I2CuNxRPvV6hq9lXrmXI4MV3Nc/zBZ3jgF3LCKtzOj/GNPvlkhDihFchFyht2Rx7f9S0Y8/NVWuezWVBL6/fIjqfeXGhl71QycGdpRzUIMmghuY/b8rilQ853d7R0qa3ZQBKDWENAAAAAAAAAAAAKFmuZRwTQjR60f73Fn1ox0h1fUj++0Kt9eNrNc/8hXxwsb2jZd6CX65l6Cgw8yj5APfroXhK1wPiAAAAAAAAQEmKRZNyAOL3cm37WN2EuL6zX0zVTGX9njsbR77pUREHGdRwXFexBtOx69SAtVav+k8DqlcVvuii8AUABJfp2Cc0FD87kwhHOtnsAJA9AhsAAOVMU1hDRRdm8oLqpzwihNhc5Kb0qcAGwl/hGdcy+jUULlsdiqf6y3UrmY7dpEIadgSgObPpVn1OHCvKSCyabFThDOV+z2zaRXnfrL2j5cE5jAqoaNP5XZxeNrHkh7/Zo6Ow4ecS4Qj9CQWKRZNbVThDWzZ9QocH/rGozXh727V35Wbxv+15bda/Lb235MF/vQxpkAEN6aWTPWPLx3tGGtI6Az/6VLjPBY3zADAH07Hl9/o+nwrpB5EcZ/gKz8ro41rGHp+K4TNm1Eeaghdn+moonjrsxxKp4Al5jne4VAurz2JACHFKBTcQ3FahXMvYofqU53S94YmNP9n05N5c19Cf/Mo+MVazZL6XfCERjpyoxDVf6kEN08z4dlGTrs71bdvaO1o45gD4AGENAAAAAAAAAAAAKEmuZcjBA6960fZ01bKlvTU7PyL/fV+sGDu3/As/mPFnOfjmXHtHS/ds73Uto061Q/cAju5QPHVc8zwAAAAAAACAkqGKjfbkOkAon6CGoTVjztCasVn7CHOkNajhUaZjy8Fre1QhGq8LZQeJLD5zIRGOeLGNAASUKrohf+S9mSbVyiZ1fBtNhCMn2XbBorbZMQ2N+jKF8wAgdwQ2AADKlenYnhfNSIQjVeww3jAd+4Aqkl1spymmCy+4liHPq+96vTJD8VRZHndUcMvegBwHZiOLo54jGLS8xKLJ6Xtjfl//FsMH4ebtHS2z3n+MRZP71OdQi7f29/zW2PIJr8dSfDURjvhS6LbcqP6f6YCGnIoR/3cj/5d4Nv09z9fI//Krx0TfMr3DbcZrZUDDRM/IqnTPVE3Gu/SHxxHSAASIuhfZqp6LKednYh4lj0PngtWk8qHGrB7xaZ86HoqneNbJB65lyPOjb2mckwwa2FqMEEbXMqZDG8rp+ufbKrTBCUBb4DPXMo4tNF7/r3d+pG2yetG8yQuP6nymRVxev3W+l1xKhCPNlba9yyWoQXrmP24QjVeX5/q20+0dLTpCKAGUKMIaAAAAAAAAAAAAUJJcy/BsAN/tRcaWe9VPGPLfVxY9d+0HS/e/M8vLHjxU3d7R8thD1a5l7FAP4el2PhRP8TAlAAAAAAAA8H6hia5cBxkOrx4TN7cP5hTUMLZssvvupmEvBv5dTIQjRSlQqoohNas+1c3FaINP+mYEN/SV8XICZUeFywgVvlCnCh9MBzLsyHJ5z1BULVhMx5aFUQ563ahEOPIHJb5qAKBoCGwAAJQjDWENVxLhyLxVm5AbdX14IADFMy+q/gNfwnRRnlzLCAshvK5k/WYongqX2wpTxd4OLFRgr4g4JpSRWDTZpO6DlXuAuVD3w+R90s72jpas7ofFoslGVbw/2/72rF3+1Rt7+pqGn/V4shVZJLMQsWhyvwppyLtP/qnxhPjN4f/D87adevaguLBpj+fTnazJ9N1fPt59f9V4z3jt5KDnM3gYIQ1AgKlnYlrVT7mfB8iwsVc4h9XDtQy5L73q0zUM40R9okIX5fnzFo1z/FwonirqfTDVX9Gm4xmNIroihDgqhDhbjCAMFIdrGQsGDr61ZWe4b0V9Tte3t1fUC/vFX1/oZasT4UjF7GtFDGo4reNYte6dleKpi6F83rqtvaOlx+v2AChNhDUAAAAAAAAAAACgJLmWccyLB98mRU1NqubZj2aqqhfJ/3eW/t6Pbi3aMjTPW6aLfcnBDR882JjNAyAe+XIonrrKXgsAAAAAAIBKFosmTwghPp/LKhhce1/c3H4vp7UmCzz0bR46N1WTSRe4uosW1PAo07Eb1QD1PWU+SP2SCm3oCkBbAMzCdOxWVazNKxSmCBjTsWUhgN0et6o7EY4cL/mVAwBFRGADAKCcmI6tpWh6Ihwpu6LpxWY6dpMqGFfsMNleIcRJwl6RL9cy5H78NY9X4OlQPNVWLhtF3YfQUhTeI/I4YCfCke6Atg9ZUgEE02HlQQ0F8ZIcw9DV3tGS972vWDQp19U+L+8R3ni6f+s7L97+pNcLW2lFMvMRiyab1fG2zYvimrWZYXF44Hc9b2fXul3i5AuHPJnWVHVmKL1ssmekPv12um7Cj/M5QhqAEqJCG3aX+bmBPCZR4F8T1zIO+XTv5FIonjpZlIWsQK5lyGL/X9S45IEKYFThFIfVOaLOgAo/DcgMMCHEiVA8RUH1MudahvwOPzbfUv587eYdf79uc86fO/vFVnF7RcN8L/lcUJ7z1c107P3qc+V7UEMiHGkzHfusEOIlLydcO1wjXjybVw736faOlrLpmwVQGMIaAAAAAAAAAAAAUHJcy5CDd4540e7bi4wt96qfMOS/74sVY+eWf+EHWb5VFvzplMW+2jtaHjzk7VrGER8GFvWpwAYKDQEAAAAAAKAixaLJnAsh5RPUkKkS6Tubh785Xjs5WOB6DuxAadOx96giNn4XafWT7MuVxTM6KcAGBIvp2DoKHcjP+hk2dTCYjv2ahiKcFCABAA8UMbDhhUKKSgIA8ChVUOhbHq+YB8WCWNneU4Uz2wLQHyn7DE8R9Ip8aCry+KVQPHW0HDaI6dj7VHHcIIZFj6r+Q/qWSlwsmqyE+1vTetWYBRnS4Mn4ARVy4VmgSnrZxJIf/maPjnOnzybCkbMaplvSYtHk1hkBDZ4X3/3N4X8unhrPdkhN9n7/H/7rvN8r79unl0723F+V7h5dOX7d88bNjpAGoMSp52H2llloQ18iHHklAO0oS65l7FP7jG6MDfWRaxny3OldzXN8IRRPBbKPSQZO/t2GbR0fvvFuTQCa45Vvq9AGpzwWB7NZaKz+WM3iJc7TuRfXv7T5SfH9J+ftSvh2IhzZX+4bxXRsHWG02fjg3ovp2DJU5itez6D5z5vE8ru1+bx1W3tHC2EwAEQ5nTQBAAAAAAAAAACgcuzxYkknRU3NYNWaTdP//+7i5ms5vH2ZegBvbyyavCiEOPc/CXFKCPGa5gFG8iHRA+L9eQEAAAAAAAAVJRZNysIrJ3JZZhnSIMMacjXYeN/xIKjhdJALOKi2XTAdu1H1u+4us4HqQvXXysJQraZjf1DQJhGOMOgZKCJVnFFHIS35WSecJQDUNvY6qEF6u+RWBgAEUHtHS38smgzLc2Mdhf3m4cj5EtgAAPBQs4aVSUEeTVSf3EnTsVvVc5DFIvsMXzYdm0BA5COsYa2V/Pmx6dg7VOHwoN5juCSEsOk3LF2xaLJJ3e9pDmgYiJf61HGhs72jxfN9Vk3zuLrv2lbo+lwyWpNePLZoaLx2coV3rXxAHm8Ja/hF6KYsGHpYd0hJquZZLWENzTe7RNe63E7dx2sne8aWT/QMrRnr9rxBcyOkASgTM56HaVbnEJ6EFBXZefZPPVzL2OFTUIMMkHuDoAZf5fScYR6+GtSgBukzf/TH8j81229fF5+59J/Er11+q/iNKtxL8se1jCtCCBl8eTYUT/WX+kLhMRfn++6unRhPrxgbuTFUW7chl1W380bPQmENOvr9AiUIQQ3KWR1hDQOh0XzDGo6qPhIAFa4qk8lU+joAAAAAAAAAAABAiXEt44QXgyxuLzK23Kt+wpj+/79c9oc/vFedR9W2X+j+jZF/9fNd6b/+tA9r9HQonuIBcAAAAAAAAFQMVYTCyaUARb5BDaMrx5MDodFkges20EENc1EFlaaDG8rV6HSRm0Q4crWMlxMILNOx5XHmoKb2XUqEIyfZ+sWlCp+8rKERXyBwBwC8owozyuuseh9X64AsdEFgAwDAC6Zjy2cJP+/xyvxcIhw5xQbSS/VDHgpAwW1Z/PcNrjWRLdcyujQUyv5EKJ5ySnEjqMDONt3Fwwsgi26fSoQjfhb6hkdi0WSjCmdoLcOw8dnIYpRdfl4vx6JJTz7Df9t6Ldy/ftTTItg16UVXzPi2D7d3tFTsd3Qsmtyvts9Lfs2zfuqm+MN7f+D5dDu3tAr7mYWzuiZrMn33l493D68ee3uqJpP2vCFz61b3jumvAsqUugbdV8KhDX2JcOSVALSj7LiWIc8zX/Opf4LxoD5yLUMWXf+exjnK+11bgxwUYDr22ZnnksvHRh+ENrRefkusG7xb3MZ5R24H2Zd7IhRPEcJbRhaqI3B5/dbnrjSuz/kZ1//wSx8T76zdNN9LPpsIR8oyOLCIQQ1fSoQjR2dpj/zMbvFyRvU3l4ln/2re7Tufbe0dLYE/jqhzl1HCnwA9alivAAAAAAAAAAAAKCWuZTR79fDbcFVDaPrfQ1WrhwsMapB2/EXdH+2YELX1T068tbR+ynULb+WcDriW8XYonurTOA8AAAAAAAAgSE5lWyhkqiYj3O33xMjqsZybP7Fk6kaBQQ0yCOB4qYYAqIJF3aZjn1GBDbKg+uYANM1Ly9Sy7TYdW/axdsoCOBRkA3ylswjGLllsgwJsRdekoQG9HKsBwFuyAGQsmgz7HNgg5+PI+RLYAADwQLOGlUhRLx/I63bTsWWhySNF7n+UfRSvmo79BsGuyJLnoQQlHNTQqgreFjt0ZS7nVeFt+pNKTCya3KO+44MaAuKlXnWfqqsYoQRqnidVmOOBfEMxVt5adt3rsIaJJZOyYOOrsWjyVHtHS8X096t+GllAc7/P4ZoPDFSvE/eq14pVU7c8nW7zza45wxqmqjNDY8sn3h5pSHeP104Oejrjhcl96xz3lIDypz7nx03HblTnsDkXdy6y8+ym2vgVJHmRoAbf6Q5jPRzwoIatj4Z+DdcuE9/46Ccf/MjAhtb/+kPx7PV3itdIb9SrMN/Pu5bxbbXdA7tdSkVA+qq65vu+3th/qyefsIZn3ruyUFiDvCYru7CGIgY1zBeOLfezg17ObGDdaCFvP6quxwNL1dhoU9eyJ4PcVqBUVWUyGTYeAAAAAAAAAAAASoZrGYe8GHgxUB0K9S3a9MGAgB8vae1+e/EeT8IVajPDNZ8c+Te/vDzTLxqm3Csrpvr6FomJCS+m/YjeUDz1uobpAgAAAAAAAIESiyblIJgvZtMmGdRwbeddka7LvUtOFoK4bQz9+6maTDrP5S/poIa5mI4tC263qsI4QS265IVLQogLiXCEgrGAZqZjn9B8POlOhCPH2Y7FYzr2EQ2hHLK43plSWg8AUCpUUUY/AxukAVnsgsAGAEAhTMeWwQpbPF6JqxPhCAW9fGQ69gHV/1hspxPhCIUTMSdVDOtHHq+hK6F4amsprXUZlCqEiAQ46FkWKzuVCEf6AtAWZCkWTVbKvSipTxWd7GzvaAnMfhqLJuuEEHvz+U4eXj22suvTV3/b6zbt+JvQ+bU9K6+re3inihFo4YdYNCm/Bw6rgAavz21z1jr6b8WLY97XBH99z6vi6sr3c54zVSKdXjrZM7x67CfpuolifA4IaQAqXImFNshAe8YPauBaRptP+wBjQH3mWkbWzxrm6c1QPBUO8jowHTurdbD99nXxmUv/Sfza5bf8aRhKxSeKHdjgWoa8eHh1vtd89+mW3xmvWbwi12l//WOfEoNL6+b685VEOFJSfXULCWhQg2yXvAb+ltczfeY/bhCNV5fn+/Zt7R0tgQz0di1jzyPhFjIISncwEVBxCGsAAAAAAAAAAABAyXAtQz798BUv2nul5vmPTlbV1E7//5/VxS6OVS33LFBh7eSVFeH7X39BPLgpNzW5MnPn2urJ69c0hDacD8VT5zyeJgAAAAAAABAYsWhSDmz8XjbtKSSoQbqzceSbBRSDkO97o9yCGh5lOvYeNVDZ6wLcQSK35UUV3EAxJ8BjpmPLYlsv+7BeKbBYRKZj/2sNc2ebAoBGBDYAAEqR6dieF8xIhCNV7Az+U/2OBwJQoFv2C55JhCNlWQwahXEtI+v7FTkIfIHHaaZj513I3Sej6vNL/1GJiEWTjSqcQe5TjRWwyPI7pivo18CxaFLeA2zLdZv84B+9+zvjtZM5F8mcz7p3ViafuhhKqpeMqsCGsuhDiEWTDWo9y59dAWjSB4yJn4rfHnrN8+meeeaA+A87wj2jK8e7RxrSxSp+SUgDgIeoc9xW9RPUwKjjHLe8N0vBY13kOczroXiK54984lrGVhWOpvN+1wuheCrQ56W5htwuHxsVrZffehDcsG7wrt7GoRQUPaxBvP95fm2+sNAfNe3Yc3PVmmdzne73n3xeXNr81HwveSERjpTFtWdQgxrE+22T18WeH3A2Xm4Q25JP5Pv20+0dLW3etqhwrmXMFXh9OhRP0RcKeKialQkAAAAAAAAAAIAS0uxFUweqQ6GZQQ23q5v6vAxqkG4t2jL0Xxf/yjvy35mq6kX3qp8wrix+fvd7iz60I121bKmHs9rrWkY5F0UDAAAAAABABYtFk3Lw5Nls1sBY3YS4+uydvIMahtaMOQUENfQKIb5c7kEN4v1idTLA4LgQ4hUhRKcKNig3jarg1DHTsY+oQnEAvOPXfY29bLPiMB1b1zZ+O+jLDgClTBU7DKsABb/IQjmOCooAACAnpmNv1bDGLrEVikMVVz+u+lqLSQbVyj7BSigajtzpCFUoicJvqp/8WICDGuT9ilcIaigdsWhyep86UOZBDfJ77bQQ4gvtHS0lETTQ3tEii0F/WQhxPpf3Lb+75LrXbRlqHNs4439lAe2XY9HkIRX0UXJkQEMsmmyLRZNnVUHKrwQtqEFK1TwrxqrqPJ/uJ6791Z2+puHvFCmooVsVO6fgOYCHyKC+RDhyTj0Dcz6Az8B0c9zynmsZTeo81A8nCWrw3QnNQQ1fLYGghv25BDVIw7XLxJ/t+gfin/7eK+LYpw6Kn27crq+BQPbm7ecJDd7J69ri+as/X+glJRGsupAgBzWI98/D+mWQrdcz72saKuTtB9Vz64HgWkadaxlt8/TJHlQBVAA8QlgDAAAAAAAAAAAASokng/P7q0MPPWh0vWaHlgfefrrkE9fuVq9/qIjBSHV9qLdm50dkaMNwVYNXD321yRvuHk0LAAAAAAAACJKz2QyelEEN13f2i4naybyaPrZssntozVi+g5t7VWGHkTzfX5IS4UhfIhw5kwhH5ID1N8q4kJ0sOH7QdOwTcvCa6dhNAWgTUOr8KsbcaDr2PvaWotBxrJTfOxSxAADNCGwAAJQYHQVz+tkJikeF4R4PQF/jZiHEa6Zjc36CRzVoWCPFKFidNRlcIkONZT+5KpQeNNNh2mcq7T5NKVNBDQfLeBH7pgNE2jtaXm/vaLnQ3tFSUvunbG97R8s5FdqQVZDSylvLPA9rGKlPb5jl1zLc4LVYNBnU8JjHxKLJ/bFo8pQ65stCmS8FrImP+dli0/Nprh28u2bN8L0lnk94foQ04AOuZfgVKI8SNB3aoJ6BOR2g0IZzAWhDWVFjMF/26frmfCie4vvHR65lhDWfa8n7Z0cDt+CP21/Im//z9mfFK599+UFww3efeVGMLFmqqZnAgi7O94KN/bevL5qaTOe6GleNjYgnhua9FdBW6psm6EENM5z1ugFjyyfE2PLxQiYRiOO8Omc5ogKm53NABVEB8EBVJpNhPQIAAAAAAAAAACDwXMtoFEIcK7SdMiDBrdn+/PT/T4jFk39e9z/8YKxq+YSOdVCbGa759Mi/+GiNGF8029+XZEYG6qduXVs51VfoQ5yXQvHUyQKnAQAAAAAAAASGKlixYKGW0VXj4r2nBsRUzVReTZ+syfT1bR46N1WTyXnQlhoMRgEgxXTsOjUwSBZHaQxEo/ToVUV2utj2QG5U4MmrPq62UVkQi8+qv0zHPqQKZnnpUiIc4V4YAPhEBSc42YTneUgWuAmrwAgAABakqdjQVxPhyGHWfvGZji37GA8EoCnnZcHOALQDAeBahjxH/rjHLflEKJ5ygrZ9VX+//BzuDUBzZiP7/WQx3c7gNQ3ziUWTB9S+VY7kfcOucpa/0/AAACAASURBVLyujUWT+xY6HvRvGGn821+7/ltez3vH34TOr+1ZOVcQhCx+fKq9oyVwQb+qb6VNFcrdEoAm5eS59HfFp0f+hefT/cZH/lvnGx/9pB9Fq2X4118T0FDZVHHTHSpIvnmewuzyvOJqDr+Xx5zbs/0+FE8RPF5GTMfeo85bNhdpqbpl2ExZrtwici1Dx73s2TDWswhcy+jRfO71hVA8dSKwK+D9Y5cMmrzr5TSXj42K1stvid9N/MWtpePptV5OG4EVmP6qhY7bb23ZGe5bUZ9zKNfl9VtE5zMvzveS1YlwpCTDnUsoqEGowOQfed2Qpy6uE+veWVXIJLa1d7QULWRXhS+05XAeKq9dXud6BChcDesQAAAAAAAAAAAAJaLZi2beXbT+oYetblVvva0rqEGS0+5a8htvv5g+9+HZ/p6uqqu/tWhL/Z3qTWMNU+6V+inXzXNWu1zLaA3FUww6AgAAAAAAQMmLRZNt2QQ1DK69L25uv5f34maqRLp/w8h38g1qyHVgUblTxdBlH2Wn6dhyANyeBYoelKrNav88aDq2LLxzgUIfQNY8ud+Tg2WqgNQZNpGvch4EnYW3S3ZtAEAJkoUlY9Fk2OfABjkfR86XwAYAQJa2alhRJVl8qRzJAuymY8vCqIeK3L+4V/V1vkEYJDT1bRWt6NdcVJG0AwEOZSZIu0Sp+3+7y2yxPgj4bu9oKdt9sr2j5VwsmrygCgXO2v/bcKOur3qyKj21KLPEy3n3bxjZME9Yg2zLa7FoslO20cv55iMWTW5V4QyHSzGgYabuxab4tPA+rKEldXmr5rCGiyrMhwKVFcq1jEZ1zvZ0DsXYl81zbyungu6uZcz2a/ldMdt3xFVVVPVRs94TC8VTPJPgs0Q4Ir/7Lqhrwn2a7oHOh2eSPOZaxj6fghr62H7+cy3jqOZzsEtBD2pQ2rye4HDtMvFnu/7BlX/2+X+51bWM6fNdr8MsESzT94mD4MJ8x+6GkcHr+YQ1bL91TXz/yefFWM2cl7D7S/FYXkpBDeL9860u07EHvH4moa9puNCwhqM6jqfZUEENR3K8LyJfe8i1jOOheIo+U6AAVZlMhvUHAAAAAAAAAACAwHMt4zVVACtvw1UN9W7N9udnvv+tJfv+7t3FzdofxP7o/bPbt0z+ZNNCr1uUmRhbnul3V09ev7ZITOQaIiEf0pU30q/m31IAAAAAAACguGLRZHM2BUELDWqQ7j1x/zsjDel8CiF1JsIRCn9nwXTsOlUMobXQPt6A61PFPy5Q/AOYm+nYBd/vydMrfDb9YTq2LIJzTMPMvpwIR7gHBgA+y/b6zGOyGAOBDQCABZmOfVYI8ZLHa+oTiXAkKEWo8Iv+xSMB6FvsU4ENXJtWMNcyPC/SE4qnqoKyRlW/TsSn4qX5eFDwlPDk0hOLJutUgbug7lu5kvuivGaVAQEV1+8ciyZbVcHqx4oGXvqN3k8ONd73NFBrRd/Snl1/sfk7WbxUFkM/1d7R4ut3dSyabFBFPNvKrWDt7wy9Kpom/tbTaaZrFqf/0R8c01HwlJCGCqaKmTarn3J+JmE2oyr04VFz/V5+Rm7P9vtQPMXnZwEqtGGPT+FTF/MpeIy5uZaxQ/Uv6Mb4ziJwLWOrOkfXeT/rE6F4KvD9hqZj92gKrfhSIhw5Ov0/ap0fVefCft5HhD++FIqnjgZlXbuWcWyuUNGxmsVLnKdb8iqq3/lMi7i8fs5L2G8nwpH9+Uy3WEotqGGa6djyvQe9bNCi8WrxsTPbC53MtvaOFl+Ddl3L2FPguugNxVOve9gkoOLUsMkBAAAAAAAAAAAQdK5lNHrxwOzdResfeshoQiye9COoQfrB0v3vNI70NqzI3F0+3+smq2pq71U9YQxWrdm0ItP/Xv2Ue31JZvR+lrNZph7y50Y6AAAAAAAASpIqZnF2oQF8t7cMiYH1IwUt4ujK8WSeQQ2nE+HIhYJmXkES4YjcUHJ9XVCFnlrV4PXHCriUOLlse+WP6diXVGgDxWWBGdQxoFgFUmSRuZNsD188rWMmFMMEgOKQgQmxaDLsc2CDnI8j50tgAwBgAQ2soPKn+hdfNx37gOpbLBbZr/Gq6dj0D1co1zLCGpb8zaCsTdOx96nPWBD77kdViPa5ALQFOVJBDUEI3fGCLAbfVenXqu0dLZ2xaLJLjVvYMfNvq24tveF1WMNIw9jGLF8q97FXY9Hk+faOFu3Hi1g0uV8VpvW0oGSQdC82PQ9rWDIxvmTfj7+/9dzzv+JVwUtCGiqUaxnN6hjUPFfh3gqx7NFj8Qw5hSS5ljHbr2UQzmwP51xV52hC/f1iKJ4q7CGeEqBCw7pNxz6ngot0hTbIYxrnvh5SY1MP+TS7MwQ1FMUJzfexTpdIUEOzpqAG6aFC7KF4Sp7PtbmW0aCuDQ5rnDfQNVffcO3EeHrF2MiNodq6DbmupWduXJkvrEFHX6A2OgIPslRQUIPieN32ycVTYiA0Kurdgro6j6rjmy9cy9innkEuxGbXMtpC8RShX0CeqjIZz0O7AQAAAAAAAAAAAE+5llHwILvhqoZ6t2b78zN/d2XRc9dkiIJfW2vt5JUVv3L/G8/XiPFFubyvbmrArZ+6eX1ZZnAoy7d0huKpM/m1EgAAAAAAACieWDQpgxpemq8BN7ffE4Nrs803nd3Ekqkbt42hfAY2U4jLI6Zj71GFE3IqEFBiRlVQRScFQoAHn3t5r+dAEVfFcVVAAxqZjt2moTBJdyIcOc52A4DiiUWTzT4HNkgDsghGpRfBBADMzXTsfq+/mxLhSBWrPLhUn+KBABSTl0WBz6ggCVQIWeRKCPE1j5f226F4an8x16Dp2DtU0bGgFjmW/Xmn6GMvTbFocroobikHNcgi1Z0qpIHj/iNUf0Hb9Hdz/4aRxr/9teu/5fV8fum7G7/ZcKMul+OAfO2p9o4WT+8JqOU9rEIa/OwjKYr6qZviD+/9geezvrj92Z/+808dLPSeOyENFca1jDr1fMF0QEMQA6Yqmfy+PF4JgQ0zmY7dqMY77vFgn+xThagvEmLvPdcyXvPpnPRiqRRHVqFqsiB0k9r/Zn6njqhQlpl6g3o+rMIVv6dxFvJ+1dZQPNWvcR6e0Fis/c1EOLJg4XrXMvar64N5n/9ESfhSKJ46GpSGqtCdY3P9/fL6rc9daVyf17NKX//Yp8Tg0rq5/vzZRDhyNp/p+qnEgxpk+2Xoy11vmvQLTT9ZI4wfryl0MtvaO1q8Chuck+p79vJ5u/OheIrwLyAPNaw0AAAAAAAAAAAAlIDmQps4WN0YevR37y5+4aafi35r0Zahny02r+wc//72XN43Ul0fkj9LMiMDqyffu7I80z+wwFtaXcvoDsVTFCwAAAAAAABAyYhFk0f9CGqYqs4M3dk4/Jc5vm1UFQOiz80jKvTighq8vkcNNApqMah8LVMD81tNx/6gmA9F3FDBni7you+TRUIqegv4o0nDXAjZAIAik4EJsWgy7HNgg5yPI+dLYAMAYA5lXyAXD5N9iqZjX1VF34pZ+Fv2ZTaZjn2SAsEVZauGhS3aea7p2HUq/MTr0E2v9KlQFK4FSlQsmpT9hEdKtJj2dLHkzvaOFo7z81D9Ba+o7+ZdMlCherIqPbUos8TL+dzdOLIxx7AGec/xSCyalPfmzhdSWDgWTW5Vyyd/tuQ7nRIjx6ucHaheJ4tunvJ6uX/p+rtbVeB9PghpqCCqKG+zuse4q9LXR8DJ67NXXct4IxRPVUzQgDoWnTEd+/z0syE5nvsQ0OADVfzYjz6E3hIKasgrDDMWTc7839FZAh2uqt9Peyz0weswLUX3ej9aIkENDSpUTIes1nEonpJF7c+6lrFVhZy10YcLL4TiqT7XMnrnOp5v7L/Vk29Yw67en4nvPznnqaa8Px7osIZSD2oQ759T9ZuOfcnrc/47m4e9CGs4qo5lWqhQupdVKJ2X9rqW0ReKpwoNSgQqTlUmk2GrAwAAAAAAAAAAILBcy5ADNV4tpH3pqmVLe2t2fmTm7+6LFWPnln/hB8VY7k+MnvrwE1NX8y46tjgzNrxq6va1+inXnedl8sG2V0LxFEW/AAAAAAAAEHiq6Of35mrnVE1GXNt5V6TrJgpalEyVSN/dMHIuXTeRS/EG2dd2nIHR+pmOvWNGcEO5Gp0u8MM+hUqiir99JQCLfFqFxUADjdtZfg8T2AAAARCLJpt9DmyQZGEGGdgQ+EI4AAD/mI4tv5N+5PEM30yEI2E2Y/Cp68+2ABRsJeS3griWcXahwOk8fFYVMvSV6ditKtg0qEX0z6s+dJ6BLlElHNQgi8B3ERiYH9VncOBHe1NtI/XpDV5Oe0Xf0p5df7H5O3m+Xd4XPpVLYeBYNDld6PZwhRWI/7YsRNre0fJBwU3XMk4IIT7v9YyO7vun3/wvxtO53LMnpKFCqDFkzeqnmAFtyI+8RjoZiqcq8r6eulaV++5eFRw0GwIafORaxh6fCljLff91WUw8MAs/C3WefkBDQehC9KmfmR49hsi/3575i+lzO9cyZBHtL2ps36VQPNWscfqeMR1b9pV9TcOkBxLhSEM+b3QtY/q8+mgFBZ+VizdD8VSg+soXOqZ/9+mW3xmvWbwi1+neq60T/273p+b685VEOKIjwNUTRQpqkOF+Ya/7xE3H1nLtaca3i5p0daGT2dbe0dLjTYt+QYXTHdJ83fPlSgpTA7xQw1oEAAAAAAAAAABAwBVclOtO9Ubj0d+5i7bdnv3V+l1YanV/euRffLRGjC/KZ2bjVbXL+xZt2tFfHdqy8kFow013kZh4tEqdHNzysixeU6zlBAAAAAAAALIRiyblYKY5ixF5FdQgDa8eu0BQQ3CpQtzdpmOfUX3De8qwAMMytWy7TceW+2KnGoRP0SmUu6AMXpeFMQhr0EdXUYfeICwcAOBB8ZuuWDS5f76wPQ1kUURHhvwR2AAAmCGvAmEL4HumRKi+tJOq4PyBIrb6wXOapmOfT4Qj50pqJSIfOgqz+XrcMR07iIU5Z5L3CM5wT6a0xaJJvwrieqVX3auRIQ3cqymA6jPoXnx/0VOiXvwjL6c90jC2sYC3y+KHR2LR5CUV2jDndo5Fk22qmKzX4TxBJtfLCRXSMNv30lkdBTNbUm9vzCKsYVR9PgnwKXOuZTSr85PmeQrcozTIa6QjrmWcDsVTFXdPVh2r5HJfMB17z4zQBgIaikCFv/jVZ3AyyEENsWiyTu2PrQFozqMaZzn2L3jNGosmRWjynZW/W7Xkt2oyaZ3tO6xz4h7T1dZTWbxmVqF4ql+9/5RrGWHVxko614a3utRxfdZgyNUjgz03V615Ntc5rhobEdtvXRPvrN0025+3yODoIIb1llNQg6Ll2vPO5iGx7p1VhU7mqAqP9ow6T/Ej6FSemx8nsAHIXlUmk2F1AQAAAAAAAAAAILBcyzhRyM3mdNWypb01Oz/y6O//ctkf/vBe9dr7xVruTROX6/eMxZ/3YlpVmanJlZk711ZN3XKXZEYfXaYzoXiq04v5AAAAAAAAADrEoskuVXzzMWN1E+Lmh+55EtQwtmyy++6mYSeHt/SqoAYKPxSRKh7Vqgoz6B6YVEyyEMqFIA7sA7xgOnabFwHdHqGAoiamY+9TRR681JsIR14vt3UFAKVOFS/8ms+LIc+ZCWwAADxgOrYsjvNFj9fGlxLhyFHWcGkxHVsW8DsUgL5DWWT+DfqTy5drGZ4X6PnMH/3xZx75VVOO+/JsRS1L0agKaSBktcSVUFDDdMHkzvaOlsAW1S1VpmOHdYQ8/tJ3N36z4UZdodtrVAU2fHA/ToZDqqKLMqShvvCWloQr00Vz2ztaehZqsGsZ/V6vm1srG/r+ye/9s2/O8WdCGsqcaxl16v7/jgp4DqCSdYbiqTOVvhJMx25MhCOcb/jMtYxGVQDZj+ul86F4KrDPH6hz9DmLm5ey3xv8Hz+5YfJnOoIVH7ix6Km3vr7y//xX6vphprcf+f++Yl9XmI4t18O7mib/gpfPs7mWsVWFNrRV0Pl3KXozFE+Fg9Zu1zLmfP7sesMTG3+y6cm8nlm6vH6L6Hzmxbn+/IVEOHIin+nqUoZBDQ+Yju35tee6d1aKpy6GvJjUtmyun7OhwurafPxult9RXw7FU1xfA1moYSUBAAAAAAAAAAAgqNQN54JuNt+p3mg8+ruhqtXDxQxqkK7VPDPw95MtqQ9NJB9rX64yVdWL7lU9YdyrfsKomxpw10xdT80IbTjgWkZ3KJ666usCAgAAAAAAAFmIRZOn5gtquL6zX0zVTBW8KidrMn0ENZSmRDhyVRULkYOx9qjBdjvKcFHl52CX6dhyYNRFFdzAgH2Uk+YALUur6dgU+NFDx/H50UIHAIAAaO9oORWLJoXPgQ3ynNmRRRQJbAAAaML3SwlKhCPdpmO/ooowbi7iEshr4ldNx35D9WliBtOx6/LYPk/n+HptQQfbb11b6XVFtnTN4rSG0MtS1KnCVemrK3GxaPKACt8OMnn/pWtmoX54LxGOOKZjez7de2vvN3oQ1iC/J16ORZPyXvAmIcRvCCG2eNTEoJOFNc8KIU7k8Rk463Uh0LWD/Y1rhu8tubN8VXrGrwlpKGOqcHrzjJAGlL9WFcxxppILw/Lch/9cy5DnpPt8KoB8KahBDbFoskmFNJTlMffD6f+4UWdQw0TVkvT/t/x//ukcReEfu5ZX98xm6n7k//seCX2Qx8VH+4962zta8j1eHs7zfQu55HVh9lA8JYudH3Yt46gKTDtaQefkKNyFucIaNvbfvv53G7alJ6sXLcl1Ls+8d0V8/8nnxVjNrG+VRfUDE9ZQrkENinzG+yUvJzgQGvVqUkfVvlAQ1zKKEXT6IMTKtYzjBDYACyOsAQAAAAAAAAAAAEFWUOGeSVFTM1JdH3r091drfskNwjL/l9pPXwlNvtO4InN3uVfTlMsrf5ZODfXVT928tjzTLx+CaOMmOgAAAAAAAIImFk22zTXoxMughkyVSPdvGPlODm+5JMMBKAARPIlwRA62u2A6dqMq+NOcbTGtEtKoBvXuNR1bDty9qJYbKFmmYxcczu2xZepzdoa9ynM6Cj30FnmZAABzILABAFBkYQ2zp3BziVJ9ua+bjl3sQuGNKrDhtJd9eqUedFAOjLvuSq8Xw121ptKLtso+H1sGrgSgLSiQuuc3a7HEAOhVxd+7Cih8ity9KYT4uJfrbXDt6MZZit7mQh7Lt6p+7Ir5DhNCnJZhC+0dLWcLmIajo5jkP/zb/7z1Gx/9ZDchDeXLtYwm9f3wdJGD1VA8cvs3MaYNflDHHD/DCeQ13amgbdxYNFmnnocIepBaQX599N/q6Bv8QNeSTyaHqteks3z5bPLaDx8JfRidJdDhqvr9tPdDH35H/PeiqoDWzk1bgfpQPNWvPkOnXMsIq8AJT4u0oyANQVx9oXiq27WMvrmu6RpGhnr6VtTn9fmTgQ2XNj812592mY69NRGO9OQz3f+fvXsBbiu7zwR/8CBAgE+JkiCRIqiHRcmdVotuOMaIdtpwmGlnHKmsJAMhyXgjubxI4t7suBeardpyOWtt9aynUrViupLa7pmwsqFSSTwQNrE85DixN3TfdmwycIy21Oq0JfaLBClKVyREggAJ4r11qAM2BAEkHvfgXgDfrwrVTRI694GL+zzn/0mpzoMaCI+whmhLgqztipKWZX2lTV1wOX2Xh0csZW8Hot0s5/2zLnZNhnuxADtAWAMAAAAAAAAAAAAAAAAokmg3GysNa1jWdPfk+71f+7RiBjj9qNnx9lDkz57VkrhGynY31K1d9KVLrwfbUsumjpR4XokdAAEAAAAAAAAAoDG5nL6BQoP5Qns3yJI5LElQA7W6L/K9uD4ZKvLttDA+7qMpnNfmCLAi69dYEfhBVrS13tCBg/2syNwNVqAkdxAuQC2oVjGEUgxZBfcE25+ABKyCm9fnfAefDwCAciGwAQAA6ozsxZagMl6bg94vnGfFGeUMjrxgFdxDrGBePg0VdFAPBubeOSD1Ysx37m3U+1K0qOSY1+aYUMC8QIVYIdiLCnxGE8g8VxkeseAecJHo+A0JC2kLUoc1rO2KdZfxz3QsoCHzahSvs7Ej1yW6d3Kdx72fz9x5o/Wbn3h+HCEN9UW0mwfYWLBGC0aBwmhR2K+JdvOrJo8f/R2AC9FuPssCCqqFXte8qrQQEpfTN6iAeyLc/cr6H1sM6dVWXtNZVe8NTBi+dEsBi2rI09/miX4Z/mce9hMVkTxkkhVoryTwq2gmj59ePwii3XyIXWPS4IaOakwbClJyX8wJtq97Qud6aIFDWANh4dGy9itugKAGwvY5fyR1o0FTRIqwBuoy20eVhNXLOC9jUAM9b7mCc3GA4iCsAQAAAAAAAAAAAAAAAJRqoJKOYUmi1YZUu58Ia1hS9wZW1Xs3lLLMdF7e1j333jOxCS4FbGIqY0dAY+xYUZu+8qMv/If0r/3l/3WVx3QAAAAAAAAAAACK5XL6OtmgmicG1NGghgdHViVbl5G2uC/SFl8o8u0IaqhBbCDYDavgNrLBTEN1WPTBwJbtNCs2Rwcc3kDREqghFYVzc0QHT17BhiSZXg5tBhCoAQCgfAhsAAAAmUha/Jc8us+EsIY64LU5Jq2Ce45d9x+UcYnknDZIzBDbkKSaV7aIrjnagJ/TTUKIG/d76gMLariksP3dFH1+MjxiqVYRwZon2s297BnUcfpZinZz9iLN5wQPTWf9P/19dpG/gMnjz/5u02KrX5dy/cT1yda1XdG2lmV9MSH92QENOinnQ8FmCSEvs4AGSc9rTR7/img3vy71Ofj+1cAxr80xJmWbUH2s8Gh2QENdFwiHstE+HJdEu/kVk8c/jdUIUmHnMnJc/19TUsFjl9PXy4pAcxmfqiSm5PttJ+I/Oslzll5v/sJULa2TgDl8nFPT1702R1WfwZk8/hlWDP2yaDdnQhuUHBoA8rhRKKyhd1mceW9feYeEPeEg2RNeIUutnfn+fE7OsIYGCWrYfEZjFdz02rZPynYf9q6R7tt5P9dSXXA5fZdLueZm10ty3j+j93ZGEdQAUDyENQAAAAAAAAAAAAAAAIBSVVS4Z1nT3ZNWqTW5v1/Q9itugM+dpkGxOzHdtSc1x62AWFKl1e9Nzf6H/+NLf3c6qN7332kxr+ERCwp5AQAAAAAAAACAHEbzDaZZ2R8hgb5iamsUJ65PzgRNEV+Rb7/mtTkmsDXULhZcQD/DCavgpoOPBysNBVaog2zg3QWr4KaDgye9NgeKGYBiWQV3r4IDVPrp/gLfIcnwKAAwL9OyAABAiRDYAAAA1WQV3JJU1ckxiw+xfnhtjjmr4L7CCjaioBtU7ODKouT3t270HrvXQJ8M7bs9ivtw9cPl9NHvxAsKCWrYCrlG3/jiZAU0DOxw/z738922+G920MN/I2T6/xk8s/n/MW0TWcwqdhkyGEmouWXr56XWDhLVFpenEOhdO7BNWEMXu09NAxpai2qw9tFz2Ot0H1uFkJLrHALTOkS7+ZzJ478ucbvAmWg3d+UENAAUw8ACG66aPP5JrDGolGg3nyWEnJFhRU4pZRtmAWp0HQwpYHaq4rPr//m0Nh3jFsY1q31m+m3dcwvKWurCaJjZekfsAKfmX+bUblFMHj/tYzoq2s02do+v2oXqQaFoUKBoN9/Md99Xn4jHWqPr98J6Y1nfixP3Z8kPP5L38cPn5VobjRLUkIVeH35FygaD+yIkoUsRbUwtRXOX2T5pR+z+y5dl7DtJ75ldMXn8uF8GUAKENQAAAAAAAAAAAAAAAIDiiHazsZIBckmi1YZUu3vy/W1Ge0qKsIZxNkBBsgfkk8326efX//TZZhLWS9VmLi2Ja34++u1T/2BwqmgnPJfTRztKjA2PWBQXYAEAAAAAAAAAAPXJ5fRdzjdw6cGRVRLauyHZMqfU6fDygXWhyLdf9docGAheR1jBp2mr4DayAhFDCikYJDV6n/q0VXDTe7yZ4Abc7wWlqSicuwochJCXsNVIgkcxnjsyLAcAAJQJgQ0AAFBFPK41Z/AB1hcW7vqKVXDTe4PnG319QGU61sNtUq9C/y6TdOnVyjbutTnGGmRZG4LL6aOF5i7JHJZNn4XQfvAT6AdfnBICGqTSf3TpbmCjSb85rcOB4vJpYhptTrBDC1nVG7d+Tmm6DvckusTN96oMyUVNn4qFM5xsoICGICteeX14xFLNkAM6rT/i0K6NtQ0Kl7UfOV5rz97pGLNlTXfPmqrTpE+vrbSkVwLGVDCoIYmEAmavEV0Q7eaDJo//WqOvCCiPaDf3syLJchQ+nmcF5GXncvoG2f0OOc/Lq+qp2A+6DyTfOcRrmgmVLjZu/EpN9SFcOLHCKzRpVqYi7U8wefy0D6gg2s2ZAukv0ls1Spg3kNWNQjUIusKrM+WGNXz03gz54UfylzawCu5zXpujatcuLLSaR2jeTuQMaqAEqcMaqKApQrrmWop4544u0H7wwyOWbZ8psesnOe+fTSnlnAWg1iCsAQAAAAAAAAAAAAAAAJSoosGUQfU+U1ql1uT+fkndG4iqWirtTDs1PGKhg4bGWKe2M1J07qPz9U/Nv/a2beMvPlZpW9vZlbrf8Wz0O31v6D83mynk5XL6Not4DY9YpnlOGwAAAAAAAAAAGhstnkkI+XruSpA6qCGtIrGV/ZHvprTp2A5vjRBCriGooX6xgmz08520Cu4uFtowWIcDlbvYveozVsF9k4U2KGLALEANhDUctAruQRwLKsP2sTz2rXh2BQBQYxDYAAAAVdLJYTIIa6hTXptjwiq45wghLzRSAUOQVvvGmuQFwN/f21PvYQ30vs4oAobriwKCGmif9xvDIxY8AymCDAENj2mPrN3LhDUUS5dMkJ7g0ofvzv5/+vdYymSOJj8WJ/rWuKq5M0m0W0kOG+o2b53BOQAAIABJREFUElF9mK2zqt5DEkS39fNDTc/W/9P3Zb+3Rnw7K6Sh6vc/TB7/jGg30zEofRI3fY4V3AUFEu3mAbYP6ZepKHpFMiENIdXunswYs3VVh2mddJiIhhBdej1oTK0GDOlQ0JAOhbENVtWQaDfTffg1k8e/3kDLDRVg28wZ1vdHDrSf2Styf4bsnPw82zc3lF+K/JmN5/Le0D3vC6t379TfUFGWe9aPc5qfl5W2rPR8lBBCAxsui3ZzJrQhf1V9kIRoN3eaPH5FPns1efyTot2cN7Cme2VxZrZr/+ly2qXXpCfuz5Db+/PmwpyrVtAcC2oQZNjG5Q5qoPfzr1sFt+Ttru6TLKyBsH3RxUJ/FO1m2kf5glQTK8O4yeNHeC5AmRDWAAAAAAAAAAAAAAAAAEpUUae5kHpPT77fz2gHRAmWdesB9fCIZbPIl8vpo53bzlbayW1R0xd+T2vxH034zBLMZ0G0fVFzZOWu9kSQvScT2kAHRo0htAEAAAAAAAAAAKTmcvoO5Q5USmnT5N6xINlol3aM49qu6GTMmNip+A8dQHvFa3PM4cNuDKwg1DX6ooXZWVGJehywSZfplFVwR1hQxQSKYYFcWAH/gzXwAdCgkxss4AXKw6UAAI7TAAC1CYENAABQBTyCARHWUMe8Nse0VXB/lRUYr4V7FaAgtuk3uqWem8W2znq+ZxtgQdkopl9nXE6fnIXm5ulzveERC+7h7kDugIZsu9dWFx60735ayjZjOnXzqrajX5VUPfG35lSINJMPc3B2JRce+/vR+E8KthtSd5GESr/180P1h7v+uEpPx6ds/byqevy9nNGQ9lEW0KCE81X6vP8rErfZRwMBTB4/jhsKwAqhZwc01GzY2UN1d09Qva8vE9KQT0xl7IhpjB0rZD/RpBNRfXptpSW9EjCmgkENSSRkXYDGQI9XvaLdfAWBDbAT0W7uZ0WR5Ty/ecXk8ct2Ledy+uQOq5DVr6z/scWQXpU8SDFjVb03MGH40q2aWSGEkHvHVw7F9Uku6+Sjrx/4IeEajVEZk8dPz5FHRbuZzqWi5jSoNnUtaQ4eiajaTdWc7v7ku917knMHJG52gAUGKNVkvn1i+8ZaqCkRD8e1TWV9P44sLhQKa6jKttbIQQ1ZXieEfFrKBgO9YXLYt6eIdxblgsvpu5zvOl20m8+y47VcrtIwExmnD1DzENYAAAAAAAAAAAAAAAAAiiLazRUV7gmqTaakSvtE7/cEaUp+0DRQaYe4qeERyxNtsHCDKy6nr5d17jhd7gTe0H9udnfqbseu1P2OCud1W89G/+74kqb3jaiqJbsDMe24eMnl9NFlHGdhFAAAAAAAAAAAAFKghRu27nnRoIa7H10mMaO049ujhuR0eHd0pzBSBDU0OK/NsRnEywrJD7J7urIWrOHAwO5XD1kFNy1iNEEIQTF6qDYexTN56GLfl7HqT7puVBRoXgDCxQEAahgCGwAAgLNODs2jOGydY/fFXrIK7vONWtgQytO2sa6TetUtG9tCRbytFtH70OO4D11/ZA5qoPcJX0VQQ2FKCmjItn81sHD7QN4ClxWJGZJEH5a2bFpb6vEhIrlBD9tZ1mQFOxDdY8EOEVUbiajbt37ODoHYxix7tv6yQgIasvEIayCs6CnOx2XCxnANsOfmNR9sRseUrahNffnGlW2Hvn9d1WFaJx0moiFEl14PNqfXgy2p5YAhHQpXfUEaB93mvibaza+aPH704YEnsBAZJQQUjJs8ftmeX7Pz8fO1HKJTCVPy/bYT8R+d5DmN15u/MMV9QST24HCYRz8N0nnfML17vsXpcvp+jV3nTyn1eszk8QtKCRNg31O6r9KxwMH5ak7/V9b/mHAIa1C6qULHh13roZlywwMPB+7R+4Ek1GzM/VOfVXAP8AwzkDGogQYFnvPaHEq5Br0udVhDtCVBoi1xol9rkqrJyyxIaotoN1+spL5EhSIsWAr97QAqhLAGAAAAAAAAAAAAAAAAUJqKCvfQTrX5fr+oPrQkwXJuG14wPGKhHUNpwQFazOcsW5aSO8H9WH9ueijyZ89qSVxT0dxuo5mE9YMbnv7XDBffzvMu2tn6gsvpO8M6rExggAsAAAAAAAAAAJTL5fSNZg8e4hXUkNSmA8s9azsNvqOD4F7x2hyVBrtCHWDbAb2fO2YV3P1ZwQ315iAronTeKrjpYMEJhJVAlRyvoRVNg00mUEiubL0c2sTgUQCAGofABgAA4IhHOCCOGw3Ca3NcY+GmDVvkEEpzdPGu5IXP53eZ6u0ZBb2Pcw33neuTy+mTM+SGFgUdrfd1XA7Rbh5g50T9Sg0k1yfiseZ4NLDRpJd0/mKGhORhDZXIDXbYlyyutmVC9WGwg5okN9TphG9X8v53no6/dou9RSfat4KSI0ooYk6L4Yp2c5AQ0iFx07Sg5csStwnbUGrISyXKDWkoJKYydtDXqnqPWZVOJQ3p0JIhHQ62pgIBDUlI29kF6DZ4SbSbUVwWHsPOdy4q4Nr9psnjH5Njwi6nr5fdv+BSlL9WfHb9P5/WpmOSBylmzGqfmX5b91zxaV0KEDMkdOGuDemT0Qghu+dbMie0XWz7O+9y+ugY48nhEQv201lcTp+RXS8P4T5j9dFrJNFuns8XOGYKPSw7rIE6cW+G/PPhp/L96RyvoDmZgxpsXptDSc9IuISwBHrXSPdtybLAaQ2GyzRkkYVLXZIx/I7ea0b4GYBEENYAAAAAAAAAAAAAAAAASlP2YA7aubZQx9oPmgbECpdzutjORMMjlgALbSirs82qeu/GDd0v3/l4bCxvbw6p7EnNdR2PT5ruNA0WWje0QxUNbBhyOX0TrEMVitgBAAAAAAAAAEDRXE7fRVYkflPUmCALH10hKW1K0pWYVpHYyoH17+3wNjow6woKcUM+XpuD3v+dtgrua6wwxaCMg6d4MbBlO20V3PReL73vO4XvBPBgFdxGGQaPVsLABpmj8FeJ2GfNY395h+uMAwBAVcgY2HCdFpXApwwAULd4FCLjUmAJlMlrc0xaBfccK/pYb/cAQWIHl0XJCxiLbbtCdfI5RWgYstfmmFDAvAAH7DmfXCHXCGrIkRXQMFArhUDbI2v3eIQ11ANtOkYOJn4205ZamtmffC8zTqWPvQgbx7FFtJuzfwywV8Yc2ydT6+znrfeaPH4px4Bcz37+L5FTot3cafL4EaDGUS3uQ4qxpursWNbs76PBCrymkVapNeuqDtM66TAFND2kKR1dM6RDgZbUcsCQDoV5TbfBGFhgw1WTxz/Z6Cuj0bGCxxcV0t8gIEcfAjYm9YyMoWmK8VTsB90Hku9wCSUgjwK0YuPGr9TcfufuUyvHebTbFNWED9zpzJc+ttnfzOX0bfU3Gx6xNGx/M5fTR69xzsp4vQwfmmT9vR7TvbK08PaBw7GkWlNW0MuJ+7PbhTVclnr9I6jhcV6b44ZVcM9mXR9LImiKSBnWQF0W7WYa0vCCjM8ZNvvFmzx+9AEGkAjCGgAAAAAAAAAAAAAAAEAxRLu5lwUElGVVvacn37/bIK3Ru9oTwQqXc6zUf8A6HNF/N+Zy+gZZJ7milu+DpoHA3uTM3b7krbzLJJWnYj84ek9zLEgDIrZp0sDm/YzL6Zuiy4PQBgAAAAAAAAAA2InL6aOD/F/OvI1XUAO1ui/yvbg+uV1xIwQ1QFHYNkIHlU5YBXcvG/hcVwUrmC42UPG8VXDTQXeTdJCbIuYM6sUAp+WIcPw+0iATWlwOz0BK08+p3XleMwwAANUlU2DDp11O3+jwiOUiPm4AgLokaYEe8uieEArDNhivzTFnFdxXFFQAEhTKEI/ppZ6ze5176qGoL+1PfA3PXeoTKw4r5/7x6vCIBYWa66C4etvG+tKD9t2StpnQp0hakyaqpErSdqtFRzYCu5N3b3Wl5mea0tFYmZPtyhmXsu19+pygh3kW6JAxnfP2x4KUTR5/7t8FDmEN1Is8ip42MlbsPLP/qLvz3UpCGugYs4i6dWsMVVsq0KolcU2x/z6u0rfQ16p6j1mVTiUN6dCSIR0OGtKrQV06st3YLNjZBdFuPmjy+K9hXTUmdu5zUSHnPbRvwqvVLn7MxqCer8N+SmX5pcifcQ3mvqF73hdW7y73nEw2i4dDJ3lMe9dd450d3rLV34yNM54cHrHkni/WLZfT189CGnj1k1EabkEpEprKF9ZAda6HZwKtHWV9Vu3RddKzskjudu7N/dMpq+A+5LU58oWalAVBDQVJfu1Jwxqk1JZauhBWdaRa08G4pA0Xj36GowhqAJAWwhoAAAAAAAAAAAAAAABASU6XOy+0oy3t7Jrvb6Lm8FKFyzhdaachNmBkkhWoGyqmQ85N/b/2d0XmO1vTy3mXSwq0Q/EnN9xP/Z3x998osjn6GZ12OX3TLLShYTpTAQAAAAAAAABA8VxOHx1AdJ0Qsjkwfm1XlDw4EuIS1BBpi/sibfGFbd4y5bU5RvHxQalowTY6mIk8GhQ3yO6P1uNgy1NsICFCTUBKvL4rrxBCLnH8pGjhhysc269HvRyWaR77IgCA+sICG2ycivkVcoGGRCCwAQCgvtBCSBwW6CY2k8bErj1fsQruoUJFvQB6H4oHpF4JQv+z2z3TUDp6H9nttTnQf7hOsaAGeg/2oExL2PBBDbUe0JBtX2j53nv7pN+U4vok0a3XTuk0LYmH21OLd/Ym/dOG9GpI5tnJ/UByn+ecyf4hJ+iBqnRsTiEXEdZQOdFu7mL7jkEZ9+NcxVSG5geavv5SQxrCql1rAfXBlQ+aPvZgUdNXVHBWT+J23mmYku935v5Om461tKcXTbpUJGgkwQe7kvcXdqcWFgkhxnr9LDgaYmEj11B4tnGw/ZdDYeEydBucq9bEXE5fL7s30ShF4Hf0K+t/bDGkV1t5tb+q3huYMHzpFq/2eVk8FOqO65Nc1kv37c5SrvUz44wDhJAJ2kdzeMRSl/ttFqJyJicwTVHua44GniavST1Lig9roOcKot08la82Qed6aKHcsAbqxP3ZfGENlC3Tp7RSCGrYluRhDcmm1GZgQ4dY+a2WnsRtciL+IyJqP/LJ1rhPkGQGSzNl8vjRLx6AA4Q1AAAAAAAAAAAAAAAAgJIMlDsvy5r9fYX+RjvTVriMExX++y3DI5YbhJAbLqePdvL4pe06UURVLYmf6M9O2zb+4mNSTT8fGgbxiY3rR37cfO79Ev4Znf9LLqePDrqaaPRBMQAAAAAAAAAA8AQ6CGTznl1o7wZ5cGSVyxqK65MzQVPEt81bENQAkvDaHJuBvFbB3cUCeQeUPACzTLRIxDesgvsKC6oAqETZz3y2QQv4T1sFd95BthLptwrufhSbKwmPYhF3OM4vAADIhIYm0PAEBDYAAECFeBSIUnJBIqgCr80xYRXc9H7YC7VeFBukdWTxbpvUbca0TbEa/ZgitL+w1+YYU8C8ACcup6+L7QvlKCpNt7FXhkcsDXlvtp4CGrK1b6yFmhLxcFzbJGkx2ZhB+WENapKMtaRXZvYlZ261pQIBBcySVPYQQu4RQqQOM+oT7eaXCSH0OPPYc0qTx49nNtsQ7eZe9tysHp9fb6EhDQ/V3eZ1dYep2H+zrN4fvK/5SMCvfTqwqt67Ueo072pPBEv5fY5dhJBmQsg0G5N2Z3jEsrUvYIXp831eewr8vrfA8aHQ72sd3aZ7Rbv5CgIb6p9oN9M+OGcVti3TAshVGSvJwtLOsL5IwJiS77ediP/oJM/18XrzF6ZqcX0/OLrKJdCjNdA807KsLydYrIsFjZx3OX10nU7Ww3Ud+24OsZfij7URVVut3m+Swo18/ch6l8WZSsIDjyzeJT/8yDMkqtXl/umcFGENCGrY0XVCyJ9L3ejDg2sVhzXQoIanY4/CUUKqrv6Iqt1X5WDGq9U6TwFoRAhrAAAAAAAAAAAAAAAAAEUQ7eb+cjsGr6k6O2IqY0e+v22Q1uiipi9cwTIGWMCCpFiHo2k2qOVsoaJCdN5/1vSp9z8a/+ERqechW1/yVs/dxIlAkZ2Gsx1kxQ1op8Bx2rFleMSCjrAAAAAAAAAAAA3M5fRdJoR8nnAOakip0+HlA+vCNm8ZR9EgkJrX5qAFFK7Rl1Vw04IXgzIMmOOJjkS7hMAGqAT7bvAYqJx5XnONc8EqByHkJU5t1yMehQDmG32lAgDUKwQ2AACABHiENWx3jxEaBAuI/Cq9NyZTkXJQIPOyKHlYg9i+uxYLdtMibm52fxzqlMvp62X7QDmKUNKghivDI5aGei5RrwENuVo2EisrrdKGNcQNCUKIXsomJdOWDky3pxZn9ib9M4qcQWnMcAhroL6Q77sg2s25v8ot/jvH9iPZP2ePaQmYPP66OoY1yv6DShKtdlHTd6SYkIYEaUouqg8tLWrNwRntqUBU1ZKozlwWZGB9CTb7E7icvnkWWH5j+FEISb7tUpLi1myMXj7H8/zOwEIfchllvjai0/6aaDe/avL40XehDrHQkoucnjdXYt7k8VdchLsYLqdvkBW5R3Bkjs9Erlq06dgTFdKlMqt9Zvpt3XMLMi5iWWKGhG517waP+6Nk14JRivNXOkb6tMvpC7CwoqlaG2vMro2HCo33BuUxefw3RLs5kFufQJ+Ix1qj6/fCemNZ1y66ZIIcXlogt/c/8ZX7fKUrAUENO6PzaBXcN6VeR0FTpIh3FXYy9n3Snbjz2N8XtMcsR+O+ajxnojN/DUENAHwhrAEAAAAAAAAAAAAAAACUYrDc+VjW7O8r9LcPmgbuVrh84xX++20Nj1hoJ5BRl9N3jXXiGcrtYPeW7jN39yff7dqVup83kEIqn4he/7nvaP7nH5fZIbmLFVM473L6aEeqCYQ2AAAAAAAAAAA0HpfTd44Q8nW64DSkgYY18JBWkdjK/sh3U9p0rEDzV702BwakAFdem4MWjr9hFdxGNkBzqNxQYoXJBDa8QovUYSuCMvAqprAZ1uC1Odatgps+izjDaToHrYJ7EMeRnVkFN6/P+k4R7wEAgBqFwAYAAKgQl2JkAITdc6ABjlbBfZ7d64MGd+zBvOT3ex8a20M1tFY3+zjjPnH9kzmogRauHm2EoAbRbjZmFVfvr/eivMvqA92i5rAlvaY7QFqlfWYcMyQlba9SGpJYb0pvrDSRaFiX3lhtTS0vKWoGpTfDqXgtPe5201qXO7wv99nEjs8qcgIfAjlF8iMs4CFjPednWgBW1mMhK2h+nO0/ql3QVRY0pGFZ090TUu3uSavUmkLzsEFao6Lm8NKi5lDwg6YBpYdyHGSvIZfTF2HBDI/CGx6NLZPMNttsydsyO37JFWpHt/1Lot38itzfQ5CWaDfTa+6zCjwfokWhuQc1sPPv8woMqlCEp2I/6O5LvMlt3SRUuti48Ss12R/k/rHVQylNWvIQC3VSFTO/uVvK/WwX28bpWOMpQsjk8IhF0ftxl9M3wO4H4ntZm6by9SPrCq/OlBvWQJ2afzdfWAPtL3XOa3NcL6dNBDWU5LrU62ltV5QkdCmijalL+nfadHQzqGFf8slcm5Cqqz+iavcZ0qs87/tuBp0ixAyAP4Q1AAAAAAAAAAAAAAAAgFIMlDMfEVVba0xlLBhi4Nc+XUmH1cDwiKUqHa9YsMEYCzp4oqjXPzb/1tufW/+TT2hJvGAn40rRtgc3PP2vGS6+XUFTBtap5QzrSDUmdadhAAAAAAAAAABQJpfTdygzYJVnUAN5NGBmMmZMFLrvhKAGqCpWxG0zxJYVLh9k97xruchOJrAB3ycoR1nPfHYQ8Noc2YMNM89TeAWknLEK7hvs+w2F9XJYN/SzxrMlAIA6h8AGAACoAI9rTgEfCGTz2hzXrIJ7nhWVq+tC2rC9PaHlNqlXUaC1o1bCGsbpPTjcH6t/LqdvsMrXZtnovvYK60dfl3ICGhqiwPp9zdH+h5qekzHSvHn/XhdJcZlOzJggunX5yqepSSrelN542ESiITVJxjO/j6v0Lfc1R5/Zn3zvTUM6FJZtBvmixzK6bK0cpvJ0EWENlerK83xp2+9nTtgDyVPwfo4Vz8z+OXvfFjB5/CU9+xDt5l5WLHhQpiL5sigmpCGs2rUmao4E5rQ/F1jU9NXq98zAtrtTrJB1gAXXTw+PWG4oYP62mDz+zVA70W6+yCmoZScGFthw1eTxo+9CjWP7NiWGFNB9+KjJ4+f6/XM5fUY27lLJAZHTeY5z+Y6d3D7DT2/8Jdd9zQ3d876weneM5zR4eXBk9SSPpnctGHkGKdDP8zQ71tG+PlNKuQZk38kB9r3k1f+oltVScPJkvrCG7pXFmdmu/WXvU/aEg6RtY52Emo25fzrHggRKYhXch3gEEBShFoMaCHt283WpG314MEz2vd9e9PtpUMMnot8mbanCl3QL2mOWo3Efr2dN9P7ZK6VeUwJAeRDWAAAAAAAAAAAAAAAAALIT7eayi1YF1fu6C/2NdsBdVVdUEW682uuGdTTaLOrFBr/QzncHo6qWxI/15/5lMOp5huf096Tmup6Ovdbzlu4zdyVoLtORioY2TA6PWHh22gIAAAAAAAAAABm5nL5OOogopU13LJlDXIMaoobkdHh3NN+9Jjpw9hWvzYH7UCAbtv1NWwV3ZjDnUI0Xz7hgFdxzOUXyAQqyCu5eTgOYH9u30yJxVsE9zrGIWBf7/o5xar9eHOewHPONuSoBABoPAhsAAKBMnVhxUA00wJTeFyOEXGyk4rjwuIMri5Lf57rRe+yewlczvQ83ijDNxiBzUAPd1l6tx6CGRgxoICykYUlj/niCND1WwF8dVxNVipC0WtrpxQzJqoc10IAGLYmFmtIbQQ1JFHwgTgvMN0BgwwwLVpAaLV7axgIhlCy3QPWOBatzAh8C7JXvZwPbfzRcweCg2mR6qD5wNF9Iw5K6lwYzBP3apwMVjhNTqsyzySF2z5QW1L1DTx+HRyyKOC8zefyjot0cyFcIuUouiHbzQZPHf02m6UOFRLv5rIzbz3boOM5xFkzCDTv3VnIoJP1+Xys3MMbl9OUGOtBz4t6ct/XmLL8x957LUOTPTranpL8Wz1hV7w1MGL50i1f7PK0cWO+KtiS4rJveW7ursU662HfgvNzjjdn2mhm7XRdBrX7t00scmq2ZsAZaxF60m6dzz8vbN9ZCTYl4OK5tKjto7tT8O+SHH3ni0t5WajtWwT3Awgc6yp2XMtVqUAO9Ry9YBXdQ6nUWNEWKDmtoSy2RZ2N/T5pT21+ihlRd/RFVu8+QXpX6WnYz6JT3eQoAfAhhDQAAAAAAAAAAAAAAAKAEg+XMQ0xlaF5Xd5gK/f39pmcrCRwIDI9YJuVcN2z6ky6nj3YQOXtXe6J/NnHybl/yVg/P6R6Le/tEzZHgoqZPqoEBmdAG2tllDKENAAAAAAAAAAB16eWUNn3q7keXScyY4LZ8SW06sNyzJuT5Ew1quIKC8qAUtJA8vb9LX1bBnSmsMFijAzzpvI8qYD6gNgxwmssnCgKwoomniymAU6Yhq+CeYN9nyI9Hsco7WNcAAI0DgQ0AAFAGya87acEffBCQD73fbBXcV1hgQ8MU24YPdayH26ReHavNLVEFruJ5dv/tBp6zNA6X03ee3f+Xw9TwiKWunjs0akBDXKXX3dMcO7mq3ns8N6Qhmy6iJdEWaZ8hxw20Pb2kbeajIukUDWjQpmOhJhItuuhiAwQ23OEU1kBZWBHTepZb0Lqh0ZCGFbWpL6nSbn2pE6Qpuag+tLSoNQdntKcCUZXEOxHlO8VetKB1gJ2r0bFY03IGHZk8/jEW2CBX2NMQO+ZeQ8Ha2iHazb0KDUKk2/KoyePnOs7R5fT1sgL1vPo1SGGchlZUsn9hwTK54TIlBT+IdnNnmqj8vBaSer35C1M82+fp/rHgcR7N69e0gZZlfbWDsjLjjQMsMGWqGsc39n0cYtOvK2H17li9LVMZpvLta3eth2YetO8u+9rl8OJCvrCGPhq+4LU5itrPIaihInS9fV7KBgO9a+RYEUeD3akF8rHo3xFturiv14L2mOVo3CfltewUDUyTsD0AKALCGgAAAAAAAAAAAAAAAEBWrJNkWQMSHqq7zdv9nXbIrWDZFNPxioUbXHE5fV0/bj53tmt9/n9qTS+38JqelsQ1H4+O9X/f8MU3Je7QTDu6vOBy+r4qZ+dgAAAAAAAAAACQlsvpu5jSpi/wDmpIq0hs5cD69/L8id4HfBUFhECpvDYH3Uav0ZdVcA/WYKGe01bBPcaWA2AnPMIaItsMbh0jhFzi9KkYWNEEDHrMgwXR8CgkhOM5AECDQWADAACUSOpiRkF8ALAdFuL4ilVwD7H7BNBA2jfWChYeL9cb5uNS32cttbDoHAvAJuz5yg2ElTYe+mxPxuKUdRPU0KgBDSQrpGFFbTqZIhrdTu/XrUsf1hAzJCVtL5eWxEPadJQGNIRVJF3WxDKBDebEWz/WkES9FZqnx5B7hJADHNruZ6H4KDhb59ZUnR1LGvPxTEjDBmmNiprDS4uaQ8EPmgbwbPpDXayw9GbIksvpm86ENwyPWKr+XM3k8U+KdvMce0ZrqPb02TlMr2g3X0Fgg/KJdvNZQsgZBc4oLQ4/znMbcjl9RrbscgWkFYPuT0ZZ0IISvKwiaclDEzMeqnu+/7buuT/N+lVuUfdemfZrRVnuXucS+LHv/fZbPNotUhe730bDieh47kk2llpSLqdvgH0XlRyaUqxMwMUcx/5Sm6Iqo+T3xTi7wbanx77HptDDisIa2qPr5MjiXfL+3p7cP50rJpRGxqCG1+k81nhQA3Vd6rCGZFOKrO2KkpblwgGQPYnb5OnYayW1G1J19UdU7T5DelWKABx6njImQTsAUCKENQAAAAAAAAAAAAAAAIDcyiraE1MZmtfVHaZCf19S9wYqCBqIsA4risI6vo1+/98l3zAmg/8pom4z0w78POaRhkGciv5ymY7+AAAgAElEQVR/5h83n3tf4qYNrGOs4tYvAAAAAAAAAACUjg5kixoTf36/P0gSer4FMVb3Rb4X1ydzB7HM06BTFBKCWuG1OWhhkUlW5HyQ3S/lUexcamdRsB52wrbrgxxWVMGB2F6bY9oquG9yLISFsJLCjvNolH6mPNoFAABlQ2ADAAAUgxU1ktqOxZQAyKPr1Qmr4KZF0F5QcuE+KFnB+xC/8M7NbqlXZ0yjvU2faWzzlgiCqYEnVjD2oozBAleHRyyTtfwhN3JAAxVRtbctaI9ZaAHCUv6dLsJlyMPm82ltVLq2NSS5oU1Hg00kGlKTZFyKNul4jwXt8We6E3ferMPAhjucwhqok4QQH6e2QWY0pGFZs78vpjJ2hFW71kTNEXFO+3OBRU1fGJ9NUfozxaZdTl+AndNmwhuq0nfG5PHP0bAEdl7B4/nwTug0vybaza/SeZFh+rAD0W7uZ9uH0vrDbI7NNHn8XJ9Ju5y+wXwFwxWErodrwyMWxdwXE+1mG+dnRMHdqbu/PjxiKbpoObt+yt3H0UAHY9bPBva73PdI+tn7n3nYn9KkdwxJK5U6qYrtf6d9Rup2y0T70J1mx7YJFvRX9nGNfX6nWUhDLfTN28k0Wydb19Qup2+CZyBMWL1rP12P1Tq/qBQN4BHt5hu54ZTdK0sLbx84HEuqdw4aLOTE/dlCYQ2Xt/t3MgY1XPXaHPXyDFzg0Wigd61gWMOJ+I9IX/zNstql90yOxn2VzvNVGpBWYRsAUCaENQAAAAAAAAAAAAAAAIDcyhpA+VDdbd7u7wva/kqK5kwouQPJL/7VX7wp2s3/ZzKl/dKyprtnTdVpSqq0+XsFVKAveatnMX4o+EHTgNQFiIYQ1gAAAAAAAAAAUPtcTl9ntCU+vnAiSFLaFNflibTFfZG2+ELOrxHUADWLFX4foy+r4O7PCm5QKhSsh2JwKd5fROFMN+eiWBd3KKLXqKoazAEAAPUPgQ0AAFCETg4rqegCbQAsYPBFVmQr82rk4IZSr+NpEdVICe+n9yKXSni/pEEH4v/9v9KCay6p2qN0yYSIoEqQCytUeUmmgsqkloMaRLu5K2u/X1JIQb0Iqbu6HmgOnSw1pCGDBiqoUoSk1dKukJih8rAGNUnFtSQW0qUjD6UKaMgVV+lb6jSwgR7TPk4IaeXQNsIa6lAmpGFBczyxqOkL+LVPT6+q9240+nqpUFemuDV5dLzPDm7gGmKQFdgg1/kFXfZLot38Cu/C+1A8Fmx1hmfx8AqMmzz+MZ4TcDl9vSykQcnnjOMKHTv7Mu/2TR5/SfcB2TrK3b+UvL9xOX1decICcvvX5HvP1nYUMIe59MdpX2ye0UW0MR5tV6CLfY/Ou5y+KULI5PCIpej1ztb3EOuLVw/37bZbB+M8l9OYCnWwffo1Hu1zMpGvD2bnengm0NpR9r75cOAe0SdiJKp9LO/hlFVwH/LaHHkDTxDUIA26fq2Ce5aWPJCy3VVT/tvUJ2PfJ92JO2W3S++bRFTtPkN6NVTGP6czdQVhZADyQlgDAAAAAAAAAAAAAAAAyIYNXCi5eE6SaLURVdueQn9PkKbkjPZUuQWjIrUQJGDy+CdFu3lgT9Kf2EP8s0G1ybSiNvVJHdowEPv74wvaYz+OqlqkHBTQ5XL6+kvpJAUAAAAAAAAAxbEK7i42kMvgtTkQlghcre2KfvfBkVAP76CGuD45EzRFcgsx0EFo1xDUAPWAFeeatgrua2yw4KCMxZK2c5YQMoqNDrZRVkB3EbYNa6AhIlbBPcGx4EM/DVVBIb0n8CgGgHUMANDgENgAAAA7sHFYQTsFBAI8wWtz3MhsOxUEN9R10EGd4HGvS2jINQmyY8UqX5Dp2QPdd71Sa/3GswIalPrMpiqW1Qe6Rc1hy4aq9UCl09NFtCQq6ZAEQmLGBDGu6Ip45+NUJJ2iAQ1N6WhQS2Jrks5UAXUc2HCLUyC9jhUoxnODOhAjhvRt3aD2dtOntAvaY29LPD4JHtefKe7tcvoC7Du0GeDAozC7yeOnbb4k2s0XOe0LdmJggQ1X6Tg7GaYPWUS7mW57F/MUnJfbPO3rwrPwMQtGU2pIRQbdF4wOj1jKHXPLjWg3v1jOGOMSzJo8/styLR9b57nrvehzHFoMnhDyO9LPGSE9b++6xaNdCW0GErFjGu0XNFXoeEbHK7PrNzmOR1Kj19GTLFil4HeWrguX00f78n2Z/ryq3htoTy1Ktg82pFdpKNuQy+m7USvX9CxMKpB7LOpcDy1UEtZAnbg/S24ePJb7a1u+/pQIapDcdULIV6RsNLgvQhK6FNHGHqVKatNR8onot0lbqvLD5IL2mOVo3FfqfWA64VcR1AAgP4Q1AAAAAAAAAAAAAAAAgJzKGsi0rOnuSavUmkJ/X1QfWqqg8+4Ejw6onNBOHF+jHUc6UqJIXyF1V1dQvbcnpjJK0olDS+KaX9j466f+weB8U+JF+CV0nAcAAAAAAAConFVw97JBtsdZkYitASZWwU0H/42isDBIjRas3vd++5+o+8kneK/clDodXj6wnjtoZcprc6BgPNQdFj5CB5ZOsP37UBlF3ng6bRXcY7QwPrY+yGUV3EZOg+eniwzmGWeDrnl9Xxy00AintmsO+7x5FCjDgFMAAEBgAwAAVNsK1jhUIju4AerOIQ4LNIPNBKrN5fTR5w2XZHrWQAtMXhkesdTEfT8ENHxIVB/pXtbslySkIUO3ziGswVBae00kuqJJx9d1ZCMo6YwUiQY2iJoj/d3J6bflmD4ndwghFhauILWPY8xJTQsE1fvemzB8ce87Tf/qMCEkmadQNfDVlSlyze5/zrNrlxtSH5tNHv8oK4x8RqbP9IJoNx80efzXZJp+QxPtZiUHFYybPP4xnhNwOX303PG8gvr25KLfzWvDIxZF3rsQ7eZOQgjvIIVaf/bzIo9Gm6KacOc9Y60cm7vY9+y8y+mbokEGmfAA9h08nQkrqnE7hlLkot9tl9NH10V/TNUc47T4tdZnaoJtL1t6l8WZ9/ZVdpn/zNy7+cIazuWGNSCogQtB6rAGKmiKkK65FtKWWiInY9+XJKiBCqm6+iOqdp8hvRoq8p/Q8/QrLAgNAGSGsAYAAAAAAAAAAAAAAACQ02Cp004SrTak2t2z3Xvuak9U8kR8Us4VUgr64F20m0fZAJpNbalAgL7WVJ0dIXWXaV3dYap0OrtS9zuejX6n7w3952YlnP1TLqeva3jEgs7WAAAAAAAAACWgRfJZMEN/EYOL6AClS1bBTQeejBdZ6BigIKvgptvUWeOK7jfVKfI87zWVVpHYyv7Id1PadPYgMgQ1QEPw2hxzmYF8VsGtpEGlZ3MHGAIwvLbPogoG0PMcds7DqwDIQfpd9NocNfMciTNehcpQdAkAADbJGNhAC5W9jE8BAECxbMXMmD4RIz3Li6Q7uETaI2tksbWTLOzaS5ZaO0hU+0QNWRTZB4BCENYANU/moAZaaG5U6UENCGh4zPwPmn+r7ab++d9YV3X0Zv9hd2ph6/+16ShpTy1t/WxIhzZfGbTI4eOPd9m/i6kln+G0mpCEPkm0UU3B9+jIRmB38u6trtT8TFM6GlvSmPtW1XvMks9MkTbUrV33ydH+/cn36uV+OP2wb7HABqm1EkK6CSELHNoGPui+f3Jec2Lur9r+03EZC/dDfgfZ64zL6Yuw6+FpFt5QcZ8yWhCfBTZU855utiEWGnANhW6rR7SbB1ghfKUFFUyzbYHbuSg71z6v8ALx47RouRTfcY5e5lzQ/Nsmj1+QfSkrc45Ho3s/aLtVxWWQ0mYQkcvpy4xL7qrR5cg2zQIayu2TRPvy/QGfWdt00OX0nR0esXANv5HQjdywBn0iHuuIhGeChtay7/e1R9fJnvAKWWrtzP7157N/QFADH16b47pVcEve9oMjq+Kh2YjpE9Fv572PUYkF7THL0bivmOPPFM5fAZRFlU6n8ZEAAAAAAAAAAAAAAABA1bGBDd8odbo7dY5PkKbkt1r+t3I7pdAOLTVXZEq0m88W6sQcUxmaH6q7zRFV2560Sl14FEIRhObf/umipi8s4ayP11AHHQAAAAAAAICqswpuY1Yow/EKi0PQQbajXpsDhaegZGxbpIOXTjdFNW2751t+XZUmT1Q1k1p4d1QI745mF6m4iiLZ0MhYYMoQKxok50DTr3ptDgTxwmOsgvsiGxAttZK2N6vg/gbH70eEzU/DD460Cu6Cz6YqMO+1OV6q6oIAAIDiuZy+67lFLqrgi7XYdwQAoBFYBTctbPPp3EXNDmfoWVkke8LBgmsjptFuhjfc7dxLAq0d5Oji3Wf/4wtXfooNCAByiXYzj4I8u0we/wpWNlSDy+kblLFYMi3WfUWpRWER0PCYm4ua3nf/a+tLA+uqjhcIIX1SNr4Z7JD+8Bb/O//6bdIW+XCz2BteIbpEfOvnnuDSE23spG2xmRhXHn90rSXxcHtq8c7epH/akF4N5TZBx1g80PT1x1TGahfQ3GJMBcU6CmxoI4T8Jqe27xFCMOZE2W6ygrh3/rDzWxH2PHtIgYXbYXvzmc9xeMRS0b5JtJvlDIsimfMQFLzliwVj0D4CpxQ2a3Q/NGby+Cd4TcDl9BnZs/IhXtOQwDQLTlN03x7RbqbBrK9xnAS9SThg8vhrNjjRKrhpUMO3eLT98397aFQX0UpbnRxKNcUCVSoOlqFhCl8K/fv/sic5d0DKT+EPO7/1p+x/6f71JaXvVzJEu/mF3GPU7f2HTs527a+ob9vt/X1k4sTHc3/9qyxMAEENHFkFt+T9Bk7OffDwV7/r3y11UEPG8fg/fTPfPYksUyaPH/0SABRGiw8EAAAAAAAAAAAAAAAAZFJWh7SQanfPdn+/qzlxv4LFqclO3CaPf0y0mwfyDRbRpSMbtBN/kmjfX9Z099D1V25ow7/a+Nunvmf8nTeiqpaEJDP+aBtAx3kAAAAAAACAwoYkLIJLB8B+2Sq4b7LQBgxIhR2xkIatgfTqhErXec/4fDWCGjZaEm8hqAHgcaxg/TX6YoP7BmUa+E6LtGOQWBlYYQpaBIr+d51ngQAZDHCY5HwZwSDjHAuQGfBsY0s/hzYrHnwOAAB16SIralHN894/dzl9BIENAACKtBnUUEo4Qy5dMrFZBDhTCPiz//JPvye+5iGsiN0cK+o4Z/L4cY0C0MBEu7mTw9IHEdQA1SJzUAM9pr6qtKAGBDQ8ZrOw+neNv/fBDd1nf5cQ8g1exSQTKj15qOre+vmeOk1uH44U9W/bNtZJ+8ba1s97aLBDPCvYYWVx87+tST0xr9Lwg5VYWyowvSc1d6ctFdj22QIdY3EwcfvNh+runqB6X1+54ysqsa7uMN0nR0mdBDaE2Hefx7ODA+zZGoLklSPCivrT13SmID4tEIyQhpp2kL3OuJy+CPtOZ8IbSvr+0etp0W6+wu7tynHMpdP8mmg3v4prez7YGMaLCvy+bwYUmDx+bscMdp59XsH7us1+RcMjlhsKmJdivMy7/VoOamC4FGDvEA0/Q1CDbOhxlvYXm5Qy+GB4xDJ2xxH/Y6kX6nDip10faD8WYPs9uj1ekXoanEzmPl/uXlmcqTSs4cji3XxhDeesgnsGQQ3cCVKGNZyaf4d86r03dzdr1Q8S8dZ9PGZ+QXvMcjTuEwr8+arJ40efeAAFUqXTPIK8AQAAAAAAAAAAAAAAALYn2s3fYJ2mixZUm0wBTc+2HbiF5t/+6aKmL1zG6p+q5YH2bADJH+zU2S9JtNqwuqtrRW3qS6q0+lKnc099TPyh4TekHBBwdXjEgg4FAAAAAAAAADmsgruLFUXggQ72GfPaHPVUIBokZhXcQ6wg+9b9pl13W2z6iIZHgYXHJLXpwOKh0N+w30VYwEitDCIFqCoWqnKaFb4o6Z57hb5aRhH9hsHu2dPX8axwhnyFKKZMHn/NFwG2Cm56bLjEoekJr81xrYz5ucSpIBBhx6WXGn37twru/8KhWQQzAQBAXi6nr1OGwAbqiwhsAABQBtFuNk6bei3XBz79g1LDGbbTlIiHf/GO76+3ecs8C3CYYwEO9VBIFwCKINrNNkLIaxKvq9dNHr8N6x94czl959kzAzkoqj8+C1A+ze7VI6CBFVf/w85v0SKEL7JCm1UtJOl/5iGZO/lQ0jaboprwJ/7fw//D8IjleuZ37LPPHldxPOv/Dey5zaYYMRx7oO07FVMZq11Uc1NX8u50R0oU5Zi2xOjzsF/n1PY0uzcE8glk9iG510WscPmZKj+rrkSEBbP3sueJtTLfcqLXxnfo5z88Yin6uphey7NnyHIdg+ln/Qqu5aXD+kE4ZLhXv5PN77XJ4+fWF9Ll9PWykAbu/eYqME77WCgtNK0Q0W6m56N/xHESsyaP/xDH9rmzCm46/x/wmI4uov3ln//bQyF27djo10rVEmDf0xu8vqfTjp//k46U+PtStjlm/F/G39Y9t5D1q1drJRBGtJtfzh1v/3r/x359o0lf0fnfxAkLub3/sd3LLCGkE0ENfFkFNw2L+qkUExm6/RNy4v7s5v8fCAT/JfWw9+d4zfzx+D9905BeDWX9KsLCpdAnHkChtPhgAAAAAAAAAAAAAAAAoNpY5/eSOzTQgIHt/r5BWqNlBjUQ1tm2Zpk8/oBoN9PBLV/ebhk0JJGgnfnpi4ZfhNS7TKUMLDiQesd0OH4j8EHTgFRFiOgAGBTeAQAAAAAAAHgSzwEUdPDJeTZwYbTRiw3D46yCO+9A+taH+v5qBDWkVSQWOBjO3Kujg1KueG2OOXxMAPl5bQ46eJMOOJ9gBfPpd3hgp2BfCdAwl4YvXJsnlKGrxMH5p0W7mdRBYMMAp3anyvx3Y5zCIwj7bjX09m8V3L1FvK0cd/jOOQAA1KrhEcuKy+mzyRDY8Ocup48gsAEAoPpYQcd+9tosrtwajXSfmn9X0nnRJ+OhHd5ykL1oHzc6X4QV1cqEONDrmHmTx18TRfAAoCQ87nfN4CMA3lxO38XMcUsGighqyApoGEAB7g8DGuj5isvpo9UkXyGEXJBrhjpEA5k7KW2bcX2y9Uf/7t0bhFi2fmfy+HOfL29bqLv30feHbjMXexK392d+r0tvaHelFlozPxtTq/pmEmrO/Lwrdb/iYpwBTc/mc6U6CGyg58n36JATDm3TdeQjhOx0/g7SmmdjfabzfKdqNaRhIreQOSvAnrn2VFoBeqXIXBsPuZy+CNun0uPLneERS8E+Z+xa+SXRbpbr/IQ+170k2s1XTR4/xq1VSLSbh9hzct59UUpFz3fcdFwlj8ZdTp+R7evkCkMrBv1Ojm73fVQa0W6mRc0vc56teihgfo5Tu7P/+G9+/bvk32z+/yQ7Fg5Vqb9ZI5pm5x/cC7N3pMRq7Acuupy+r9ZIMMxk7v67PbJ2r9KwhhP3ZnPDGrate8BJQwU1kEf9ZG9YBfdsJetbn4iRoZ/9hBwO3Nv63bpR09IZCN/bULXyuJYlC9pjlqNxXyZ8cLNPfL7rKwBQDoQ1AAAAAAAAAAAAAAAAgBxK7mRJgwWSKq1+u/eImsNLZS7LzVrqkFaIyeO/IdrNU8Wu30xow5qqs2NZs7+v2NCGgdjfHw9oet5YVe/dkGC2+2mHruERCzoXAAAAAAAAADAsRIF7UXw2jW9YBfe41+ao6SBLqBwr8u5gA6wfo1vXdrU+1NuqsZpX90W+l9KmYwhqACid1+aggzunrYLbyAbQDuX7TkvktFVwjzVK4I8EoQzbqYfABh7F6wLlHgPod8EquG9yLKhCt/+JBj5G8ThPjSBADAAAtiNzYMOh4REL76JBAAANLV84Q+76iKu1OqnXkT6+Y1hDPpn7AqdYsT46/xEW3jDN/jvHq0ggAFRNJ4cJIawBuGFFZC/KWGT66vCIRbYiyAhoeMxjAQ3k0fZhI07fi4SQz8s9czSsgRNbpSHLtHgqLTp6V3vise/SB2SgqPM6fXpNuyc515L5uTX9sLkltbIV7LA7dXdrrEZTOqptTS9vvbeOAhtucQprIFmBDcBXZh9yp9A1jcvpK9i3RKHyhjRksLFMc+w9meCWfhxTCjKwfeTmftLl9M2zIMPpQkWo6XNw0W4OZK6hZXBBtJsPmjz+azKvu5rE+kpcrFJfxlLQ7/YoHUvJawIslOa8govX0+/VtWoUgOfgZXrqw7H9b5s8fqGI9yndi5zm77HzZnYsHGXXlbz7mzWSKXb+UW99iwzsmF4Lx9WJ3LCG3mXxzoP23U9X0mhPcIm0bayTULOx4hksU8MFNWQRyg2gpEEN5278gOwJBx/7fdDQeuh48oPxWe1JLueqIVVXf0TV7jOkV39GAzTx7AhA+RDWAAAAAAAAAAAAAAAAAHIYLHWaK2pT307vua375EKZy/IPcqwETq6xDpBFdwpuSa8EWxIrb8ZUhuaH6m7zurrDtN37tSSu+eSG+6m/M/7+GxItwlClgyMAAAAAAAAA6gUrsH2+yotzhgVEjKIwfuNhIQ1nCw2qVSdUus77hs9WY8WsdcSmIm1xeo9vngU1PDFQHgB2xr47tCjSpFVwXywnQLlIZ+vt3i7nUIbt1Gxgg1Vw93IqVDJd4b93cy5MRs/XrnBsX8mOc5i3Sj9vAABoADIGNnydBTY0atELAADJFRPOkGvV0CL5tac+ESsnrCEfQ9bybKLX+VnhDfMswAH33wFqB48A61osoAk1gBXUvCRjMU1ZghoQ0PCYJwIaSCakgRAaPvhpZczmIx0PDCS4LyJ1sxWHNZBH9x7o+nuFFWs/X8q2FVW1JO5qT2RXfQxu8/bHtKcWm9tSAb058dZ3ntv4K1rAkW7fmcqfBvZzRpeCt3kaTBSmWRUc2j7JwiBiHNpuZJGs/ce25yospKFg3xKFokWSx4ZHLEUXRGVFz+nrmsvp62LHmeMyBiIp3UH2GnI5N/NUbrLwhhvZ693k8Y+xwIayiutKYIjdi7iWfayE7Yl28xD73istrOAmC2rg8lm6nL5edh6g5P3deKEQGqUT7WYb531BkGPIQdVYBTddTzuOpy5T3vNmtj1t9jdj34MhdhxUamCJEmVCoiZLOf+oQfS4T4/1iu7rQ4vii3bzfPb9kj3hYECTSsaSak1F4dAn7s2Qfz78lCTzWaJGDmqgrpdzDNkTXiG/+tPXiS6ZyPv3SHucNK+F722oWrmED/6L7rljH4+O/484DwWoDQhrAAAAAAAAAAAAAAAAgKoS7eaSO+gE1SZTUqXVb/eesGrX2qp670YZyzKt9E4hpaAP60W7+VVCyNdK/be6dGRjf/K96VjK4F9V7zWFVLt70iq1Jt97W9PLLc9Gv9P3hv5zsxLM9gAdKFSLHQQBAAAAAAAAOBiSaWA9HYzyNavgpgOFxlEkv/5ZBTfdzhw7DSjfvdDyWXVKxaOYwmPi+uRMaO/GLQQ1AEhujGNYw2mr4B7z2hw1N7iUFWI4yIrb9FYxlGE7tRrYwGu9VVS8jm6X7LxmSLpZekw/DTzy2hyNGDLAo+jbHQ5tAgBAHZIxsOECLTaGwAYAgPKUE86QK6HWbNt/sBztkTXe9zTyBTjMswCHORbggPA6AGU6xGGuZvBZg9RYEekXZApqoEUoX6lmP3wENGzZtri6y+m7yEIaeBV3rUjLQz2vsAbJ0GLtLqePbttnOD5n2ELHwdDXXe2Jz0w1/9s3hkcsE8X+W/a9yB6fkx24nBvskPteHn7CKfRIx47POH+uXIDtQ6aKCZRjx5qL9R7SkA/79xPsRViQS9nXtQ3iFHuddzl9mW2Njtujx6xJ0W6eYyFTchT+pucQvaLdfAWFcrfHji1KDCuIsJAGLkF4LAStKsf+CtDj4GiNF4F/mXf7Jo+/Hq6/eT2P+rbX5thx/QyPWOj+epR9LwbY9wLHvsLod3JcjiBD3g4k3+l6mzy3kGcytO/xSzWwCBO5xf0718MzgdaOio5xJ+7PyhHW8EWvzVFr/QqlJpTaXs/KIvncrcmCQQ2U2Lb70KHVD3yz2pNnpJ7hBe1xckv3ix+fMHxp3zDuDwPUBFU6ncYnBQAAAAAAAAAAAAAAAFUj2s0XSy0MNa898UxMZezY7j0/a/rU+2/pPnO3jOW4Uk9hDRmi3XyWdRAsW5JotUH1PlNIvaenUFjGpN7+5l3tiaAEs3y1HjsjAQAAAAAAAJSCFc//hgJWGh04NNqgxYfrHtvOzhZzj65DNFgMoSYL73WS1KYDgYPhsZQ2/RYh5FUENQBIyyq4S74vX4IpJQ8CzAll6MoKZ5Cj+EOxpmopsMEquP+Aw4DsiNfmeLHSRqyC28jOrXh93gGvzfFVTm0rEsfz1Ss49wQAgFK4nL5OGQIbqNcJIedoaAQ+MACAwqQIZ8j1o488czasNx6QcrWfvPvuePfKUr5CU9UWyApxoGF28ygcCSAv0W6WvBiPyeNX4WMFKbmcvl4Zix1HWB/8HYt8VwoBDVu2DWggNRDSkBHoXSO3n7vHo+nDxRSeLZXL6RvMLe7JWTW/X7kFSo/n/Jz7TK3YZ2wXWbiC1MKEkL/m0G4joNcbk2wfUlSBbxbSUFTfEgWpWhFztn6Os+NTv8KfPyvFTXrN+wuRvwwPRv/meRmLftPt49ViwkoakRTjETmhxbbHed0vYcf78wr+LtPt9hoNPlHAvJRNtJtpP5A/4jiJWZPHzyN8saqsgps+A1vmNM1f9doc18v5h+wadIgd+3Dce2SaBUQpor+LaDfT0LTXpGzzLd1nfP/d+O99Bf58rZSgOTmwZxWP7Xdmd+8/dPvAoecrnZ3rA8+Ru517q7VUCGpgrIL7RrF9BE7cnyFDtwttvh9qjkcDn57+6d/cbho8u6Fqlew51G3dJ8ms9pnMj7SGAq8gHgCQEMIaAAAAAAAAAAAAAAAAoGpYx4aSiuKsqTo7RO2RZ3Z633cNv/fPq+q9GyUuy/TwiOVKvW4BovM0uWIAACAASURBVN18iXX6rVhQbTKtqE19uaENG6Q1+j3j77wRVbUkKpxGYHjE0lAFjQAAAAAAAAByWQW3ZNfyErnJQhtQFKoOsILVQ+y14/0544ruUPtSc8UDknaSVpHY8oH1sZgxMY7BRAB8VCEM6Ktem4N7wYvt1Ggow3ZqIrCB47Z102tzvCJFQ1bBzbuYxFWvzdEwYdRWwc2lKJXX5vhdqdsEAID6J2NgA71fYkNgAwDAh3iEM+T6/nHLb8W1Ta1Stmm74xvVJ+IxKduUUISFN0yz/84VW1QVACoj2s206OBPJV6NdVEwEpRD5qCGeVYIm1uBY/Y9zBS/RkDD9gEN9Nr4RfbqqP4sli6hSxGv/X0eTZddeHYn9RzYUAnRbu7K+Y7uYT//JnvxILBzZNjZzax9SNH9fmo4pEHWQskup6+fHbu4XBPXG0M6vHpmbfjo3pQ/ZUwFgxqSqHRMWqnofvYVk8eP/QnDArIuKnD7pfdCRnl9Vuy8+rzC+mzmGqdhFcMjlpruwynazfS8dYbzOetnTB6/wLH9qrAKbvpd/HMO0wp6bY7OShtxOX1GdswbauBj3hQ791DU/VoZwhro8fQlpa2HXKLdfDH73DaqbdIJxysvmn97fx+ZOPFxKWe1EAQ1ZLEKbhpS+fWd3vepd2+SU/PvFt3u6fdufTMZa2+b1Z6UpJ/hW7rPkLvaE7m/Pjw8YpE8ZBIApKXF+gQAAAAAAAAAAAAAAIAqGih1UMiyZn/fTu9ZUvcGyghqIKxTTD17tdRwjEI6UqJIXzS0IaDp2eqA2EzC+sENT/9rhotvVziJLto5Wc7O0QAAAAAAAABysgruAQUO+qPFDr9hFdw0sCFv8QeoDaxQdVEhDVRTVNPWFmi2VWPh1nZFJxHUAMAXDVKwCu4pjgU16D6mKt/hOgxlKOS0aDeTGghsOM6pXcnOO7w2x5hVcJ/mWNDrvFVw32igcCseA+3xbAgAAMpCwxJcTp9NhsAGOi2BThuBDQDQqKoRzpBL6qAGSsFBDYTd6+jPfm5A7xVkhTfMswAHRRfwBahRFRcuzANFuEAyMhSNzzbPCshLfj80K6Ch5PEGdWbHgAbyaDs4xAoq10xIQ4Y2piYty3r6nFjqpuk9Ai5hDcMjlklWiL1axevpd+CSy+lTdOFTFiaWPX+b9/tFu/kfOYY1HMNzhYKK2n8UwgovD5XSt0QB6HHJrYRxSGweNueDBV4czwoeauTjWl4RVWu7p/V/X/xU5L/2H0i985QuvR40plYDhnQoaEiHwlWYhc39rGg3XzV5/A0TzF+IaDfTPh+SFCaW2AQNKiglcKZYbJ93hu3zlGqahaTVS3jny5zPW79dD0ENzIuc2pWkDxK7HqT7zkkWeDLUINdxEbZfqvnwFAnRz9xBA5AUPp+T2ddy9LlARyQ8EzS0VhSseuL+LPnhR54hUa1OkpksAEENT7q+XViDPhEjn3r3zc3PpxQP2nYd+Mji/LSYPnxvQ9V6oNyZS6h05Mf6z5OQek++P19m93IAQMEQ1gAAAAAAAAAAAAAAAADVNFDKtNZUnR0xlXHHTlgL2v5yOp0FaKf5ev70aWdE0W6mHTG+LFWbNLBhRW3qS6q0+szv9qTmup6Ovdbzlu4zdytsfhAd5wEAAAAAAKARWQU3Hfx3XqGLTgfTfNkquDcH/9GC3wqYJyiSVXAPsoGlRReoVidUus57xudVacJ1BBG10ZJ4K7w7+h+9NscE72kBABnjWEDmtFVwj0l9jBDt5v4GCGXYTi0ENpT03KcEUodEjXMsXmZgA8/HOLWvNDwCOvBsCAAAyiZzYMMMC2xAwCUA1D05whmyrTa3tEndZnM8Wqv3uvMFOMyzAIc5FuCA6yyAyvAIs66XgpEgM5mDGujx5VUpi1IioGFL0QXWWUjDZRm3AynMNm1o7tPH2RK3y2P/vWV4xDLqcvpIlQMbXnA5fVwCUngyefwrtAA6p+20hxDyzUwxZtFuzn1+uCenf0RXzs/Gal/PcBZg+4+pcoPcajSkgS73uFLHhLHC6pPsRVjYSya8oZ62v4r90PAb089GvxM9mvCZYxpjxwrZTzTpRFSfXltpSa8EjKlgUEMSCY6zcEG0mw+aPP5rVVpkRWF9Mi6W0q+sSuh3aJTX/Q12Tn1ewfs8uvzX6unZg2g32zifvwY5BhxUlVVwD3B83vWy1A0Oj1jo+ccoO58YYOcT9XasU/R5hwKccjl9A0reZ9HjiWg3B7KPd53r4XuVhjVQh5cWyO39FTdTCIIa8vDaHDesgjuYLwCIBjWcu/EDsiccLLndFWNbN733ZUp+4JvVniwrxCqk7iK3dL9YKKiBuuBy+i4Pj1gQ7AugYAhrAAAAAAAAAAAAAAAAgKpgAzZL6ii0rNnfV8z7ZrSnyhk4Od4InzwdsCHazROso5Mk2lJLd1c0+49kt3Us7u0TNUeCi5q+cAXTOO1y+sZYx2QAAAAAAACARjKkwEGPuejgzD9gxbhRWF/hrIK77MG0HaJxUJNQcd8ek9p0YOXA+u96bQ4MYgOoAhqkYBXcUxwLyJylg2/L+YesAECmcEp/nqIpjUyxgQ0sbIrHAPFpr80hadEheqyxCu7T2cUsJTZkFdyT9R5qxT5zHoPqyyoeBAAAkCFjYAMtACEgsAEA6pHc4Qy5ws0GycMatKlkTOo2ZXSQvTbv+7AAh0BWiMMd+v8mj7+mivwCyIhHhbUVfKBQKZfTd17K/uAlmqKF6qVoCAENW4oOaCCPPv8BVoC2pkMaaNAE3ZaswrvnCCHfkrj9U1bB3em1Objtc2UIbKDneJdqMbCBc6jIxUwQUp6AgpIKe7Nrn9zrndzg6tznS3IHzM+zEAC6/6jo2VQNFCzPVZPFkodHLNNs2xzLKmbdj2PhI2/oPze7pu7ceCY2sfldS6q0+nVVh2mddJiIhhBdej3YnF4PtqSWA4Z0qJIxa4UMsX3BtUa5bmbLe0bGc8vtjJs8/jEeDbucvl62z+PVb0AKdLzrRA0e93cieUhAjpdNHn+9FL7mFTrxutfm4LaO2Da7GVTEvmtDdXCcu0kI+Qd2HK8Vkl8L7U++SwvY+3Z423mX0zet8H3XFDv2bepeWZyZ7dpf8XXdqfl3eYU1IKhhe/R68PPZ79gTXiFDt39SVlAD2QxreBTesSt1b0FMH763oWo9UMq/p0ENP9Z/niRU+p3eepld0wKAQiGsAQAAAAAAAAAAAAAAAKqlpI4LMZWhOaYyduz0viV1byCqakmUuAyBWuucW6FxKQfNdqQeiLlhDVoS15yKfe/IPxicb1bYPO3szaVTJQAAAAAAAIASWQV3V/YAEIWjA6fOWwU3vX4f9docKKyrMCyk4Wy5g0pbH+r79REN9wGpqpQquta58VsIagCoujGOxWMGaCH37YrsI5ShbDSwYdrk8Sttn8nreMGr0DHd/i9xattQSWBJDeFVnLWWBrYDAIBCKSCw4dzwiEXA9gEAtUpp4Qy51puaW6Vusz2ytiB1mwqTue9yKvMMQrSbIyy8YZr9d67S4q4AdYpHhTWEe0FFXE7fxSoWh89VcVADAhq2BNj+YCpPgfm82LUuLeT3aXlmWRKv0/vnOdsRr/0iXV/XeS4MAhuKQwsmi3bz65y23Qui3XxZiqLMrDB77nOKUgMfcsMb9uQ8A819JlpqOHaEzVMm4KXi7YCFNJypoWe1EVa8vObHGmUXsyYfFo/PHCMVdS1eTXeaBsWH6p61T2188xk6Pi170nRsIX2tqveYVelU0pAOLRnS4WBrKhDQkESp4wkLofv0XtFuvlLvgQ2s38ZFBX7/aRDNaLHnSKVgISlKDafImGbnS3V3n0a0m1/k/Nxm1uTxX+bYfrWd4zS9qvVnGR6x0O/xaFZA0VANHeMyoXpjtfh9pEGALMi32jL94K/JugK2N5ndV799Yy3UHI8GNpr0FR0PaTAADQlYau2Ucl4R1LCz69lhDfQz+NWfvk50yfJPDZNqjW6ptaNrTzgYMCU/8M1qTxY9tmNBe5z8rOmTxQQ1UBdcTh8NsqyXkCGAuoOwBgAAAAAAAAAAAAAAAKiWwVKm81DdXVSvkBntgFjG/I830qdOO4qKdvMoK0JU8QAX2pnVmAqK6+oOU/bvd6XudxyPT5poJ9kKmj+NsAYAAAAAAABoMBdrcHHpwKmvWQU3vccysV1hbqgOFvrhqGRgo25d29X6UG/jPcPqhJq0LTX/9vXf+eXv8Z4WADzOa3MErIJ7ilPxGAMbXDuGUAYuaNEZorDAhgFO7XIp0OS1OaatgvsmxyIAp62Ce6LOw6yOc2hzHueSAAAgFZkDG15zOX1frLSAKQBAtSg9nCFXRKdvU9Yc1SxD1ue+iRXvyoQ3zLMABwQ1Q6Pjcd8LYQ1QFlbc8mKVr3GyXR0esZR1XxoBDVtKDmggHwZ0XKyDkIbL+cINvTbHjFVwzxJC+iSeJvewBoYWIe2t4nk0nc6XCSFXqjQ9qdDCya9xavtF9pJdnu92qWEPueENRrZ9EXZ+Ltl5hMvpo/vk87UW0sCCGuryeRIraE1fY1lFrfuznrM3jEVNX/iHzb/55sejY/2t6eWWfMudVqk166oO0zrpMAX+f/buB7iN684T/MMf/gH/iJAgGZIoNmk5puSMLTGG7V4p3hgOazwzWeusmZ0WkqutMX13mF1nsxsFqq2bczkVupLzXmpLiLJVZ1cFu2XqaqeSFmvP8lDjzJ9w3JrzSoET2JSSeCzakkVIlNUWIQkkxf8grh71IEM0STSAfv0H+H6qWJYl8HWjG39ev37v93W1kprs7C1PdiLVuHgj5clOTJZ5rJbmw6mS8GolXhezzxqrBhac8Pcn71pLyN4Phb5nC92/zoXpLA/VsRLaVzwWjQUq8ppRlQQv6w/wZMf5tysSFbmH3XPSW9qgPvJd8gOKWDhRt4WvD+l78XQl9zkM0B0JJ06zvo3l0NBiVRKG88fG103f+qTcsAZq59UR8vYXdAtrQFCDNnfGGXZevUi6P0jo0ugnLRs7aFjD+sVPrqjZez+ZcTRtKfQ7IzW7yAc1Xy52U31s/AIALMiRzWZxXgAAAAAAAAAAAAAAAIArVRLohIWXtW5jzuGpv+x+4NFCj1sgNZnXG/+i2AUg09FYwBKTso2mSkI3m1hdtlsOb4vq3r5reTv0nLzZ8O/emXU0LpSxjZIX9gAAAAAAAADYiajIXWxBvZ3RRUp9tAAyXnzGYyEN+8otvO5ccNRuTDb9qXPR0cTzSdROucnGkaYXXz285//kuR0AWJ2oyHTx64t6HKKdVy+2bJgcr18/PVm/7canLeumJ1x7Pv7db9yZTDnjw7C2o1YJbBAV+QiHBdS0cP/3dW7zDva9qfl+VQmG48GQ3QolaSYq8qH8Rcs6OY1FxgAAoLdIONHBCmHyKGhTCAIbAMCS7BbOsNwvtz/4VNrT1KFnmw+NfnRi682xK3q2WWEus4Khl1iBWNwDgKrACkne0Pu5+vuTDryCoFisQO0hE7+3i5rPzfobXXlFphHQUGRAA/kspKGXQ4iBkY4SQo4UKjosKjK9fn5W5/06GQ+GDCl4aNJ79LTdxh1USRjiFDhDiw53+PuTNzm0XXEi4UQnm1ui930enmhIw4lqLpjMClt35n23VoW67C33V6df27VaYMNqHNnFjCc7MebJTqY92fF0bXZ6psTjRUNCXqmk62AWotWjtX+WIW73jKNpzeM/7Vy3ZlXqOVLfuOhwulffRm39mGvbzJnapy7QoA4t+1WBTlR6YXhVEnj09/K94e9P7ufYvqFERVY4hbUdjQdDlgi1yAsm6rbIGPVl9j6smLXMqiToWmB6zNX2yX9t/s8DGh5KXY7GAtzmfZVLlYS9+Z9JY00tvkT7A/+y3HbnXG4S++fP6LGLCGoogqjIQ7svf7j78Y/O6tZm/fxs6onh9/47/fMN55atI+6Hnl7r8b+tfZKMuneWurknVwq3BADzrXoRAwAAAAAAAAAAAAAAAKCjrmKauu7cKmh53DVnx1gJuzhYrSfW358cVCVhhx6T3RuzN9M12dlb8466uyZfusm869GZge1ve75ezqRUWlwQYQ0AAAAAAABQ0URFbtArVNFktOjxIVGRlxZJx4Ohql0kbST2+ulmP2UXOtlwpfEPeAY1OBecpOWqh2wYbXwjGgsgqAHARPFg6JKoyMPFFHPoSH3StOHWeN2WdKpp08T1xnUzU/XrpyZWXJh/pWVjq3BdHcE55uZZVRKI2YENoiLzKrR1jkObd8SDoZSoyLTgwZoLKcvQSY9NBYdY8SgCg2KfAACgu2gscDESTtDCjIoJgQ2v0bCIaCzQizMLAGayezjDchmns85ae1QVtrGfpaBgOh7BCk/nQhzoNfxlf38S9wSg0hQ131mjk3iVQLEi4QS9B/tNk77DlwoUR2OBgmN3ywIaeBRjt5NyAhposeODrIiy3UMaeul1ucbHKxyK9/IobrsiWlg5Ek4cNjiwYU8knCA2C2yg4d+vcWi3hb1vMAazBpuGNJwmhAxEY4GUBfbFVNFYIBegN8iKW+cHN/gq9XnPOhoXft7wrXcfn/5Z55bFD/1afy/rcLqmHC3+KdLiJ6SV0DVv9dlbNxsWb6boGrgidoHeBz+kSsJRM+7Ls3Nd6HtlR4F/p0EfnoZsuuaJ6f/26Ab3zq35/0iDEjIOt2ljLQukJvNhjTjy29onR83aB5PRfnZfpX/OqZIQ5BzUkGZ9gYogKnIHx77sEascIxZOQj9bT7FQom723WZ02N8ZQsgvtFz3QlG2RcKJ7mgsYMk1/PR7XZWEA7nX28bJdMq1mJnLOF215bRbm1kg26+NkgubWstpBkENRfpX8b/5tGX6lq5tztTU+WbdNbV1C/Nz6xc/uXI9u3V4wuH73LXUgqOW/Kb2q+RT173lbI5eyxoSNgkAxUFYAwAAAAAAAAAAAAAAABihW+s25hye+ilni6bJlB/XdKlF7vt0NYc1MHTCxst6TGBatzg2mnK1fm6iAZ0M27rwgTrq3lnMZNZ8nXSRESZXAwAAAAAAQIXrrrCFs/T57BUVuS8eDA1ZYH8qlqjI+/QKaaBaVE/APefcwut4rb/cSLxqA3EuOM6wAiMAYL4BVjjmLsWEMqwm1djSujU9NurOZBZwnrmxQmADj6J1hBVf4W1Qz+/RFdDvuhcMeB6GEhW5jdP2uAZ0AABA9YrGAkMmBjZ8jwU24BoYAAxTaeEMy03X1Ok+lr715tgVvdusAj72szsXhKhKwjQrHjrM/nvJ35/EvD+wsw4O+661aLnuVEnwsUKtnXn/1UprwUKtj9M6DlT1QTCsYOUhE4pVEjbX/jArDr0iBDTcpeSABnJ3SMNBE65d9ZJmxV/7ighpyFF47JCoyMF4MMSl7eXyAhteNHD+h60CG/z9yT5VEno5BZH0IKxhZSz0Z18ufM0mENKwBlbceoj95PoL+eENFedtz9eHH559c/a+hYRQynObd9Q10p8J54ZWR3YxU5edutmYTac82fF0bXZ6ZqXfyRC3e8bRlJsj8e/f/cZTj/63pv/482UP0xSUsMa/+4z4zrh3fsjXNfc3O9xk3jXnaOC9Oc1uODen36nbPzzu3LTiOahw9PPtGL1/USXPl3dAwBF/f9K0620OeAVPnLHqfF523dnHQmq62FwenuPa0+x7tNL7G2k9ry83Zi4VO7d4XyScGLLwMR7K7yN7pyYvpppayu5L7bw6Uk5YA4IaisDGpZ5/3Ltx9jetX9C9/avrfFvbr19d+n7ZuvBh4lzN3WENNKjhnbpnyIRzY7mbeoLOZ4jGAoaMXwCAdghrAAAAAAAAAAAAAAAAAK5USWgrZhJh2unfquVxM6RptoQwgEE2QbVq0QVMqiS8slIhrmI1LaZS151bMlmH07X8V3fN/eK+UffOd8tofh8LlgAAAAAAAACoOKIi+3KFjCoMXWj6vKjItCi/HA+GsIBaR6Ii72WvG90W7DbcrO3wTNQEeOxv87V6smG0kbhnl4aO6DheTzQWuMljWwBQnHgwNCwq8nBH6pOHg+cSQimhDKtZdDpdV1o2tgrX1RGcFq7MDmzgEdaQigdDRRezKlY8GJoSFZkGlhzgtAkf/c6OB0NmhmnwwKPIyzT6iwAAwJPJgQ3PssKJCGwAAC4qPZxhuYzTVatne67FzJye7VU5T95rcQkds8gLb7jMAhy4X/MD6MS2YQ3su2Eb+17IFe8tp9i/1vEgrY/TfG+UfY4UQj9ftMwJv8QKMmp5nJb2UjxDaUwOarjMCu5/7jMbAQ13KSuggdw+zx2swPz+CghpOFLqPeB4MHRRVOQRDkX8g7yCIFbCAhteNfi9SwMbLkVjgUGDtlcuui7kexzabVcloYcGQhj7dKzLpiENw6xostYAKPiswDX9GWRFrjvzwhuMCo/h7t26r43ccnpnds0NlnWvkq57m3E0+WZIk4+Qogop73p8+mf7f1W/78Kso3HB1IOh0brFa/WB2b/evnHxkqVeBwukJvNhjTjy29onRy2wO2Y4UU3rWlVJOMj5umHE35+stMCm/ZzatXw/ib0v6BybU+yauJt9n+nVt6bXcLTffLpK3oP0evUJE7dPz1uIEPKKifuwlsH8vvKmiRu6hDXcm/qENM9MkYn6ogKSluZVx4Oh4+Vuv1qw8Sl67b2NBnLzCGu41ry+IxfW4MmOTzRnU8MTjtuBDRNO31JQw4KjTq/N9bIxDACwEIQ1AAAAAAAAAAAAAAAAAG+aJ/lmiNs96fBu1vJY1XXvWJH7Pc0mUlQ9f39yWJWEQTZxqWQusrDQlL15dcKx4XMzVZuyNxofnn2znU6MLbH9LjphuNrDNQAAAAAAAKBiVXqhPrrQrpMWQo4HQxiPKZOoyJ3sNaPrItraKbevOVWv+yKP+vFa4r/QnAtpyDlIi2TqvS0AKN0fv3fy1zuvftxTm8l8Loy3XKnGltat6bFRdyZji2IFNmZKYIOoyEWFdBfBsAIstH8iKnI3x0IlB0RFHqLBEJzaN8MODttE0R0AAODOAoENtJhMEOGFAFCuagtnyDfW1KL7tZtnfhbBcfytFOBwmRUTvcQCHHBdCFbEozgWl/sjqiTkAhna2E/VfDcwWp+v7iGkGsMkUuxH8+P+qebLOx92f3HFud20SPGkY8NMocbmHJ7MNVf7pJYdXIZ+Rh/On7eNgIa7XGbFQ4fKCevIC2l4ls9uGoKuDeiNxgJ6FX1VOBwPwwsd0qLpkXDisMGBDQci4cR0NBawQ3g0DfY4yGls5qAdihDzxor1P13uGiGDIaRBJ+z7e4j9HGOhHV1s/MD23+Hnavaq152ttx6f+ekuN5nXfX5DIVsWP/R/dfq1pn/wPHfW6oEND8691Xr/fLzdjOO0ljFnWypR9y8ujDs3FezPVqBhFohWNWNRqiR4WZ+Xp4qafysq8n4OAWY5tuonsTCiPta36WJ9m1LHO4ZZQIMd+suVZje9R2rFOcM0dFGVhMu519Xm8dSVD7bok926fWyUnNl2v9aH06CGYDwYwrxqjdhY6F3X3C3TkxfTniZdw3fH6xu25v//1oUPE+dqfJ03XFvJu7V/qGdQA/UEncsQjQUMC5wEgMIQ1gAAAAAAAAAAAAAAAAC8dWlt/4Zra2vW4dQ0IfDjmi99WuR+n0Lh/8/4+5PHVEkoe+Fuy6J6ZcL5+bAGqn3hbOtHNY+qJU6m9LDXDiZDAQAAAAAAQEURFbmLR1EQC/KwQsX0+fbFgyEUvyoSC2nYx+P14lxw1LZ86gk6sqRWrzZpSMOG0UbiGa9Z/k8/1rFYBwDoQJWEvc8R8sf/tKVjcqq2XveiKItOp+tKy8ZW4bpaapgvaGdGYAOvfozRi0+PEUKe59S2hy0YH+DUvhl4FPs7Z/2nDQAAlSAvsKHPhOJkdHsKK7KAwAYA0KyawxmWm3PX6Fr5hnItLs7q3SZoso397CGfFTtP5YU40OvEy/7+JOZ5gpm8HLZ9sdwGVEnwsUCGzrz/grX5igmLTTv9/joy3XnfQsKQJ7VAajITTt9SqINnceLa/fPvfFxDZp9XpbseVu2vM10CGsjtIupBVrD2Cf12z3B6hzTkDHEIazDlOJsU2ECDIonVC9D6+5M3VUk4zimoZLcqCUF/f7Iqi1uyQsbd7Meo1125UqxwOUIaOGFF4QfZD2GBsp1sjRavMHuuaBjV2/XfOPvI7EBnU/ZGo9Hbp9t8auonD/+y/k/eLzEYi6t1i9fqH5s93rl+8arRgcVron3Oodo/PPdxTVc1zhukz/mYFQuVG+AI5/DsNyrwe59X+MTReDBky3tTbB047eOeioQTbayv06Wxv3OarSVHX8NcNFxu2KJr+ulr6wD9Q93C/JxeBf93XfpIa1gDghqKpEpCF/usvOszwDs1+YneYQ3z7pomGiK+cTK91H/xZMcnJpy+//FO3TNf5vT0es0InQSA1Tmy2SwODwAAAAAAAAAAAAAAAHDBboBrKnSTIW530v3gY1rCGmZI0+xA43feKXKfX2ATToFhi7e+W+6k7MvunbvmHA0rTqIbc7al3vL0vF9i06loLPBCOfsGAAAAAAAAYCWiItNF0i9zXiA9bdEF2CfiwVAlFSzmRlRkOmYT4llAcv1oY7Bu2qVLgRX3rIvcc2HdSiEN1JloLKA5zBUA+KNBDblCKDcbmlvOb2rdxWOjzsXFzENXzr/jzmQWcFoNcdSowAZRkb/LoUjodDwYOqhzmwWJinyIc8GxFyohsIr1TV7m0PTheDCExfEAAGCYSDhBC+8qJgQ2UGcIIfujsUDZhXoBoLKx+Vw9KI78md+03he44t0UKOV3x+sayJX1m0jd/BzxTabJutnbdaG23ryWeGj0vDHVsKEU0yy8gV4zXvL3J1G0CgyjSoLuRXj8/UlHMY9ngT3bWFhPLpjBLsWXciYwvwAAIABJREFUoQTXXB3bJ5wbWs04dg2LaXVz5jzG6D6jW0ADqZyQhpMspIFLQVxRkem95Pc4NP1kPBgypYhvJJzoZIENRjpq9cAGVRJoAc2POTVPizbv59S2Jdk4pOGE1V+rlS4STvhYsesdduxn1mVvub86/douMwIbCAsfeKdu/+9G3TvTZmx/JQ/OvdV6/3y83U3mC67HNBJdT3iqXhqedTRW45yREzQsxaIFyrlia4l59O1y6Huvy9+frJh7LaIi8+wjmdYn5oH1f7pY/2f5vKVpdi03WO1ryFVJUPS+Bv2h9/WflPirtO9nuXnjbOztR7n//2Bzx0Mjvs179GhbfqSbjDWtmQWLoIYi5c93XW68vrH59H0PfUPvbbanrp7eefXib9j/Hvuh9/XzHD+rqSd5jbsAQPHcOGYAAAAAAAAAAAAAAADAkeZCbDdcW1u1BDVQH9d0jRa5y6erfZLNSugiElUSjq02UUGrlsVro9dc7SuGNWxcvOS7d37I93FNVynH30cXK0RjASwCAgAAAAAAgErxNOdFrvQa+lW2nW6LHbOnWaEFGUV5V8YKIe8jhOiy6Gc1zdfqH9IjqIGGNGwYbaTtrfaQpUVFeuwzAOhj+cI179REumFuJj1VW7/i+G45Fp1O15WWja3CdXUEp88Qz6qSQHgHNrDvKr2DGgjrw5hhgHPBJPq93mfSc9PTDh6Nok8IAABGi8YCN1mhTDMCG+j2huj2o7EAim8AwIpUSaBjdt9EQe7S5cIZRr0byaj3HjJR33BXW3ULc2TjZJp85cOh9x4aPX+aFUHncZ0L5fGwoqFL49iqJCwVdTUqqBKqFysqqbeC46OqJOQCGdrwuVR9rrru65xytvjNeOIIarhD14AGcruIaA8LaWjXZxdN8QYh5AjvYoG0QKWoyPS+st73qrrY9b/h6NqHSDhxtNw1GkU6EAknLkVjgUtmPGctaFFlVRJ4HZdnaBhEJRVuXksknNjL5gX5rLuXd6HFk48hpMEa2Nq6QfaTC5jJhTdYvh9KC///vOFb7z4+/bPOLYsfGt6HooEIe2f7d53Ndg+fq9mrGr39fJsyI0275/5u+/rFq7rP9ygHDbQYqv3DcyWuI7Q72rfuq/I1rEd4t1+B3/c9nNodqaSgBnL7O2yKXbudioQTbWyOdBv7u9PVGJCyipt6N/jFuX/c+n7tV66U8KtPR8KJIatdp/j7k1OqJJzJ3S/eevPaRb3CGnZf/ogM7nxktX9GUEORVEnoWWtO/bqZWxM1C/OT8+6aJj23e7OhaQsh5B16HUPvS0Rv95t5Xuf3Yr49gHUgrAEAAAAAAAAAAAAAAAB40rxw6ZbDq3mSZNL9YLGT1gZwlldGJwqwBWYlFyJoXkylrjtbZzMOd91K//7g3Fv3XXHfn6aTYktofq+JRZoAAAAAAAAAdCMqcpsBAQrH4sEQXXB0TFTkIbaQy0qLs+mi3kOiItMFvyfYvlY9UZEb2Gvjad7HonbK7WtM15a1qMi54CQtVz1LQQ0F7KeFMHXadQAo0/Kghpwt6dTI+U2tu3gc31RjS+vW9NioO5MpZWwYimdEYAOXov20CBandtdEwwJERT7NMShpj6jIpyoglKCSAjoAAKDK5QU2HDG4aCJhhScVBDYAwEpUSaDjgwdwcD5v3NO4ddV/KxDOsNysu5aMejeRnz76+3958D/8lzvFylhQRhsbT88VTQfr8LFxj6cR2gCceTk0f1cRSVUS8j9n8HlTxTLE7VZd2ztnnE2m3Mv1ZUaHWxZVUwsMm4xHQAP9DNlfASENtPhgbzQWMLIILu2XPaNzm0EDigWvihalj4QTxMCxBxp2dSgSThy2cmADC7jmWdySV7FjS7BpSMNSKACKJ1sXDZjJ3beLhBM+dj+4i/VTLRsm+bbn68MPz745e99CQjBj+7vmBjtbMp82vlO//4IZ23949s12s577WkZcD42eqfv9ZInrB+0sxUJpqnrcnxXUfoLjJkb8/cleju2bhVf/xbS+sBFYn7evkp9jGYY4XF+Vg973OGyh/ck5lVtTTwv+18/PpmZq6sruZ2+/Nkre/sKupXsRyyCooQiqJDSw107BOX3rZqaupJpadB1jvdbk7aCvW39/Mv/6upfj9ewTbA5BRYXsANgVwhoAAAAAAAAAAAAAAACACxYAoGliZtrp969W6H+5Scf6W+POTTNF7PPpaCygyyKKCkYnJr1YzqTtxuxNddyxccWJnvVksu735k62vlv3tZESmt4TCScGcA4BAAAAAACgAvAutDUYD4buLApgRYFfEBV5nxEhAEWihce6REXuq4DixSXLC2noNmKBs3PBUbv+k4Z9pf/+7ZAGr9pA2yr08O9g0QiAdbAF0SsuXPNOTaQb5mbSU7X1LXrv8KLT6brSsrFVuK6WMjZcCYbZuLuRBVN4BzZoDukukpkLUQc4hjVQ+yy66LgYPEI6ENYAAACmYcGCPQYXTczJBTb0RGOB43gVAEAxBWeg+HCGNdxVfNjfnxxefp2iSkJbXoBDrqi6ZQtVVgmENgBvQQ7tj6iSsC8vmAGfI0CmHc1NYy6hc95RVzAZnYcqDmrQPaCBfBbScJD96H6vxSBptp7giMEhDTm8whpMhcCGz/P3JxVVEk5yKuRM+4kH/f3JmxzaNlUknKB9iBCncG0eENJgU2zd1in2k3vtdbF7hZZ7/dE1arec3hkanGDG9tszv2mtnZ5x/6p+3wWjwgk2ZUaaHpkd6GzK3jClH7maGdI0+27dH50bde9MW2m/DHICn3dL42heA8IBKi6USVTkIMegN9yDAqvojIQT3dFYYNBKZ8TfnxxSJSGVm9e3bvrWJ3qENdRmFsi9Y1fIB5s78v8aQQ1FYPfNDmntf26auHFRz7CGsaYWMrjzERL7588E4oTcubam4yWRcOIo5wBC08cyAABhDQAAAAAAAAAAAAAAAMDPXq0t33T6NU8qulDz8GiRe2ypSRxW5O9PTqmScIwQ8nypu7c+c2V03LlyWAN130JCuOT+vdQ1V/tkCc3vZcWSAAAAAAAAAGxJVOS9rAALL9Ns4d/nxIOhAVGRh1jBL1MWp66CLmo5JCryGVr4IR4MVdWCRfaaeNrIAt4brjT+gSNLakv53eZr9WTDaCNxz7q0PPyNaCzAe/ElAGi0VlBDzpZ0auT8ptZdPI5pqrGldWt6bNSdyRhSnMAktJhjiv2co//NFXoqdvGgTrgENrCQod0c9nfYzH5APBhKiYp8gmO4VaeoyF12XXDLzjuP168lC0UBAEB1icYCZgY2vB4JJ56LxgJ9eNkBVC9VEujY4DdtVHDTDKlftz+wRYdwhrvEg6GCRYj9/clLy69d2Dlry/vZZnBII9yG0AbgpYNDu/dbMFQdTDTmEtrXmm/NkyO7mLknc/F3jdmb1VRE9wwLC6YBDbqOQ0fCiQ4W0NBj85CGIyykwcwC9wqHNlusMDbPAhton7HboE1aPrCBBYPwCGsg7D3Zy6ltw7FC+fssNtenkNOEkGPVXrS8UkRjgTvBhpFwwsdCG3IBDpYIITtXs1e97my99fjMT3e5ybymSU162rL4of+r0681/YPnubO8Axsenn2zna7NM/o5FjLiemj0TN3vJ40KrLAQ+t7oYyEncPv7l2ef+A0a+lSBx5lXAMUbWsY/AQy0LxJOnLZgH3Eod63WdkM99+m6DQ/q0ejOT0bywxoQ1FAEFqL9fDH3XTaPp658sEWfYV0a1HC86ytk1r001T64QvBNL8e5BU9EwolgNBaoxO87AFtBWAMAAAAAAAAAAAAAAADojhUf0lSwJ+30+zMOd53Wfbjo3l3MJLZhC08ytxR/f3JIlYThUidyu8jCQsNiWp1ytvhXe8zuub/b/gtP+GwJze9BWAMAAAAAAADYFStwe4Dz7h9bq8hxPBii4yOHRUXuZgu5LbFglqFjSC+LikyfQ8UXVKIFIdjrwdACXt5PGva655xbiv29hht1ZNNIk9aQBsIKnvBaRAgARdIS1EB5pybSDXMz6anaet0XTi86na4rLRtbhevqSAWcv1VDGVbDwpIPmxTYcIkVltQLr0IwVliMOsgW3/LqIx2wyPMsBa/X7TDf3QYAANCGBTbQggevmXDIXqNhEQhsAKhOqiR0sqAGK43VWkGKXS/Qn3P/07/9TxlCyP+h836VPEbBxgFS+dd4bK7kNla0MhfmgAAOYyC0AfTGI6wBhTthybSjuWnMJXTOO+oazTgiNKhhc+b8WU92YrIKzgi3gAbyWUgDz+J8RhhhIQ19Joc0LKFFK0VF5tF00Apj89FY4FgknGjQcs9OJ/Qao4cFNliuYL6/P9mnSgJ9D7VzaL4iwhoi4UQbu7dkt5CGARQtr1zs3J5iP7nXaRf7MfUa+JqrffLt+m+cfWR2oLMpe8Pwvhbd5lNTP3n4l/V/8j7dF73bb134oOXh2Z/vqCeTmtdeGmGGNM2+W/dH50bdO6spCIywazwaSoOi24wqCfRz4NscN5Fm3/EVRVRkL8drCtx3Al15shO1ZbbnYfOKX7HYmcnNFyMbJ9Mp12JmLuN0lftcSWt6jDTPTNHwaQQ1FIEFNRwq9r5Z3cL8XNPs1CeTdQ1Fz5HP98HmdjK485H8vwouf0w0FrgYCSeOcvz8PsL61wBgIkc2m8XxBwAAAAAAAAAAAAAAAF2pkrBX683mEfeux7SGNYw521JveXreL2Jf6QRzFHvRSJUEunjxu6UuAr7l8Lao7u271nrM2dru4XM1e9USmn8VExkBAAAAAADAjkRFPpBbzMHJcDwYOqy1aVGRfWzRixUXddNxnL54MFRxi7dFRe5kQRmGH/eGm7Ud68bqnyrmd+rHa8mG0UbiGa8p5teWFhZhDAfAfKxI4IFiir7cbGhuOb+pdc3x3VI5FxczD105/447k1mwycuj6FCGQtg5MTqwYZreJ9ErsEFUZE3hHyV4wQrf/SzUimfAFg2mGuTYPheiItP+y9M6t305Hgx93yJPEQAAYEkknOgxKbCB+nE0Fqi4QkMAsDpVEnhff9jJXeEMy6+/RUWmxXDe0vn5nIwHQ58rsqM3FsjRlhfgYKdCq3aVYgW2TvMozg2VT5UEWrBc70DbnxJCJvDyqV4Z4nbfcG1tHXduFMw6CDXZ2VsbM8nhCg9q4BrQQG5fNwbZfXa7hzT0WjE0UFRkGqT4hM7NvhEPhvbr3GbJ2NiDUYEN1GW2nsZy/SJVEug4yI84Nf8cDYTg1DZXkXDCx+aVGPk6KdcwC35BSEMVY4E0Xey6t8usYMq67C33V6df22VGYAO1QGoy79Tt/51e4QX0+eye/XuhPfObVj3a09N5dyD5bt3XSg7DtLETdNzBit+tZlIlgUc/Lt9L/v6k7cOYlhMVmVd/aCQeDPEIowSbUCVB93uev619MvHXDf8+oUNTllvvr0rCd3Pz+X7d/kAw1dSiyzj+b7Zun/rHzi99GUEN2hRTk2Ilv2m9L3DFuylQ6u+f2fYF8vYXdq/0T/fGg6GL+X/BQjw/LnVbGjxnxXEbgGrixtkGAAAAAAAAAAAAAAAADjRNDp5w+nxagxqoK+7OYibwDiOooTh0sasqCYOlFt1pzN5M0wU98466VSe2fnHuH++76N6dmnU0FluUq5stogEAAAAAAACwDVGR2zgHNVDHinkwK4Z8WFTkLlZMwpQFsqugi1y+KyryYDwYGrDQfpXM7HCM2im3rzlVr7nwmHvWRe65sK7YkIacgwhqADBfqaEA3qmJdMPcTHqqtl7vYmRk0el0XWnZ2CpcV622WJ8WqbmkZyjDamhxKFUS+ti5Meq7l27nkCoJegU2dOnQxnIpq4Q00SAFFtjg47SJfaIin44HQ3Yr3MCjD6NLgAgAAICeaMGDSHipxsgRDgV6C/l2JJzwRmOBHpxUgMpWSrhiBVoznGEFXg6H4KKGx5TN35/MPc87VEloywtwyIU5WGmM3u587D22j82DHERoAxSJRz8QQQ1V7JbD2zLmEnYUM1deb3Re99aFc2ddZMEuYcrF4B7QQD4LaejlXICWt5P0ejcaCxy38D7yKPLLPaCrGHljD0ZdD9B7hYci4YQVAxv62PuKx3dvL2vfNmwc0jCANVtAbn++0c+YU+yHvqbb8sIbDJsvRdep/bzhW+8+Pv2zzi2LH/qNPjluMu/aO9u/62y2e/hczV61nLZaFz5oeXj25zvqyaRp/ciVTDrW3/p13b7ha672Sg4BWwmCaVbBisLz7CePsPs2lYjXPSEr9/nBGIaMf5eoJxJO/MBi1yeDuZCATRM3LuoR1uBazMx941d/97P/9Of/F+ZTa6BKwr5SaxrkbEmPXSw1rGFwZ4B8sHnVjJvg8uvLaCxwMRJOvEQI+V6Ju1uI7a5pASoNwhoAAAAAAAAAAAAAAABAV6ok+LROpkw7N7Vq3fYCqcnQIv9F7GtFFPQzmr8/OaBKwp5SixGtWxwbTblaVz3/dPLpozMD29/2fL3YSdmddBI6JjYCAAAAAACAzRzgvLs01KCkYrfxYGhIVOQXLFgcjBamepqFSfSV+vzMxkIaTF1M71xw1LZ86gk6sqS20GNpSMOG0UbSfK2+1M39mBaXKPWXAUAfpQY15GxJp0bOb2rdxeN0pBpbWremx0bdmYwZBaEus2KQl3LhDDqFFxSFbpMGJ9gxsEFU5E5O+2y1Rak0BOt5Tm17WIiX3e5f8SiggsI9AABgSaxo4hArEGl0YMOztGAjAhsAKhebU/fNUq/ZbazYcIbleAQHmlasil2b33V9zl4bbXk/2zgGCVYLDyvu1I3QBigk7z24n8PB+gQnoDpliNt93bVNmHBu0DxPnofa7FR6y8JH71dYUIMhAQ3kdqFpen12kBCym+d2OKMhDb3RWECxwb4qHAodtoiK3BEPhixTrJSNPbQZeF2wjd2X+r5B29PE35+8qUrCEU7FLdtVSQj6+5OWf91HwokGdu+o20YhbghpgIKiscCda1/2Ou/MC2/gfr1L16s9PPvm7H0LCcGMs7VrbrCzJfNp4zv1+y8U+7t12Vvu3bN/L7RnfmNqP3Il592B5Lt1Xxux2n5xRsexjkVjARTbXoEqCV4DghQO0n4D520Yjs2N5XWdUanhFlAZfBacOzXE5tF7No+nrnywZdWi/ZrULMxP7hr96G83TqYXVEno8vcn8R2yBhb6U/Y8+42T6RQNycg4XQXny+fMudzkzYf2klHvprUetn+V4IQjbMyIx5yCdjomhTn5AOZBWAMAAAAAAAAAAAAAAADoTdMCyVsOb8uco0Hzjehrzo6xWUej1sUilzH5tyx9bFJ+0ZoWU6nrzi2ZrMPpWu13tyx+6G9d+EAdde9MF9l+NyuUBAAAAAAAAGB5oiLv5VTcNmeaEHKinAbiwRAtYNEnKvIpQkiPxQpA0aIBL4qKfIKFUtiikJKoyLnF9E+bvS8tasNe14JjzXPqXHCSlquepaCGMpyMxgIHDXpaALCKcoMaKO/URLphbiY9VVuv+yKyRafTdaVlY6twXeW5eN8SoQxrsXFgA4/imNRpTu2WhIVZDXPsw9FAqlPxYMgWwdSiIrdxavocp3YBAADKRosuRcKJoImBDbTfFYzGAhVXfAigmtGCPGz81S7FN8tRbjjDcl4O+2ip4kjsGKXy94uN89Axnh1s3N7Igr6VBKENcJdl7602NgaU+2zmMR40izNQfej8+DGXsCPjcNeZ+eQbFtPq5sz5SplLb1hAA/kspKGXFsfjvS2OjtLCgXYqLBwPhhRRkXk0HVylsKKZDpd7T69I2yxa6LGPU1gDYe/hIKe2y2bTkAZ6zXIiGgucssC+gI1EY4Gp3Pc4uf36b1sW3sAFDRW45fTO0OAEM44WDVuonZ5x/6p+3wWtayHvnR/ydc39zQ43mV91PZ4Zbjg3p8/UPnXhmqt90kr7ZYClOYvsNQwr6+V8H+Wkvz95vEKPPa+5lietFFQGsIqnaXg+C3cyHR1nUCWB9lP21C3Mz7VMT15Me5pKSmyon59N/bMLvx2g7bC/6rLa/QirYOO0z+vZH/ROTV5MNbVoao8GNbz+pSfIWFPBW1ArXlfSe/mRcIJXACFh37EIawAwCcIaAAAAAAAAAAAAAAAAQG97tbR3w7W5qAUMo+6dxSzcHMRZLZ2/PzmsSgItkLSn2EZcZGGhKXvz6oRjQ+taj9s194v7Rt073y2y+b2RcOIEJjoCAAAAAACA1bGC/Qc47+YxvQIM4sHQsKjIP7BKyMAydH/2iIrcR/fTUnuWJy+kwRKL6dePNgbrpl2rLjrJhTR41QbiXHCUsykaxrm/nAYAoHyqJLSxoo9lF3XZkk6NnN/UuovHaUk1tugV1mD5UIa12DSwgUdYw3Q8GLLieRsoNdBao302WkzJo3jJtF3CKgAAoHqxwAba/6FFgHYbfCDo9hQaGIHABoDKoErCPguOuepJ73CG5Xhcj1r+85UVos4d1ztUSehkBeZ9eYXmoTCENlQpNm6ae98UCj1p5nCUMAZSRTLE7b7u2iZMONeeP22ECghqmM4LZzCkqGEknPCygqk9FRDS0BuNBexaoPUkIeQJndu0XFgDXQsRCSeMDmzYEwkniJUCG/z9yYuqJNDX7LMcmn+ChuYZ9RlSjEg40c3uFSGkAaoSK8xMfwZZcEl+cINPz2Nyrmavet3ZeuvxmZ/uMiMAYcvih/6vTr/W9A+e586uFdhQl73l3jvT37lx8ZKuz79cC6Qm82GNOPLb2idHrbRfBqD96L5oLIDruTWwcNpvc95MD+f2TSEqspfjfEsU9gYuarPTegdSHmAhdlZxKreW3js1+UkpYQ0rBDVQe1RJOIax6LupkkD7PN/U+3rYOzVxRUtYw1hTCzne9RUy667V0myLqMhBGjC5wr8dYWNJPIKL2i0aughQFRDWAAAAAAAAAAAAAAAAALphN8kL3iC/5fC2zDkaNN+AphP8Pq7p0jrJLYWJwLo4xia8Fj0JvGVRvVJosVFT9kbjw7Nvtr9b97ViCnN52D7h/AIAAAAAAIDVPc15YfVwPBjS9fqYBT8MiIo8pFfBbx3RMadDoiKf1jOkQi+iIu9l59wSi2YLBTU0X6snG0YbiXtWl3XIKB4JYDJWcEy3ov/eqYl0w9xMeqq2XvdFZItOp0tdt8HvH7+uavwVW4cyrMVOgQ2iIrdx+o6zXIEc8lmIVUmB1hrREKpTVg6hyrODQ5t2LhIHAABVhBa2pIEJNDjBxMCG/TYusAlQ9VRJaGDjrEZ/hvDGO5xhuaKLImlgyetRLfz9yZUCHNryAhxyRentUvjVaAhtqGBs/nJ+OEOxYSY8xr9Q3LNK0HnxYy5hR8bh1rt4YdF8mdHhlkVV6xi8lRge0EDuDmngVVzPCGlWIPBIBdy3VTiFNVgOAhvuOMIprIHkBbBYQiScsNS8Eg3o5/JgNBYYsPyegm3Rz8Lc9z+5/T7J9eN36DWecs3VPvl2/TfOPjI70EnXsRl9rOg2n5r6ycO/rP+T9+m+LP/3e+eHfF1zf7PDjDCJtdxwbk6/U7d/eNy5acZK+8UZvX47RsOcK/pZ6ucI5/ZfosFORj4hA+3ndO2RjgdDKOoNlO7vnQ2Lo3r3YTtpiFk0FhjUud2S0HF3VRLo94Bv681rF0d8m4uaM7ZKUEMObcsSz9MK9J7rmu+eiRufnL9n7cvrj31byOADj2gNasjJzRm4Cx2DiYQT9Pvwe7o8gc/rRQgPgDkQ1gAAAAAAAAAAAAAAAAB66tbSVtp5z5qF/Jcbde28WsTDT+CMlo8uQlQl4Vgpk99rs9MztdmpdKFAjvaFs60f1TyqFjl5sxthDQAAAAAAAGBlrKCxpjGSMhzj1XA8GKLFm78vKvI+9jysVNSJLlrpEhW5Lx4Mmb4wUlRkGip5wEqL6dcKami4UUc2jTTpFdJAfQcLVAHMxWvx2pZ0auT8ptZdPJ7c1XW+9hXCGlJ5xR7pf8dY8cGKZqPAhmIL22ll5e+QAY5hDRTtZx3m2L5eeBSIOmfOUwEAACgeK7BgZmDDEN0+rr0B7Iddr1stELdURoczLNeud4PxYKiiwmfZ9f1d1/h5RetzP9tsVBTWCAhtsDkWiLONFXHNFXQtd3ytmcNRWalAG1SQDHG7r7u2CRPODUXNi+fFhkENpgQ0kNvFoDtY0TteReKNMMKK9lVCSEOOwqHIYbuoyB3xYMhyxX5ZYEOfwfeJaGBDyioF+Ol7X5WEkxxCOqhnVUnoNbvQcyScsNy8kgKmWTHZQVZIH8Aw0Vggd327VNCYvX9oX7+rnPcQDUn4B89zZ786/douMwIb6slk3eMzP931Tt3+3426d9KQJbJu8Vp9YPavt29cvGSpz4YFUpP5sEYc+W3tk6MW2B0jncDnnnaqJPRw+u7OGTEgDMJMvMKkjtvj6QNvtP+rSoIdjvO+SDhx2kKfvbT/cWDdzK0JGr4wU1On6Tu6QFADtRdhDbepktDFPgO5XP8WOncfbG4ngzsfKaXp/WwMaSVHOAaAtkfCiR6LBS4CVAVHNpvFmQYAAAAAAAAAAAAAAABdqJLwcqEJkHMOT/1l9wOPFrM9pf7P3qOTIzU8lE4cfwFnUz+qJBwqpRBT2un3p1ytBX9vzNmWesvT836RzR+OxgIVX6gLAAAAAAAA7ElU5JKupYswGA+GuIU15BMV2ccWRvB8PqU6QwiR48GQ0cXB6HHpZEWWLXNcnAuO2g1XGv/APefcsvzf6sdryYbRRuIZr9Fzk0ejsQCvhYMAoAGvoIacM9vuf2zB5arTs83JWs/sZH3DzLqZyf/3n3945n9USyhDIbzP5SpooRVNgQ2iIn+XR4HReDD0r/VuU08suOppjpt41QrhU6th/cCXOTR9OB4MVf37HgAA7IcVTzSjiCct3oXABgAb4V1sxgBmhzPcQYvqEkKGs3sdAAAgAElEQVQ+1rnZM/FgqEvnNm1hWXF7X16IA+QVpEVogzWx8bPOZQEkevtzDm3+xOaHHtYw4fT5rjtb78s43LqOo5fCkV3M3JO5+LvG7M20Dc6ZaQEN5LOizwcrIKShtxKL9YmK7CWE3ODQ9HPxYMiyxysSTphxn4je7z9l4PZWpUoCLXz5OqfmX/L3J1crqslVJJyw3LwSDVCsHCwrEk74WGjDjnKCdR+f/lnnlsUP/WY9z7O13cM12Vn3/fPxdjeZd5m1Hyuh6/sSdf/iwrhz04yV9oszOv7VF40FTBv/shtVEmh/7SKnotQ5f+zvT1Zk8ACn8c6cL1l5DgoYS5UEXYtMj7naPvmvzf+ZR+DbmWgs8AqHdovGApCX5km919a599N1Gx4s1IaGoIacHyyfo8e2xyO0qYGNn/JQ7rUN92uj1c7d4M4A+WBzRzlNr18tCDwSTvRyCJ7MGYnGAmXtOAAUz41jBgAAAAAAAAAAAAAAAHpgi6EKTg647twqFLO5GdI0qzGogbDJwaAvWvzxxWJbbFlU1ZtOf3uhRUgbFy/57p0f8n1c01XMxMa9bEIkAAAAAAAAgKWIiryX82KClJHjHywI4TB7XgcsVmCMLrztFBV5IB4MDRqxQauGV9CgBt/lpn2uBcddY3PuWRe558I6vUMaCAvKOKh3owCgnSoJ3D+XN4+nRi6vv6ekz7tcKMPl9fekb3iaZq43rZv5YHNHfpGo9X/68oAlCsBYAV2MqUrCYYML8dDtHKLbXSuwQVTkBk7F785waFNvtH/RzfGcHGBFyaxqB4/9QlADAADYFQ0sjIQTxISCnrTgkRIJJ3qisUBFFicCqCSqJPAOfePBMuEMK+BRgGbFYjrVgIUQDC+fd6dKQq4Afi7AwU7FZPXiYe/dp1VJOE0IGbDYe6FqsNdjQ95r0mfQa7KZQ5ta5z2DzWSI2626tnfOOJt4FNQrGg1q2Jw5f9aTnbDya87UgAZyu3BekAYcEEKeMGP7OqHj6kcqMaQhhxY+FBX5TDlFuFdh6bCuaCxwKRJOGH2f6Fk6zmGFwAZajFmVBBpC0s6h+YOqJBzx9ycNuw6waUjDUh8YxcrBytjrc5D95AKYOtk9Tc33s9/2fH344dk3Z+9bSBS1tlEvu+YGLffZsEBqMkO1f3iuyHV9eil07/gS60uuhu7z2Br/Pk2/Z014XpWsl3NQw8lKDWpgeM25PIOgBrCp3bT/HI0FTJ9LRMeDVUlYuh5tu6GeKxTWUERQA/WiKpnS9ag6/onrF/PP3ZzLTf6/+3eXG9RA0ZDB1cZjjrDPdx7fj+1snkDFjgUBWBHCGgAAAAAAAAAAAAAAAEAv3YXamXN46qecLf5itqe67l1r0ly+aYsXtbElViTqRCkLiRuzN9Vxx8aCs0genHvrvivu+9OzjsYFjU3viYQTx6KxwFRFHGQAAAAAAACoCKyY8QHOz+VYPBgy/Ho4HgydEhV5iAUV6F0YoRy0UMEBUZG72LHhsriShTTQxfR7DHtmGq0U1EBDGjaMNpLma/U8NkmLrdOFH1Vb1AzAbCyogXuBWP/4dfXqOl/7gsu1aiCvhlCG1fhoEBD9fjH5cFqGhQMb1ixg9HDy3NL3z7vCjmILN1j+fg7tc4mKfIzj+42+D7qNCp0qAY+QDgQ1AACArbHABno9/G2Dnwct7PB6JJx4DoUYAKxJlYQGC46drsbK4QzL8QhrUDi0aWv+/uRKAQ5tecXyc2EOVgpz5oneB9iD0AZ+2OvLw4qqepYFM5iFR1jDhAUON+hswunzjTnbdmQdTpcVjm1NdvbWxkxy2KJBDaYHNJDbhZz3s4J5dg5pOEmL4kZjgWrpxygc+tVBndvTXV5gw4sGbtYygQ2s8PNrHNptKVBUUzeRcIL2ZUI2uS7MQUgD2FY0FhjK3XNm778d7N52Z6Hr13frvjZyy+mdsWJwgpFqs1Pp685tV056/tWvphwt8ytsGkEJcBdVEroMuD/SU+FHndfzO8KpXYAljYtpHmNnOfR98YJFjjTtW+zeOJlOuRYzcxmnq3alBxUZ1AAG2npz7Mr7W+5dOnc0qOH1Lz1Bxpq8euxAcLXrSjqfPhJO0M/h73F6pr1GXNMCwGcc2WwWhwMAAAAAAAAAAAAAAADKpkrCkUITGq+67ussNqzhbz3/5lfjzk0zGh56IhoLDOBM6o8tKH6x2MVwNJzjsvuBR7U8dsT10Og79fsvFNE8zjcAAAAAAABYiqjIB7SEWZZhOB4MHTb7ObNghAMmF81ZzYl4MKTbeAEL4OguJcTSCMuDGpwLTrJ+tJF4r3KtmfXH0VjguFWOAUC1MSqoIUddt8F/ef09nXMuV+Z6o3fy02bvZLqhefZKi29SYyjDWlLxYMgqCy0tgxWrMzKwgbACC3cFNqiSsFS46OcP7vlf6hbmv0j/fP+nl7bS/7ZMTTavm7nVlN/AeH3j5O+23nvxb3/vn53TGNzwHTMCqEohKvLLHPs99Ni/YMVjISrydzkENujaVwMAADBLJJzo4VRAUAsENgBYDLuO6+EUeKYHO4Uz3EVU5F4OxW1eigdDvTq3WRVUSfCxovq5n20WvU+gN4Q2lIDNOd3GXisNrGBqg4U/KwPsR0+/JYRYOaw2xX5WY3aAhqVkiNuturZ3zjibLHNMaFDD1oVzZ11kYcECu5OTYoUNT68REGwIdt1Gv/PbzdyPMh2lxfiqKKRhiajItLD+6xyaXh8Phm5yaFdXkXDC0HuBzA+sUExblYSbLFxBbyP+/iSPILglrEj8Phb6ZRf0+vAYiqhDpYqEE50suGHHWtcgmzIjTY/P/HSXm8wbHsRFgxLW+ve67MykgyxmVvv3muzsjDs7u+paSyfJZAoEetH71H1mhmqB/aiSoHAOQXvJ35+s2HE7jv1cYpe+LhhHlYQhvUPEfuh9/Sccn4Bl1orn6iT8uv2BYKqp5XPBTghqsL5fbn/wqfObWjvefHAvmahv0Gt/R+LB0KrXlZFwgiZCXOR0TUswRwDAWAhrAAAAAAAAAAAAAAAAgLKpkkAnMT6/Vjt0ocpIza6iJiBPOtbf+nnDt97V8NClYjbRWMAWhX3sSMs5XkkxAR1K/Z+9d83VvtZk0HypaCyAQl4AAAAAAABgCaIit7GgQ55oIV9LFANiIQZPcw6nKNVlQogcD4aGS20gL6Sh2+Bi2ZrlBzXQkIaWqx7iVRvo3/Pc7I+jscBBnhsAgNUZHdSQc3r7gw/99LGnPr7o26J17LYYR+PBkJULlpmCY2BDLSFkI/uzj/1/HfvzIiFkHSGkudyNaAhuuBwPhr5f7naMIipyJzsfvFguwID1hX7EoelX48EQCn4AAEBFMDmw4Wg0FujBKwnAfGw+VY/FxhBtG86wnKjINDT2GZ2bfTIeDFVVwWOe8gry72DjC20WLsZfLoQ2rECVhE423pQ7/x4WzGA3dOz1QZ33OcF+rIDOsb6U+26g43P+/qQu861ZkIuWAIONGh/nYa+lQgwL/5hw+nxjzrYdWYfT8CK+q6HFfbcsfPS+RYIarBTQ4GV9s4MVENLQG40FLlpgXwwnKjI9jzc4bPeP48HQcYs//SUmBDYshXqbXbhflQQeYW05z/n7k7oWtoyEE/S76IANQxoGorFAyfNpAOyGBarsYOENnay/eec9sDVzzitOH3+0gdy8U1jXgKAEsw3Se9R6XRNAdVAlgfc9kRH6PvX3Jys2cIDTWCdhc69wzwjuwiNchXNYA2H1AUwfe1Ulgfbxu0c2bO74YEvHU/n/hqAGe/jl9gfbDv/+N/5o1l2r9/5+aa15b5Fwguc17dL3ZDQWQDAPgAHcOMgAAAAAAAAAAAAAAACgg65CTdxwbW0tdjOX3L+nanzoIIIa+PL3J4dUSThDCNldzIaaF1Oq1rCG3XN/t/0XnvBZjU37IuEEnVyAoj4AAAAAAABgBQc478MJqwQ1UPFgiI7DHBMVmV6XhyxWfInuyyFRkQfZcStqzEhU5L3sfFoypIEsC2povlZPNiabeYc0UCcR1ABgHrbo2YxCH5f/nz1/JI967wlxap8G/yCsYRla0EqVhMNFBDY054UsbFnj7wyxbuZW054Lv32Q/tDghl93PHDur3Y9PnxhU+sE276tzjkNgBIVeZhjocGnRUU+ZaW+Hse+HYr/AABAxYjGAn2RcIIWQ6CF/loMfl7PRsIJgsAGAHOpkrCPXdearWLCGVbgtdwewV1YYcfh5dd7rIB/W14BfzsW71+Ojs3tUSWh6kIbWLCoJy+UIz+YoVJoCREo1icmHpthFs5wmfd3A2tbS/umjAvlhcoU0rA8JOKWY13dUN0fdE85vE2EkNHc329YHNXU/1+/eJXLdULDYlrdnDlv9jibZQIayGchDQfZj9HXZ3pJs+vLI9Ua0pATD4Zuiopc9JoFDYKEEFuENURjgVP0ut/AwAb6nX4oEk6YHdhwhGNhyx72HisbC2noZj926Q/Rz+0+hDRANWJFn0+tfo86QFTpLxrYvflKDR/MWfos8Pcn8VkARVElwcu+p3k6WOFBDR2cghqIXn0cAA0uc/6upH32wxY4EXT8t3vzeOrKB1s67vwlghps4/TLf/TsfySEfMxhh4NsPGw1RziOTbWztns5tA0Ayziy2SyOCQAAAAAAAAAAAAAAAJSMLWR5ea2JxhnidifdDz6WdThdxWznbz3/5lfjzk0zBR42TQh5AWEN/KmSQBekfbfYSeUj7l2PZRzuOi2P/aeaxy/8tvbJUQ0PpYajsYAVJuAAAAAAAABAFWPF/XkukqcLJX9QbOiAkURFtkphsuXosTsWD4YKhj2y8/g0p4I8uskFNXg/8fg2jDYS92xRw22losVBOqKxQMUuiASwMjODGugCSFp0T1Tklzl+Ph6NB0MIbFiBKgl/SAj531joQu740//S8fZaq39nLXet2Zv65faHhr1TE//2T1/+q/estXdrExWZFmp7keMmTseDIcssoOfUt7scD4a+r3ObAAAApouEE12EEMWkgqBHaVEGXK8DGIvNlevhUDy2WBVfMF5U5Jt6f77GgyHuqbewMlbwPxfg0FkBxf4r6j3I5ob6loVs+Ow2/lSGHjbepqefEkImeOzsMqm8cIZLKLyqD9bP7zHic6p14QNN33X+zAWvN3P1zKNzA28XeKjWz9diP4ctFdBAbp+nDlaorsfmIQ1HWEgDru0YUZH7OMzBOBMPhrp0bpOrSDhh9DwMui7H1MAGVRJ4nPucJ/39SaXUX7ZxSMMJGgBigX0BsDwT52YYYZB+HrDQRYCiqJJA+6vf5njUTvr7k8FKPiuiIvdyCqUaiQdDHRoeB1VGlQTa731Cz2f9Q+/rAue5U9RRK/RdVUmga+i3/XL7g0+lPU0dCGqwDdrXGSC3P3cvsoADPZ2MB0Nrfl9Fwgk6TvUjTgcMc/kBDIKwBgAAAAAAAAAAAAAAACiLKgkFCxKOuYT2cedGoZjtjDnbUm95et7X8NDT0VjAMgVsKp0qCUVP+k87/f6Uq7VTy2MXSE3mzYZ/986so3FBY/M0qKNiFx0DAAAAAACAtYmKXDDEUgevagkbMBsrYnyAFVmymjOEkL6VAi9ERab7u8+i+32XmllX8+bhlic2XWze6hmvMXLTX4rGApZ/DQJUIisENRD+wUSpeDD0Aqe2LUmVhNyivQ72Q+X+zmuBgp9GWPpuJoQc9/cnL9phh0VF5v1+PBwPhixRTE9U5EMc+kaWCqQAAADQk8mBDbRfFURRBgBjsGLz9Npgm8mH/Ji/Pzlo8j5wJyqy3oUw0vFgyGvBp1q1WEBALsRhj02DAWwT2sDCZujn18ZlgQxmf6ZZwZ9z2IefcGhzmoUy0DGkc3QcF8VW9RUJJ3zsu95q9w3pZ0xfNBYwfPyQ9X+IVQIayGchDb0c71sYYYQ9h+O4nvs8Nh7/Goem18eDIVsd70g4YfS9Qvp584NoLGDK94sqCfT9/TGn5o/6+5M9pfxiJJzYy9bQ2KW/ipAGgBKVsmbO4pb6kQh1g1KpkkDvf7zH+QDea5d5I6XiVDSc+k48GDpizLMAO+ER1kDfqz/0vv4YCy/jZZqtFzd1vEuVBPocD3ywueOhyTqP76HRj04hqMHy6PXenesfUZG5BA1pCQSPhBO8PvOpl6KxQC+ntgGAceNAAAAAAAAAAAAAAAAAQJm61vr1DHG7JxwbWovdxBV3p9bFawM4gcbx9ycH2EQ7zQv0mhZTqevOLZmsw+kq9Fg3mXc9OjOw/W3P17VOBKUTX46Zf2QAAAAAAACgSh3gHNQwbIegBnJ7AQIt0HFYVORuFn7A87gUixa9fllU5IF4MLRUxMzi4RKf40nXLjzwj5uf9ozXNhu86e8gqAHAeKxw2gGTghrOsMX6dxY9xoOhU6Ii8ypA4qNhEHQbHNo2jCoJ3rz7JV0sdCH/7zo4LsKzI/rd/CP6o0rCybzgBisXSRpg55NXH4f2nw5zartYPPpHKAACAAAVi143s8CG4yYEb9HtKZFwAoENAJyx+VI9Jo970kJFr1RDgT1RkYMaHlYsjHNaDAs4SLFzQ+cl2q0ILmHjd3tUSaChDaes8P5UJYFe1zfkhTH47HIvxCRbOWxWr/COYRbOQMN1z9khFMTOIuGEFe9xUoOs4LYphQotFtJA+wcHCSHPWGB3SrUU0hCNBRBsuzaFU7tdHNvmgr5WIuEEMfCeIe03HIqEE4fN+NyhhZrZfSO9C8tSz6qS0FtMMWgbhjRMs++NQbML3ALYFVszl7J5KFTOCfp8rLErYGO8gwBeqoKghv0c5wvhugJWM8ShT03nvp1g11W8+sceNmfS7Nc2Hes9cO/Y6DmENFjeavfNFB5hDfQzPR4MHS/wsF5OAZTUwUg4cQTzAgD4cmSzWRxiAAAAAAAAAAAAAAAAKAkrGPWjtX73unNr603X5u3Ftv9XDZHTs47GhQIPO43FCsZji/kOFbPhq677OqecLX6tjz9VJ50dde9Ma3gonUzxAiaTAwAAAAAAgNFERS76+rgEL8SDIdsVXhEVmS7ECZlQoFCLYVYkx4wC6KVI+c+vO/eFX97zY0JIi8HbPhqNBXoM3iZA1WPj7oeKCczV0Wl/f3LFMXcaqMCxIEEqHgy9YMQTLJYqCR1ssSmVKxSZ/3ddJnw+V7I3WJFjSwY3iIq8jxXl4eWo2cElLNDqRQ5N27JfCwAAUIxIOOFlhR/MGA+hoWs9CFwE4EOVBN7XAlpcZgVnKqpfLSpyftDh8iBEvQsxvxEPhvbr3CZwYNPQhhx6D2KAd2iDKgltrHjZDvbf/GAGKA4d53tK52NGC03+XZG/k8oLZ7hUDcE8VhEJJ3wskMlqoSb0u78vGgtYJizBLCykoZdT8XajnGQhDbYKCjCTqMgXORS1fSkeDPXa60jcFgknegye40A/g0wJbFAlgb7n3+LU/I/9/cmDhR4UCSc62XcDQhoAqhS75jpkwSAvLZb6kVYK3QJ7UiWhh2OxacKCzLqsODdET6Ii93Gab4WxTlgVDSkjhHxP5yP0pL8/qbAA++c5H316LWLq2Bj7DLTLPPNqRcdTX12pz8PuPd3gcFx+HA+GtFxT8hjTyHkpGgvYcmwDwC7cOFMAAAAAAAAAAAAAAABQhoKTDSacG1uLbX7M2ZbSENRADeDkGY8uAlMl4XQxk002LF5JFhPW8PDsz3eMune+o+GhHrY419TiRQAAAAAAAFCVQpyf9Am7FrRl+/2KqMhdbAG7lRauWq3QymroYvqBL//lF1Ks0KPRhcBpkceCC0oAQF9WDWogtz/bT4mKzKtIno+GQRhZpF6VhC5WBHJ5IUgv+7Odiz7Z2TPs5zVVEqwY3EAL3XRz7Ns8bYH7HTz6StMIagAAgGoQjQVusiKiZgQ20O3RAilBBDYA6Iddp/dYIJSWztM65u9P2qLopqjIy0MOvSv82Yzrbnw+2oS/P0mvjU/ZNLRhKehblYSyQxvYZ9A2FsTQwNpuMGnssJLxeH0VGgeZZqEM9PVxjhZTtctnfKWJhBN0rG+fBYvwnojGAlU/R54Vp+/lWNzOCAhpKJ3CoahtUMNjLCkaC/SxcBmj5jvQ/sahSDhheGADLQCrSsIZTtdhPbRw7Wr3nVhIwz4bzSshuetFhDQA6IsW/VUl4TAbF7LTNdgJf3+y6vuRUD5VEugY3hHOh/JgFQQ1eDkFNVCrzvEC4Ineh4yEE7z66zn0+/cFk0/kEMIaLG0pYHC1MdV4MHRTVOSTHO5F7dc4t76XY+DRwUg4cYTOTeDUPkDVQ1gDAAAAAAAAAAAAAAAAlGPvWr+bdvr9GYe7rtj2L7q7VA0POx2NBVDYxTzH2GJaTQuUarPTM7XZqfSco0FTYcF6Mln38Oyb7e/WfW1Ew8O7EdYAAAAAAAAARhIVuZvzQswUKwZsa/FgaEhU5BdYMaVuvEg1mWbnfvDLf/mFThODGoJYyAFgLCsHNeQ5wXERsS5F6lVJyBXaWakwpNcCBTZBu/zghqMstOG4mccvHgxNiYp8jOP7gAaX7IsHQ2YW0NjBoc2SC1MCAADYDbuW7oqEE30c+wyraUFgA4B+VElos0hBPhrSYPpYsajIuevt/NDD/D932KCQMsY7baZaQhtUSaCP3cieXxubk2mnAsF2x+N1NbHs/4dZOAMtInbO35/E3GeTsYLnPRZ8r9HXSF80FrhkgX0xTYWENBxlIQ0XLbAvdsUjrMHuQd2vGnwvkW7ngEmFgI9wKmzZwgpr9ub/ZSScaGPP1W4hDQNYUwXAT15gg1nzOIoxzMaQqrofCbrq5Txn8aTZ8z8M0sNpMyPxYKgajh9Yl8z6zrzCL32RcGKfmUGW/v7kkCoJKZuNSVcLOse9T0P47XEO4wDtNLA8HgytOd7DAhd5jW2teF0LAPpxZLNZHE4AAAAAAAAAAAAA4CYSTuQXQsk3hEJPAPamSgKdZPDyWk9ixL3rsWLDGhZITeb1xr/QUpDpcDQWQHEXE7FFkJoXQdDwjpSrVfMEdvpaGPT8r++OOzfNaHj4D6p9cRIAAAAAAAAYQ1TkBjYmwmuRCfUqDTqopFMqKnInW3yGhSuro4vpj9FC0JFwogtBDQDVw+QCkEUVfRQV+WWOn+VH48HQ5+4PqJKQX/wxF7xA5Qcz2LloE2iXZgspTQ1u4Pw+oMFNL9D+AKf218TpudH+je2DyAAAAIplUmADYX2mg7QIBE4aQGlUSehi1+k8x4ALodcGr6xV4L0ctJhM3tzelQIPc382enySpyfjwZBSQc+n6tg0tCFnmAU1t7H9zw9mAHPtI4Rs0XkPfkgI+Xsa0MDrcxxKFwknutl5t9r774SZRQjNFgknvKzQ3EEb9z9y49cIadCBqMi0L/oeh6Zt3SeMhBNmhL+fNmOMQZWEi5zu/434+5NL1z8svId+J+zhsB1e6JwOGSENAMZSJaHHop8V0ywgEPdiQTdsbJRHPyzfvf7+ZMX3mUVF5tWfeSkeDKFIN6xKlQT6+viezkfoO/7+5JHc/7DxlQOcz8ILZvZ7VUnYx8ajwTpO+/uTmq5POY4rPBcPhgruAwsj5RFCSNgYVAfm+gPw4cZxBQAAAAAAAAAAAIBSsEJRXvaTK46Sv2CrYNJ4JJxY7Z9GCCGrTbSgN43WKlK26qTZaCyARVYA+upaqzVamL/YoAbqmrNjTMPDhhHUYD5/f/KUKgl0sqmmAIaWRVW96fS3a31duMm867HZ452/8ITPang4ndyDQgMAAAAAAABghAOci3cMV1pQAxUPhoZFRf4Bu4bH4pW70ZCGgXgwtLSoCEENANWFBTUcMqkw1FE6zlvk75zQq+Ds9mujzcINtZn+uevSh1tqMgtfVP/v/5BYFsxQSUUhoXwt7PX3rCoJZgY39LH3LQ8e1lc6ZvTrRVRkH6eClwjbBgCAqhSNBXoi4QS9xv62wc+f9pleo3PzENgAUDyLFN+5zIIaiipCxArPLA84zP8z/bfd+u2m7aBoss2xcaxTNg1t6NQ6zxIMp3dQA32t/gVOo/Wwgtw9Fnwv0u/9vmgsUJVjaJFwooOdF7uHNNCClUdwn1U/dM6EqMhpDq+L4FrrzqwuGgtMRcKJwwYHNuwxaYyhj0OBWar9o9CXvvXKuv8yabOQBrp+agDrqADMQYsCq5KQsticN/p50Ffs+BGABkc4H6SXqiSooYtTUAPBGlrQgMccdG/+/0RjgcFIOLGX83UJHS84zLH9Qk5hvrulFDXXleO4wn4tn8P0GjoSTvRy+i5oYWNpCO4B4MCRzWZxXAEAAAAAAAAAAADgjkg4kVuUlR+8UA0Ltc6wIIiVXCw1PAIBEVDJVEl4ea3FbiPuXY+VEtZwqk46O+remS7wsMOYZGwNrJDYi1p3ZswltI87NwrF7Pyva/e9/3FNl5bJo9+hCxCseaQAAAAAAACgEoiK3MmxMG/OC7mi/ZVKVOQ2tojGqOIBVjXMQhrujHMhqAGgutgwqGGJqMhr3h94OHnOt27mVl3zzFTtfddGlx7nm0w3b5gaXwpmaLuu6l4ADapemi2CpMUoDAm9EhX5EOfCbob3CUVF3qtXGEu+eDD0r/VuEwAAwE4i4QQdA3nNpF1+DoENANqoktDAxizNniNLg12P+fuTU6Iie/MCDfP/nD+/F0GHGsWDIYctdhQ0Y6EN3bjXAGWg45Xf0PkApv39Sa+Gx4GBIuGEFcKYVnIiGgsMWG+3+GMhDb08xiMNNMLGpRHSwImoyDSo+RmdWz8ZD4aCGh5naSyA5rsG32McjMYChgVNq5LgZWv5dL/eGXduSr267if/Xe92OUFIA4CFsOtQs/sv0/Rzwd+fHLTUwYGKoEoC7/sZtA/d5e9PVnz/WVTkPk6fFxXRnwW+VEmgr5G3dN4IDVq5qzB8JJwoam15iY5GY4GS5jjqQZUE3vPDoLDpUi4R0IIAACAASURBVOcEcvosTseDIU3jv5znCdD5kh0YkwLQnxvHFAAAAAAAAAAAAKDyRcKJ/EVaXWzR1vKFWzxSue1krQV2T5T6PCLhxFr/XGpAxJrhEdFYwJACJFDdWAGpVQsx3XJ4W0oJapghTbMaghqGMdHYOvz9yUuqJJzQuohp3eI1tdiwhgfn3rrvivv+9KyjcaHAQ/fQRQDWP2oAAAAAAABgYyHOu36i0oMayO2iWJcIId8XFZkWUdpnUpFyM10mhMj5IQ3ks0UZR0workYXM/VY4sgAVBE7BjWwhZzkf//CrvFZd+1T9M/bbqg+z/xcXf38bO2miZur3jcA4Ix+d36b/qiSQBf3HzcguOEY5wXHtN/5Csf2V8KjuCXu6QEAQNWjYQlsDpkZgQ2vRcKJIK77AdbGrtENCZcdr29snqz3NN/+c5Nv3uWqXfqzp3Hr3z/w6NV3hZ07lj4vFBlnTV8jlfRk4DY2vnVKlYROdq8BRbOgWM0cjhjm8VsIKxpoxQB5OmZ2LBoLXLLAvhiKBdcfrICQhl4E4xlC4RDW0KXhMZYXjQVSkXDisMH3Grsj4cRlowql0iLOqiQc5/F5sW7xmu+Lc/+49f3ar1zRu20dpVioj2mFaQHg8+h1qCoJl0yc60HXI8v+/mTFzy8E47GgpF7OGz5YJUEN9Fju59Q8rkPAMui4RiScGGSBurwciIQTQ9FYYMqk530a486mokENh2kdgxJ3QuFwTdkiKnIwHgwphR7I5gn0cqrj08LG2Hh/dwNUHYQ1AAAAAAAAAAAAANhYJJzoYEELVJD9N//vSg4ZAEOYERBxco1/GyoxPAIBEdVpz1rP+oZrc0k3jlXXvWMaHjZQ7QffggbZa6JgIa7a7PRMw2JanXK2+LU+jXoyWbd79u+Fd+r3Xyjw0G6ENQAAAAAAAAAvLFiAZyGPVLVd18aDoUFRkYdYkZRqWMySYoEcn1tMz4IazCjaiKAGABOokrCXLiQ0YfH+5xavscXW+QHvK917vGvM/8sfnTVshwFK0G5EcAMNnxIV+XShe2Zl2C0qcufycCfOdnBoHmENAAAAnxViuMj6JkaHND5L55Ph+h9gZaokdLHxyZKv0a94N26l/513umvHPY1L86cWnK66qbr6pT/Pumqa5901Tav9/pzLTV7/0hNkrMm7BaeJm9Xmv0IF8Pcn6bXnYYQ2QAl4hM9iTr1FRMIJ+nnwtMV2i47RD0Rjgaqb60xD5FjxODuvcaJrcfoQ0mCogoUPS0CLKnbFgyHbf16zwqhGBzbkxhiMChDo5RXu8sjsiQctGtaAkAYAi6PzLVRJOGxwKNg0j3veAMsc5FRMOuekvz95vEoO+n5O94LS8WAI1yNgNSfY3EMe42yEXevQ8Z1jJj3vIZPmeQIhlwkhr5QZUnWc09z8/UWMWfRyXB9wMBJOHInGAhUfhARgJEc2m8UBBwAAAAAAAAAAALAYNhGZyi+O0sX+31ugyD+A1awVELHWjcg1wyOisQAWz5lIlYSXV5s8ccvhbVHd23eVsndK/Z+9d83VPrnGQ1LRWOAFix+eqsQWLj+v5bmX+hrR8PqgXkWADAAAAAAAAOhNVOQGQsjLnBdbvFoJBQFKJSqyWYXLjUAXzB5bKaSBIKgBoOqwoAYuRUWWaWY/hI3nOwkhvyOE3Mf+rsuEIrEAZqLBDUfoIkx/f1KX+4yiItP31nc59l+G48HQYU5t34X1d3/Eoemq7uMCAAAsFwknuth8KTP64kdpwQYUawD4jCoJKxZxHq9vbJ6s9yxdU0/V1DdN19Yt/flWnceXcTrr6J8n6xp0CVYYa2ohx7u+QmbdtTgzfB2NB0MYC60SCG0ADWjABw20/Zfs3pSeXvL3J3txEswTCSfaDC6cq9UwK/RfToE522H3QXsqIKShNxoL8AgOgAJERb7J4Rr6O/Fg6EilHHv2uWdkYANhcw0MCRNQJaGP173VvubDP1Vd2yd4tF2Cqg30AbArVRIa2Ocv737nGRbUMIUXC/CiSkIHIeRjzgf4Xr3malidqMhDnOpA/DgeDB2srKMFPKiSQOuUvKVz02/4+5P7V/oHdv9T09ryMhyOxgLDnLexIlUS6LjGHjO2XcXouX5Vj/4Pp8/kM/FgqEvD45ZEwomLHAORsBYAQGcIawAAAAAAAAAAAAAwSCScyA9e6GA/VDDv73jdZAGoJmkW9LAaBESUqVBR/svunbvmHA1FT4ifdKy/9fOGb71b4GGGTeqG4qmS8E2tkxZG3LseyzjcdcVs5IZzc/oXnvDZAg87E40FXsHpAwAAAAAAAD2Jisx7oYVhhXitjBUJ7qmgwGK6mJ4upB+MB0MrLhhBUANAddEpqIEWh8+NreYKQ+YHM+hSLBKgwi0VtNAjuEFU5BWLu+ro6GqBT3oSFbmTFRPR23dW6wcBAABUK5MDG2g/KIjABqhGoiLT9x6dx0uaZ6Z+/3+O/23X1vSYMFVXT6+zyYLTVTtTU+cz8tB8sLmdDO58BK9HY7wUD4ZQPL3KILQBmFReOMMlf3/yTlE3VRIUDgXkn/T3J1HQ3SSRcIL3WF0pqrL4NrsH2mvzNVI08O5INBZAGK2JREU+Tgh5Ruc9eCMeDK1YZNSuIuGEUWHx+Qwplsqp0OySEfeu4Z81vWT29/adeSXRWAD3UwBsiGMBZ/r58P+zd//xbdz3nee/JCFS1C9SpmTYlj2inIRWEsehjdio5GwEV71es2c1yu0DRtLN1vTlsNekvUaB9/Z6PucR+ZKH748+hCh9PDbZO1w20uO614WwPcuV2lzSsh41sRU4hi3K2cRmEouEJDsjiTYpSuJv8h5f+gtlRIMkCMwXmBm8no8HHoQgcDCYATEz3x+ftwxp4FwE2llRQ8c5l13dBBuGzbTO4It7s5EY3wkoiRU1nC40fSKYyUcW+89EPFfy3PIynUumQl/TuPxFWVFDBuQ9WYvXrlMng5n8IafeethMy+PPVzVsyo3ZSKykPvdEPCfbIJ7RsA4F26iBAjgnwLYEAAAAAAAAgMok4rliwQv2YIbuGk2sBOpV2zITZ8qeVJOI5xb7r0EZ5rDI/w1XEh7h0snRi6b9X21obysnqEE6G/iwtcxThghqcL20mtjYutyKrp+9dH646ZY7V/KGNs7+uu3uyee2/LT5ofNLPO2jiXiuI5kKDXl+awIAAAAAXEEVrtUZ1CBUseC6pwr5fktt8x5VkNyr5GT640sVJyaoAagvJQQ1FEIYmm3ff8UeA1A5OTn4G/JmRY1KgxvkMX93KX0jZZLF5arRP3aXhmWeI6gBAID3koU+1ZhDswaBlfL1zEQ8R2ADPC9spu3jdO3jeO333zN+d9OVYbH7tZdEYG5WXNhwU802Q+/2kHjtls4SngmHUMSsDqmi/AcIbagrYyqUQe7712XbRDCTX6ptQscXMedYNZCI5+5QfYu3u2zV5GfxUL2MaU7Ec/L8bJ/aF14PadhPkTvXOKWhcPCiBUa9Ss6zUfOdqhnY8MVEPCcDG87qfBEZgmRFjRMaApbE1unTXetm337hSuNNk04vuwSENAA+IYsJW1FjyOHQsPlxZ8tczwCOUMFIOoMa5Nzrg3W0t/ZpWm4fQQ1wuZLnlpfpdhnSmUyFjlV7MwQz+bPqWM/4Tf3k+Y/T+9jUFNawt9T5H8lU6GgintNyXavsV+1xABzQMDfndOARAAAAAAAAAPhDIp7rVqELi03o0tUZAgCl0BIQkUyFlgqPmGdFjYOLDZj4ddP7uq41tgXL2YPfb/2jn1xu3Dy+xFMOE9bgflbU2FPKANMZEQjkA3c/MNfQ2LSSNzUtVs383Zr/8cWJhrXTSzxNDlg/4v2tCQAAAABwg7CZ/ormwh6yoH/VJ4+4XdhMr1FtDLs9tuonhRDHspHYkkVXCGoA6oea1Px78qtN5tiqN36b+in/vY6PA+Aaz8rQBhXcUHJhvbCZXi6MpVLazxfDZvpxDUUrT2YjMULJAABYhCpkWovABkkGVvXI4Aj2D9wkbKYL43aFGrdbuG8vplr22N07L56fD2ponllq2JFek00B8cy9u8Slde01W4c69VA2Elt2bCT8jdAGX+pX4QznZDhDMJNfUUF8K2o4XnAnmMk3+HqLu0winluj+hKdLIzrBFmA+1gyFer1+jYuhS2kYd/CoCwPGVEFZA8R0uAuYTMtrwWe07BS9/qx2G0intPdX7GQ/L7THthgRQ1t4yt+2vxQ7m/X/GlOx7KXcFIdJ+oizAeoF1bUcOI7WH4vHFLhg0BVWFHjlOZ+ik8HM/mj9bI3w2Z6WNN10WOMv8BKaGj3OhHM5JcMvpNhCprbaOT1x9dqcR5tRQ3Z/vRItV+3Tgyp28lgJq+lhoSm7+bD2Uis5PH4iXhOV/tGwTbatABnENYAAAAAAAAAoO6ojgyxIHih8Fh7jSY/AoAX9N0+/fPp0MTx2xau6yoxMRqYmxq72ti2ZeH/NczNzTSJ6YnF3l9ATF690rDx6vfW/MnLS2yDoWQq9ASfEm+wokZJRSzLDfd4q/ED1o9aP7PUwNOxZCq0z/tbEgAAAABQa2EzrXtyxVA2EqPNYwlhMy2LJsU0B2Y4QbZVHMlGYssWISCoAfA+K2rYw96LBcB3e7ggEYB3rSi4IWymnxZCdGjadnKy8RPZSOyarn0TNtP/h4bFykmpBLEDALAEVdT0aCXF5ysgi5FGCGyAbqq4qlhw3Wy/L8fxbtW9Hvef+Zl4YPDnNd3fl9a1iaPdnxATgeaarked2piNxEoO5YO/EdrgSWMqlGFI/TxbafFSFbLrdHGsvmAm313C8+CARDwn/4Z7NLbJlatfFfz3fQHuRDwnz+P2CyH2+iCk4WAyFeJcwaXCZlpHgTTfFrtNxHPVLiJarcCGAR3XjtMNzZMH2tLV+iwQ0gD4nBU17hBCyJD81jLeqQz6Oh7M5LX1CQMLWVFDzr/8hsYNs2xxdz8Jm2ld40LldUsn7ZtYiVqENYh3r0dKmltegf5kKnRA4/KLsqJGh2qHckqhvVOH1zUt95xXz1PCZlr2x3/K4cWOZCOxFSWzJ+I5U+O4AOYIAA4hrAEAAAAAAACAL6hJi0sVRKnKZC4A8Lt7J74nbp5xPlj/p80PifOB7fLuFSHEqJpQJQMe3lI/v51MhXr5gHmDmsz4+HIrO9awft1bgQ/cW86beqElevp8YPvIEk+RAwsoAAQAAAAAKFvYTK8RQjxd5uTJUh3IRmIVFZOpF2EzLQsnPezCtyv337FS92MinpMFS76qf7Xe48vJVOhgDV4X8BQrahQLe7c/VosCqgBqb9ngBhUwtWzfSAV6s5HYER0LDptpWTTkSQ2LlgETFBwCAKAEiXhOFgV8tAbbisAGrFjYTNuvkwvjdRfed831c8v0pNj985fEtqG3aroer92yVfRu/1hN16GeZSOxhnrfBngvVURTFjPeweZxjXO2QAb585KuImBW1JDF5Z9xeLF1VYSyVhLx3BrVZ7jbZasmi+wdqYexy7aQhlpcwzhlUL6HZCrky2L9fhM20zqKGcqwYd8WMUzEcz1VPseZD51OpkLaCnfqLCb9/OqY+aPVn9E5dqdfHSO0BloAcAd1rdmzgkLV8trnUKWBdMBKWVFDtuUOaA5e2xbM5J2fjOxSmoqBC7+fu0IPDWENI8FMftnC9CpcU+f4KaHqDdC3iZJpDNO5NxuJlfxZTMRzOgKE7bYlU6G6Oe4CuhDWAAAAAAAAAMDV1CBeCqIAgAsE5ibE7rH/oGVFelv/OzHd0LLc0/qEELIAjql+yg7sU8lUqGhRHNSWFTVKGuB/LrD9nsmGNSse1Dcu1k0cW/vlF5dadDIV+hofAwAAAABAudTAfJ2T1/uykdi32EGlC5vpDjWZtcsFqyMnyh7PRmIlF1ypYeHFxyg0gnpnRY1iYe/2xz5a79sIWInZxsbZxtnZxjrcaCO20IajC/8zbKYf13yeoiX8IGymZWG7Rxxe7Fg2Etvn8DIBAPC1GrYbCNoOEDbT9sLShfv2a2hPXjtvujIsdr/2kth0ZaSm69G7PSReu6WzhGdCkxPZSIzi6ViUFTVk38MeQhuqZkjdZCHSa4VghmAmX9XARytq6AjXfiqYye93eJmwUQX/ZF9hh8u2ixzjfkhnkXI3UAXl9nt8HhchDR4UNtM6vrMHs5GYr0/SaxDYIEOXDuj6LvzHf/mvbt0++fyvmsR0q9PLHmvYcOUv2g7/P04vV53vHEumQhRgB+qMFTXWqELVywU2HA9m8sf4fKAWrKhxUAjxJY0vXVfXyCrk+IymxT+UjcRMTcuGT1lRw/HQu2AmX1IociKee0RzyKb2sDj4i8bv6C9nI7GDK/mFRDynI5Cy4HAyFSLcB6hQgA0IAAAAAAAAoBbUIF1BQRQA8I7gjJ6xQheaOksJahC2Y8MNndCJeE7+OGELcJCp/wPJVIgBSLV1RB3blxwMv372HWuoaeVhDavFlZb7Jv5u68st/3xwkafcnojn7kimQmfdv6kAAAAAAG4TNtNdmiety4kiaXb8yqjixAdUQeE9y7U7aCL33ZGVhDQIghoAbayoUSzs3d4PSZ8jsAJTTYGpycCqKfkbY6taxmcaG2dnGptmrjavnpCPXWtePT7d1DQj7wdmZpo2Xxluu+nqSNvqqcnVdbKd29Tx/FErahQLbpDH3Kc1vn5MCKEj7OsuDcuk8BAAACskCyck4rkBDQUoS/FdOf6GNgT/CJtp+9hc+zWz/X63Osf1pTsvnp8Pamiema7Z25tsCohn7t0lLq1r9+tmBnxBhQQcsqLGMUIbHDNWCGFQt9flY8FM3k3jOXUU6B7QsEy8288mi90+rLnQXznGVEjDKT/vp0Q8t1cIsc/jIQ0nVEgD8wu8ydRwrbxVFmvMRmK+/e6W1/hqrk21zm1kQfLHE/Gco4EN6hiwW6zZt3tONP7s7snnQk4tu6B17vK6D03+020/a/7Emw4tUgZXpAlpAOpXMJOX34Nfs6LGYsE58nvikMuukVBHrKjRqTmoQY6nWFHxah/QVRx7kKAGeNBxIcROjWO8W1U70RE+HCiFvPYPm2lZi2CrwxtsbxnHOxlk9JymHfdoIp6T7V+0UwMVaJibm2P7AQAAAAAAAHBEIp5bbHKXvUiK0x0YAIAqeWDiWbFxxqmxx7/x0+aHxPnAdl1vYsQe4FC47/dJMW5hRY2dpRQhPBPo3jnX0Ni00tWeFqtmels///Llxs3jizzlJIUEAAAAAADlCJvpr6iJ5Locz0Zix9g55Qub6TVqglu1CrHLYiu98paNxFZUWICgBmBlrKixWNi7vR+SPkdgZWSRh4D6jUJnz+iF9RvXj7Su23y5de3VSrbn6qnJVRuvja6vs+AGu+vBDb//x3/errnw0YFsJOZocZ+wmZYBEx1OLlOFW/U6vEwAAOpCIp6T7R3frdF7/XIyFaq3AkqeETbThWtkYbteFoQWvtf9Z34mHhj8eU3X4dK6NnG0+xNiItBc0/XAvKeykdh+NgVKZUWNDkIbStZvC2aQt2vBTN4TRYmtqGFqKDz/UDCTp4CiwxLxXJfqE3S6/apSfSqowbGC5G6jrk32e7xP5llZNI+QBu8Lm2kdRdIey0Zivu9PT8RzX6zytaIsQF5xYMP1kIZ3b/NFXoMzb6zvGX38s46tqc2lpjve+s76v6h0HI8MqTqeTIVecHTlAHiaFTX2qILSBceDmTzjBlFTmq6J7R4LZvJ1NW4xbKYHNF07fTkbidFvgxXT8XcezOQbSn1uIp6T/Vhf0LznDhCQhlKFzfRBTUFFG7OR2PBKfiERz+k8Dh9OpkK6AoSAuhBgNwMAAAAAAABYTiKeKxa8sLBIShsbEgD8q3VuVEtQw3RDs86gBqGOT7sWdlon4jn5Y9AW4CA7wk0V5DCgc4XqSTCTf8GKGnLCYtdSb3v93NvnLzdsMla6aQJiqumBiaNd/9AaP73IU3Yk4rkjfp4IBQAAAABwXthM79Yc1DBEUEPlVGDCt1SRup7C5HxNelXAxorbGAhqAH7DihqLhb0XHqPPEVi5E+o3hlV/h7D1ewwHM/nr4dVW1OixFxmcbmoKnG/f/MBsY2NFQQ3S+KrmqbfaOt6WNxnccOvIJXHT1csbXVhATZc2dbx/9Nl/92/zP9n2obf/7u4dv3rZuGtIw+vJYh4HnFpY2Ex3aNpPZzUsEwCAuiCv59W4lloENnxDFk+hgEP1hM10sTG59mtlAgtXoGV6Uuz++Uti29BbNV2P127ZKnq3f6ym6wCgfMFMXl7PH7KixjFCG+bJgsvXVDDDNXXNfy6YyXt9XKaOYlinSngOSqSKdD+sinS7yZgKafDl/k7Ec/K8dK8PQhoOy/fAvABf6dMQOCCvx+qhT12+x8c1j4Oxu12N4fhWuQtIxHM7hRCPLBwHYjXdOToYuKd/6/TpJeenlGPTzNlbt02/0nEmcG85fTuENABYlAxmsKLGkLq2PBLM5OlHRU1ZUSOiOajhRB0GNezVeP3EGFB4kmw3ScRz/cvNLa9QTAjxNT4hKJGpKaxBHlePrvB3ZLvbcxrWRXo0Ec/RJgZUoGFuTkdoLAAAAAAAAAAvUInk7UtM8tLZ2Q4A8JCt06fF9snnHV/hNwN3iVebf9uNG6LPFuBQKHB0KpkKDbtg3TzFihp3CCGeXGqdJxtaV58LfPD+ct/XS817fnZmVfdig+JlWEOvbzYoAAAAAECrsJmWRT+e1lz4/0A2EutnTzpH7TcdxVpOCiGOZSOxsgotE9QAP7CiRqE/0a7Ux+hrBMpXCGEYUDeh+izmHwtm8mVNprMHNlgbbgqe23izlgmxH3rzzE9apybGZV6zrG+jJt7WXYHZy6vXXvkvt20b+P6Hf+t1h4MbDmcjMUcK/qjgqy84sSy7bCT2Pzi9TAAA6k0inisUdqhFqN1hAhvKEzbTC0MJ24vc53pZg01XhsXu114Sm66M1HQ9ereHxGu3dJbwTFTRQ9lIzGSDo1xW1Oiog9CGIXU7qwrRvy7/rYIrfMeKGvKY/I7D72skmMkvbCNHmdRcp0dcGAbbp4IavB5W8h4qpGGfunk1WHtEFTI9SEE6/wmb6YMaiioOZiOxujh5VwE41QxskE6udNyCCml4eKnvfxmo8MiV/+1fOLKGC8ggiP+07qmVXDvI8yY5V6XXj8cGAIA/WVFjQPP4jXuDmXxdhRmGzbTsy/mUhkU/m43E9mpYLuqAFTV0fC4fCmbyJZ8vJ+I5eV7/Fc1j8mVo2jGNy4ePhM20jgLs38xGYvtW+kuJeM7U2GdMXz9QAcIaAAAAAAAAAB9Sk/TEguCFwmNyAO1H2e8AgJXYOX5ErJ91fs7VKy2/Jy40bfPavjhhD3CQ95OpEJM5l2BFjT1q0Pyi3mzq+tB447qyJlWNi3UTP1jzr1+eaFg7XeS/h5Kp0BMa3hYAAAAAwIfCZvqLmtvQ+7KR2Lf47OgRNtOyEHSPA4VbZJjGkWwkdrbcBRDUgFqpMFyh28MFeAAvGFH9CqLQv2Drb5h/LJjJaw+NLgQ2/PS2O++bWNW81unlr5kcH/ngWwOnFzx8Ur1P+dp7CW6oOLhB/v7Xs5FYxYV/wmb6EQ2BV/3ZSOyAw8sEAKAuqSK1Zo2u1Z6V52/JVEj7Oarbhc10xLaK9rG43ep+Zz2e47rJnRfPzwc1NM8UGzpUHZNNAfHMvbvEpXXU6XaJQgii/A7bl43EKNiMivkgtGFMhTHYgxmuBTP5ugsYt6KGPJ4/5/BiTwQz+UgJz8MSVDHxHhfOeRpTIQ2+KziaiOc6VUBDj8dDGg6qkIa6v37xq7CZln0Lz2h4exuzkVhdfG7cHNiQiOdWNNbj86N/umfTzNlbHVnDBQ6tP/BXVtOdo8s8jZAGAIAnWVFjvxDiqxrX/XAwk6+r4tBhM60jELLg09lI7KimZcPnNP29ryisQbx7rr/s3PIKyXPzryVTIV+GzsJZYTOtIyChrCBIVRPK6TZqu22EmQLlIawBAAAAAAAA8IhEPGef2FUonsJkLwCAdq1zo+ITY3/p+MtMNzSL3tbP+2kHFoosDaibqYIcfDcxZ6WsqCEH9j+51OD5qw3tbVbgznvKfY3Bpo+cf3H13jcW+e9vsx8AAAAAAMtRhf4f17ih5ieEZCMxJoRoFjbT5U7ukQWJjmUjsYoKE9UoqEG2Te0jqMF7rKhhD18vWMlj9A8CtTeo+gWE6hsQtr4CsdJJqtXw/Bd3/NnImvV/qOOlbn/nQn/w8ttWkf86Gczk549TKlimboMbLq5vH/rxnR/p770rNPDG5i3LFfxZzPFsJHas0nUJm+mvaCjM1JuNxI44vEwAAOpWjQMb+mQ4gd8KnqriSfaxt4XrbXuwIYGGHnH/mZ+JBwZ/XtOVvbSuTRzt/oSYCDR7aMt5jv3ae8B2vxCGKLKRmOuuv+FPttAGeaxodeGbPGcLY5A/L8nHgpk8hYQVK2rIwvTfcHixdVeQ0mnqvLfHhX9Xshj3cb8V41YhDftrFD7vlEEV0nCIkAb/01gEt64K4KrAhqer/F27aGCDCmmQ51VdK1lgaOJvO39n7P/6XcfW0OanzQ/l/nbNn+aWeIovjwsAAP+zoka7alPT1e4txy92BjP5ujk3V+eopqbAwbKKfwMFbglrEO+e9+sYm2TXn0yFDmhcPnwibKZ1tAtL28oJDU/EczrCIwqeTaZCezUtG/C1ALsXAAAAAAAAqC01wLXQWRpRP+2P6WpcBwCgJFunT2vZUOcD2/22A9rUcbtw7J4fyJKIz4/TLkwWPWX/mUyFVtz57kVykp8VNWRRni8stvpr54ZHmuamJ2YaAi3lvMWtM69uOTNz74WLTVuvFPnvnWqbAwAAAACwFN0FVHoJaqgOWbg4bKZP2YruFciCA3csshIns5HYC5WsoAre1jX5bikjqnAiFsCjgQAAIABJREFU7R9VoCauLvxsEa4A+FOfKvg4bGtjLhSBHA5m8p793k08su/Xn33xB1bXhbNBJ5cbmJmZWCSoQdphRQ3ZZ3BIbTs5+XGfFTX2qtCGvfVSDHfz6HDHnr4f7pC3CoIbdofNtDy/rLQYkI7J0BUFXwEAgBvJ6301zrQWbQ7y9cxEPOf6wIawmbYHLURs/1W4316D7QeNWqYnxe6fvyS2Db1V08382i1bRe/2j7Gry1O47ha28EP7NfhwNhKjzROuE8zkZV/PIStqyGLHu9Wt2sXlh9RNXoNfKwQzqHXD8to1bKO6GA+sgyoc3uPCc7UhFQLgu7auRDy3TwU1eLU9Vo7L30+IfX3JRmLDYTPdp+G7Ql4z1k1YgwwYSMRzsojp41U8f9mRiOdk8dTr4zHKDWkoyLX8NwMPjh+50jp3eZ3TK7t96vmPnJj93KtXGm+aXPBfJ4UQx5KpEOdbAACvOqj5GuBgnQU1yD6JQxqvZbnegZ+k1TWILl0yBJQx1CiBrtDvveo4u1Kyfe45Tev0KdXHT9A5sEINc3NzbDMAAAAAAABAMzVRrlvdIkz6AgB4ya7xvxSrZ1dSG6Y0L6yOitHGTXwWfjPp1FSTtebDHNw+yb0cVtT44lLnQG833rZluOmWO8td/juNt4z8Q2t8sXSRJxgYDwAAAABYTNhMy0ngD2vcQEPZSOwJdoB/EdTgXouEK6zkMfr0AP85od7RgK2IWmFS2kAwk/d1YbWwmZbFz74h73/2xR90ORnYsHn0nbzxtjW4zNNOysCGYv9Rj8ENdoXghr++N/L622s3LCwCVIwMmyp7gn7YTHdpmgz9ZQdCJHwnbKaLnX8AAFCy1svN67blNh1snGl4X7W32lzjnHVh2+iTF7eN/rJGe8x+HLWHIxKKWKc2XRkWn3z1pNgwUdvTzt7tIfHaLQuzOuvaiC1owX7Nbb9/ShbarfcNBX/RGNowVghhULfX5WPBTP4sH6HKWFFDtgXucnixDwUzeQpfrZAspKeCGqodeLKcXiHEcVnU3GXrVRG1vXUWE9VNtu0fTKZCdVNYHzcKm2lZ+PBLDm+WvmwkVnfttol47o4qBzZIh9X5jByfs6PShX18/D91PTiejpTw1BV7fnXM/NHqzxTCeuR8nzRzUQAAXmZFDXm+84rGtzAYzOTrpqFUBTWYmse1bMtGYgRDomxW1JBF4L/q8BYsu/0rEc89otpPdZHn61/3W1sOnBc20wMa+pefzUZie8v5xUQ8J9vqHtXwVqUTyVRIy3Uz4GcB9i4AAAAAAADgrCLBDN31WEQAAOAP62cvaQlqGG9cT1DDbxQmvNww8SsRzwk1qeR6gIMMdUimQl6ezJUWQnQtNqi/bfaCNdJ489a5hsamcha+cfbXbXdPPrflp80PnS/y3zuFEMfKWS4AAAAAwN/CZrpD8wQQoYpewKcIanCeFTWKTQ5Z+NhigQuEKwD1yV4Q8pQKSR62F4n0ewjDClw/7/mrB363/7Mv/kA4FdiweXTYKuFpO6yoMRTM5N/TZh/M5GWRrflCW/UY3LB5dLhjT98Pd8hbf/COgZyxfeD7H/6tgSWCG3aEzfSxbCRWboGguypY3cUMEdRwIxXSsE/dGD8EACjb2IZJ8bOH3qzVBpTniyn2Htxg+68HxD/7RZ9onpmu2dpMNgXEM/fuEpfWtdfDZ6JPXV8L2/W2sIUeDmcjMYJkUdeCmby8Dj5mRY3eMkMb+m3BDPJ2LZjJ95fweyifjgKSBNGsQCKeW6NCGtzWpyPb2Q4lUyFf/Q2qvsz9GorcV4scT7/f42Po4Qwd550flW249RYolkyFzibiuQNVDmxwtPikDFMITzyzMzA32ezkcqX7Jr73sR+t/sxxeY7nt2MCAKBuHdT8xvfVy4atUlDDswQ1wAE6rnEitr6BlTqu5njruv6QcwEeFkIc0bR8+IepIRzhUxX87n6NYQ27EvFchDY1YGUIawAAAAAAAAAqQDADsKy+IoVQxCIFlOz/RyElwCU6p09rWZHzTTpqv/jSrkVCHApFpwoTYE0V5ODqia/BTH5ITUh8uNj/N4np6da50UvXGtrKLgr1gans1l+sesCaaFi7cEb2bsIaAAAAAACLiGmefN6XjcSYvO1TBDW8q8RwhcUe21XkMQCYd3n12isja9bNp0r/4uY75ivTXmtu+eXDp5//9+opp4KZPIXQVmaH/dlOBTa0XbtitU5NjJf49IdVYMMLiz2hENxgRY12W2hDJRMbPaXLOtspb5/9yd+LZYIbZFG7A2W+ty4N24TzXoWQBgAAAOd9/Jd94qPnflnTLXtpXZs42v0JMRFwvB5oNZ1Qr3VDyKG6zd+nGBiwcsuENpyTzVrquvmaCmU4p34H1bfV6VcMZvIE15QoEc91qzatahUHL5X82z2eTIV89XcpC7LJAAodn/sqOCyLyvoxuB5l01VcMFIIkq4nKrBBfj98watv+7VVD7569+RzIaeX2zp3ed3/PPzpIQK0AAB+YEWNHs3j806o8R2+FzbTPSr4Qnf/f92dm0ILV11Ly/aWRDx3RGNReml3Ip47Ka91NL4GvE9HWIM8RkSykdiK2y2SqdBAIp47rPFvY/8iY/cBLKJhbm6ObQMAAAAAAACUgGAG4AaFiVr2yVmFzqMB2Smka3OpweKL6VZhD8V0qlsxBEQAi9g99h0RmFtY86Vy/9T6OTHWsJ7Nrseg+m42bRNqtX43r5QVNb4ihLi92K+NNaxf91bgA/dWsvy3Gj9g/aj1M8UGxh9OpkKLFn4CAAAAANSfsJmWBWof1/jGx4QQX8tGYkN8vPzHy0ENVtQo1p5e6mOEKwCo2MX17UPjq1omx1Y1T5zbGJw/Tv5q85ah0dVr5jslzK773lzmNQ4QhrRyYTPdvVjRnT/9xyP3bbw2urbcZb/v4vnT7ddGR1b4a4eXCmxYqF6DG+wKwQ0yZMP2cFl/D2EzfVBDUbzD2UisrvtiCGkAAABwXsv0pPjkqyfFlpFLNd26r92yVfRu/5gb9/CgbSzvKTVm7Ib75RSIAVAZK2qskdfdwUyePiIXUf0jrzi8RoPBTH6xeQpQEvFchwpp0BEgWgn5N3oomQr5qr1Z9WMe8mg7qixQt99NY9/hHmEzPaAhfOSpbCS2v153cyKe26m5YKo262bfbv7jy5/v0bR8WXiagpYAAE9TYyxOaQ5v2xbM5H1/7q6CGr5bhZcayUZii9VJAEpmRQ15Lvucw1vsqWAmX9G1UyKee1xz29C5ZCr0NY3Lh8epcV3vaHgX38xGYvvK+UVVy+qM86t03UPJVIh+QqBEATYUAAAAAAAA8F4EM6BOFZusNWxLzj+VTIWGa71plukI0tJJVEFAxHLhEToHuAAVu3nmjJaghtHGDoIa9NqqbjcUzUvEc/JHn/quP2UL3KnF93t6sUKYrXOjV5rnro1MNqwp+9zr1tlfBLdMv2adD2xfWBRqhxCCsAYAAAAAgJ2uSdsFvQQ1+FO1gxpkW93quauiQcxe/cjkP/6bD0+eaLei8wWASw1coJ8LQLVcD31/7ZbO5jfbN3WduuMDb8kHLq9eO/GycZdTx8XfkXXr2asrtnuxX/jOg3tOf/75Y/eUE9gQmJmZKCOoQXrUihqi1MCGYCY/rAqMHarX4IYu62ynvP2LV8ydP7+lc+DFbR8aOHbPx2MyIGwlywmb6Ts0BDVIZzUs0xMIaQAAANBj05Xh+aCGDRPXarqFe7eHxGu3VLUO9wnb/cLYWPuY3uFsJFZ2mCsA/YKZvPziqu2XF4rR8WVOQfllJOI52S65R1N7VCV6hRDHk6mQr/5WE/GcbJ/a77E2Ktm+LMNlD7ph3hJczdQQLFDXBfmTqdALaq6J5wIbrjTeNDkYuKd/6/RpHcVed8kCt8FMnoKWAAAv26d5Hvs3CWpw3KEqvjWgFuRn/GmNr3u7bIdKpkK97F0Uk43EhsNmuk/D+P+y2xZkYGkinjus8bp8f723fQAr0TA3N8cGAwAAAAAAQF0jmAF1oE9N0BK2CVuFAt3LhR+gBlSRr+4lXrnc8AgCIrAiH5n8R3Hb9OuOb7TXmh8Ug4F72Bnuc8Ie4CCPHTqPEVbU6FHhCe8x0hgMDjVtqWjA/LhYN3Fs7ZdfLPJfX0+mQnVbKAgAAAAA8BthMy0LgjyscZMMZSOxJ9jk/lNKUEPb7IX5W7mPbZi9WO+bGYC7jNgD3ov1PRabfB0202vU5EpdBbieIBSpdGEz3bHcZNe1E2OBcgIbbn/nQn/w8ttWBat3uNTAhmKsqNGpQht6qhWk5CaTgVWTw63rem8efef/DGbyR0tZtbCZlgXyHnH4bYxlI7F9rt5YGhDSAAAAoM/2Xw+If/aLPtE8M12zrTzZFBDP3LtLXFq32LDMktmvrQdshb3t90/JIjF63xEA1DcrasjCVF91eCM8Fczk99f7ti0mEc91qDY7HUW0K3FOFgf023hiNT9OFj3c5YLVKdWgWmdCGlASXYVys5FYQ73vgUQ8t9OLgQ3BmTfW94w+/llNi5f9Vz2alg0AgFZqHMUpjX3Ysr2zM5jJ+/o8PmymD1X5HGlbNhIjFBIVk8FjQojnHN6SMqCl4nFBiXhO9/j9MSHE15KpEOMKUVTYTOtoIxaVfIerdr0zzq/SdQ9RVwgoTYDtBAAAAAAAgHpCMAN85oR6OzdM1FLFUWSB7VPscG9Sg8yX6uxyvCNsmYCISsMj+J71oMDchLh5Rk+f7oWmbT7fep61a+HknEQ8J9QkmAHbMcZ06DhzRH1HvKdIV9usZb3deOv75hoam8pd+GpxpeW+ib/b+nLLPx9c8F+71aQeAAAAAEAdU8WKd2veAlx/eogVNYq1g3aq23VXGm+673ONm/+rWRFYXXiMcAUAHjZo62cs9D8N24MZKplUnY3EroXNdK/GyZV7ON6uyLLnPldbWqe/8+Ce0ysJbGicnZ3puDpS6eTWR62oIcoNbFBhIQflrR6DG5qnp5pvHn3nk0KIT1pRQxZEkIENh4KZ/FL9yndoWJV+Dct0LUIaAAAA9Pr4L/vER8/9sqZb+dK6NnG0+xNiItC82FP6igQa2u8PZyMxxvICgLt0algbCswXkYjndqs2XF1hvuU6nkyFjrlsnSqWiOd0FZnTRfZP7E+mQrTxY6W0FBYMm+lINhKr66KFyVTohUQ8J8N1drhgdUpmNd05eqnpjrc2zZy9VcPiZf/V/mKh9QAAeMBBzf3Y+wlqcFwfQQ1wkI6/z6VqTZRMtssk4jl53dGhaYfLtqiYEOJbmpYP7zuqqR0tUu541mQqNJCI5w5rPO7sX6YmDAClYW5ujm0BAAAAAAAAXyKYAR41Yi9+UmQS14DsaGHnwg/U9/RiE14IiKixLdOvibsnn3N8JS40dYpXWj7psa2BJfTZAxzUsavkY5UVNXYuNnDgYlPnnaONN22pZONPi1Uzva2ff/ly4+Zx28NjQognkqnQNXYsAAAAANSvsJn+oubivXLSFJM8NFokXGElj9VF8WYAdavQdmsPXrgeAL9MAXdHhc30GiHENzS+xBPZSKzSoADfU/vh6VILo62dGAuUGtjQdu2K9f6L55wq0n+43MCGYmzBDbKY/lanlushg7bghhsKxIbN9NMaJj0fz0Zivit0txAhDQAAAHq1TE+KT756UmwZuVT1Ld00OzPZOjUxf435y823//qv73vob9R/DdjCDgcomAUA3mVFDdk2usvhN/BQNdtc3S4Rz3WoINUul63qOdlOlkyFzrpgXRyTiOciqgirV/o+Zf/FQUIaUImwmR7Q0Ob/VDYS28+Omf9e6fFaYMOHJv/ptj3XvqErPP6bwUx+n6ZlAwCghRU15HWC85ODf6MvmMk7UrTdjdSYgINVDmqQHstGYlwrwTFW1HC62PSJYCbvSLF3FRT3uBPLWsK3k6kQgdooKmymhzWM+zqcjcR6yv1lVXvljLOrdIOHkqkQ7djAMgJsIAAAAAAAAPgBwQzwgEHbRK3rwQu2x04lUyEdCfWAa6li7ktNWjzq9Lon4rluVYitmErCI5yetFNzN8/o6cu90LTNU9sByypM7LnhbyARz8kfJ+wBDup2w/FOFlyyosaOYhOy2matNysNawiIqaYHJo52/UNr/LTt4VY1eaCX3QsAAAAA9Slsprs0F6uQQYFpPl7vpSYBLrTwscUCFwhXAIB3213Fwn7GQjDDwmLsbpCNxK6FzfRJjUVd9sgCW3w2ltVdalCDdLWldfo7D+45XUpgw5bhi3kH1/NRK2oIpwIbgpn8gJpAf9CKGt2qSNzeOgpukO/zS/JmRY3rwQ2//8d/flZDUIP0uoZlugYhDQAAAPptujI8H9SwYeKaY6+1anrqSsvM1Ki8v2ZifCgwOzMh728Yuzq0anZ6Ut6/bfjSmwt+7fB/+78ff+Hfss8BwI90FJOk6JuSiOd2qzbbktsiq+R4MhXyVchoIp6TbVX7VfufF8j+jf0UhINDTmlo53ek4KgfyDAVNR/EM4ENP2v+xJu7xv9yaMPsRR19Hz1W1NgfzOSZ9wkA8JKDmtfVt0FGalyAWYPxqiM65tQDbpVMhfoT8ZzOMYXSI4l4rj+ZCjnX6QQ/kd/1n3L4/eyt5Jdl7ZVEPHdYY1jQfto/gOUR1gAAAAAAAADPIZgBLtNXKH5iG2RfKIgiGEgMuEsyFar6ZBhNARFai9MF5ibEzTNL5WiUzyKsoZ4UAhxuGKyQiOdG7AEOd6598tzvjX27Y/3s0JD9ec1zY+OrZ68MjTeuq2jA/MbZX7dtmzrVcWZVt335uwlrAAAAAIC61qP5zfdmI7GhEp7neiWGKyz2mO8CTgFAE1kYUh43LgshflwsAF4VnPeyYxonVu4Im+ljfjn2arR7pYsuJbBhzeT4SOvUxLjDq+1oYEOBCjOZL7Rf78ENf/3v/5e3fviB7jf/5p6P97+xecuoUy+QjcT6nVqW24TNdI8qaMH4JAAAAE22/3pA/LNf9InmmellX2DdxLW3Cvc3jF2dD1pYNTMzuWH8yvy14brxsdEN41fLOdeVQbwHgpn8WfYzAPiPFTXadVzbU7x5fmxwh2pv63LB6tidk+GlyVTIV8f2RDy3V4UYe6Gt6rDaB8ytgpN0FFRkfIONFwMbXm3+7VcfHE/rKDrZpvqX9mtYNgAAjrOiRo/moIFng5m8L8/vaxjUIB3NRmJ1376AunNE1VHQFfop26seVq8DLHRUQ9tCW9hMd2cjsUrqmezXGNawKxHPRWinA5bWMDc3xyYCAAAAAACAaxHMgBo6oV56oFhBFJlKzc4B4Fayo3SJVVs2PKJr6scbPzj5w832/5huaFk/LVatq+Qtvxm4Sw6A5nOD93j/1E/E+6ZeEgExdSUwNzHaMndtqElMT6yaG796tXHjbY1iZqqSrTYu1k38YM2/fnmiYa19NveBZCrk26JBAAAAAIDiwmZ6j5p4ocu5bCT2NTdvflsAgz0s1B4qSl8MADjjihCiUBhSFoucsAUzSJfUv6WTwUz+kJ+3uyp0rqugy8lsJObr7VeJsJmWBdIeL3cRayfGAosFNtz+zoX+4OW3LU2rftjpwIZibMENPfV4DnRxffvQj+/8SH/vXaGBCoMb+rOR2AEHV80V1HfX/joK9QAAAKiJT/S/cm3HmZ+OyNdumZoabZmenD833TB2dWjV7PT8tXPHlZFLLdNTkxrX75wKarjGpwAA/En1kT3n8Js7EczkdRSG9oxEPKe7/7Vcx5Op0DH/bOnrc+wOaigkp4MMadjP3CvoIAsfCiFe0bDoeyssqOgriXhujepfut0r7+tPRx79g9a5yxXNe1rEYDCT7yzrNwEAqCIVUjigeezDtmAm77vzfHWOeahGQQ19so4KYQ1wmhU1nC423RfM5LtLeF7JEvHcTo2F6Qu+7rcgT1QubKblNd4ZDZvyqWwkVlHYXyKeO6Tx7+JEMhWq6/ZsYDkBthAAAAAAAADcgmAGVMGgLXhBDp4cVrfCQMpTyVSIjmwAnrdMov2yafdW9NNfsQ+onmxoXX0u8MH7l/qdadH8ngI9BTMi0DLX0NA01LjlohBi4WTWDTLHQRUHrMVAJrjAQOAesWXmdbF6dnTddMOqdeMN625duFZNYmZciLnZJjF1rWFubkaGOTSJqfEGMTez3DtYLa60fHTi740XV+99w/bw78jCQex/AAAAAKgfYTPdIYTYrfkNp6u9QdUEu8VCF9pt9+lzAQBnDNlCFt5UP0dVOIP9sVIdCWbyvXWwb45pDGvYETbTx7KR2FAJz61HOyt5z1dbWqe/8+Ce0wsDGwIzMxMagxqkR62oIXQHNgQzeTleYJ+8WVFjrxCicKuLc6fNo8Mde/p+uEPeKgxu8NWkZkIaAAAAHNGnxuiKBWPWCveH/+bf/U9y7M4XhBBdNd7kvg9RBADM01FkuW4L0SfiuTtUAKrbinjL84sjfivCl4jn9qn2Kje3W46o4qYHCWmATjJQIWymRzT8PURscwzrXjIVupaI5w54KbDhXGD7Cx+YevF3NSx6qxU1erhuBAB4wD7N1wxP+TiowazR9dYJOUaFoAZoMujwuBfHawAkU6EXEvHcDs39RLL96msalw8PykZiA2Ez3afhc+1EEMJ+jWENuxLxXE8yFeL6FlgEYQ0AAAAAAACoCYIZ4LBiE7oGCgPflylaDgCwsaJGx8KB1G833mYst40CYvLqUv83Pbdq5s3AXcWK6RxPpkLHCv9Q5wiF8wT7Twqh+Nh0Q4t4tfm3xf3jzy76JmdE0+p3fwbWiIYb/69JTF+ToQ2NYnqicW5mslHMTi/8TG6deXXLmZl7L1xs2loomPbRRDzXkUyFKN4FAAAAAPUjJoRo1fhuT2YjMUeCAUsMYNjlxGsBAK57S92ZUIEMwhbMYH/MSYd1F6J3CxmkEDbTJzUGNuxRRaBgEzbTa5zY5sUCGzZeu6wzqKGgKoENBcFM/qgQQt4EwQ3tQ/+w/f5Xv//h3xp4e+2GyRJ+3RcB2YQ0AAAALGnEVrh02HZ/wFao+lSpRaWsqCELPD8phOio8Wavm2tzAABhDU5JxHOyPfZhl63WmAwNTqZCvgpHTsRz3art2/GCiA6S54kHVUgDBUZRLXKu4Kccfq2I+ixD8VBgwzkhRPoDUy9eUMdmHf06++iLBAC4mRU15DXvVzWu4qAfz5VqHNRwOBuJ9dTgdVE/Bjwy/kWeZz+tcfm3J+K53X5rM4IjTA1tbrvCZrq9khAeGYKaiOe+KYT4krOrdt1+rm+BxRHWAAAAAAAAAO0IZkAFTqhfvWEil5rkNZxMhU6xcQHAcd32BU42tK6+1tgWrPRFLjZ2XirysJwUc8PgBtmBrL7z3xO0oyabtKvzCXuoA+cVPvB2423iQlOnuHlm5fPW5gMc5q1abw9yaBBzs41iZrxRzEw1iNmpD07+08cutv6rV21F1XbKiVn1vu0BAAAAoB6EzXSX5gIWsp3jyFJPUJPhioUuRNTPdpcX2QAAryrW51hog56oQpjPYuqxGOQxjWENO8Jm+pgMhdC0fK/a7dR6Lwxs2Dw6XI2wBlHtwIaCRYIbHq3mOtSSDG747E/+PvLZn/y96A/eMZAztg8sE9zg6bAGQhoAAEAdGywyPlfYx25lI7H3jOOqlBU15JidR2p0PV4g23QPBDP5szVcBwBAdUU0vFpdzWlJxHMybKnHhQW7ZdvUoWQq5Jv24UQ8164Kg+sstlqpQdWmdpSQBtSArrAGLGALbHBD2N5C8nv/eDIVUn1IeXm9eVRTf85HragRCWbyjl8jAwDgEN1Fl/cHM3lfnfercQIHCWoAaku25yTiueOag0H3JOK5k/L6ht0NG1NTIEKkMO6wAvtVO6yOY9TWRDzXk0yFCGwAimiYm5tjuwAAAAAAAMAxBDOgBCO2AenFJnYNqELdAIAasKLG0/YB1BebOu8cbbxpS6Vr8kJL9PT5wPaRBQ/LQdGOFMpPxHMRVdCw21bscJcTy0b1tM6Nip3jR0RgbrE6P5V7rflBMRi4Ry7nijov+c9q0vkpzkMAAAAAwL/CZvppHZPG78u/3rFh/GrL+y+ce+73+344SwADAFRNsT7HYftjy00QtqKGLCr1OEEN1aUmOusKbDiZjcSYQGaj4xxo7cRY4N98/z9uDJ19/aKTyy3Bt4OZfE2L31lRo12FNuzVUATKExYJbhjKRmJPePH9ENIAAAB8qhBaaL9Ott8fyEZiNRsfY0WNR5wMlivTORXUQFEeAKgjVtQ4paHf7t5at1lVSyKe26O5aF45ZPjSsWQq1Ouy9aqIGhd/yMVtVvMhDRR0Qy2FzbT8O3lOwyrcm43E6iqIp1QqsKdWfasLLQhp+A0rasj5zWc0ve6zwUx+r6ZlAwBQNhkopOncqOBEMJP3VbCVGivw3Rq9/FPZSGx/jV4bdcSKGqbT8+yDmXyDri2YiOe0jPW36UumQt/SuHx4UNhM6yjK7kggTyKe268xyHUwmQp1alo24GmENQAAAAAAAKBsBDNggUFV6FjYgxdsj51KpkJLFkQBANSWKkz1ZGElZkQgkA/c/cBcQ2NTJSs2LtZNHFv75RcXPCwnxzyRTIW0TnhNxHOFAIdOdYtQJNHdtk6fFtsnn9e2jtMNzeLE6s+J6YaWpZ7Wpyapm7bzGc5lgBJYUUN+53YJIXqDmfwQ2wwAAABuEDbTKyocUghgkPe7z/7iVvmzdXK85fbhi/MTQNquXVm/YfzqOnYuAGixZJ9jMJM3nXhRK2rsFEI8UoNiImOqGOTZKr+ua4TNtDyePq1xfZ7IRmK0S727rWVb3Rd0LPsD1tlvHfjPf/H7QojbdSx/Ea76+yG44d3ghhNd9/Ufu+fjf+W1oBRCGgAAgMfYr5VvGJerxrfM389GYq4e12JFjTXqGqWrxqtyMpjJU1gYAOrpSLrlAAAgAElEQVSQFTUcL7Cjs0CdW6ji3D1VbgssRb8MNEimQr5pD1bj3g8KIR51weoUc0KFNDjSVwNUSlNBxS9nI7GD7JziXBDYIPuKepOp0LGlnmRFjUMav0u3BTP5mgUgAgBQjBU1BjT3fT/k1JgtN6hxUMNjXhtfAe/SEdYghNgYzOS19Ecl4rkudb2h04FkKtSv+TXgIWEzfVTD2L/BbCRWcRCCaisc0FjH6zHCWIH3IqwBAAAAAAAAJSGYoa4VihUPq4ldwj7Bi0G2AOAfVtSQhal2F97QpSZj6+XGTUalb3Cw6SPnX1y9940FD8sB0kdqufHU+U2nLcyh8JOiLDW2c/yIWD+rb+7UhaZO8UrLJ8v99RO286L5cyLOh4D5Y0iHmpBpL6pwUoU21G3xQQAAANSeKgj9lUj/y++TK7N+/Frz+y6enw9dIIABALQbsfUvFhTrcxwOZvILn6eNCmqoRaGjug9qKFCTnndoWvxJJjW/K2ymH9dUBHUoG4k9oQqtPl3lgjyu/DuyBTf0aJjk7HqzDY1XGudm/1oIcTSYyR918/oS0gAAKNeW4Yti/fhVsX7smphctUq8sWmLGF29hu2JSvTZghbs404K94ezkVjVrpV1s6LGHSqooaPGq3I4mMm/UON1AADUgBU15BjhVxx+5cFgJl9x0S23SsRza9S48pJD8atEthEeS6ZCvT7b3j0qqMGNc/UIaYArhc20jsKjz2Yjsb3s8cXVKLBhPqRBzUO6ttyTragh5z8/p2ld5HVlj6ZlAwCwYlbU2CeE+IbGLeerY1/YTOsMdVoOQQ2oKk0hZlrDW1T7iK5xhZKcuP71Uq4rUB/CZlrXcXRbNhKrOOgvEc/JcW5fdWaV3mMwmQr5tn0bKFeALQcAAAAAAICFCGaoGyfUGx1QN2Gb5DWQTIUqbvgHAHhOd2GFZ0QgMNpw0xYn3sCZVfdeKPJwzSfIqGPdwIIJz/MS8dzCAIdOzomq57Xmj4v7x5/V9no3zwyIm2bfFG833lbOrxcmdHyq8EAinpNF52TxoaPJVMjVRYgAp6mCbItNyJQD43ZYUaNfTo4MZvL97AAAAAA4SU2ultpt7RqF63ip+2+4lgeAlTpR5PnFJte95zGdk/CcQlCDaxzTOKlyR9hMH8tGYvoSgT1ABVbpCGqQjot3/+avWVHjQJUL8sjXeVy+rpv+noKZvCyyKyc4H7KiRqctuOGjLlg97RrnZtep79ZHrahxvc/ETcENhDQAAEqxfvya2DB+VWy6Mjx/f9PosNh8ZVg0z0y/57c//svT4nLLGvHmxs3ifPsmcb79ZsIbYA8stI/Ltd8/lY3EhuttS6lr8UeqXMhzIa7LAQDtGraAb+fcJOK5LtW+VeugpYXkGMRDyVTIN+2/ag7fIZeGwA7KzwEhDXAxHWEN3SU8p64lU6GziXjuW6p/qBrk3KPjKymmKvutrahxQtN3q+wL2af6hgAAqCkrarSrfnBdRjQvv6pqGNQgt+PebCTGtRWqzYttV0fUdZmuPqUONRf2mKblw3t0fTfvVcGslZLL2KepvsVWGZCSTIUIEgJsGubm5tgeAAAAAAAAdYxgBt8ZtE/qEkIMq1thAtipZCrEQDAAwHtYUUOeA3yh8PilJmPr5cZNRqVb6krDxqvfW/MnLy94+KSXO24T8VxkQYBDu0snyHja9qnnxdap09rewnjjenFi9ed0LHqkUJApmQqdKuH5gGeVUVBBTpA8HszkX2CvAwAAoBg1caxo6IKtgAr9GABwoz7VH2jnm3AFJ9UwqEG2iXybgpA3UoXTdQU2nMxGYnU9gSxsph9RE0udJgucPpGNxK4XxLGixh1VDmwQXim0Wo/BDQsUghsOBjP5mvSZENIAAChGhjFsGLsqOq6MvBvGMD0ltoxcqnhbXVrXJs63bxZvtm0S5zduFhOBZra/99mvuU/Z7l+/nqa4UnFW1Fijrvl2u6DIc7+6Li+5sCcAwH+sqCHbB77q8Bt7KpjJ+6ZopXh3jLQ8hj+sqW2xErI98EgyFfLV2MNEPLdfY7G1Sj0l2/WYgwY3C5tpOa/jOQ2ruC0bifk2kMcpiXhOd9/rSVlAtdyAHitqyP6B7zq/WvN8dw4AAPAmK2roDh/wxTEvbKbbVbHrWgU1RLKRGPNMUXWa2sMe0j3uNBHP7VZzVnX6ugyi0/wa8IiwmR7QMLbs2WwktteJBak2RKf/lgsGk6lQZ2lPBeoDYQ0AAAAAAAB1hGAGT+srMslroBDMkEyFmOwFAKiIGoh8vSjSmUD3zrmGxqZKl/vzVR9/46fND51f8PAT5Q6YdrNEPNduO9dqV+db7XVafKdigbkJsWv8L0VgblLba/xq1cfEL1fdr/NtDBaKECVTISZswDdU8TU54K2rzPc0pCbQ9FIMAQAAwP9KDGAgBBFAPSkWrnCq1MeCmTxFccqwsA28is6pgvK0gSwQNtOyWOfTGl9CBgr4ri+iFGEzvUZtWx3hCUWDMAhsWJ4KbuhRt3oMDij0mRyqRnADIQ0AgJbpSbHpyohYP35VrB+7JrYMXxTrx6+JDRPVOzWX4Q1vdNwm3ty4eT7EAa5xQq3IsLoeX3h/gKKc5bOihmz33emi8VJyXMIRF6wHAKDGNBWw/HIwkz/ol32biOe6VNtVrYOWFpL9KoeSqZBv2tkT8VxEFQp14xhzeb68L5kKUUgUnhA20zqKpz1W76HgpdIU2FBRSIOdFTV0FNyURoKZfHsJzwMAQBvVFvuKxpcYDGbyni/erIIazBpdfxHUgJryaliDePda4/EK5q6Woj+ZCh3QuHx4SNhMawk/ykZiDU4sR9WvGNBQH0y2A+6nXhVwI8IaAAAAAAAAfIpgBs8YtIUuFCZ3FQqvDDO4FQBQLVbUOFgooDPSGAwONW1xZBDD91v/6CeXGzeP2x46mUyF6m7gujo367QFOHSrf1MgZglbpl8Td08+p/U1/qn1c2KsYb3W11DmJ4vJQkQEN8CrrKghi7w9LITY7dBbkMXUXlDFEeqycB4AAIBXqUKzxUIXIuon4YUA/GTQ1o9XMFDkMcIVXIqghncl4rkOddxeY3v49cKdZCrUX+11UsXUde2boqEC9SBspnUUxilYNASDwIbSqaIJ8vO/l+AGZ4MbCGkAgPozH8AwflXc9s5F0TIzJTaNDovNV4ZF88y067bF+bZN4szm2+aDGy6to56fg+zX7cXG4spCGBSY0MiKGh1qHEG3i4o7y2uFI8FM/gUXrAsAwAWsqGFqCJCvSnE63RLxnNPjAp0ypkIafDOvShVWk21XX3LB6iw0ooqz+SaABPUhbKZ1fL8fzkZiPXyESuNgYEO/CmlwrM/Sihr7hBDfcGp5CzwWzOQJ9QAA1Iym61y7Twcz+aNe3sM1DmroU0ENjB1EzWgKa6jKeXAinpPj0J7U/DJHkqlQr+bXgAeEzbQcw/eMhjX9dDYSc+RYmojnnPx7JqQBWAJhDQAAAAAAAD5AMINnDKrJX6dUx+6pZCpEBysAoOZUQZgvFNZjMHDPAzMNgZZK1+tKw8ar31vzJy8vePiJZCpEQW6bRDy3MMChk/O533hg4lmxceZNbct/p+k28WLLp7QtfxHPqiJERzkfhFdYUUNOpHlEY6G1kyq0wVNF1QAAAPxEtQ8UqsQRwADAy0oNVyj6WDCTJ2jTR+o9qEFNWiyMJbh9Bb/av8h9R8MdwmZaFvF8utLlLGHRYAE/C5vpr6xwf5eqPxuJHVjquQQ2rBzBDfPHbVkA7mglx+CwmY6o0GyvbcMTagwRAGAZ95z7ZceayfFVtw1f3LB5dLhtw8TV1vZrVzZ4dbtNNTZNv9W2aehsxy2XfnHz7UO/uPmOy7Vcn6apxtXBX27oaZpuDFb7tWcCs5b1/suHZlbNji/z1GE1/nb+fjYS803RXi+yosYada25W9P1RyXkdeC3GX8AALCzosawhnG527zep5CI57pU25RbApcK+lRQgyvCkJ2QiOf2qnYwN7ZfyXHN+5KpEH1k8JywmdZRfHQwG4l18mkoXSKee6SC0B/HQxoKrKjRrsYE6JibMxjM5PmcAABqwooauopKF5wIZvKR0p7qTmEz3a3GEBDUgLql6bviqWAmv78a2zQRz+1RAaO6jKmaB75pf0J5VLjPOxo23zezkdg+JxakQmArvb4lpAEoAWENAAAAAAAAHkMwg2cQzAAA8AwranyxMOhopDEYHGra0uXEup9u3t3/+qqdlu2h/mQqtGQRH/yG6jhfGOAgH9tVT5updW5UfGLsL7W+xistvycuNG3T+hpLeFZNKDtaqxUAlmJFDXlMkAPbHDk2lGB+wk0wk3d8wg0AAEA9WhDAYA9d6Fb3O+u0ICwAdxmxFVssGC7xMcIVUJQqGvlIjYIa5otI1SqoQRXXKowpqFaBrbLDHcJmWmegxslsJHZI07JdKWymu1RYgg6Hs5HYC8stl8CG8p367+/7rUvr2v7DXVb+fc3TU81efR8V6FPFEkoOblAhDfs92H82P/k1G4kx+RUAbNR5vCz6Ls8n1qg+yg4XFo7VYUidS8vb68FMvuqhY2qcilmjwkWybSCSTIUIYHA5NYZgp7rmrOY5f6n6VVADhXUAANepQs2OF9sKZvINXt3KiXhujSp2V25hbV3G1Jha35wXqvNs2eb1KReszkKDKqSBMczwrLCZ1lWoeFs2EqMfegUS8dxK+/yG1He+1jHjVtTQEehR8FAwk6edHwBQdVbUGNA89vfeYCbv2esyFdRg1qgGixwLsJegBriBFTXkmJrnHF6VaoY1yParJzX3FfclU6FvaVw+PCJspk0N48/6spFYdwnPW1YinpN/B98ps41RjuP9I0IagNIQ1gAAAAAAAOBiBDN4BsEMAADPUhPdv1FY/8HAPQ/MNARanHg/f7MmcXKiYe207aEDugdS1wt1nmgPcIion7WYMK/d+6d+It439ZK2l5luaBYnVn9OTDc48tEvlyw8cFRNOGDAA2quxgUNhZqAczyYyS9b/A0A4C5qQDeA6rCHLhDAAKCaKglXGPbyRE54g2rXeFwVea22k8FMvqrhAGpSoj2gwY3FMhe63ldwpWP8rV/suPCH8v5Uy8z1fvap1TMjDr3WE9lIrOqFbmtFY/jFUDYSe6LUJxPYUL6wmZbhuQ/vOf2jzgfO/Kzzg78e6CS44b3BDR4OaZBjjHoIaQBQ79S5gjxPuMsWxnCHR85lq2VIXVPPBzhUq/C8KiR7UAjxaA3eM4ENLmVFjQ51vbnb5eEpvcFM/ogL1gMA4DKaCtOdCGbynhwfkYjnutXYQLcd1/vUGFrfhC4l4rl9qg3LjXMBvynXjflv8LqwmdYSyCOE+HQ2EiPIZIVKDGyYHyOeTIWqMkbcihpyHNUZTYv37PkAAMC7NAcRSd8MZvL7vLqBahzUcDgbifXU4HWBorwe1iDevcboUmPQdKL2AeTxQ9fxtaIwSNWWu1uNEZZjCP9A/SzFFSGEvPb+uRxH66d2V0AnwhoAAAAAAABcgmAGzyCYAQDgK1bU2FmYYD3SGAwONW3pcuL9XWq8Y+i51p6f2R7qT6ZCB/j06Kc63u0BDt1eL9QZmJsQD05kxOrZUW2vMbjqHvHaqge1LX+FBm3BDRQhQNVZUUMO3tnjkmIockLOSVVUgcFAAFADVtQonF8KW1iYUOebBV4rjAgAQD06UeQ9FysS/J7Hgpk8xYThGfUS1JCI5zpUYdtuP4T45u95u+tKx3hwsf+fWTV7Pbhhuvk390sMdziejcSOObi6rhU20zcEdDtsxduRwIbyhc300/ZieQQ3zJ/HzAc3/P4f/3m3h0Ma9mcjsaoG+gBArVlRQ45B2WQLY+io0bm6H5wTQrwux6wGM3ntxUIS8dyhGgY27E2mQrRFuIDqI9rpgetOeR1wJJjJV6XQJwDAe6yoIQslftfhFX82mMnv9dLGUMG/PS48to/5bbysGst90KVtWDIUYx/n3PCTsJk+peG77ZvZSMyzRYpraYnAhvlrt2qFNNhZUUNnO8e9wUyeOR8AgKpQIUSnNNYgkW30ncFM3pO1M8JmukddixHUAPgkrEG8e43xRc3tWXL+6tcpZF/fVNjPKxo2wmMrHS+m2nF3LBKkH1K3pciQhpdkbQ/bc+T1eG/F7waoAwF2MgAAAAAAQPURzOAZBDMAAOrB9UHQo40bFy2EtFJvBrqGFvxKXRRCcgPbZKX3TKJJxHMLAxw6vVDMZrqhRbza/Nvi/vFntb3G1qnT4nzTXWK0cZO211gBGazxJXlLxHODapDg0WQqNOCGlYN/qWIpMZcVSJGDiR6WA4usqPGCCm1YeIwBAKyAmqTRqX5jsSAG2isBAKg9WShlYb8U4QrAEvwe1JCI52Rx2y5VKNNXBW6Dv9qQXyqsoWmqsa3Y/ZarAaPY8+3hDjOBuVv/eF+2peVqYEIVt52XTIW0F7itgd0aX3LFhXNkYIIVNQ5UObBBvs7j8nU9Hthw3F406Ng9Hx+QN6GCG3b1v9zVZZ3tXHIJ/rJL3b77v/7dIfHjO+8WP972YXG1xQ15w8sipAGA76nz8NttYQyFnwuLBqAyt6ub7DcVqrBCvwpvcPy8J5kK9STiOVGDwAZ5vv9cIp57LJkKcfysAStqdKhri51VDl4rlxw/8G2vB7YBALTT0Y7iqaLMKjygx4XHd1kg7LifiuEl4jlZsPCrLliVYp5KpkJVLagIVImpoXBnhJ1XHnk9r/o1C/2ZY+r7vreG3/cHNbZx7FPHWAAAqmG/5jH++z0e1OB0UGOpnspGYlxroV7UYryS7DN8WmO7VqFvjDoIdSwbiZ0Km+kRDcfZveozvCx1Lb1bzelb7PMuO/HvEkKsK/J/xUIaCnara3MAy2iYm5tjGwEAAAAAAGhEMINnEMwAAKg7anKtHKAgrja0t1mBO+9xYhtMi1Uzz6z9M3vRnv5kKnSAT5h7JeK5hQEOhftOT1qoyL0T3xM3z+jLKxht7BAvrH6kKu+lTH224AbOVeEYVUDlEXuAj8udVKENFFsAgHe/xwvncsJ2Plfs/la2FwAA+lxo6hQTDWuvL7999tevr58d+v+KBC6cKvaYVyc5Am5hRY07VBGMWoQYHAlm8lomManJVzvUOb+vi90O3HfpQ9faJrW8x43n1+Zv7W8bXOIp/Yvc91S4Q9hMP63pc3KykkLz6u+zmoENQhX+8XRgQ9hMP64CWoq66erl5v/6v/y4M5R/rbPOghuuy277sJuDGwhpAOA76pi+MIxh0WMVqmpMndPK89d+J8+BEvFcLYsbEdhQJWrMQLcq0uGlcMB+FdTgm+LOAAA9rKhxVAjxKYcX/ulgJn/U7bssEc+tUW3nrhoPrAKXDvkpVDcRz0VU4TU3js85IT8HyVRI3yBsoIbCZloWPnxGwxpszEZi9OOXQR1/vqCu22oZ0nCdFTVMFQytw7ZgJs93LABAKytqyGuO5zS+xmAwk/fk2IMaBzU8xrgAuJWaa/SOw6t3IpjJVz3cLhHP7VbzX3X6ejIVYr5qHQub6UMagv5GspFY+1JPSMRzO9U44VLHX3QtCJlcKqTB7oCf2mMBXQhrAAAAAAAAcBDBDJ5BMAMAAO8OtLg+OOFcYPs9kw1rHDlveavxA9aPWj9j76w9nEyFXljiV+Bi6hy3cJ7brs5za1Lst3VuVOwcPyICc5PaXuO15gfFYMCR3BLdnpWhDQQ3oFJW1NijCi64rpJVCeSx5lgwk2eAEABfWRC+sNR9t02kBwDAUy43bhYjjTffsMry3wsfs5q23RDCsNhjC1BMEKiiGhWCLzgczOQdbf9OxHPdtnEHXmyzKcvo5vG2s3e/raVxtnGmYeb9Pw6+GJhsnHZoka4Ldwib6W5V9EaHA9lIrKL3Q2DDyoXNdJfaZssiuEGIf9z+sfnQBhneUGOENADwPCtqyGPQJlsYwxqPFW/Hu4Vv+wsBDsFMfqiSbVLjwIankqnQ/hq9tu+pv/dC8Q+v6Q1m8kfqfR8CAEpjRY1TGsZYPBTM5E037wLV1tzjwnZmGX583A2Fu52QiOfkGJ6DGgq5OWFECLGPfkv4XdhM6yhAKn06G4m5PpgHpbGihq5QD+mpYCZP+wUAQCvNwUPCC9e5xWgqrF0qghrgelbUcLrgdE3CGsS7bTCPr6CYfTn6k6nQAY3Lh8tpDP+5NxuJnbI/oEIOd6t+2o4ylvkH6mcpIQ0FfclU6FtlvBZQVwhrAAAAAAAAKBPBDJ5BMAMAAIuwosZX5IT6qw3tbVbgTscKIL3UvOdnZ1Z1FyZ6DyVToSfYB/6kJnIVAhzabefH2s6Lt06fFtsnn9e2PacbmsWJ1Z8T0w0t2l7DYSO20AYmg6BkquhCT5kDedxGHnOOO10YEQCcZEUN+2Dkxe7rnDwBAIAfyD6fgQXvY6DYY0NNWy79cPW//LOxhvUPikVCGDSR1+k9XKMD1eOHoAY16arQtlrXoWxvfOziPePrp7S0L288vzZ/a3/boI5ll0B7uEPYTOuajDqUjcQc6eep0d+rbDv8ejCT92Tht7CZ/uJKvxcKwQ2/89pPPrJ5dNgP7b8rcq159XxgQw2CGwhpAOApVtToUP2Ed9h+3lFPYWF1phDeIMfR9pdzbqQCGw7WaJz04WQq1FOD1/Ul9fe/s4LCH7UmQ9mOMD4AALASGorSiWAm3+DWnaDanHtc2N4sz0sPVTvoVqdEPCcLfx9y6XzCZ1W/JXPoUBfCZlqOG9jq8Hv9ZjYS28cnyD+sqKHjcyLUWJHOYCbPdy4AQAsraugOVa5Z8fVKaCyqvRx57N+bjcQ8F26B+uOzsAbZn/2k5peR/ZL0QdWpsJmWdcTOaHj3T2UjsfmAP/U53u1AmP56IcRoGb/3RDIVGirheUDdIqwBAAAAAACgBAQzeAbBDAAAlEhNvH1aPvvNpq4PjTeuc2Ty7bRYNfPM2j+zD0RgYEKdSsRzCwMc2p0qQLxz/IhYP6tvLMCFpk7xSssntS1foxE16UtOZjvlxTcA/dT3f8ynhf/kF8NJIUSvV4uvAfAOK2oUzm+E7Vxn4X3CFwAA9W5E9dnYDZf42EAwk18YwlCSRDzXrvqJqn3dI99vhGtyoHq8HNSQiOc61PWDLJB5u7Or5l2jm8fbzt79tmPh0naNMw0z7/9x8MXAZOO0BzaQLFZ2NpkKHSnlyWEzfb3PR4PD2UjMsX6eGv3dnhNCHPBim2Gl+/bOi+fX73491/lbb7zaRXCDtuAGQhoAuJo69i4MY9AR8ARvOaeCw2RwQ8ntGIl4rlu1uRDY4EFW1Njpg5BAOSbg28FM/qwL1gUA4BFW1NBRYGswmMl3unELqHO2HhcGsfUKIY4nUyFfjOtT8wwPuXRs0KAKaaBoKOpK2EzLv8lHHX7PfdlIrJtPkn9oLnT9WDCTp68AAOA4K2rI8ZADmtvmt5U7XrNWwmZazl19rgYvPz9ONBuJMU4UnuCnsAbxbpvMHiHEwxpfYkwVs2duap0Km+lTGvpT+x78j+//ogppqPV44d5Sx6UC9YqwBgAAAAAAgAUIZvAMghkAAKiAFTUekZ26kw2tq88FPni/U9tysOkj519cvfcN9c+hZCr0BPsJdqpgojzH7lS3QqhDyYMXbpp9U9w//qzW7fqT1Z8SbzfepvU1NJPny0eFEAeTqZCnBktCHytq7FEDetw2EdNpclDcCyq0QV+yCwBfUZPzCxPpF7tPOyEAoJ4Mqgl+QvXF2PtgigYurKS4ny4ENQD1QxWZfKQG7Rxjquj7igtDJuI5WRx3hxDiLgIaFvfGxy7eM75+Ssu118bza/O39rcN6li2JudUOO+Sn7ewmX5Etfs5bX7yaTYSc3Tyqfr7dbpg0nK8HNjgyP6t9+CGC+s3iuydd4ve7R8Tb2xypP+HkAY4bpGi+v2LvI78Plvs+DBE/0h9saLGGnV+uUl9hrrUz7r7vkfZ+tXt9WAmv9j3zrwaBzb0qfYXxgqXSB1bdqigQK+PE+hXQQ0UxwEArIgVNXQUb6xpUbpiVEBwjwvD2YZUG+eS55lekojn9sl2IZeOIXpKjRvmnBl1J2ymtRThz0ZiDXya/MWKGsOavsNdG+YEAPA2K2rI64+vanwTTwUz+f1e2khhM92pxrBW+7qMoAZ4joawhpFgJt9eq+2QiOdk3/iTmvvCTyZTIcYD1amwmT4ohPiS0+/+/v+381DzWGDSBVuVQBJgGYQ1AAAAAACAukYwg2cQzAAAgMOsqPG0HIzw66b3dV1rbAs6tXRz9R++crFp6xX1z8PJVOgF9h1Kpc7PO21hDoWfWxcuYvvU82Lr1Glt23a8cb04sfpzftl3smCBHBx0lOCG+mRFjS41EbMeC7KcVKENKy6gCMDbrKhRCIgSKhiqcH9hEMN7zjMAAPCxPlvogml7m4X7rghcKBdBDUD9qFGhd1FOUIMqZNptK5iLZYxuHm87e/fb9+jYTo0zDTPv/3HwxcBk47SH9oP83B1LpkK9xf4zbKblBNSnNRVePamrEH0N/477VYE4eXvdCwXNdexjGdwQe+kfPvLhN890bhi/us6p5XpFhcENhDSgYkVCGTqqGOR0TgU9FEMwhMtZUaMQwHCXOi7Ygz0Ap4wVghvkz2LXP+o651AN2mBE4VhMgZTFqQCXbhX45ZegQNnnf8QF6wEA8CBNRS2/Gczk97llayTiOXnc3+PCawPZpnncL4W/anwevBzZD9xDfyXqmSrYe0bDJngoG4mZJTwPHqG54PVjwUyeNgsAgGOsqKHrHKdAjn3sDGbynqnbETbTtRon2qeCGqhxAk+xoob8e9nl5DoHM/mahtqpNpovaH6ZA34KH0XpwmZaR/ivuPOlTT+49fV2t8zvp/4HsATCGgAAAAAAQN0gmMEzCGYAAEAzVfzhycmG1tXnAh+836lXGxfrJo6t/e9mdz0AACAASURBVPKL6p8k68NRagBNuzqX72yeG7vzE+P/9wNNczMturb0r1Z9TPxylWN/Im7xrAxt+P/Zuxfotu77TvB/PPgQHyIpiLqWKF5Slk3ZjizThiNESppAVSZpEqtW0kJo0tmGbgdtnOk0Mny609XEtXyS0e7srhC527G7waSWu2c7gdBs5JH6SFLVUJpIhhzYevkhOJLIS1LSlQSJFB/gA489f+gP5YrmAyTv/+I+vp9zcEiJJO4DF7j3/h+/LwtuwHW2ybGCLV2sGKDV0cFxh4SohEFyAAYm+0QvW/uZghgadTohGgAAgKfpAhgGWD8L1S1EJdMH9yGoAcA69B7UEAwkahTjEjpQOHdhLjx+bcNY/SSX8RxN/bXSymRDjwabobZCKO/UfhdPLMLzPbEr7vVzK8BdxvfzVGlWhLyXhTjQr31CVNJNH5cnFqEF93bweO7HpHOuz77zxjoEN8wZ3ICQBpi3Mocy6AGCIRaIBbHXWPjYAX1Js3amQoBD8X1YxraYoqMstAEFMxn22UGvsTfpYoXUQY+/A0JUQrEQAABYMNkn7iOEfEPlPfiMEJX2lftVCQYSeh0f2MfaMksOPtYzdu27m8NxpIZBdl1c9uMRQA88sQgdG9Gm8qq8EPf6d+MFNg/ZJ9LP9ZucNuioEJW8JfweAABASWSfSOcAPslxbxkuaMgTi/DeJ9NBUAMYlhnDGsjt9pqvc+6nTIXC7l0cnx90zBOLqF6ovfHKkuRHjrTopW8bxzfALBDWAAAAAAAAAACmhGAGw0AwAwAAQBnIPpFOzNl0xbG2Y9TeIKi1Buedbumtqs8XCxwdDoXdh/D6Ak/FQk4XKh79xCSpXpq1OatzxFmVJzZHljhr1Fj0T5f8W5K21Zv1dXyNTYg7qIN1ARXJPpEe/7R41xPYrx9Ci4ccRjEHAH2QfWIxjImwNjwyzfeqDgoGAAAwiKNsNe8KXWAPYpUAhlIhqAHAGlh7x44yFZ2k7QkvzxTUwApiKQMaYJGGmscaetff2MBjP9qztux9bwgnnBP2jAFfJ1qo9KVQ2H2nwLUnFnmOU/HmZNzr38vhee+io8CG6egqxMETi+xhxbq5sXpww8XlqwqhDW/cu74Q4sAgpAHmxMKz6WMdCuuXjeGCIdj17Wp2zNSw60gX7896ABWk2Psq+aOar108WfnZfyxzkParhJCdVh17zM5BxYAGs31+zHovDgAAUCoeBekIIVuEqFTWwlrBQIKOD9ymw8BgU40fDwYSdAzTfg7F39VA+5S7QmE3+o0BGE8ssp9Dn8PRuNeP4vsmI/tEHsdKUdmvEwAAwBxkn0ivQV7nuDGnhKjUaaSd5YlFaIjW8xovlt57bUdQAxiVicMaaL/Yc5zbxlAnwaJ4BANVjDuGN/7dmr/V0R7dqxyHCgC/grAGAAAAAAAAADA8BDMYBoIZADhjE+/8bCJvH5tQfE6ISugkAYC7yD5x34RtSVOf88GPqrlnfrTka2/esjePseI1u0Jhd1mK1YC1yD7x2SG7a9M1R9tDUzf8dmhDRXWWBjjYCt/XEGKzZ4mjutSddNOxipyoUnVMhR7R4pIHWXADJgYYHCt8vgOFXOZECzscJ4QcKVdxNQAzmhK+MNv3aLsDAAArmiuA4aQQldBvMk8IagCwBtkn0gK2XWUqekz73PZObT8IBhKtinEKKMbMwYXHr20Yq5/kcv/Y1F8rrUw29JTwq3p1JBR2H/DEIrSo87Oc1vHVuNevSeCpzgMbplOWEAdPLEI/b57muQwlb/KtVVvf+0XHg1e62yszk5VaLVcvepcJE71NK36w+fyZXQhKg6IpoQzF7xHUZD0LDYaoURw3rTosqAqwIGOk5vqx6h0f76nY8Kkb9lUkY6sqx46k7TT7QmH3bqu8iuwaepOJz0NJFtSAvnwAAFg02ScOcBinsqZc7QWsEF2XDq8D+tgYVFMELbE+yP1qF2VTySALaTiow3UDKCtPLLKTEPIdtdch7vWXvRApqEv2iXRO+kVOu/VVISp14SUDAIDFkn3iSc7jIg0VMOSJRej59RWNF0vHzuC8DoZm1rAG8qsw0x2cF0NrJaQ4LwN0hlf7wkf+ZdUPGi/X6OV4Oh4Ku/frYD0AdAdhDQAAAAAAAABgKAhmMAwEMwBoSPaJdDLvVvaYaSIvHfx+rvhViEroFASwKFZA9+nrDrHtln25qNZeGLY1jfxjzR+/xf55OBR2H8IxBlpgRVH29Dg3bMzanCXP+s8RR0WOOCoztmKAg7M6T+wVOWKvmPq7b1f9BrnqWGOV17NHEdyAgpMGwt4LepyEqXe0sNoxFtqAa2SAKdiEtHb2v7N934Z9BwAAFjQ4U+gCC2QgRprIZkRlDGqg987bcd8MoA1WgHJHmYrZ3hXUEAwkOlnbSyeCMvkbah5r6F1/YwOPBdmztux9bwgnnBP2jM42ez763tomjaSXTqzj8NypuNe/i9+qf5gBAxum86EQByEqzVS0e0E8sciz5WgD3nb6Z+0bL77bbtXgBkLIKVac7yCCG6wBoQwAAPN3vsLtHbK5Om46VhEa2nDD0VL4qjHaZrPTrEVrWZDhVnZPaubAF9p3f0AH6wEAACYh+0TVi+qUqyAdK0C3TYfXAqYaNx4MJGgxtt06na/4Il03zNEDmB4LPX6bw+7ZEvf6Mf7DZHgUrVUoW7ATAACYg+wTuRSJVjBUuBC7zotpfJ+GoAYwBU7XvY8KUUkXY6iDgcRzhJDVHBeRDIXdezk+P+iQJxbhEvC36v3G42sSy8/oaIsRRgIwDYQ1AAAAAAAAAIBuIZjBMBDMAFBGrOj6jgUUhCkWikgWQxyKhWYAwNxkn9iVJc5fk5zrN+ZtdodaG/texScunK3c0s8+X2jnLD5TQDOyT9x23SH+e7UCSGhwAw1zyNruBDiM/mTJH9ZO2qqXWuxVpdf6+2jxoVDYjckCOqUI7nrC6vtCBcdZ4Ydew28JwAxkn9jI2tiomb5H+AIAAFjWrera4cGauiHh1o2eyszkOQQw6BcrmK715DvCCvV60RcGwB9r86B9YJvKtLv7fl694+WfVX+5QxHQYOZimLp04fFrG8bqJ7l81jf110orkw09Rt03mcqc89wnrmwcr53sSS+d7Ff56Q/HvX7Ni6uZJLBhOin2SLKv1xca4uCJRejn0bPc13gWXz7x48ovv/kTWpBwu0XHcb3GQq9pcAOuCQ0OoQwAAOoqBjYon/Sqo/1OcMOQfblWe/woIaTLDOMc2L0xvS/ezLnQTLmlWRvsMbUDzwAAwNpkn0jnor2u8k44JUSlzhJ+TzXBQILer3bp8J6VBh7vD4Xdphhvx+Yx7udYuHsxetg1LvqqAebgiUUGOLRdvxD3+ndj35sLp+uEoheFqLTTwrsXAAAWgc356ObYHz9Ix0EZJVjIE4s0svZjLee44PoPTEP2ifRYfl7l7dmil/H0wUCChp1/k/NiXg2F3cc4LwN0xhOLdKt97qkZrLz86GFRL6G3tH/2pVDYjb5ZgCkQ1gAAAAAAAAAAuoBgBsNAMAOATrAJ42oPuO9TBDj0okgtgPmwCbx7rjvEB9Qqal/0oyVfe/OWvXmMFroOhd37cfiAluixnSGVL0gV67/AY7FLc9el5Vnpr4WodCAYSGxn5+AnLfYin1IEN5j+HkD2ie2sWLnefYQObiOEVBlgXY2EXgcfY9fHAEbjVaxv8Xs6OP0RvJIAAGBVxQAGuvl9jc2pdGX1OP3+ZOv9l8ntn4+/Ja5LKXbPkbjXfwAHjH4hqAHA/GSf2Mra4DQvRDlhW1ItO9ZcO1j7p32jtsYHcbiV11DzWEPv+hsbeKyEPWvL3veGcMI5Yc8YaJfccbljsO1my0ihrydTmUsNLxtP5u15tbZlV9zrT5Xwe6ozcWDDdBYU4uCJRbrKGGRDlNfLNCSehTZYrc+kCMENBsH6yel1RSsLZGhFKAMALADtOxylNRRMXjR/Ua441nZccaz1TvccGVtlIbThqmNNIcAhbavnvTovEkJ2G7EtR/aJxTH15bzu0wJ9Xx2hzbVCVBo1+bYCAEAZsLaLV1Re8mtCVNqu1dYEA4lthJAntFrePBwOhd16KSy2aMFAgkfhQrW8EAq7USQUoESeWOQghzbr1+Jev2af/aAd2See5DS+lhbBbkffAQAALITsE+n8vW9w3HkvCFHJMPcYnliE1/l6Jk/FvX7MjwbTMHtYA7ndrrODELKV4yJoUftdobAbfVkW4olF9vMYx/jx//e+75Z5L9JxiodZvTAc0wDTcGKnAAAAAAAAAEA5BAMJLysYh2AG/UIwA4AOsQnkWzkNuF/NHoUJfrKvUNsjWQxvoF8xIQ7A8DqzxFk/ZFvWouaGXLe3plhQA2WaiTdgHPT8JPvEcE1u8PFRe4Og9oqP2BqF5UTaKvvE46GoVCi6EwwkGlkBIqsUIXqETVp8JRhI3Ck+ZKZ7BFbsoFhYqk0HqwTl9TT2PwAAAIB+XatvTI1VVE3QFfxgReul4orOEsBQqjQbfA46haAGAPNjhdrp5LklWm1s2lZfl7bVN4zYmwTJsX74Z0t+h7Z3I6hBB+qvVQ9WD1UMjtVPqv65n3PkHdfah1pWJht6jLhvhprH7rSFOyfsrgZ5ycaRpvF3Jquzg4t86uPlCmogt9v7j7F+aisENrjY407BeLbtc4U4HCpz0d476yJEpf2eWCTWNHpr9DEp+eWPXThLPBffKeOqae5J9nhF9okIbtCBGUIZWrW8rgAAw0uzcXLF8/E5+lWISnddH8k+kX7GrGPn8Q72mQOEkHuy5wvXCtMFNjjzE2RFtrvwoMbs9YXwBvqQHWtIxlal9i6kxay6aOHdUNi9T++vDzuuNrNrPTMfU/R9doyGNEx9bwEAAHDQzuE5T2rxQgUDibKFGs+BXu8dCIXdvTpbrwVh8xv3aVz4s1RH6TEQCru7dbhuAHoW4zC2f9pQQjCFfRyCnQgb07KThkjiMAEAgPmQfWI756CGHnb+MwRWKBtBDQAwl8OsbhWv/rUlbEwrPh8sIBhI0LFHm9oectX1PKp+V+bldQPtK881lqO9j86F+OdQ2J0s4XcBLM2Wz+etvg8AAAAAAAAAgDNWxFQZzPAp7HPdQTADgAGwAsI7yjwRj/Yo9bGJqL1TikIAgM7JPvHr1x3ib96yLxfVXNPTlVuT5yo2y7SATyjsxmADKJuz/k/sHnIs38Fj+c3Znnfrc6lTQlT61tSfBQOJdlbgv0unE7Z4GVSENhw02srLPrF4r1oM3UCIIAAAAABAedEB4MW+iRj7OlAseHJOaJP/9Lf/+I84F9l8Ne71H8NxoE8IagAwN1ZceYdWBchHbI0No/ZG16ht6fKszVmoCHrZfr/8syW/g74vnRlqHmvoXX9jA4+1smdt2fveEE44J+wZI+2TgZWjrksPDDw03c8majL9I40TFxbx9HvjXn/Z3wcsuMUKgQ3zcSfE4bu/9uS9Z1vWbux2rRwuw3o8E/f6Rz2xSDsrMnTX61Q7niYfu/gOsWBwQ9GgIrTBcH0nRoFQBgBQgTIcaZQFNPQJUWl0IU/Niux3KgIcLP95dMWxtuOqo31zjjgqS/2bIbuL3HC03AlwUDm8oYcVuo2V8LuaYee0TnYv3KGT1eKFtrEdE6KSJgWuAQAAyO1z7UEOBbufogGWPHdwMJDYRgh5gucyFoAGLh0Khd1HdLZeC8LmOu7mXAR1oWj7kiECxwD0yBOL0Hustzms2qNxrx/3MyYk+0RaJLONw5b1CFGJR3AUAACYmOwTY5xrsXC/p1WLJxbp4hSqNB16H7Y97vXrqg8BQA2yT6TtH8+rvDO3CFFJV+8XNsb8ac6L2YtC9+bFwnO3sr7bJRNLMpVvfqm7S+0NdvXWnn3gpyu1mq9C23Rpe+6xUNiNEH2AEiGsAQAAAAAAAABUxwqVdioCGqxUrNQIEMwAYDBsMmeXjifjJdmE1SQLcEBHDYAOscm93+lxbthYLDyllv9REzw+bqulhYx2obMWyomeMy86HzmUtzka1V6Nyvzo4OrM+6cJIQeEqDTjZDN2P7STFf/nMWhfr+igRDpYc38o7NbtRBTZJxaDNbwcJmECAAAAAMCHHWX/cyd0gRDSzR6F74Wo1F3KfvPEIjvYAHheknGvfy9eQ31CUAOAuck+sZX1ha3mtaFZ4nSO2hsaRmyNrrStfnneZncof46gBn278Pi1DWP1k1zOAU39tdLKZEOPmfZHzpkfGWmYSGaqsvMt5J+Ke/27Fr+G6kBgw8wyDofzzKq1G3N2u+NmTf3IreqasWv1y0YuN7iGb9QuHecY4kD7Ab87XUjDdFYM3SyENmx9/xdkzfVLnFZJ12jfyT4hKu224sarAaEMAKCCJCtA0MseKSEq9fLesewep4ONpTZ7Af4ZDdldrovOzm3zCWxQouENVx1r7gQ4qOQ1OqYjFHaX1CbJCztG7hT7KOe6cJZiBUBOYlwpAACUA6cil9yK0bGCYFzbyhcoycaGmuJ8HgwktrPxrlr3O5biNRYyhr5JgEXwxCIDHN7jNMgYISomxKl4bZFhCmIDAED5yT6R3qv8kOOKHBWiktcIL7UnFqHr+bpGi6P9+l4Ec4FZcbrefUaISrq7PwoGEl/nXN8qFQq7dTO2DtQRDCQ2zxSs//YT0rbRhomVau7qinHH8Ma/W/O3nF++PtpHGwq7tQqFADAVhDUAAAAAAAAAwKKxYqRexcNKBUn1DsEMAAbGJp0/wbkAGQ9pRYDDOSEqobANgA7IPnHroF34DylHi6qTwBUFrI6Hwm4MIoay+/Hv/sGf1OdTX+OxHqsz771ZmU/fpMEkQlQanev3WSHJLvbQ46QuXuh9yEFagKjcBQ7I7c+/4uuAMEEAAAAAAHXMFcBAC2+p2hfhiUVoYZJvcn79vh33+rkX64P5Q1ADgLmxYuw7eBSnpAENw3aXa8TW4Bqz17lm+r33Kj5x4Wzlln6LHWpJ9iBs37ey72t0WAiMDDWPNfSuv7GBx3Pbs7bsfW8IJ5wT9gyP51fbeG2m+vzGqx+d62nzNpIdr53sSS+dnM+x/Wrc69fVBD0ENsysv7G55UqD696ZfoFDiEM9IUQkhHx8IX9s8eAGbkUczUT2ibQfezkLZehgX2c8fwMAKCjDGOj351gog24KybLPuHXs881S4Q2LDWxQuulYRWQa3mBfRYbsyxf7dC+wMQ2atfuw8aCb2HhQM5/j0qzd+IgW4SgAAACzkX2i6gV1hKhk47HTg4HENjZ3RE/oef1QKOw+orP1WhA2/5EWEnxSh6vXw0LFDupgXQAMzxOL8AjreS3u9W/H0WE+sk9sZGOeeIxJOSVEpU6r72MAACiN7BO7OddpeVSISroPJPDEIu2sjVmL8aIIagDTk30ij/CTF4SotFtv+y4YSND+t+c4B6UfDoXdhzg+P2ggGEjUsD7bTbP12150X3/40gMDm9Reo85/aP3vtTerhjhs6XFCyLFQ2I36PgCLgLAGAAAAAAAAAJg3VhBFGc5gpaKjeoZgBgAT4VmYpkz62ERY+rUXk/AAtCf7xOd6nBu+lLU5q9Rc+C8qt717saKTTnD/dijsxnsbyo4OkvjC6F/8c01+sFHtdanP3ehvznZfYIPmX5rP3wYDCTo5o/iw0j0ULWxJg1wOahncIPvE4r5GoCAAAAAAwNwGZwpdYIEMpNyFRT2xyLOcC9kdiXv9Bzg+PywQghoAzIsVqdzBJjupZsK2pHrY1uQasTcJk7aq2rme93Tl1uS5is2yBQ61Ytj6STaWoJQwWmVwQ40i0KEs4Q4XHr+2Yax+ksv5oKm/VlqZbOjh8dxq63/o5r2DQrql1KfNVOZSw8vGk3l7fq4wCnqM7Ip7/XMeG1pDYMPMTq2+f2PG4ZhX398CQhxoSINbzetxCwY30M+XTrVD7YwKoQwAsAh03Nkou66l41Su0/8TopLurl9mw+6FiqEN6/QYlqa2tG1p/cWKzs9MkGrVPu8ztspCaMMNRwu56lhD0rb6hTzNICuIu5/XtpPbrzlt36LXtI/wXI4OJFkBkJNGe18CAIA5yT6RFne8qPLGDQpRSdWxqcFAgra1dunwupCe2/eHwm7dhKAtRjCQ2EkI2a3T8bsv0nVDvySAejyxCH2/P6/yLh2Me/2qz08AfZB94n6OfVEIdAYAgDnJPpHH9YvSq0JU6tL7K+GJRRrZeFEt2tNpH0Fn3OvXbL4jQDlYKayB3G4D2srGpfJCx9h9yyxtZlbD2mK3ljpueWDlqOudX7/0W2rvptYzy2Li6WVqBSqkFCENOC4BVICwBgAAAAAAAACYUzCQKIYydCKcQTcQzABgUrJPbGUdgDwLj+kB7YjsZYP4zxlx4iyAkcg+0TVoF76XcrSo+tmSIRXZH9b+2TH6Xg6F3XtxUIBehL/64jfWT77+R2qvji2fy4qZsyccJEOLWu0VotK8B0MEA4lGRWjDkxY7aF6joQ0suEHV+xc2sdJr0f0KAAAAADCdHkXogi4DGErliUV4F+fVbWFiq2PBh/vL0Df5KivUh743AE5Yf5hqxafStvq6Ybtrxaht6fL5BBZbIKghVQxoCIXdJ0v4/UXhHe4w1DzW0Lv+xgYe6+6ccIx3/Fw4weO51ZSpzDl/+TF5Y86Rd8znafM2kh1pGn9nsjo7OMuvHY97/VyL1C6G7BN3sImSoHC9rsHV41r5kBr7hIY4XKtrHL61pG78fPOqgWt1TRWpuob1vMcu3Hv9UiG0wXPhbCHEwcReE6LSdjNv4FQIZQCARSiGMaTY+LKUEJV6zbpDWXhDpyLAwZSflZO2qsoPKjzb1AxsUBqz198Ob2ABDvMMbzjKiuOq1l5Kx2qx69dOk5//UqzN+YgQlVD8AwAAdIVTIbqjQlTyqvFErD2VXi88ocbzqYj2nR4Khd1HdLZeC8KC4ffrNDiLhsd3adF+D2A1nliExzmAWoNivubEKeSpyHL9AwAAMD+yT2xkY3x5jZOkY0Xahaik+/GQnljkoIbzArfEvX4EKoHpWS2sgdxuD3qOczAqaioYTDCQ2MzaYud9XBz/nfNdOUe+Us0trktVdz/yT6t/vMinKQTph8LuYyqtFgAwCGsAAAAAAAAAgA9RhDPQx6ewh8oOwQwAFsAmXT5h8QITfWyCbSHEwcyTbAG0JvvErT3ODf/nfIpUleKy/X75Z0t+h3bm7g2F3Wol+AMsWjCQcG0cO/j9tuyZFrX3pivbn2zIyTIrCLFrMc+lCG7YqdOJYDzR4Ib9obD74EKXIfvEYqBglwX3HwAAgB6dKhaAZ+2YAKCd4ntuQIhKpirk4IlFaLvpHlbkmZdX414/BqnrTDCQoPd6r5RhrV4Nhd1dut45AAbH2nS6FvvZPmR3uUZsja60rX553mafV+F6Yu6ghmKhTDoJS9d9bQsJd7jw+LUNY/WTXCanC+eXJl1Sna6PiZQ4LMhrby24cP5ETaZ/pHHiwgw/puFVui6uKvtE+tmxSQeroivvrWzfMFpZrdr7ImuzV4xWVTePOysLz9nfsJwMLaklt6pqyKWmZnKrupYMVddw2QUWCG54SohKug1FWSgWwtSKUAYAmKe0YpyYMpTB8sXeWZH/dYoAB57tYpriHdigNGR3FUIbigEOGVtJQ6ZeZaENCyq8qQje2MQ78EoHaJ/QMbO1RwMAgLnIPpGOy/yOyhv1ohCVdi72SYKBRAdrJ9fb/XOSjes0/HU5G59LX6vndbA6U9FCqftCYbduixoCmIEnFuFRVO0pPQdfw+LIPpG+tl/ltBvXCFEJQR8AADAtzucgovei6kWeWGS3hvdwuK4Dy7BoWAMdw/JNzot5GQGc+kbrDBBCiiENC+5zf2drv3fgnrSqfb/2rG1i0/fXLvQ8dJwG6et9fDCAkSGsAQAAAAAAAMDi2OBDZTgDClyWF4IZACxI9om0k2eHmSZWqijJHsUAh1HTbBmAhpI73H+VcrZ+Uu0lHqvyne53PvBmKOzei9cT9Oab/+5f/uyzoy//rpNMzrtQ22wq8uMjrZl33mK/cliISofUeN5gINGuCG5os9ABRSedHWQT/OYs6iz7xO3s3nW7xfYTAABAOdC2yuIEwZOKIIa7vheiEtovAYAbTyyyg3PAbTLu9aNdQ2cQ1ABgXrJPXPDnepY4ncOFgIYG17itpnEhAQ1UhlRkf1b95dPXHG3DJtrRNBD9GBtfYNritjTc4Zeeq//mxuqRL9tyNqdz0l5HCpNiiMNx53ub056x1S7k+Z0TjvGOnwsn1F5vNf3yY1cfm1iSWdD2FeWc+ZGRholkpiqrfA8Y5poIgQ0fNlBT33C+uWXDYp8nT2yOkarq5WMVVctK+X3eIQ4mDW6gfSKdRi3IxEIZXCyYofj96hL+FACsrU8ZxkAIuS5EpaTVd8p8sM/fDhbgYIox3ucr3N4hm0vTMAMa3nDVseZOgMMs5l04l71GW1lQg5nHgNL38BFaAATjOAEAwAhkn7iPEPINlVd1UYXoWIDtE5z7PxeChqkdCIXdpgi4DwYSdIzpfp2OMT1KgzoWGhAGAKXzxCJ0XPqnVN5lr8a9fowpMClORWyLXhWiEo4dAAD4EM7nH6pHiErtet/znliEzhP8oUaLwzUdWIrsE2n/1dsqb/NRISp59bwfg4EE7zkItD1tVyjsRp+ZzrCg3M1qjTGUNtzo6H34hurHe8fPhcPN3fWXSvz1lCKkAcccAGcIawAAAAAAAACwGFYAtBjM0IlwhrJCMAOAxck+kXb0+DF5fV5SbBLvOTqJF5N3AeZGJwT3OR84MGGraVBzd42RuvFDtc/QokV7Q2E33ougO8FAYvO6yWP/84aJI6pP8BcyF07X5gcG2T93CVFJ1QJowUCC3qt1WTCQoEcR3EDvk+hnWCPbD8WQBlU/ywAAACxGGb7QPdP3t0Eo0gAAIABJREFURi0YCADm44lFaJGzb3LesG/Hvf5eHD76gaAGAHOSfSIt5vz1+faJTdiWVA/bmlyj9qUuNdq4TRbUcKo43sBqk688scgeViB8VoVAhwl7Idig1HAH4fzSpEuqk8uzZbMbah5r6F1/Y9EF+am8jWTHayd70ksn+9l/0YnohinEhsCGD/tl8+qOwZo6YSF/S0MaRiurl6UrKpcRm82+2HXhEeLwsQtnyccuvlP4WjMxtthVLDfdT1hHKAMALFCSjetKsXFdaSEqoc2FAzbmcB0LcNA08EBN5QhsULrpWFUIbZAda8iQffl0v0L7VHaGwu6D0/2Q3ed2siIvc96fGFia3XsewXsaAACMRvaJPIp0bxGiUmwhf8iKhHXp8NrhFBuzafh25mAgQceb0pCOr+pgdaYaZCEN015fAoD6PLEIDdd5XuUn7ol7/bovdgwLx+n6oahJiEqYPw4AAHfhfO4hi7mP1YonFulktVa0mDN4Ku71d+pjywG0I/tEtYtOGyGsgQ5W2sM5aJ0Wzj/A8fmhROz1LvbdqjrGaWJJpvLNL3WrPsdgxYX6xP3HhcQcv5Zkx9lJtZcPADNDWAMAAAAAAACAybEin52KgAYrFfrUEwQzAJQoGEjQwefb2CB02nlwzmxFwGWfSDt7dqCAhGro8dFbDHFQu2A2gNG99eXPfGPcVvNHam9Gj+Ph/hPV238aCru/hYME9CoYSOz5dDq8pSl3RdXBejW5Qfme7Pni9UlSiEp7ee2CYCDhVQQ3WCKooCF3lXxkInbpsfF/JLX5gVU6WCUAAAC9GmTtjdTATN8LUQmDMgE0RsPjCCFPsKXS9+DxUNiNQlbz5IlFnuVccO5I3OvHBAkdQVADgDnJPrEYTFrSpLe0rb5u2O5aMWarbZy0VdWW8CclMUFQQ1oRzmDpa3xPLLKZR7EtGuhQmXZMPn6wPUSbgVmBcsKO3eL3NeUqWC5tuNEx7BpbUDH+mWQqc6mRpvE3jm/d8aeqrqwGENhwt3RFVfW7q9Z8dD5/o3ZIw2wmHE5yra6RXK9vLAQ3XKff1zWQcWflvJ+LBjZ88eTRUw9c7lljI/mlPNeboxeEqLS73CuBUAYAWIBiGEOv4mufEJUsFR6mJ2wcYjG0YZ3RPscvOjs3D9pXrC/3emRslYXghhuOlsLXKeENR1loQ+E+jN3j0nuSR8q2wtqgY2KO03tQvMcBAMCoZJ/YzWEO3RohKnXP5w9YobAnWKEwPUmzkAZTtDezfsZ9Oh1n+yq7psQ8QgANeWIROgb/dQ5LXBP3+ud1LgDjYP1PvMat6KJvAAAA9IPzeYcYoZi6JxZpZOOhtKiBQ+u9dMa9ftybgeVYMayB/Kre1tOcF7PXbLVwjITVJtrK+m+5BXP8Ynv3b43XZlQN4a0acaYeP9j+g2l+VBwrfCgUdqNuDkAZIKwBAAAAAAAAwGRYY7FX8bBEMU+dQTADwAIoQhpmKqiQNEN4g+wTt7Lt5JnCbnVpRYADDW9ABydY2rGvbD9iI2Sl2vsgVv17b19ztP3XUNh9zOr7GPQrGEhsW5q79tufTf/VvAoUlaJt8vRxB8lk2K++rEUR5GAgsZ0VtnuS97K0JmbOkvsn46RjMk6W5q6ZbfMAAADm46jid2PTfI/wBQAdU4Q0TDcQO4XghtLxKsKsQNsQd8W9fhQa0wkENQCYk+wTd5RSgGrI7nKN2Bpd47baxqzNWaX2zhgjdeNvVH/pXQMGNeD6YQaeWGTPDNdcang17vXP2ffBiqwVi+FyDXfIVOacyY9f4RJM0HCl5p2W9xr/kxH74BHYcDdpmdB2rb5JnOv3tAxpmMsCQhxoYbvdxUJYsk/czsKujRh4/ahWbTyyT3Sxz8x1CGUAgBL1KcIY6GMU46+MQRHe0Mm+8rpmVs1N+8pVsmONe8xWp/rYpoUas9ffDm9gAQ7U+vF/OfqJse+/V0nGynr9xFmKBTQcE6ISCn8AAIDhcShCR4SoZJvP7wcDiQ425lNv12WnWFCD4ftKg4FEO90WQsindLA6U9H5hV2hsDs2vz8DADWwwr83OezMp+Je/368SObFKfCJGhSiUqPV9y8AANwm+0QtQgrmHTioNU8sEtPofm6Q1t+Je/2YhwGWZNWwBnK77ehZ1m/KS18o7P5WebfSeli766e1Cth//5OXN6daR9ar/bwf/f/a91emnRPsn7R/9ggbL4w5LgBlhLAGAAAAAAAAAIMLBhLKYIZOhDNoDsEMAIvEOkK2zbOTq1iM/xz9aoTiJLJPpNvnx4T3suljk4cLIQ5CVEJBG7CEH//u7z9Zn7/xv6q9rcO2ppF/rPnjn4TC7l04kkDPWBjUnsfG/6FtbSYxZ4Gi+Viauy4tz0o97E8KRT6FqKTJAIhgINGoKD5kyOCGqvxIIZihGNJQlcfYEQAAMKdr9Y2pysxkf0N65CZrQyy2Hd75XohKmJQNYHBzhDRMB4WXZ+GJRWhRuT2cA29LKsIM2kBQA4D5sKLQX5+pXyxLnM5hu8uVttU1pG31y/M2u4PXTrhub00dq/Ylx221mRJ+XQ9on9Yxo/SBlgvnYKdU3OtXvf9jhnCHraVc81zuGGy72TKiaht30doTK96sGnGOEUIOh8LuQzyWwRMCG34l43A4z6xauzFnn/4zVU8hDXOZGuIwVlH5Q2c2+5/++iv/y3vT/SkrZGG0fhPax9QpRCXVxplNCWUofs9zwjkAGFuajaVKsQcdh5dCgXZzYeeGdYoAB57tbYtyxbG247pDfDxDKur0uo52kp1w5foTLZn3z+hgddREAxpOIiwcAADMRPaJdI7d6ypv0ikhKnWW8ousLfCJUsKMNZZmIQ2mOO8HA4ndhJCdOp1L+QIhZB/mGAKUlycWOcmhcCMdb4JxBiYm+0R6bvkOpy18SohKCPsAAAB6vqH3M89z3BMvClFpp573tCcW2c9x7M9UCNwCS7N4WAPtL32Ocz+pIcfdGQ1rc+2c57wdVVxrH1qV/Lj8hNrP23pmWUw8vSxKxwybpc0WwAwQ1gAAAAAAAABgIKwgZzGUwatRSjj8CoIZAFTECphtUmliuDK8gb43dTNpVPaJtNNnBwpE6E5aEd5Aj5s+rQpsA2jpJ7/71H+ry9/crPYi36v4xIWzlVv2hMJuFDUE3aMFH6vyI7/2mdHvPlZNhqvUWl9HPjPeljl9QvFfR4SodEDr/REMJNpZ8aEuDpNJVNWQu1oIZqAhDa2Zd/S8qgAAADO6VV07PFhTN0R/fqNm6VCqrqHw/fnmltRQdc0E/f50y33Xb9QunVA8RyHYKe71474TwGQWENIwHQQ3TOGJRXZwLlySjHv9ezk+P8xDMJDgOcl9Ni+Ewu7deK0A1Cf7xE7WVnXX5LYJ25LqYVuTa8xW1zBmr9NkohRry+43wMt8il0PnNNTP6feeWKRPRwn3WkS7MQmg3bN1Wee/Li8MVOZVa19u6guVS2Lp5clFf9Fw0JeMtpxKPvErSz8wvKF6fsbm1uuNLjuVf6fkUIapnINDyY7ZCmxdGxkiP2o2M9fLC7eK0Ql5TFstOCGBRXIQCgDAMxTMYyBfl6Oss9QjJOyKNkntrJzRjHAQVfhDZO2qsrLjvsfHrALD+eIo1IHqzQtJ5kcbsm8H2vKXb6kw9UrVTEo8Dg+DwAAwIxkn0jbBX6o8qaVVIQuGEh0svkjmhYMK8EpFtRg+HN/MJCgr8M+nY6ZPUoDJFBcDUAfPLEI/az4hsorcyru9ZcU3gPGxPoZujmFAfUIUakdhwYAgLXJPrGdjRPiFTw3SAhpF6KSbuugeGIROlbmFY0W92Lc69d1cAUAb7JPHFD7M0eISjajvHDBQGIbm/PBCx3P9C2M/eSDjbHcxmqtla1/+/jvnO/KOfKq9mE7MvbvH/u078tqPicALB7CGgAAAAAAAAB0TBHOUHzouvCmySCYAYATlQqYzaU4wTRZzqImsk/cxoqK6WpSI8yoeNwUQhyEqITieGBotPP5iyP/W8xJJh1qb8dPlgR+9Off+8IzOELACIKBBC0w8GxL5v2GzePRDWqucnO25936XEp5nfHtcp4/WHDDTlaAqK1c66G0InuRPDzxL0TMnCUrst16WCUAAIC7TDgrJuSlywrnc2X4glzfNHS5cfkw/V5qEoYuNLcMLXLP0UmaL2HvA5gDxzZOywc3eGIRWjDum5wXQwN0MBlCB4KBxH5CyFfLsCZPhcLu/brbIQAmIPvEuwJ30rb6uhF7kyttq3dN2qpqtdrCMVI3/kb1l9695mgb1uleTSvGIyTNUByrHDyxyGaO55FU3OvfpdVmzTYhdGDlqOvSAwMP8Vhu69llp+uvVQ9O+W96fB4wcmC31QvZn1p9/8aMw1EI9xipXNJskpCGuSgLkdOv12mIgyK4gRZ6+FT5tmhWXxSi0sHpfsHqx7JFfSiQZJbdQO+fa2b42UzHCf391VbfySaWnHoMYewTzEX2icrgBt2cY9K2pfV9zgc3jdgadF28sDo/fLktcza2JH9rsX1IWineix7B5wMAAJid7BNpYPfzKm/mC0JUmjEIPBhI1LA2CL3N/UuzkAbDhweweZa7ORReVwNtZ90dCrv36XDdACzLE4vwCO+hmuJeP+Yamxina4miLUJUill9HwMAWJnsE2n/8JMcd8FTQlTS7fhITyxCi22/rdHiXot7/ds1WhaAbsk+Mab2uBkjhTWQ2+1Kz3EeL0HHge7l+PyWw0Jxt+qlH/vUb/R9Ztg1pnb/dU/c60egH4DOIKwBAAAAAAAAQEdYYU1lOIMuimtaAIIZADhjA89pR8gmziENM1GGN5zkXfCETWLsKtO2grqSigCHXiEqoYgbGMbf/t7ub6/JnPyS2us7bGsa+ceaP/6zUNh9BEcDGEUwkNhDz8tb0vsfWp7rVe38XJkfHVydef+04r/6hKj0LT3sFjYQpYs9GrRablV+pBDM0DEZJ/dPxklVHnXmAABAe73LhMt0oemKyvG+JqFwHzdStWTigxWrC9/fqq4df0tcV477u5fjXr/hJ78DWJlGQbRFlgxu8MQiz3IeUH847vUf4vj8UCIENQCYCysm/XU6mW3E1tgwam90jdqWLs/anFVab+h1e2vqWLUvOW6rzehsJ6cU4Qy4L1CJJxbZw/Ha7NW4169ZYEEwkKBFt5+euj0XHr+2Yax+UvU2XueEY7zj58KJWX7lFCviZppGXqsUvr9e1+Dqca18aKyismG4qmaVDlapZAsIaZiLMsShkhDyGCHkCzormkgL+T1ICKlnxfdd7CtCGcxtulAG2s9Yts9cxWfkdBAMoR/KY4d+f46FMmA8E6hC9omd7H29Tg/v4Zv2lasuO+/fNEGqdT0Oc1nuUmJl9oMzFfnxCR2sznTotdBxISoZNpANAABgvjgVvpyx2KVivOYSnb1YdKz3YTO08QUDCVpcc59O51q+RgjZGQq7u3WwLgCg4IlFaMjLTQ775Itxr3/aEF4wB9kn0rn+FzltzFEhKnlxqAAAWJPsE+k54HWOG39KiEqdet25nliknY2f0mKuIx334kXIFgDCGsjttiXaB/os58W8jLGhi8PqEm1itYl01Ud80X394UsPDGzi8NSPYq4hgL4grAEAAAAAAACgjNhgTNqh1olwBs0gmAFAQ8FAgnaAbGadIXoaeN7HJqsmWUEUVQafs4nLfp1N7Ad1pRTHDw1vSGL/gh7Rz98t6f0H1SxKX3S2wnvmvcpfe8pMxXnA/FhB1a8uzV2r3pr+3mNOMulQa6NXZ957szKfHlP81wEhKukqzIRNUis+VB/M2JC7WghouL8Q0DBbbS8AAICFKYYvUB+saL1U/P5k6/13/j/W8dileTy5slDfqKIo2nOc2y9o8axdca8f19IABsP6c3aUccC3JYIbPLHIZs7F++l+/DY+h8sPQQ0A5vLeDs/HHCTzH9L2pavStvrleZtdtba3+Xqv4hMXzlZu6dfRDu4rjk+wUviSljhfP6TiXv8uLbeHTTbcwSYckvHaTPX5jVc/ymNZwvmlSZdUJ8/xaykW2GDqPlHWz9+qeLiMXmD8vZXtG/obmzuzdke1DlZnThxCGuZCA31aCCEbCCFrNFrmbGghvx/rYD1AfboLZdADBEOUpI+1XSfZsXMdxw5oTfaJNex9VwxwKFsxjCuOtR1XHe2bc8RRqdcDwU6yEyuy3cfuyZ7Xy7Uz/ew4Tgg5hkAXAACwIh4F6AghW4SoFFP+B2vP69Lh/BHTtOsFAwlaaH0/h/ANNfSwkAYUbAfQMU8scpLD5/RROi4fhX/NTfaJPMe2PCpEJRTjBACwINkn8rg2UfrQvatesCCtmEb30IMsqAHnWwCENdwRDCR2sLo3vBTmjKlVf4HV6llsH+1yFZ5DjfVQ4znKaqRpvP7k53u/zGEdnol7/fsMtCsATA9hDQAAAAAAAAAaCgYSymAGr0aJ31aGYAaAMmEdP9uKRSQMoFh8/+RCB6TLPnGbDkMpQBvJ4oR6ehxhciPowZ//u3/+w8+N/uVOHqvyoyVf+/Pd3/uNv8MLDUbCJsTtoefp9ROvtzw4+bN71Vr9+tyN/uZs9wXFfxUG1OixUAabtFYMbVjUxLUV2YukoxDOECcrst3qrSQAAFjCtfrG1FhF1QTd1r7G5lS6snqcfn++uSU1VF1T+P/TLfddv1G7dGKR+yOpCGboZYU2ZyyQ6olFaNvt05xfg1Nxr/8lzssAAJUEA4kO1s45UzHAcjBlcIMnFrlz38ZxMS9j4lX5IagBwBxYX+C6LelXfn95rm9zuTdqjNSNv1H9pXevOdqGdbCDTyn6HdFnpAFPLLKH40S+V+Ne/zGtt4kFEO/of+jmRwaFdIvaz2/P2rL3vSGccE7YMyX+yeFQ2H1I7fXQO9knFoMbikEOhglx6G1a0fruqns/p4NVmVUZQhqmU08IaSeEPEwIqSvjetBiymfKuHxYvCRCGfTHAMEQH2rDFqISQr5Al9j7aR17f2ge3jBpq6rsczz4+KB9xXo9HyGVZCy1MvPB8abc5fmEjKupGNBg6sA1AACAucg+kUchnSYhKt2Zk8YC/7t0OH/kCGvPM/w9aTCQoGPhd+t0/uWLdN0wTxFA/zyxCK8xCqdYAWB8DpiU7BPpuf5tTlv3qhCVuqy+jwEArEb2ifSz/xWOm/2aEJW263W3crwum86WuNevy9AKgHLgFGx6V1uZESjnmXNcXVpvZNQM4QTwYSd+++JXJquyao8vOxr3+r3Y3QD6gbAGAAAAAAAAAI5YOEPxoXbDNdwNwQwAOsCKl202UEjDTJLscW6u8AbZJ3awQfboLIOitGIS/jlMwAet0cEC6yaP/e2GiSOqF5JM2Vdf+ZclTz1hhgk8YD3BQKKreI3yudG/fKwuf7NWjZ1gy+eyYubsCQfJKItanRKikq6LMLPghi72eKSUv6HBDDSgQcycJUtz1/ivJAAAGMat6trhwZq6QlG9GzVLh1J1DYXv5fqmocuNywvFUlUKX5hOsZBVkg1oLRRCi3v9C7pm9cQiXy/13LgIKBYOoHM6DWmYjmmCGzyxyA4WhstLMu717y3vVgKCGgCMLRhItLJz4+aluWv3fXws8pBabWyLcd3emjpW7UuO22pLLTqvtjQ7HyfZOAW0n2vME4ts5nh+oaF/u8qxXf/Tf46tvnrv0AFbnjSq/dx1qWpZPL1svsVb6UTSlxBCYowQh1+0PehN1TXo9n5GJyEN0ykWoW4vQ3ADbTc7xO7zQN+UxfXPseL6eN2g1GCIUUUoA44bMDR2TdShCHDQpEhx2ra0vse53jtmq1up5/1Xn08lV2U+SCzJ39LieqePFWU+iXGKAAAAhesU2p52U+VdMShEpUI7HSvqVvK4Sw3Re4z9c81/MQIWhLFPp3MxaXH2naGwG0U/AQzCE4vwLIpM5zRvx1hA8+JU1LZojRCVuq2+jwEArILdq3ZzDqPT7bnFE4vQIL7nNVrcM3Gvf59GywIwBNkn8hi/vUWISoZrH2HtTk/rYFXAgN7/5OXNqdaR9RzWvAlhkAD6gbAGAAAAAAAAAJWwQpfFYIZOhDNwhWAGAJ0xUPGyhTrFJlgni0XP2ATbLp1vc5JN5idsUmSrlhMj4S59bLJ1IcRBiEqGLp4H+hYMJLZ9Oh3e1ZS7ovrArX5Hxyu//f/87/8HDgEwomAgQc/de+iqN2d76rxjf/OoWpvhyvYnG3KyPOW/9wpRyRCT3oKBBC06tJ1OICOEtBX/vyo/UghnuL/wOFHelQQAAE1NOCsm5KXLCoWi0hWV431NQuH7kaolEx+sWF34XmoShi40t2hZUE9ZBK2XFcxU/d7KE4vUsGsGnvfOtJjrroUGSgAAPwZv5zRscIMnFqHtlt/kvBj6uYsiiGWEoAYAY2IBDZvYGIhC4dk1kyddnRP/tM5JJh3l3qj3Kj5x4Wzllv4yLDqlCGdA8RUd8MQieziG678a9/qPab2VxRCKmsHKtqoRp6jmc689seLNqhHn2AL+lN7PHgiF3ZrvDyPQS4jDuLOi8l/v7/xK1u6o1Ntu03FIw3TKEdxAzy8/0GhZMDeEMgAAzAO7Fupkbavc21dv2leu6nc+4M2QCq0DlkpmJ9mJxpx8ZmX2gzMV+XG1A83ptTm9Lj+OsYgAAAB3k30indf3usq75agQlbysmFuXDudj0OCmw2YIEw4GEloW8JyvF0Jh926drhsAzMATi9A23osc988gnVOOwAZzkn0inWPxQ04b94IQlXBeAQCwCNkn0vCAb3DcWt2eVzyxCM/z6VR0jE+XRssCMAzZJ/JobzFkWAO53f70rInr4gBHl9cNtF94/PpnOCzhi3Gv/yBeOwB9QFgDAAAAAAAAwAKxYpadioCGR7AvuUAwA4COBQMJWiDiCY6FL3SnOj88+fj4/3A8OPHz1iX5ocEl+aFhHa5moUiGEJWmLZLBgibWscIQ68pRIAIKr9Gd8Ab6VYhKKNIJixYMJGoacldDn0n/359Ue29mSEX2h7V/5jHDRB6wLuUgmo1jB+9ty55pUWNnVOTHR1oz77w15b9pwZZdRtvZh//tH/sdZPLrYubsx5Zne3VXyAkAABaud5lwufjHH6xovUSmhC/cqq4df0tcV+5iYylF0dNRdr/Up3WogScWoe2+T3NezKm41/8S52UAQIlMGEZrqOAGTyzyHOc2ysNxr/9QCb8HnCCoAcBYWLGp4uOuglNqtqktxhipG3+j+kvvXnO0adlP18cKNRsuGMkKisEGnDaVhgVq3tarvEaqGHM01A5UrrPlbFWLfd7qoYrBe3/RfHqRT3OKELIffUalkX0ivc9YzsZVdLCv3MZYvH9P+8M9rns28Xr+hTBYSMN0imMs6OvHu+8kwR6gHYQyAABwwK6BOnmPT5Sc690DduHhHNFfUFWRk0wOL89Kv7gnez6pwtPRa/GTM40NBQAAgMJ1yE5CyHfU3BWTturvhxr++y902J+cYu10alxnlFUwkKBzM2m/XpsOV+8oDekIhd3dOlgXAFgATyzSrcHny1Nxrx/jE0xI9om8jh8a9NEuRCXMlwcAMDnZJ/IOj6L1WDr1eE5h8zJojZgGDRZH52d0arAcAMNBWMPdgoEEHQf0nA4DWcEAfv67v/xDDmv5Ytzr34nXH0AfnHgdAAAAAAAAAErDwhm8ioceB/8Z3WAxkAHBDAD6RQuBs0l0lgppoNZMnnStn3h9bTUZrhpw3EMGyD3Els9ll+SHri/JDw8uyd8arMynx8q8mkdo8bHZCv+zSeV3TdZjkyNbFZMjLfXalsESNlnjzoQN2SempoQ3oNAPLMTW1sw7XCY4j9nq4ii6AyZwvPjZe6rq30gto+/f4ySTjsVu1qStqjZtq6+bEuLkkn3iNiEq6b4gqOwTt7N73e0fxb3udF5j96lUBTuG1uhrFe9CQ6HeIYRcWewTHez85NfSFVVC/fhozxOnf27mCUStJrkGTiuuJ6EE486KiovLW9ZcaVh2b85mN80YmpOt998JZYh1PHapvGszI2UBtF5W+FI3x27c6z/piUVOcQ7ofYROPqDL4rgMAJiDCUMaiuh1zVb6CAYSug5u8MQiWzkHNaRYmymUQTCQaKS3FoSQT2m8dNrn6A2F3TjPApRA0ffXOdM18NLcteqPj0UeqsvfrC33Pr1ub00dq/Ylx221GQ0Wl2TnUTp2AUWbdSzu9R/zxCK8+q9dNAyCLkOrPeCJRTqU10iT1dnBwRVjb9XdqOpwTtgXtY0NV5fIKqwi/az4Jg1kMkMhON6EqJRknyd34RXicKnB9bBett0EIQ1FxTEW3WysDE9uQght39Nru56R9SnaIxHKAADAmfIaSPaJNYqxcp1qXreLmbOJlbYPzkjO9ZuHbC5dtvNmSEXdFcda74BdWNeSPXesPpea7/knxca7HMO5CwAAoCSNau+mZIWHjhe8pbPdX5g3YvSx3aw/cV+Zgt/nQvscdyIcHsAUYhp8zrziiUUa417/PhwypkML277CYaNo0ertLKwIAADMjfdn/W6dBjUUx49qEdQwyOZGAgDMiY4FDQYSRzQYAwTmc9yetW3IOfIfU3nL6L0hwhoAdMKWz+fxWgAAAAAAAABMIxhIdE4JZ9CiE8hqepThDCiYAqBvrFDLVvawVEo4LUCzcfxgR1PuypznAkc+M16VHxkoQ3gDndi4X63JeLJPdLGita1TQwVAU3fCG+hXTLaE2bDP6T2fG/3Lj/MomFWRG3v68e//01G8CGB0wUBiT3HiPw1ienzi0ENqbFJNblC+J3t+uqJUu/T2+S37xEY2eMPLvuJ+V+GWvZlIzvV0giX5oMJzik0EPPgfB75Ij5UdOr8WPkwnYc4W3FUqTyxCJ5Y8r/j1Z8w+gYgVR/s05+LsWigW61DlWDAjTyxi2ftbjRXDGOj5cZTd2/REDHhdAAAgAElEQVTFvX5DHJfsONnD+RihISu7jLJPAMzExCENc9FVcINGn7UvIxinPFhhlVgZrq8R1ABQgmAg4WIFMjfPFZpD29A6J/5pnRqhp4v1XsUnLpyt3NLPeTGnFAENuFY3EBqowLHQDg0Z3KXV3vDEIl2EkE3T/ax6uEKoHqpYa8uTeb8nnROO8Y6fCydUWclfoQXhdB9abCSLCXG41Lh81ZmW+8o+kbghPdz90KWLx00Q0jAd+lmznvMyaDj43xFCJjgvx6yUoQy9LJQBIccAADrCxiauU4xLVCW8YcjucvU71m0es9Wt1PPrXZ9PJcXM2WMV+fHZzvVpdm96jAVfAAAAQIlknxhTO0j8UM0zh9+t/KReghXpfe9+PQb1z1cwkCgWqNbjGNbXCCFdobBbdwVPAWD+WL8Lj2L703k17vV34WUyF9knDnA6X/UIUandyvsWAMDsZJ9I5+69znEzjwpRSZchBZ5YRPX78xkUxoxirDDAzGSfOHWeqBq+KESlg0be7cq55gCzuDNXl44p9sQiNFThOxx22Jq419+NFwKg/BDWAAAAAAAAAMAEA4liKEMnwhm4KYYzxFg4AxoJAQyAFWvZxj4fLVXEsio/4vzIxNGWtZmEuNDnqMiPj1TnRwaq80ODNbnBQQfJZNRdy0LnzgEhKnEfRCD7xGJwQ6uakyRhXlJsgsU5Ft6AiZhwRzCQ2Nqc7fl979jfPKr2XqnMjfS5v/+Tz2BvgxkEAwl6XXOnUNGn0+ENpQQylaJt8vTxac71SSEq7S33rpN9YjsLZtiu0UBHQ7nqaKfBDIWAhquONXet+rLcJXLf5Jtkdea97vrc9e4ZQjnKjRYRjKgVDOKJRei1/9tT/tsyg1dZcZBtMxXEMxBawOMYC21A6BdCGnhKKoIZelkBS1MUP2Ofh09zXsypuNf/EudlAABj4ZCG6ZQ9uGG2IsQqSca9/rLfj1kRghoA9CkYSLSyz911cwU0FG0cO3hvW/ZMS7k3KEMqsj+r/vLpa462YQ5Pn1aEM+Dzw+A8sQjPCZS0uM4x3nuItV/MOpnPMWmvrrtZ9ZA9Y5tXeHdTf620MtnQs+iV/DDaf/lSKOxGGxRH04Q4tE5t43rj3vWfGVxSV7aiPnXjo5fXXL+UWDVwXS/FC3moZPeVvMdLJNk1NcwMoQwAACbB+mc7FQEOi+rHu+YQ22XH2s0ZUlGn1z1kJ9mJxpx8RsycTUz5ET2/HaH3qAjmBwAAWBjZJ9K5am1q7r4DdX/+g4vOR/XQ9mWK4NRgINHOQhr0OJa1h4U0oF0GwEQ8sQj93Lmo4RYVAl/iXj8CX0yCU3HboqeEqLTfivsVAMAKeNyjTrFFiEq6u3/xxCL03PZVjRb3VNzrx7kUYBayT+QRYPeCEJV2G3m/s7klz+pgVUCfkiyg4a5xxTPMvVbDM3Gvfx+OBYDyQ1gDAAAAAAAAWJYinMGLQpXcnJoSzoDBRQAGoghpMHqB0gVZN3lM6JiIt1WT4So1n1cZ3lCfSy12wP5hVni1LJPyZJ9Yw4r5rJupGARoohjeUPiKQrzWFQwk9mwcO/hRHoWzXNm+vR2RX3zP6vsYzIFd4+wpbszS3LXqz6b/6qNqbFxj9sqFZblL/dP86FUhKnEv4jWV7BO9ioAGngM7DemDio1Ecq4vhDQM2ld8aBOc+XHy4OTPyarMubv+nxZNqM0PdC/NXetuzkrlDiGk5/39agc4eWKRkzMUVaUFxTvVXJaesetdsxT2P87uHSxZqAohDaoohjHQz5tRVvysL+71m75IjCcW+boGhaZftkIYDkA5seLUOxDSMCPNgxs8sYgWkxt2xb1+tJVpDEENAPoSDCQ6WcHLeYVw0zazj49FHqrL35xXIXgebtrvGfzX6q+8O26rVTMQveyhRcCHJxbZzHGyNw0n3MX7pfPEIncFDs+mZrCyrWrEKZb63GtPrHizasQ5xmO9WfDJgVDYrXlbuJUp+uxbf9nc8sBP73/0L5uHB0hlVs2PzLlZJKRBiZ5Tf0uD5fyYEFLufgg9QCgDAIDFyD6xld3Hdi60TXfSVlV52XH/wwN24eEccVTqdQ86yeTwPZlf/mh5rvcAQvgBAADUIftE1Yvo/JfGH363zC8PvTfeb4b27GAgsZMQQgv5NehgdaZ6gRCyD/MfAczJE4sMaPzZQ+dWexHYYA6yT6RjYW5y2pijQlTyWm2fAgBYgewT6f3PdzhuKp2v2KW3XemJRXgUhZ/Ji3Gvf6dGywIwLDbP+HWV19/wYQ3kdltVl1Xr6cC00mxs8aFQ2D1jv60nFuERxvRa3OvfjpcFoPwQ1gAAAAAAAACWwIqCKMMZtC4OYhVHWfGVkwhnADAulgC+zaqFy5qzPXWPTPz43qbcFU0GYFbmRwer86ODS3K3BmrzA4Ml/lmSFeXV3cQ8NlGyVRHesFoHq2U1aXaM9BZDHMoV6AHaCQYSheJD20a+s1HtkJma3KB8T/b876HgBZjJ1AE0j43/Q9vaTKLkglYzceQz422Z0yem+TH9bN7F+/OYTQJQBjTocTJb2YzbagrBDMkKTyGkYdw2fa3BFdmLRMheLHx15idmXV0a3FCfSyWX53rPqRDENR9pVqjhkNpP7IlF6CC552f5lRfiXr/hB9LNByt41smK5JVc2FKn6HXiIbUDPvQKIQ0LklQEM/SyQpSWvg5kx9EezsdQmhUUx70bgMqsHki7QJoUr/bEIs9xbjs8HPf6Vb9ehtkhqAGg/IKBRPEetljQct7XsWsmT7o6J/5pnZNMOsq9Qeedbumtqs/3qPR0tJgVLSJ/crZJVGB8nlhkD8c2nL1xr59ru8p8179izNFQO1C5zpazzdo/VJeqlsXTy7RoEzrFCsfhHldjyrbdqswEWT48SJYPD5D6sVGyfGiA8AhxsGBIg9LDGtxr0k6KHxBChjgvRy+UgbGF9kn0UQMAALndX0vvb9exe915tSmmbUvrLznvdw/ZXLobD3vV0U76nQ+Qq441hI3B7wqF3QhqAgAwKRYuX86xK3T5NWVePvftf3DyZ6t+c2RvUM3nvGVvTr289Ls/UPM55+lwKOw2fL8nC5fer9M5nafYtRj6GgFMzBOLHCSEPKnxFtJ+zu1xrx+fLyYg+8T9HEPjtwhRKWapHQoAYHJsjl83x7l9dMxkuxCVdFXPxROL0Hu/tzVaHIpaA5QIYQ0zY2Nuec8ZA/2j45SOsDk0c4579MQiPO4PB+NefyOOFYDyQ1gDAAAAAAAAmFIwkGhXBDN0IpyBi8FiKAMLZsBAEACDY4W+N1k1pKEqP+J8ZPwnYlv2TEs516MY3lCbu5lakh8anvJj2slzQIhKhhqkqZgs2brQwkCwaH2s0Co9dpIIbzCfYCCxpznb0+Yd+5tH1d44V6b3px0HEl+z+j4Gc2HhVM8qN0qtsJPmbM+7MxTtp4X1D6i9I2Wf2M6CGbxlmECie7S4AQ1mOFP568UCB9NalrtEWjLvlxTQMBMnmRxemrt2rjkrJZfkb/EsnEQnBkZ4BHfNY1DslrjXb8l2ANknmuW+iR4/h4WodEwH66I6hDTMSVn0bJTdK/QhKGBm7PPxac6LORX3+l/ivAwAy0BIg2q4BDd4YhF6jt7Beb2/jXObthDUAFA+7LynDGhYsI1jB+8td18ZlSEV2RNV29/pdz5QatD5TE6xc9lJFI63Dk8sspljoZRk3Ovfy2tnLvT+05azOetuVHU4J+wzhjy0nl12uv5a9WLfU6VKscAGSwSG6oUnFqGFHtpmWx21QhwsHtKgRO87V3JexmUawMt5GVqbGspw3SoBwwAAsHgsaL+DPdaVGt5w075y1WXn/ZsmSHVZw/nH7PWk27mhMH4hbauf7ldeJITsDoXduiqwBQDqQLF+bYr163j5oAH3+N+3fzr93z6j5pKuO1ovf6/+L8pxb97H2tgMHWTI+hBp4b5v6GB1phpk11779LVaAMCDJxbZSQj5Thl2bmFMAwIbjI/N27jIaUNeFaJSl5X2JwCA2XEO+SF6LJLuiUXa2TgtXgEVSqfYNRba0gFKgLCG2bE6Ozw/s0G/6Pnk2HznIXhiEXr/9gqHrbLsvG0APUFYAwAAAAAAAJhCMJAoFh4oBjTMOvEUFmSwGMzAwhkwOAjAJFjn0RO0HrdVX9N1k8eEhyZ+utZJJh06WJ07bPlctio/OlCRH7uasVUeXpn9ZcQMRfZln+hSTJRstWpASJndKU6E4AbjKw4C+ET6+x0rcx8Iam4QDZBZnXl/jxCVzFYABKAQcqK8/mnJvN+weTy6YbF7pjo3nFqVTb47w4/3qlFsRvaJ9P63i93/Ipxwil7nR0iywkM+qPCQQfuKGX+vPnedtGTPESF7kVTn1M1WqCRjqYbc1eSy7KVuFYMb+lhIA7eCRZ5Y5GSJx1QPbYex8qBWFkj2aRO8B2khrOMsUMbw14UIafiQpKLwGZ24nYp7/YaewF1Onljk6xq851/GpEyAxUFIA1eqBDew8/UezudqfJ5qDEENANpjhd2K4yRKKkw5m6W5a9UfH4s8VJe/WVvul/Om/Z7Bf63+yrvjttr5VQ6/LV3s/6D3RAhosC5PLLKP4/XG3rjXz6WNzhOLPLuYvtPq4QqheqhirS1P7ur3dk44xjt+LpxQZSXn53Ao7EYfkwYWOwFUGeJAv9anR0jL4PUP/R5CGj6EVlj+rUK3AF+0DfeMnja8RAhlAAAA7hRjEYsBDrOOg73iWNtx1dG+OUccvM/fd2RslYVwhn7nA+SGfVUpf0LbvHaGwu792qwhWAVrT+pAsX6MJQAwsy+M/oV7/cTrbjU38WzllsTf1/xJQuPdZop2tWAgQce47tfpPM+jdBxuKOzu1sG6AIAGWGD222Xc10/FvX7c5xmc7BPp2JhPcdqKNUJUwnkJAMAE2Lw/ntcdPUJUatfTnvLEIlqOIUUYFsA8cQpreFGISjvN8loEA4lFjdsDQ6HjjI/R+bShsDu1kBVn572bHDb6xbjXb5r3FYBROfHKAQAAAAAAgBGxcAav4qFFurbV9CjCGU6iyAmAuQQDiWIBy01WDmlozvbUPTLx43ubcld0eR7J2+yOPseDJFH1heFb9uaPFQYpBBJJVmDm3EI7f8pNiEop1oF1Byt226oIcbDscamRR9jjq7JPTCqCGwx5TEHh85w057qXq70rmrJXeqa+XwFM5AghZEdxc/qdDwxen2xNLc/1LuocNGavc03kllRX5tNj0/zYTwj51kKeV/aJ2wkhxQfugRXGbTWFYAbJub4Q0jBum7mm4JL8EA3mKIQ0qB3QoDRBql3X7OIm+qjND3bX5653u3J93RX58YkFPB0d/HNIiEpHuK3w7QFCu+cxKLaNTaLcznOd9IwVlEqy4h9GLgjtYuF9W2WfeIyFNhjumtDiIQ3KgmejLJShL+71oyCp+vZrUFy8yxOL7MLrBzB/CGnQhKt4vg0GEosJbtjB+bM0iQlY2mL9tvvLENRwihVQwesNlsHebx0soEG1fhQaYrpx/OBH9BBqft7plt6q+nzPPP+seF6i4xpQABqKjrA2Dx7odedetZ/XE4u4Fjvhc6xuUp6syg7W3ax6yJ75VUOpq7d2vu8rtTzBPrteMmrftoF0LWZVx52VpL+xufBQqh8bJUvHRkiHLJ39tQ9O/v3jPe9fw8TkuwyxsXWf4bwceq97iZ3z9AihDAAAUDaKsYiF8U2s/7ZTEeBwV1vkPdnzSdp3f9lx/8M37KtULeQ81ZDdRXqcG4jsWEMytqr5/CkdE/JKMJDYyUIbYjzXE8wrGEh0KN4LCCkAAEuoz6Xq1d7OMVvtQsb8LRS9nz6wmPB8PWBB77T/8Ekdrt4g62M8qIN1AQAN0bEknljkUdamW46x+K/QYo5xr38fXndD282hyG3RTvYAAADj432+1+P5Yp+GY0i3Y5wwwLzxCAXrNNnLUJwzBuZF+5UPs7HGi5q3F/f6BzyxyCkO5z6vys8HAAtgy+fz2G8AAAAAAACge8FAQhnM0InClFycYgUMCgENobCbR2M7AJQZK1q22aIFLO+oyo84Hxn/idiWPdOik1X6kDFSN/5W1efO0cLRs/xacbJ70sjhDdNhkyZb2aMDBR8006cIbjD0JA+rYBMqn10zedL1+MShh9Tc7Mr86ODqzPv/IESlBRWWB9A7Fl51V8Fleo3w+dH/a+NiC9PV5270N2e7L8zw4wOlFN2XfWI7uwfertMJa2V1y95cCGYohjTMhgY0rMheLIQ01OfKe7lUn08ll+audTdnpVLvuY+zY4Zr0W5PLELbWt5ewJ9+Me71Y9Li7fesmcICjrPQBt1fD1ospCGpKHpGX5tU3OvHNbvG2Ofl05yXeiru9b+ku40H0CmENOhCycENnlik0I7BeaVp6A0KAWuEFV8uRyED2q/pDYXdA2XbeAANsPYrZUCD6vc9j43/Q9vaTEIs9+uZIRXZE1Xb35mjX0ypjxXiTBq9aBXwwdoMeAbu7Y17/aoWIvfEIjuKAd1qqBmsbKsacYr2rC173xvCCeeEPaPm+s5TmhWZQ0A4B55YhPYnXOT09Edp4aG4139XgWDWn+9ihV+L31u5T9+rwfbT+5wfcF7GXNKsbbJX0U7Zx7sPAwAAYDFkn1gcf7huarGMtG1pfY9zvXfMVrdSrZ08Zq8vhDPQkIa0TbVa0a+x0AaM7YcZsXakDoy5BQCr+4OhP9m2PNur2rmdOlTzzOF3Kz95ifOupffch0Jh95xjS/WOBU7t1unczxfpuqGPEcDa2BhAOva5rUw74tW417+oAGYoL9knnuRUjJr2lbcLUQnnKQAAA5N9Ip0H+EOOW3BUiEq6KuTsiUXofeB3NFrcMwi/AlgY2SeqXXhad59HixUMJOi8lCeMvRUwDTrv4J9DYbfa4z1pG+jzHHZ4Ew2D4PC8AFAihDUAAAAAAACA7gQDiUZFKAP9+im8SlycKgYzsHAGNNQBmBiKlv3K+onXW+6fjLcttggzL7QYTY9zQ/9bVZ/vWcAiioXRkqw4jakmxCsmThZDHFbrYLXM7E6hPQQ36FcwkKAFDjs+kf5+x8rcB4KaK9qc7Xm3Ppd6uZSi8gBGFQwkuqZeH9FrhQcnf3bvYjbJls9l12ROzlR0ik6q+5YQlT5UPFT2iZ0snGE7pwH8hnbV0U7OVP56IZzhqmPNrJvizI8TgQY0ZM+RpizveZLzZyfZidr8QPey7KVkU+7ydCtICw5GhKik6gCgmXhikYVOGqGTQjrjXj+KQjAstKGTDcxz6WKlFo4ef4e0Og7nw8QhDSlFKN9osdhZ3OtHsTMd8cQiX9fgPP1y3Os/aagdA6AxtHfq1qzBDZ5Y5DnObXqH417/IePtNmNCUAMAH+wct47dW3K77qShpb829rcPNeWulL1Y0k37PYP/Wv2Vd8dttXMVkqfv/3P0XGOmAHPgxxOL8Jw8mYx7/XvVejJe4RIVY44G4cLSura3Xf1qPu8i0PfxfrP1Y5ebJxbZTwj5KofVGIx7/Y3z+QMLhzhUEkJ+mxBSx3k5Z1lYEW8IZQAAANOSfWIxuOFOMfub9pWr+p0PeDOkYsHncjqeod/5wJxjGRbpBULIPrSLAbm7DWm14isAgOX9x4Ev/qHa++C/Lv3e/mH7sgmO+zbJ2swM3e4dDCRooOh+nc4DpXNzukJhd6yE3wUAC/DEIo1svEO5xuvTUL4uFF80Jtkn0jkor3Ba+ReEqLTb7PsQAMCsZJ/YyMbQ8gyFelSISrqZZ+CJRXiHUygh9ApgERDWUJpgILHHBHNC4fbYJ1of4xivdldPLEKP/9c5PPVTca9/P4fnBYASIawBAAAAAAAAyk4RzlB8oCAlH0cVwQwYXAhgEcFAgk4m24yiZYS0ZN5v2DDxz2vr8jdrdbA607pub00lqr5w4Za9eUylp+xjRWvMGt5Qo5hoVgxxMFOhVj1Js0FCJ/U0kMfq2Gf8s7So1m+OhlT9nHfkM+NtmdMnCCG7pisoD2AWwUCCnju+OXVzPjf6l48t9prBle1PNuRkeYYfnxKi0kvk9vlsO7sX3s55MKbhjNtqCsEMH1R4SLLCQ8Zts78kxYCGFYWHcbIDnGRyuDZ3s3t5rvdcfS7Vx4rjaxaU44lF6ISO5xfxFEfjXr/pBtapQfaJxXsxoxcjo9cCh4WopEURsFmZKKQhqQhmKBQ8i3v9CEgzCF4FNKeg92C7ENQB8GEIaTCUu4IbPLEIPX/v4LgBdHnfxmenNhDUAKAu1kZV7NPjXliP9pltHD/4ET0Em593uqVZAszTipDykyjuDvOlwf3b3rjXr0rIpScW2cyp2D5x9dZ964Gf3vObOhqPlWLF53QXEGpErKBUN6frshfjXv9ONZ6IhTi0Kh4uExaTXcUxIEbpMCFErZRqhDIAAIClsfGHxdCGdf3OBz6Xsre4c8RRWcp+GbPXk27nBtLvWEcytiqtdiW9h94dCrtRoMNiFO1Hxa8oFAQAMEVd7kblv7/1B6oXbfwvjT/8Lqd9Te/LD4XCbs3GCvISDCQWOwaRpxdCYTeKXgPAh7D2dXpv9WSZ9k5h/AMCG4xJ9ondnOZ+9AhRqd0K+xAAwIxkn8j73uhFISqp0oevBk8souU40lNxr79Tg+UAmBbCGkpTrN1ghHWFadH52UdCYbcm82A9scgAh/MgwokAygxhDQAAAAAAAKC5YCDRPiWcAcUo1TfIOrZOIpwBwJpYJ9A2gxcFpRPBj7OwgXWKSXHzQouYf3Ts0L0rcx8I5d2cmY2RuvG3qj53rt/5wCDnRfWxc8M5sxa/kH1iscBDMcTBbAUe9CBdLIzEwhtQqKFMgoEE7ezvWDd5TNgwcUTVz3tWZP7HxWLyAGZWfC8pN7E521PnHfubRxez2RX58ZHWzDtvTfMjOqmf3hdnCSGPl6Gwpd7RwgIH3676bPrHS762koVYzLqPaDhDMaTBmZ8w7oZXbCAXnO4zE7bqv6b7IBR2c0+cYANj31bhqZ6Je/3/P3t3HxzFeeeLvudFLyCBhAUML1ZL2IlwbEyElXgCyW7awZu9xzEnuPYOsyf/RK7c2brxqbvB43trq3zjE/vG5Tr5wzLZPcfec1TnBrbuye4wdTdwYV1bu9Fxk5NFZ5xMLDCJsRwDGgGmgQEGSYwk5uXWo/yaNGIkzUs/3U/3fD9VU9gg9dvMdD/99PP8vvtMWI4raSGZnWOedEFAqX6PNmR1G9DhIQ3suA3phc5QQNodeBbRNGATCtAeByDRSHI5Ffp3WkgD60dhA71X13NYea4xf/PXX7n48HRr7kauKT/JaTVvJZQwQkYtgKAGAHPQs7xeellWXO+xmbe7HswlZbvfxpzUkH+3afevSzwb08N+WAg5zutQs6Aa28WxePpoQgm/btJ2vsTpueadbYxGkjuoTS1K38rRgcG+IwJsh6MF1RibmPkjTvuwKaGEufZT0/P9DheFOPTRiyf2IOTH9GclRhHKAAAAsDgW3nDF1/mlj/zB/93rKf5Rc2Hinp/PeRqly75NcyENE97Vdh7RYxTagDkCLkV9R52G8dNOe04OAGC5h2d/tmHXrTdM7Qu86uv85L+s+EsefVijFGia5rBsy0QjSTYvdJ+gz8JZe6nfinGYAOBsQTW234KxgAth4+Z3Y7yL83Auxv1sIJ5CSCMAgMNoIbmbxjzxGlfJxlh1B+IpIcZPUvCVatH94Ny+I+QKoDYcwhpcGzQWjST7HThvpd6xOa/Hra6hE1RjhziEQGYSSrjd5GUCQAUQ1gAAAAAAAADcUcEOhYoMIJyBDz2cQaVwBgzOAahTVGDhaSuLunCQpsIMJdOqaQLSZrquLDpJf8vsOxs/fTvR5Zdu+0TcUVaI5qOG4Nipxicu2LQJo/RybXiD9PviuJtp4homrZnvBIWqsOAGR08YcZJoJMk+z99lm/xEdv/Dqwvjpp33fcXcTFfu5LsseT8QT5U8FwO4CbWf7plg8fj0oQe68u9vrGVX1+c+em9ZcWKS2mYb6Drk5HYaL+xawgalHArEU/fcz0YjSRbY0G8ctLKicFXqzp10fEADc923Qfqg4YulCjmcoImMh3gVIw2qsRETB8Zuw2ShxWkhuYNC9Zw+WE8vOj3Eu/3ngpCGowkljPaUSwXV2D2BTxyg8DjUPQppcOK1IEthPUMDg31zxS9pX/Si3HUV3JDaeq1nsmN6Lky36C3O3G7OX51Zlr9sYnCDaYWSYXEIagCoHl0HjAENll7XWLj5H0z/+OFVhUu2B4de967L/Pfmb/xmxtOSo7/Sw8ZHBgb7xm3ePHAZ6lt4jeN37vWEEq7pOWtQjbFzwwvmbdJdDhj7JqKRJOufek6gYvjs+/+m04vS2cnkPl6jwwklvNuuXXN4iMOfWPAsiBUZ/KcF/m2U+ibT9Bw/jef4AAAAlWP9YK2F6/+xraDtYOMSGBbSoPk2STlPk0hH9IAkSXvRb+Zs1G90vyGYgfczSAAAV/rS9N/1fHE6ppi5b2P+raN/1/qKmeFI7DnykYHBviETl2m5aCTJioWxItXfEXDzMhRqtU+AbQEAhwiqsb2SJL1h09ay85aCcYLOooXkduqr5/H8/UQgnup18/EDAHAjLSTzDoB6PhBPCXOfE1Rj7F75yxatDvPVAEyghWTTxxgF4imPG98bem7Dc8whmCNtCGmwZWxUUI2xee8/4rBoXPsAbISwBgAAAAAAADBdNJI0BjMoNhTrqAdj88IZztX7AQGoZ4YiX04PaWATxocXCmkoxVDYRi/GPzc5f2PudNvW2Z8+2Fq83mLlDlTiE++ntV807zpjKERjt6we3MD+dHMxHCqSqwc3dGJim6nOU+FeBDdwFo0k2cPb7azA1r++NWBqweeO/IXRtoKm0QCuWyLuP4DZopHkvvkDZ9j366lbf/V4taFPywo3W9oLmh2tCuQAACAASURBVHdZcYINxG/Fm3aPwxTQoAbiqbLuaX/2jT2PTHo7/q2vePtrkiTJ1m6u+XKeRul0wxelC/6Hyln2YQpt2G/WhgTVGJss+T0Td+xEQgljYkgZtJDs5ACC+YYptMHU+weENIATBNUYu7d8ifNnlN2rv5hQwmiXQ91xU0hDKfUU3DCxZrptfMu1raX+zaTgBnbMv59QwuiL4gxBDQCVE+V8z56bPT5z6BERws0/9velftX01Bg9k9IDGnAOB66CamwXPUvnoebQKJqwxyPcM51Qwi+W+odoJMnzmFSKtecOVjJOAH4nqM4VH3yH0+F4JqGED4l2qB0S4qCH9jZyXk9MkqR/RCgDAAAAX9FIkgVYsTElXQIfalbYc9/AYN/LAmwLlGGhsc8AAFCbr936y74ts+/0mXkYTzU+kfyH5X+eNGlxrF98v9P7xKl9tF/Q+aJsnGU/nisCQDU4Flgs17MJJWzaOHHgj3NR7icC8ZSZgVEAAMCRFpJ5PrtnxgLxVLco72FQje2zMLwPbSQAk2gh2fSQFbeGNUi/6wPbwTmEB6pXcV0iXoJqjF2fz3JY/CsJJYxnvwA2QVgDAAAAAAAA1IzCGfSXVenX9eaEIZxhBOEMACA5u2DZfOxhyJGBwb7RWhf0s2/suX9l4epzfin3+VuelavzHn+T6Vtbo0nPqqmTjU9+fMH/UEa0bZvHGN7g+kI5WkjWgxv0iW9ODj4RRZoKLQ2bXby33kUjSfb5fI0dhi2z72z8zO2fP2DWIfEVczNduZPv0vuGQUxQNxYqTLXp9kjH52aPPFzOcfAVc76W4vXWZYXJlmXFzAqvVPDiE3QXPXTwUCCeKrvAE4Us9VKb9871OetZueKab0N3xru2Z1Zqdtx1e6xhq/Rb/+eknKfi5mqGQi5YcEPVhbKCaowd0/eq/f1F/DChhPdyWK4rUWiDG4L3JP2+LhBP1XRfh5AGcJqgGmOf1T2cN3sooYQP4sMB9cLtIQ2luD244bdfuPzY7LLckqG6NQQ3sOvvkdq2EpZiY1DDMUmSdqOgCjgJ9d+y78wOEQrtPTbzdteDuaTtoZcFyTsz0vjHhz9u+Nw/0XMnBJKBZai/4TWO7cvXE0q4qj4R2rY3zN+kOYu2k6KRJHs+2i9Qv9QJKlaH80OZgmqMVxGgsYQSFqbQQznoef9q+jz30J92frYf5RTCYsSeF/SWG4gNAAAAtYlGkqwYxl5BixLr2LiMvbWMJQA+qL9osyGgAeNTAQA4+NbEn+9anR9fb+aSf7rsf/mnZNPXar33dkVYaTSS7KYQq68LsDnzoR0EAKag8dV2jI3QPZ9QwvvwbjqDFpJ5FeVkDgfiqd1uO2YAAG7FowD6PMKE+FgccIU5agAmQlhD5aKR5Av0XAfEMEzzdYSqWxJUY+c4BP8fSyhhxeRlAkCZENYAAAAAAAAAFYlGku2GYIZehDNwc4yKG88FNKAACQAY0aSdXXQednJIwzCFNJgSAqCF5F3zi7jNepY1Zz0r27Ke1rYZT0u7neENOakh/1FDcOxU4xMX7NqGGqWpAOtcgEMdhDcsp4ennYYJclA9/fMzEoinRnAcaxONJPv14h7/6tZ/eKy1eH3JgoflWlm4mlqdT7EJK2/hvYJ6YgxBme/J7ODWVYVLJSdcNBRnGloK11csL2ZWNBenluNDcw89eHB/JecUQ0BDWUUNWXDDJd8Dj055V3XnpIZWU/fAZNd9G6QPGr4oTXhXm7FgVohpPxUwq+icHVRjIxwLAT+RUMJCDAJ2Ei0k76Dru9PbnXOBBYF4qqLJxUE1pt/n8i5gxgNCGupcUI1ZMfi26sKfALWia9ROapeNGsI9zwfiKdOKqNZjSEMpbgtuuPzAxMarXRMVh0xWENyQTijhF2vbSlgK9UVZNbnO6MDAYF8/3iBwgmgk2Un3M72iFNtrKk75/2D6xw8v1K9lBRYO3FScuuGRcr8K5MdeMrPtAFCpoBorGdhrktGEEn69mkVx3q4XE0p40We61P7sF6jtybb3LdEmVIooqMbYGL7rnDbtlYQSftnZR+h3bA5x+KokSbxDL04E4qlezusAAAAAQgWKX+YUmGUmNg+hf2CwD6FONqG+oh5DQIOTx3oDADjGt2/+2Z+sLFwx9b7/YOu/+3/P+rfVMm/C8QGl1AbqFzi46oesjYa5lwBgFgpsOMSh0GK5DiSUMMZKOIQWknkFazObENgMACA+LSTzHl8pTIAPtZPes2h1KFINYDKENVRusXnnUJVq58WNmjVfh4egGmOhi9/hsOhVCSWMPk8AGyCsAQAAAAAAABZFA+p6DQENji8MI6hjhmAGFDQEgJIMIQ1OLF6py1IYjZkhDT00+HvJgfV6eMOUp61jxrO8vejx+szYhqV84v209ovmXWdmPC05K9ZnEWN4w4iTJxCUSwvJnYYAh85yikdDSfp5gL1GUZypMsYH+ysLV5r/OPvXnzdr2Z5iIS/nTr3rk3ITgXhqrzV7BCCOaCT5XKl73vnftabiVPPKQrqtuTi5vKE43Yy38B6H6f72UCWTAygoqeaitBPejo7Lvu5Hpzzt3QXJ11jtcsw27V0xF9Jw2beJ1yrGDMENix73oBpjxSO+x3F3WYhENwYCVYfub550QR9cmgL6hhZr7yGkAdyAPscvcS6ywj5vryaUMO6fwBIUnrWTwrMW+2yf14Mb2J+BeKri/j6ENCzM6cENucaC/7df0B4v+Io19cEuEdyAMBvOENQAsLBoJNlrOE8LdQ3bmDvd9vjMoUf80m1LnoMZsYCG5cWbV1sL6cvLihOTFOh3xOrtAJgvqMaW0/MVXt/XqtolQTX2GqfC8cMJJby/3B+ORpKs7b9HoPPZ0YHBPpw7FsG5n9f1Ez0tCnFgzyi+QX/y9EognnJFuAYAAIBTRCNJhUIbTC1owwEKF1skGkkagxl4h7wDAMAC/uLGM39m9rH5QftP/nOVv5qlsXwjJm+SJaKRJAsK3U2vrwu6mScooMqRxxgAxEaByaqN43XYePx+jMUWnxaSWR/BO5w29EAgnsLYGQAAgWkhmbUZznEOthMivIfaR7z3Vcfu9xS0hQDMxSOsoR4CxqKRJJv3+HSVv27GPAczlvFhrQsYGOzDnI0FBNUY60P9CYdFP5NQwoc4LBcAloCwBgAAAAAAALgHTSDop3CGLhwh02X0YAYqbo1wBgBYFE3i2eXwCTymFy+jonHhWgY+Zj0rWrOeFW3TntY2HuEN173rMicav3rmiq9rfhExN9KL880FONRJeMNyCmzYbAhxcFJRQVGwgTMjR5Y/n/pN4x9uo0K9CxXCYJ+zhT5baXqVwn5nfKH9ddIDYiqQN1fM+LGZt7sezCVls5a9snA1tTqfYsW+hwPxVNkFfADcgtpcL8zfndbCtUZl+m8+23375APLipkVXqngxZt+F3aPe4heaiCeqmggpBaSd/AqPnvFJ3ff9K7ptju44eOGz0nn/FulnKfJqlWeoOCGQ/ODG4JqjB3r9yzYhsMJJbzbgvW4Ft3vOD2sT6J7weMU2nCnrYaQBnCboBrbSUUteRpKKOGD+PAAT1pI7qWAhmrbZmlDH9F4IJ5a8H4bIQ2VcWJwQ2rrtZ7JjumAmcucF9zwLwkl/KaZy4e7IagB4G7zzsU9ol6/zO43LkdDcWaqpXBday1eTzcWs9P0K+ya+eZi7QEAqwXVWC0TJ5cymlDCr1fyC9RX921O21NxeAQFhj8nUGD9KBW0qzgUrh4E1dg5TuP6DiSUcN22xUqEONQyBuA8fZ9MLxRZwrZAPIXChAAAABaj/rN9FhWnqpY+pmMfChmbg/qIegztRYQzAAAIYFPuvY49k//Xn5i5JVnPysm/bDvw4yp+9QT1azlqPoVDAhokat+wtg3CKwGAKypIvN/GcyKKFDsEp6K3ulWVzs8AAADraCGZ3Zd8j+MKhQjutzjIKkNtIPRnA5hMC8nsmdZ3TF7sE4F4CjWzoO4F1RiPwu51PY4PwE4IawAAAAAAAIB7RCNJXomd9WpMD2Zgf2KiAwCUKxpJ7qDClU6eyDNXxJLCaUwbbK6F5F08Crmx8IYp76qOac/ytlnP8qon0OWkhvxvGv/w4w8bdmhmbp/D6IX5RuopKZ2K6m42hDiIUsxEWBPejo4JT0dg2tvaMelZNTXuf0RL+bekb3rXTAuyzcIERNBEz9f0c9+uqTceb5YmTan87SkW8nLu1Ls+KZdjBXxQQAvqVTSSZN+xjkD+zIots+90b8x9uH59/qNufCDuMaYHNFQzmIqKAOsv7oUNb3uaGtPe+7snvKu7pzxtlr2f130bpPcbv8LamFatspTD+ns1MNh3I6jGRiws7vtsQgkj/KdGFBDmxELWpQz/t82P/Wrfk//mMYQ0gBsF1dgLFvThVFxsE2ApdK3ZTteahcITazFKL3aPPPqD9rnHTwhpqIETghsm1ky3jW+5tpXX8r15T777V6t/2jzZMMzaGAODfQv2wUB1ENQA8DtUuNwY0CCspuKU/w+mf/zwqsIlSwpENhcm0y3FTLq1kE5Tv7IRu/a/FYinXB/sDc4SVGN3PWfhoKJ7No73kemEEn6x2l+ORpI8Qy0qlaXCdhhrZRBUYzzH9j2RUMKYRG1A9833UyHeDvrTGOJwnvoOx+mVDsRTd+5ROE12n489t+lFwSYAAADrUVHjvZwLcpnlGLWv8Ry/AtQ/tNkQzoAxoQAAAnp49mcbdt16w9Q+rau+zk/+y4q/PFLBrziuL8tBAQ061p7pHxjsOyfG5gBAPQiqMXYP9U2bdpX1/e5GsWKxaSGZ5xgbIYp0AwDAvbSQzOanneV4aFhoQbcIz4Atbg89k1DChyxaF0Bd4RQwg7AGgN9dKw9x6F8dSyhh1DcAsAHCGgAAAAAAAOAeNNDuOo5M1fRwBpXCGTAAEAAqQiENT3MqjmaVuSKWA4N9phaxpMK+e6w6NlOe9rasd2V7JeENY75HL5xo+qPUjKdlfmGaepamYnbDdhezs4MWkntosp4+Uc/J321TzHqWNd/0rglMedoDeY+/ZNgAC27QfA+kx/2PpK/4uiadt5c1WSggQi8EIq3Jj7Uq03+zzawVrixcTa3Op8aoeEjVBXwAnIy1My75PvX88mLmaysLV+r+XF3CMUNAQ8X3uVpI7qSCvJYENCyEBTdc9m3anPGu7ZmVmrm8z9PeFdIHDV+ULvs28Vh81T5+/MqHlz6d2WzhKtnA4N6EEka/iAmoIFivU+8Vsw1NzRfa18iZ5a2BSys7Msd6esdOr+vOCLBp5UBIA5QlqMbYd/Mlztc59nl8NaGEUfQWamZon1kWoHPVJ3dd8j24MuNZO3PFL2c+8X06I1BY42KGqK9TuO+eqMENv/3C5cdml+VaeC1/1YWW1PrRtjHDX6UpNB3BDSZAUAPUu2gk2UnXR8cEMm/MnW57fObQI37pto/XOljg77LixNWW4o30ikJ6oRBj5mggnqqkeBWApYJqjGcQwWhCCb9ezg/SPeRrnLbjQK39GNFIkj3f7BeoH4qFdB2sx2fNpQTVGBuT9mUOiz6RUMK9HJZb17SQ3E73K12cj8MPA/HU3no/3gAAAHaJRpKsUMY+hxQ5Zn2rrLjWvoHBPoQ9zUN9Q3owQw/GewIAOMPXbv1l35bZd/rM3NhTjU8k/2H5nyfL/PETFNQgfP+VAwMaJBqLyEIaULATAGwRVGOs7/UNm1bPzoEKAhvEpoXkc5yeA2QC8VS7m44VAIBbaCGZR1Fmo2cD8ZTtwbsWt4OeTyjhfRatC6DuIKwBgB+O18tNmJ8NYD2ENQAAAAAAAEBJ0UhyRKSiLoI7MS+cAZMWAKBiVFRLL47m5Ik9o5IkHRkY7Bs1c6FaSO6gYhA9Zi63UhPejo5pz4q2aU9L+21P013Fxq5712VONH71TB0Wla9ElorbDdVzIQ36PM+f0FcX2HdowtMRmPa2VnSem5ZaZzTfpqsX/A+lL/gfckpRX64enz70QFf+/Y1mreP+3Ae/aCxmWYHMoUA8dVDMvQYwnxaS9QlnigVFcpwmQ+EMKgU0VHyvSwWAt1PhWOHauFnPyhXXfBu6r3vXP5qTGlprXV7O0yiN+bdK5/xbpZynZBaRbaZWzUgjT9lSs/ZYQgkrYhwF99BC8g76bgnfjjSGNMz/t8nGZTPDD2wZO/6prZo9W7ckhDRAxYJqbCeFTPI0lFDCaLND1eg6stPK4tMZbyBwwxvoKhXYmJMa8je8625c8XVlrnvXTwp23z9MfZ2LFaQWhijBDZ/0ZLqub5ySeS3fP+ub6fmXwLuL/AiCG2qAoAaoV9FIUj9/Oq4A32Mzb3c9mEtyOe/6irmZ5cWbV1sL6cvLihNLPf9iz4DeDMRTpj4jBDBbUI0tp5AEXkF7ryeU8JLfg6Aa20PtcrOx7+KLZoT8UfuyX6DxY6yd91a9t/GCaowVAT7LafHPJpSw7cUe3IgFhkuS9J4Fu/ZMIJ5C0UIAAAAbRSNJhUIbnDIP4wAVlq7bQjoUVrfZMJaTZzA7AABw8qeT31O6cidNHUv1y6anh4eWfev9JX4sS9dSoQtoOzSgQcfaK3sxXxMA7BZUY3aNp9ChD19gWkjmWchaiGLdAADwe1pIZv3A73A8JCcC8VSv3Yc8qMbYPeRPLFrdgYQSxhhSAI4Q1gDAT1CN8RobhiAjABsgrAEAAAAAAABKikaSrKPmOzg6JR2jYpUjCGcAgFpFI0lW8EUvkObkCT6scNlxDiENeojF02Yu1wx5ye+/5W1rm5LalyWbn7p4qvErBdG2UWBsUsJxCm1wRLE73rSQrAc3dDqxGNRiZj3Lmm961wSmPO2BUkUZK8WKOF7xds8FN5xt6K3bz8+uqTceb5YmTakEvryQ0dblP9bP368G4ikUMgTX0kJyNwUzOHHCmRXG9ICGaov5UChRL7XhHHM9Y4FCV72dm6e8q7qrCW647OuWTjd+Scp6VvDZwBqxoAYW2GCTVxJK+GUhD4zDURvySRELfSwW0jAfC204vb5bU3u2XZhqWpazfGPvhZAGqElQjb1gQZhKWcU/AXTURttJ/ZCW9UEuFtKwGBaKes27MXPdu2Hyov/TmRlPi9XXB0eFNJRiV3DDTEuu+WzflccKvqKP1zo6T913csWV5nJDPRDcUAEENUA9MZwne+hPxz2jaypO+f9g+scPrypcajNzuQ3FmamWwnVtWXEiU0ZAg461Td8KxFN1G9QNzhJUY7s4Pn8eTSjh1xf7Ac6BEcNmF+qJRpI7KJhQlHPl0YHBviMCbIctgmqM15g+1sbuTihhjIPjhNOk9/nm3sdqArgBAADAXNFIkhVpZNd/U+/bOTrBQiYGBvtcXfyR+oR6DOM0eT/TAwAAi3xr4s93rc6PrzdzbUeWP3/0N41/eHGRHxmiviph+8ajkaQe0PBNATanUmw8a389h0oBgHio+KJq470eijQKSgvJLBjpHKfPxlggnup2xYECAHAJLSSzc34Xx72xvfi5xe0e1j+tYLwCAF+cxq08H4incI8C8LtrJ4/2weGEEt6N4wtgLYQ1AAAAAAAAQEk0GM+qlGuRZfRQBgpmwAA/ADAFhTSwIhDbHX5EuRUu00JyLxV9ELnI71E2yJ4Vn6H3dLNhApdriu1z5vjidzxQUImjJwVOedrbMt61G6e9rVy/C1e9nemL/p70Of9n0zYUb7TFptsjHZ+bPfKwWeu+P/fBLxqL2WlJks4H4qnvO+toACyN2hQsoKFfxILmAmADGvdTQMNINZtjCGhgRbvud/oBueKTu29613RPedq7C5KvcbGfnfaukN5v/Ip0zbvBug2sUGrrNWn80Wt2b8a2hBKu6vMFS6PvoBD3l5WENMw36/PlT6/rvvTzT/VevLKifZr7xt4LIQ1giqAaY9/JlzgXsWSf11cTShjFcGFR1BbeYXU7uNqQhoVMS60z173rb1zxyyzEYeqKr6vcwtGVcmU/lZXBDeceu/rwrbZZbn1ByzON6e5frf5Nlb8+d+8jcrEUO0UjSSsKx5by/MBgHybpgCXoOU4vPctxdB/RxtzptsdnDj3il26bEo7TXJhMtxQz6WXFmxnqK67E0UA8VbdF08GZOIclSEsF7AXV2A6OxdFeTChh09uz0Uiyk/rYRen/HaW2Xd09Yw6qsRuciiEcSChhBGhxpoVkNvbwy5xXcywQTym27ywAAACwdnQ7BTbwCNviJUNjSFhwwzmnv4vUH6SPwdzshjEtAABQ2guZcL+/OLvoWL9K7V/x+t9qvgcmSvxamvqmFuwDtJMhoGG3g4Kj5nuF2iMo1AkAwqHCxYc4F2heDPrzBcU5tNn2ot0AAPA7WkhmQb1vcDwcBwLxlK3X+qAaa6f6OlaMsWN90t0IagDgTwvJbCzJOyav6JVAPPUy3j6Auevnfh7jQhNK2IPDC2AthDUAAAAAAABASdFIsluSpLN1eHQyejADhTOgkCAAmCoaSfZQgTQnhzRkWUCBJEnHOYU0dFChB5GL088VfwjEUwvu/7zwhl7ORRrdYJg+U0JOWhCBFpI7DRMHO0WcOJiX/P6Md21gwrt6o1kFGSvBghuu+LoyKf+W9E3vGjsK/FriS9m/61lf+KjiAsilLC9ktHX5j/Xv3cFAPDXkqIMBsAAtJO+mgIbdNk6EENlhmiRyKBBPVTWYkYKFLCn4aicW3HDDu75nytPWrW9GztMoXfZtkjTfprk/RTa1akYaeWpchC1khXEVDJ7li76XO+ll6f1HLSENpYyu7dSGH3z04rmO9byKcRuxttAQAkXATEE1tpMCKHlin9uDeONgProebKfrgaVhomaHNCwkJzXkb3jX3ch4105pvgduXPA/lKlxkXUTJsozuGFizXTb+JZrW81cppE378lvSq75VdOUv5Y+nywVTsF13yAaSXKZGFCGZwcG+/bbsF6oI1RcXD/vuaIY32Mzb3c9mEvKtSzDUyzklxUnrrYUb6SXFzIZn5SrJgiZnVPfDMRTeK4DjhRUYyz48mlO2z6cUMILXuOCauwlTuek0YQSfp3Dcu+IRpJ76F5DBHXXtguqMTaO4kecFr8poYQdX4xXdFpIZs8aRiwolPh8IJ5CKBoAAIAgaF7GfgtCm8x2mIokO6YYJPUF6WMse6x+TgIAAPZoLVxr/Lc3v2V6IcsftP/kP5f4azbO+qhoAfEuCWhgjkmStBfPcwFAdBYXMC6F3a/1Y1y2WOgZAK+6DAhqBgAQgBaSWRvgHMf7LjYeujcQT9n67D6oxlQL+7O3YS4PgDUQ1gDAV1CNsb7Zn3BYyRMJJYzwPgALIawBAAAAAAAAFhSNJM/VQVHLMUM4wwgG8wEALxTSsEvwAIKlpKlw2RCPweVUSO5pgYo7lJKmYuYVXy9oEliPIcAB4Q2ljVJxPBT3WQJ9Z+43fKY67fpcTXna2ya8HYFb3jZTivOaYdKzamrc/4im+R7IXPF1WVHk1zLPTP37HX7pts+M9d2f++AXjcWsXuTwxcVCaABERoMd9YlmisMnm/Gg3/uycIZDtSxfC8k73B7QUMptT1PjBw1fyr/fuLP3vP8zfeJtYWksqIEFNgjihwklvFe4g+RChjCVp3kXnzA7pGG+Sys7Msd6esdOr+uutQh3KXP3HgkljHsP4CKoxl6woB/odXyGQUchjzvtCIm1KqRhMde96zI3PWsmr/i6Mxf9n87MeFrKKTpdNyENpZgd3DD6Re3xXGOe22dg1YWW1PrRtjGTFneCCvsKVUTFDghqADeiZ3L6+c01BfmailP+P5j+8cOrCpeq6vfyFXMzy4s3rzYXJzIrCular33nKagB/cngWEE1xtpCr3F8tvZiQgnf8x0JqjF2jnqB0zoPJJTwcU7LvoPOs88J9LybtesP1kPbLqjGRjj1zR9LKGEU+LGIFpJ5hm7oWH+qUs3YFgAAAOCHiijvc+D8jDHabtanKlQhUIzLBQAA5uHZn23YdesNU4NZM961H//1yv/01ry/FmqOg4sCGiTqy3h5YLAP4ZMA4BgU2MDGPXzdpm1mY18UBDaIRQvJPMfhbEO/PwCAvbSQzO5ZvsNxI2wveh5UY7z30ejZhBLGOFIAiyCsAYAv6ie4zmElmJcNYDGENQAAAAAAAMCCbCzOwRMbgDKiBzQMDPbZmioOAO4XjSR3WFEgkzNWROLowGAft8IOVPR3j+ATpY6yoIpAPGVKkYd5k8TqqthxmdhEhmGenzs30kJyh2HiYS/P71Re8vsz3rWBCe/qjXYWYyzHtNQ6o/k2XT3bsO2y04MbNt8+Htg6O2RKwdfmwmR6Q370N/S/5wPx1PfNWC6AVbSQ3G2YaPZlHPh7sPvfQxTQUNOgfC0k9xqKHNbbxHa9H2FEbwdGI0n9s9cvcjsutfWaNP7oNQG25C7PJJRwTYEhUBm619pudsF43iEN8002LpsZfmDL2PFPbdVMWBxCGsASQTXG7s9e4nztZH02ryaUcN0XG69ndK7fSYGOlhIhpGEhrC/gunf9jSt+OXPNu3FqXn9AXYc0lFJrcMMnPZmu6xunZF7b55/1zfT8S+BdkxebpuJiddsmQFADuAWdw3rc3HexMXe67fGZQ49UGuLbUJyZWlacSLcUrqeXFSfM6htnz8oOmrQsAFsF1dgeakvzMFxqQnlQjfVzClhLJ5Twi1YdTzr3itQ/ytp2bw0M9o0LsC1cBNUYu8a9x2nxKIBgMS0kH7KggNeJQDzVK9zOAwAAAGtPs6I1ex1YVDlD41BetmsOBoXH6eMjeYemA4D7pOllFxHWf9XO9fN6PsspGPFwIJ7abfIya+aygAbdYdY2whxPAHCqoBqzcx4+C9fbnVDCKOAvCJp3wet5zoFAPNXvuIMCAOASnM/xEl3XewPxlG1BTDSmxez764Wg8DSAxRDWAMBfUI2NcBhTeSKhEgB05AAAIABJREFUhDEGDMBCCGsAAAAAAACABUUjSSsfpvByQg9moHAG2x5OAUD9MBS2cnpIA/di+VpI7qSQBpEnTbHjsD8QT3GdHIFJZAviHhbiZvQd207nJFPOR1Oe9rYJb0fglrfNksK8ZtOLNV7wP5Q+29DruKKMT2T3P7y6MG7KexnInTnZUryRof9lg3bxPQPh0YAgfaJZF96xexymifFqIJ6qaeIaXUN21mlAw3lWeNAY0LAQCm7YK9pncmrVjDTylJB1ydh1pzuhhNE/YzEtJLN7jCdrHexldUjDfCy04fT6bk3t2XZhqmlZrsJfR0gDWC6oxnZSvwdPQwkljGK5dYbCGtnna4cdbTWRQxoWkpMa8nmp4b11uY//cVXxk18G4ilcDxZQaXDDTEuu+WzflccKvmJFBcQr0XnqvpMrrjRnzFviXYao/7Gugm8Q1ABOF40k9eDiqkJmnOSxmbe7Hswlyw7EYSG9zcXJTGvxerqxmJ02cVez9LwMhT7ANShk7zWO+/NiQgnfeRYVVGOsnfUGp3UdTSjhI5yWvaBoJMnuS3YJ1IfM2nWWHwcrcCz2NJZQwt3i7bG7aSG5nYKieT9XwKR4AAAAQUUjSdYe2GdjQc9aHaMwXG59fYaATn1sreWh1eBKKNbv0mL9UN+0kMzufb9n8kEQ5p46GkkqFJzqpoAGiQqRspCGQwJsCwBATYJqbC/HZ0BLYeNpFAQ2iEMLyayewZc5bdCmWueJAABAdTif35lnAvGUbfdHQTXGO4zC6FhCCSsWrQsACKewBiEDTwHsElRjPPqqmU0JJYx7QQCLIKwBAAAAAAAAFkQFB8867AgdMwQzqAJsDwDUEZoYtJNeTi5oO1fAcmCwj1vBMi0kL6cwi5281mGCNBWdsaVwG4U39GKS2R1pKpw2XG+F08xCRbd7qJBjRZ+pvOT3Z7xrAxPe1RudVIhxKaxQ4xVv99Urfjlzzv/Z9IynpdKCv5ZqKk75//Wtge1mrLOxeCtzf+70ScNfPb9UQXIAO1CxGjZYR3HhRDMzZCicQQ9oqKkAPo+QHwdhAQ3HKaChqknB0Uiy1xDcYOtnlQU1sMAGQR1OKGEMwrMJFffeRd/1stkd0jDfrM+XP72u+9LPP9V78cqK9qWKjyKkAWwVVGMvWBDK+Do+4/VBC8m9dF9vS1HqCW9HxzXvxged1jfA7oHX5sdGSxSsZm3AD+laMc47rNWJygluOPfY1Ydvtc1yu39YnmlMd/9q9W84H740FRari3MpghrAqaKRZNV93E7E+oP/YPrHD68qXFq0j8FTLOSXFSeuLmMBDYV02iflePRzs2vmm7hWghsF1Vh/pf0kFRhOKOE7176gGttFz8h5uCsYwkp0fu4X6Nw8Sm0715yzgmqMPSu5zmnxrySUMIr524DTJPhSngjEUxhHCQAAICgqvvwy5yJfPLEiy+y+Z9/AYF9NY1YM4Zx6QEO9jVuxSlZ/LkLPSKyGYv0AYDotJLPxk183ebm2FsmksYh6QAPvsEc7/JC1gWptPwAAiISeOf3Ixk161vhcCuyjhWR2/f4Jpw1ASDMAgA04n9uZY4F4yrbwAhqTcM6iuXAnKGgK94MANtBCstnFp209fwGIhmP4Ee75ASyEsAYAAAAAAABYVDSSvCFwMcwMBTOMIJwBAOxEE4R2UcEqJ4c0DFNIA9dJMFpIZkV09gh8rNhEpKFAPHVEgG2ZQ0XR9Alo9R7ekKXQhiGENlSPivTqhfYWLBqa9axozXjXbrjlbROiKC9vV72d6Yv+nrSowQ2bbx8PbJ0dMqXIayB35mRL8UaG/vdEIJ5604zlAphBC8ndhoAGsyfQucEJuhdmoVIjte6P4Zqwsw4nuqepT2HI7GKD0UhyN32OLQ9uSG29Jo0/es3KVVbj+YQS3if6RroZBegtGTYoWkhDKaNrO7XhBx+9eK5j/eS8f0ZIAwghqMbY9fUlzv0g7Dr2akIJ4z7Zheicvd3O9tqUp73tum9d16xnuaPC01hIw6r8pTHD/e9S0oYCRaOBeGrcvq0XT6nghok1023jW65t5bWx3rwnvym55ldNU/6lwpnMwvocDwr7JpgAQQ3gNFQAvO6CJdfkx1q/MP33DzdLkyUDknzF3ExTcepGS/FGekUhzbu4Hes3cfW5Eeob3bO9xvEg3AlRCKqx1zidy4ZFmIgXjST30H2LCLIU2FBzH7oIgmqMhQS/wWlTNiWU8DlnHRH30EIy6yf/DucdYgWUe2sN/AYAAAC+opFkP4U2OLkY8wFqh5c1p8MQzKmPiUU4Ax9pY3j1wGAfnn0AgOtoIXlkoeD5GlgeflgHAQ0SjX/dizmgAOBWVJRRtXFOPsZnC0ILyec4Xc/ZOLhu9PkDAFiL43ldt82MOYLVCqoxHvfVpWQoqMEVYzkAnAhhDQD8BdUYj1p9BxJKuB9vH4A1ENYAAAAAAAAAi4pGkocEKo6phzOoFM6AhzAAYCtDSMN2B78TWSpQa0VIQw8dL1MKjXPCBn/HzC7WazZDYTQ9wKEeJ6mxz+5xKqAm9PslOir6eKfQXl7y+ye9HR03vas33vY0tdTrcZn0rJoa9z+ipfxb0je9a6wqCLioJ7ODW1cVLtX8cJYVq7w/d/qk4a8OBOKp43y2GqA8WkjWJ5kpFg3uc5r/LknS30uSdCgQT9VcNMkQ0LCjDkOg9ICGYSuK70YjyXZDaAP3/pVMICudevIC79WYgfXx9KIImP0MbcGnjfcVTghpmO/Syo7MsZ7esdPrun+BkAYQTVCN7aTgSp6GEkoYRXRdRAvJnVTo1La+xzoKaVhIVg9uYEWMAvEUri1E75/89Vcu/jtPUZJ5rWfVhZbU+tG2MV7LX8B5KijmqoJVdG+yz4agBvY97B8Y7Dtk8XrBwagYUa8LQtKrsmX2nY2fuf3zB+b/bkNxZqq5OHWjtZC+vKw4MT+sjoesWWGhAKILqrF+ju3uuSAFKs7zbU7reF2UfpBoJMmeXT8n0Pl7WJKkgwODfY4ONwyqMV6FHw4nlPBuDsuFCnAqKDnf4UA8hfcaAABAcNSHt5dejuqXn4eNw903P7yV7hc205jXznrs97HIeeOzDYyvBYB6wKHInBSIpzxWHLo6CWjQvTIw2PeyGJsCAMAPPRM6ZON5HQUcBaCFZPYe/IjTljwbiKdsD3IHAKgXWkhm9zHf47i7bG6vbdfuoBrbb+G40mcSShhjSQFshLAGAP6CaoxHrb5MQgm34+0DsAbCGgAAAAAAAGBBVIT8W5Ik/cCmozQ2L5wBBfwAQAg0YUj00IGlsAIrQ1TonmthAir+uUfwUIs0FZxxZME1umZvruPwhmErAkfcLhpJzhWBfOB28o825D7asKZwbrVfuu2r9+MiUXBD2nv/jbMN2y5f8XVZUQTrHisLV5r/OPvXnzdjWR35C6NtBU2j/80G4qm95m0pQPm0kLzbUMTeyZPMeZiVJIndA1+kP1lxyxcD8VTV7bb54TxC77359ICyETsLDFJhhX56mf4e5BoL0shTKWmmJWf2onk5kVDCvU7Z2HqgheQdN5uX77y84r6vOCmkQbd8djqzPpMea781cUaSpKMIowLRBNXYCxb0JQlToBOqx87HFNJgW6gWQhoWxYocfUhFjsZFD33lKajGWB/5056Cx990y9/RMO3r8M96TeuX9M/6Znr+JfCujbt4dGCw74iN6zcN3YuoNtwLsu+iggB+WIohoLoe+yzuaCpO+XdMx3tWF8bvnEvZtW154Wa6tXg93VjMWhkqzK53b9bzdQ7qS1CNse/daxx3+kXqE+RxT5hOKOEXOSy3anRe59IHWiV2LnvLqWFcQTXGJjS/w2nxTySUsMpp2VAmCjR/z4Lj9UwgnkLhCwAAAAeIRpLdFLxqdhEPq7FxdqyP9awkSavx2eNm1BDOMOr0sDoAgEppIbmbrjVmGgvEU9283ow6C2hgjlG4O+aFAkDdCKoxu8Zp6A6zc29CCd/Ap84+Wki+wWmeDNe2CgAA/J4WkttpXh+v8dRsjGV3IJ6y5ZodVGNsXvEbFq3u+YQS3mfRugBgAQhrAOAvqMZ4hfdtSyhhzMsAsADCGgAAAAAAAGBB0UjyJUmSHpIk6RsWHaUThnCGEQzCAwDRRCPJHRQ44OSQBlaI4CidZ7lPyNFC8k4KtljGe11VmgutCMRTrii6paPwhl5DgIOox99sLLTh+MBgHwpTlslQBKtkEchNt0c61uTPtQXyZ1c3S5NNou6Hlaal1hnNt+nqFV935mxDr2WFqrbMvrPxM7d//kCty/EVczNduZPGQofDgXhqf63LBSgHTYpTaIKZ0yeU8zBJAzj1kIb5WJvlYKXrpSI/O+q02OGw3QENC6HiCnpwgykTLs/2XZUuPuS4OTWvJJTwywJsR90LqjF23/AkO1c8dOlc2xfOnNrYdU1zRAicIaRhfmHuOyGFtYTdAJiFin++xPkend2jvJpQwvjMO4wWkjvo3nyHnf04CGmoStoY4BCIpxxZALZSC53TzAxu6Dx138kVV5rteE+N2Hu736mFfSUENYDADM8xdtgZUCSKNfmx1i9M//3DrB++uTCZbilm0q2FdNon5exIZKyqDwrA6WiC3HZOuzHKcYzBgYQSFjKwMhpJijZWwJFhXEE1dojTM5WxhBJGIR9BaCHZiiIYrI3eG4inMCYTAADAIaKRpEKhDW4Y78HaIKcWGA8DlRml14cYKwsAMHdPzSPo0vQic3UY0CBRX8TegcE+jFMHgLpEgQ37bZw3webrKwhssI8WktkY+e9x3AB2rTWOyzEGdLO/19/7c3g2AABQHS0ks2v5NzkevucD8ZQtAQZBNcbjfnohbGxLv0XrAoBFcAhrkALxlAfHHOD3gmqMR8CwhLnYANZBWAMAAAAAAACUFI0k2SThF+jf2IOPRg5H6hg98J8LaBgY7MOgDwAQEoU0PC1JkiMKVS4gTcUHLCnUoIVkdh0JC15ghxXvPRKIpywrtm6XaCTZSQVA6iW8gU1AO4KJaAujz8ROKoZV1ueBFYvadPu9tR2F8+2txestNm26UHJSQ/6Kt/vqBf9Dad7BDf/q1n94zIzj3pG/MNpW0DTDX70lYhFzcA8KCthNr3oMC1hUXvJP+KTcKZqUPlHGr7weiKeWvL7Rce+t5DzvIieor2HEKcXZzZiImQlkpVNPXjB/4yzwyH/bcKT9k+X/98Bg3yFH7oDDUUjDrlIFA9dM3Gh+8oN35Z7L4wER93KRkIb5snReqIv7PxBbUI2x+7A9nDdyKKGEUVzXIUQJ1kJIg+nuFEpixf7dGBoUVGPPLfW5rSW4YXmmMd39q9W/qXlDzePIwr4IagDRUL/0dnpWUfcBDbqtsz9dvW3mH+9rKd5Iryik7bxnYfdO+9FfDPWKwqhec9jus+/tiyIH9tG5v1+g8/4ohXE5oo+I48RN5vmEEral6AOUpoVk1nb/MufDY3qxSQAAAOAvGkn2U2iDo/rwFzApSdIvaZzMrJBbKJas4XnDqJODhQEAeOFUBPmHgXhqb60LiUaS3TQmsL8Ox88eZvuNuaIAAHN9/byLPC9mjF2LEkoYz4BtoIVkNm7numCbhYAHAIAycQoHNBoLxFPddrwfQTXWS9cAK/qcESAFIBAeY1MQ1gBwr6AaG+HQJ3wioYR7cbgB+ENYAwAAAAAAAJREg/q30799VZIkMx70HDMEM6hl/DwAgG2ikeRyKmS+3eEhDZYWrddC8nIqOri9jB+3y3lJkmLlFDp2Kwpl0oMb7inK6iLsPR62KqREdHRe66VzW00FUVYWrjTLuVMdnblfBxDc8HtXvZ3pi/6e9Dn/Z9MznpacWctlQRnK9N9sq3U5vmJupit38l3DX6UD8dSLtS4XYD4tJOvhDEq1hefdqiB5CzOe1qkpb9vElGfVZEHyzm7KjVRynWKFXr9f6h+0kKwXPNxRhwENrH035KSAhoVEI8ndhoCTsga95hoL0shTKWnGvEuPpZqm/FLv27Lkn/WyyR8ssOEQghv4WyykYb6WmaxfGX1v49bzoxsb83mf3dteQUhDKSy073g93w+C/YJq7CULilS+nlDC+JwLivrPttP9ua39jghpsMx5PbiB/en08CBqR7xQxo/eUUlwgzfvyX/qfwTe9c96RWvgOqqwL4IaQBQUUNhL9x5Oft5mNhbM8MG/mfw/5VUFTRZge9g16k0E3EG9C6qxfsGfc883nFDC+8XapNKikeQeugcSQZbadcK3V4JqjEexQYnabN0ohiAWKtp0zoKCGK8E4qmXnXZ8AAAA6h3197Fr+Hdccihmqe2TlCRpQoDtEUXaGAjtlP5oAAA7aSF5H4fr4/OBeKqqkMs6D2iQqCh4P+aNAgDcLajGWAjQGzYdlgwVSMY4DhtoIdnOsA6zIOABAOqSBWH7TwTiKcvvnYJqzMqxpewa0ptQwrg+AAgCYQ0A1giqMR791swqjPkD4A9hDQAAAAAAAHAPKuRrHPjRR69KZPRgBvawHYPsAMApopFkBxW43enwIrdzBSitCmmQfvdwbicV+xT1uLGiC0cC8dSQANsiFEN4Q68FBSPtwCasHa3X0AY6r+2i99f07ycLblif/6htQ260Y3VhHMW2yHXvuswl36fSKf+W9E3vmulalvX49KEHuvLvb6x1mzryF0bbCppm+KuhQDx1sNblAlDxGGNAg6MKvfKWlxpu3/K2TWQ9K25NelfdM8G8xHdzKQf19owhoKG3DgsesiKCxymgwZWT0ylIk32vvr7Yz53tuypdfMjZ42vWnlkhfXo4YPwrPbhhH4q8mquSkIb5WGjDZ8c/6th+5lRX62y2yeptrzGkYb5Ragvh8wWWC6oxdv3+Luf1smvjqwkl7OgQI7ehtttOEYq/IqTBdmlDgMNoIJ4ad9LGB9XYa7XcfywV3LB6bMWZtWdWXKh5Q/nIUjiy0H3MCGoAOxlCg/WAhnoLlFzMnb6Mv7jxDDtO3xakPwf9xAAkqMbYd/I1Bx2PFxNK2DF9o/RM+jmBrg1sTMXBgcE+Ye+dg2rsBqdnLgcSSrifw3KhRhSI/hMLjuM29I0CAAA4ExWA3s+5SJjVPpEk6X0Kb6g3d54VSJI0jnAGAIDKcSqeWVHBTAQ0zBmjNgob74diYQAAJVBo+I9sPDbPOiUE3E20kMzaCWfrcNfnBzzcFepg6AO4gecVACAiLSTzvm4fC8RTih27HlRjh5aap2aibQiMAhALwhoArBFUY+w6/w6HlT2TUMKH8DYC8IWwBgAAAAAAALhHNJJkxYL2GP5+gyRJTy9xpFjByZOSJP2UFdNDEQ4AcBpDMXPbi6XVaJiKRVk2YUcLyT00sFzkAsHDVNgYRQqXQIWUeui12WXhDex7wQqpDYtcdMMs0UhyB53TKi7EW62m4pS/O3eiY00u1bamcG61X7rtE/HYWG3Ss2pq3P+IpvkeyFzxdU1WuvpdU2883ixN1lQQ2VMs5DflRuYHlrzqtIKQIA4tJPdSMEM9Ty5b0G1P8/SE575M1rvi1oynZdHAFlZw9v7c6ZMVLD5L1zO3hiwtJk0D9YfcGtBQChVa1Sdz3jUYLhPISqee5FvHtuV6kzS1aobrOpiHfrZe6hhvKfVPYxTcsB/9TdWrJaShlB2/PRl49OKZwLqbae5Fvk0OaZhvLtiNgl9wvwiWCaqxXWX0udfqaEIJH8G7aj8tJOvBsLa33bKeFa1p38YHnBbS4CvmZlbnUx+6IKRhMaP0YkWZzot6XTL7/DU/uKEx65/61P9Y+yuzls/RKLVPhbsvQVAD2IGesRkDGuD3TlBfxoj+XILCz/cIcIxYH9N+FD4AuBsVynHCmIHRhBJ+XYDtqAg9ixbpuQJrz701MNgn3PMyzkWbUBBBYFpIZsWyvsl5C1kbRQnEUyieCAAA4FDRSJKN2dnnsjE7k9RHzoIbZgXYHh7uehZQD+NYAQB400Iyj7DLTYF4atEQIQQ0zMG4PgCACgXVWC+N6bBr7NbzCSW8D++btTiFS7nVMcN+IeABAGyhheR2Ogd1cVz/kvedPATVGGsHfMei1SEoCkBACGsAsE5QjfEo9n4goYT78TYC8IWwBgAAAAAAALhHNJJ8rUTB7T+b9/9sMPxFen1CYQ2681Q4cgQDyAFAdNFIkhWN2eHwkAa9YO9xi0Ma2LUiLPjgcnZNigXiqVEBtsWR5oU39AoeylEu/Tsz5La2ChXF2knntWV2b8+m2yMdG3OnO1YVPmmvNWzALaal1hnNt+nq2YZtl8sJbliTH2tVpv9mW627v7JwNbU6nxoz/FU6EE+9WA/HHMyjheTdFNCwm/OAQ0f6xPfpc2caHjv3UcPjnzw28/anW4vXS1adL2V97qP3lhUnKg5zqRN6QMMwAmbunuSZayx8duSplDTTkuO6zt63O+dCIc72XeW6Ht9tr/S5Q92Sf9a72I9hgmeFzA5pmO+hS+favnDm1Maua5rp9wmcQxrmu3OPgNAGsEpQjb1kQfH+VxNKuO6vn3agfjNh7s9nPcuar3k3yLe8bYFalpOTGvLTntbpStq6tWAhDe0FbaytoGlWrE8wrF9zXC/aJEJYWVCNsc/1S7w+0yy4ofu9jn/acLq9wyEFTVj74eDAYN/8cEzbIKgBrBSNJDsNAQ31Fia5mKwezsDO4cZnEFpIFqlAObvOvFlPYZgA5aI2z2sOOGBs0p0w7ZBKRSPJndRnZfv9Ejk6MNgnVOBhUI3xKtxzIqGEezksF0xiUfEP5oeBeGov3jeAytHYnB1l/iJrcy/1kC0rYnAQADhDNJJkbbu9FoQ9WW2UQhuc3HeRNQQzjA8M9mEcMwAAB1pINr1gzkIF5hDQMAfj9wAAakSBDYdsnI+Bwo4W00Iym4PzTl3ttLUQ8AAAptJC8suSJH2P41G15TltUI2x6/+PLFod2hsAgtJCMrsX+brJW/dEIJ5S8Z4D3C2oxnh838YSSrgbhxqAL4Q1AAAAAAAAwF2oaPkLJY6KPrFID2iYLePI6YUIhjCRCABEQ+c7bgUrLcImIQ3bUXBeC8m7qOCcKMUT5mPXoCOBeGpIrM1yPppwvNkQ4ODk8Ab2OTlO3yFHFySKRpJ66Iyw5zQWOrDp9ntrA/mzqysJbmCFGX3S7HReamzOe/yuCnxgRS6veLuvXvA/lD7b0FvyM/il7N/1rC98VFMxTU+xkJdzp971STljNe+jgXhKqKIzIB4qBmMMaGjD2/R7Wc/Kycu+7osfNTx+Ltn0tXPGf6s0aGV5IaOty3+MSdm/d6ewIQbFL+wP/+Hv/+tMy+1v8FxH5/v3SfLJ++b++9QfXZAya7M8Vye1XV4mbfnnjeX+OJv4uY9NWBoY7DtXxs/XFd4hDfOtmbjR/OQH78o9l8drardI1oc0lDJM95MoWgpcBdUYK3D8Xc6rOZ9Qwt/HO2kdLST30vMUIQozmBXScN27LjPuf0T7sGHHXGhCU3HKvyH3UduqwsXW+woX2lYVLpl6r1DnIQ0Luauokx3htEE19hznz/ZwQgnvl34fIKsXgRe90MkJKkZia+ATFWWzYzL/CQpquFHGz4LD0efMTcHOZtGDJkcWKrqnhWTW9vu2IMeNhdQdFGA7AIRFE9S3C7yJ6YQSdnwgNwX/9AsU+jNK7ToRgtLYhMqznBb/rN7uBnFZWLgJE+YBKkBjpnbZ2E5goWtL9T+kyyxs/mE567O7vwMAykdBrnupjW1XwU8e0hTa4IQxNWnaznEK8cT8GQAAzjjdPx8LxFOK/j90jd1N11kENCCgAQDAFEE1xq4vqo3XlsPs/jGhhDHWwyJaSB6p47aEiMoJeJDwDAWg/mghmeezeobNkekOxFOWXoMpLEq1aG7osYQSVsr4OQCwAadAGow9ASghqMZYn/IbHI7NtoQSRj8tAEcIawAAAAAAAIC7RCNJXhOO2SShISpQgMk7AGAbKmj+tMOLyLAJPUcHBvuOW71iLST30GQukY/fEBUhx/XGAobwBqd/r+YKsjoptIGO/U4qAilqcEpJrIh5IH+mrTP360Br8XpLqZ9pLN7KrChc18opzJiX/P5pT2vJ5TBZ78r2hf5tVmpuKXi8/tLLtS4gQg9uuOKXM+f8n03PeFrmghWemfr3O/zSbV8ty15ZuJpanU+NzfvrF1GAGEqhQYW76fVlHKS7TXtax1L+LRMjTV/98Kx/26LfocenDz3QlX+/rKrzC4Sq1KNhBDSUJ6jGuBdqarneJPW+3Xnn/2dabkvvfW1cyjcUeK5W2pRcLW04veCleyFzBXIR3GB9SMN8LTNZvzL63sat50c3NubzFbVhBAhpmI99rn5qRzFsqB9BNbaL7qd5OppQwghq40gLycvpucpOUfpGzAhp0O9TP2zcfvGKr2tyqZ/X7/XX5MfaWgvXWysJatQhpKFio8bCTzz7Q6mNUSrs3SwsjOLFhBK+Zx8cEtyQtbM4CRXQt2oinRGCGlzO8P3TAxoc1Q/N2XkKg16y8J4WklkbYY8A2zx3rkK/C8DSgmqMtetfE/hQueo+LxpJ7qH7KRFkabwBO7eP2/XsOKjGWF/nNzksOpNQwhV3voI9OE2Qn8+WYiAAThONJG199iK4LF03l1LOsxZ23b26xM9kUfwc4G40hrDT8GJhaH2SJD0qSdJ6Fx2uWUNow4QA2yNR/9CH+p9OGnsKAOAWWkhm81p+ZPLuHP5B+0/6DeNov16nHxgENAAAcEaBDfttvNbMjflAYIM1OLVbwFonFgh1uEGBD3NQqBjA2bSQfIjztfnZQDy138qDRG2OcxaNL2X3kr1oXwCIC2ENANYJqjFeIVDPJ5TwPryVAPwgrAEAAAAAAADuoGILPBI5jbL00HkIE2YAwCqGYjJOLybPJhkN2xTSwI5bWOBiWBIdn4OBeArXF5u4ZHIyKxJ9fGCwT9iCrBQ6s92hB0FdAAAgAElEQVQtk8BXFq40y7lTHayY45r8WHtr8caltoJ2sbGYnRZg8xbEOyDiqrczPeVpny630PtCFigAfz4QT32/luWCe2ghmX1WFZpUxv7swtt7j8NU9PLQD9p/MlFuka6m4pT/qVt/9Xi5gSsd+QujdVqU9gT1E4wgbKs8NFB2hPf3lQU1sMAGo3TnlHT6Dz/huVrJd9srPfrPG+9ZdwXqMrjB7pCG+Vhow2fHP+rYfuZUV+tsdtE3s+3WpLZ6KqMJFNIw39y9eCCesvxeHOpDUI29RIVzeHo1oYTRX2IyLSR3UkFRHgHYVTEjpGFaap0529B74aOGxzU9SLAa7H5/ff6jtrb85ZaOwvn2hcIaJYQ0mOm8HtzACkOZFdIYVGOsf/27nPvWDyaU8NBSP+SA4IYTVLDEsnsbBDWA2QwBzSIHpNjlBBXgGymn+B4FOvULchzZNeJNBPgClC+oxvpFauvPw0KuXPV9pufMzwkYDJQ2tLPnirDybutxLpTww4QS3sthucCJFpJHLGhLHA7EU7vxHgLci8bn7LSg/xbMo4ebWnLdBrAatZs7qa+2s4xnwysouIEVAml00RvG2sunJEm6aPF6Rw198KM4xwAA2I9Hcbn3mv74w39a9r9urtO3N0MBDfsQ0AAAYB2OAc7lYAWVdyeUMM77FtBC8jnM16k7CHgAcBAtJLN5le9w3OITgXiq1+ojElRjVjxzluieUkG7AkBsCGsAsFZQjfG4DzycUMIY6wXAEcIaAAAAAAAA4I5oJMkmFe2x8IiwyaxDVMwAg9UBwHRUuGknvUSb1F8JNrHniB3F46mQzE4KuhBVlkIaUDhTEC4JbbDte1cKFchi38UdDj+fLWSuAO5f3HhmRPCCe7aqJiCiqTg1uaKQnl+wh50zlyyACO5Fgwf1cAZ81+6lTzhjLzUQT91VeDIaST5X7nHbdHuk43OzRx4u52dZgdqu3Ml3TdkD8bH+gONU/Bz9ARUKqrF9kiR9h+c6Ot+/T5JP3lfy3z748ifStfuneK5+LqiBhUWY4LD+fXZrEVnRQhpK2fHbk4FHL54JrLuZvqvAHAtp2HjjSmrZ7RmhQ7oM0tSXiXMXmCqoxjqpCDpP5xNKGIFtJtFCsnBF2swIaWChgaMNX7hwwf8Ql/AcFma2Oj/eEsifab+vcKFtVeFSG0IauMsaikex8Iaq+rmCamwX5/7hqs5RhuAG0UJNsxTYwH3CGYIawAzRSLKT+pz1gAYUIf29LE2OH610TAOFOn1bkBD5oUA8dVCA7QBwlKAa6yg3uNdiwwklvN+NnyZq34kScrOYtKGdPW7282QKCvmR6Vv9O5sSSrhuAm7dQAvJ3dQe4d3mfz4QT+2rj6MKsDi6Hm2n/j8R2vNQm7vCTcsJ3gMQAY0V7DS87q/xnNRIgQ2fkySp1UVv8qQkSb+kQoezJi87O+/8IcQ4UgAAuJsWktm4sK+beVjeXv6/Se83fqWejnTGML7ukADbAwBQl4JqjAUtv2HTvqOwskU4FcYF90HAA4BNLAjSt7yYucWhUM8klDDuKwEEh7AGAGvxuhYnlLAHbyUAPwhrAAAAAAAAgDuikeRrNk0u0oscDA0M9o3jHQGAatFkyR56bXZBQZlhKhZvyyRBLST3UoiPyBNPWaHMoyiUKSaaNLiLJjE71VyIwMBgny1hIFRwbYdLi6lnqVD30ELnOToP6S83hlTY5XmcN+sLfZcUepk6Mc1FxmjC2f5APLXoRAM6N3+73F1/Mju4lRWiLednA7kzJ1uKN7gUxxWAHtAwEoinUASjSkE1xr7H7/Bcx1JBCbnGgjTyVEqaacnx3IxFAyOq5KrgBieENMz30KVzbV84c2rj1vMf5xwW0jBflu5Fj+N8BmaxoBA6czShhI/gTauOFpKFDFGsNaQhJzXkx/xbL/y24fPaTe8aK8/L7Px59C9uPDM+ry8XBfD4GzUUmBpdqn/AoiLFryeUcE2FriiQfpdg/Udzfde8AusR1ACVoL56vcif8U+cd++V1gMaqg1d0ULyTnq+ZrdsOX1dALAwKpov2nPOmttOohO0bbcU1v/9oV4Qupbxb0E1xgqudHHYxsMJJbybw3KBMy0kW1Gkiz2b6g3EUwjzgLpF9016SCvGp7jXXeGmKL4OIohGkj3z+mx4P//dIEnSFgpvcItZ+m6/L0nSRJX7lDa060cxpwUAwBl4FNL829bvSyn/Frd/AhDQAAAgIM5hzuV41q2B4aLQQnI7Fd63eqwPuJ8x4OGuUAcaX6Zjc3kw5gugBC0k874OHw7EU5Y+r7c4DOqVhBJ+2aJ1AUANOI1BeSUQT+EcAFBCUI2x6/9POBwbhCQBcISwBgAAAAAAAJhDA/1fEOBonKfiJSO8ipcAgHu4MJxBMgTY2BnSwCZ99Qte9JNNrDoYiKcwIcoBXBLakKbiatxDGwwTwLe7tFhWVQEYWkjuMQQ3oIhY9U4E4qk3nbrxUB4tJHcbwhl2YzD3go7pE84qLT5TSdjhysKV5j/O/vXny/nZ5YWMti7/sZsKQugFDofRbqtdUI210/HkUajrDhbUwAIbFpMJZKVTT17gvs9bfrpRatO41MM5TJNNHTepyIkhDQZzgYT/33/8PyQX3B/o5vYJoQ1ghqAae8mCvq1XE0oY1+QK0L3ok6KFKNYa0nDduy4z7n9E+7Bhh2b+1i1q0f4V6pfsdFl/r+jSenADK1I3v90eVGMvcG53DJs10Zv61ETr12bHd7/Zhf8Q1ACl0DMzdt5cPS+QAefSpZ2n++2RWgrxaSF5OZ2HRGg3sH16E/cqALWxKLiqEumEEn6xHt7WaCTZSedUJ1/HRg3FoMfLGf/BOawXEzQdTAvJhywIZGfPkXtdfSABSnDJmCaojTHctKxrNkA16HzTaXjZHWC8gvpSH5UkqdFFb+onFNqw1DggY9/4h/juAwA4kxaSTS+W84N2HnWzhICABgAABwiqMbvGg+ieTyjhffis8KOFZDZO6ptu3T9wlDFD/wkCHqCuWRCmY3lwPuexB/MdSCjhfovWBQA10kIyj/MDwhoAFkBzwq9zOD4/TCjhvTjuAHwgrAEAAAAAAADmRCPJfsEmG+nFyodqKYgAAO7i0nAGXZbCaobsCquhIjI7JUl62o71lylNIQ0jpiwNLEXf4Z304lJ11wJp+q4Om/1dpSJrO0QrAGkSdo47Tue4mic2aiG5k9quKNxYuQOBeIp76AhYTwvJuw0BDW48j5hBn2ymUkBD1QOGo5Eku5btKffnH5t5u+vBXFIu52fvz33wi8ZidtqkfbaDfs5HQIPJgmqMTX75Ds91dL5/nySfvK+snz3bd1W6+BDfcfdNU36p921Z8s96ea3CMZNQ3RDSkFDCd7UDDfegTr4/0I1SaIObAnfAYkE1xu5zvst5recTSvj7eG+XRiENwp1385Lff8XX9UA1IQ05qSF/xdt99cPG7Rev+Lom+WzhgrIUTjtU6S/Se7GZ3otOF1wzRJfVC9P9P8H/yXvwczuf4ri9bF0vJpSw2X1suwTs4x6ioJKa9xVBDRCNJNn5cLkhjKHDofcJdhs1BDSY1Wf9bUGChocC8dRBAbYDwBWCakyk8VRsgntdPeOJRpJ7qO/IDbKGQtAfsnv0+e3DoBrjVaBnLKGEu11yHOuSBQVCdJhAD3WD7q2c+twF+EobAxwwhh2qQeeYTkOgpujnGj20QYR+DbNMUmgDa3vPUrDlh3pAg13jtAEAwDxaSGZ9HWfNXOaMZ7m0r+2/uuldQkADAIADUWADO2932bT1KLjMEY82DICFEPAArqSFZN5ztSx9Bmtx+NPcuNKEEsZ3HsAhENYAYL2gGmPX5S+bvOITCSXci7cTgA+ENQAAAAAAAIBeOPkNgY/EeSrsi6KyAHXG5eEMOja57ygVg7Ft8o8Wknup4LDIk62OUoEZTJJyOJeENpgSsBKNJDsooGG7yyY76ri347SQzI6bHnSB4IalPY/zqDvQtVsPaDD7Ib2bjOmTzQLxlGrWflVzH71r6o3Hm6XJpqV+bmXhamp1PjVW0wZaTw9cHEGoFh9BNcZjINxdPEXPqR0/fvB1Ord8vZzfGXlqXJpaNcN139eeWSF9erjietTVEHJyqhtDGuaj0IZeKqrs9Dbx3D0+wrGgWkE1ZkWB8aMJJXwEb1JpWkjW79GFC2m47tuwccJz38aix+ur5HenpdaZsw29Fz5qeFyb8bTk+G1lSaYH1FIx7B5DgSs39qfYLufz+X+9/oHHcj5f06WVHZnLK9onxzrWZz4MyJmppmVmfY4OJpRwxQEe5YhGkuzz0S9YXxFrJ7xVbYG/aCTJirPupZfVQQ2H2fFEUIN1qN+4g56NLZsXzADVyc4LaDCtj1QLyRWFenKUpcBz3I8AmCioxti59zUBjimXoCsnoEK3z7k0uC2tF429dv9U5oMvf/ILTut5PqGE93FaNliEgtt/YsHatuFZD7hZNJLcQeOVML4EKjG6WOAS1C/qw+k0vO53eP/NBsOYbTc5IEnSvoHBPrRxAABchEdhuXH/I9KPW191w0E6gIAGAABnC6qxdiqy/FmbdmRunAgKL/OhhWRe4d0AIloo4IH9eQ7PpMBuFoTosO9Ar1UBJha3IdgcrN6EEj5Xxs8CgCAQ1gBgvaAaY9+P73FY8SZchwH4QFgDAAAAAAAAsIkCohQPWAqbeHycivosWuQNAJyLJtpvpkKNbp4UOVfA0e4gGiputkfwyVVsouP+QDyFc78L0SRoJxdlrap9Eo0k9XABuwbO8qQX7B6qtvhctQyFfntdemxrNRyIp/Y7exfqFw3+UwwBDVYXZnSSE6ztwAYX8hy4G40k+6mQb1k25k637ZiJb13qZ33F3ExX7uS7Djne7FgfxwBpvmiwLDvGXZxXtS2hhOfey2gk2U3nm/7FrqksqIEFNvD20M/WSx3jLRYd8Tl6cINtBRvqIaShFFGLpFchTccBgYNQsaAae8mCPrFXE0rY0vs10dH5R7j+iVpCGq56O9OjDV+4cMH/UIbfFi7I9JCGhVCIY6fLA38tl7ov0HVlxSq51HonG5fNXGxffUNr65g6s3pD5lzH+skqtu98Qgl/n/d+RSNJK0JwKsWeC1QUmkP3ny9bcE9QyoGBwb5+G9brehQEeT+dw/Tw8uU4j5kqrQc08Li3o/7oRe+bLXSenqWhjQfAQVCNvSBAX8VwQgnX7TMeum6Kcs7l4qPtWt/lByb6OC1+FQoquYMWklnoxnc474ylBUMArEDXke0U0oAQPDADuwcb1wMcMKa9PtDYZj1Qs9OFgQZGjZIkPUp97q3ibFbNjrH+k4HBPoyfAwBwAS0ks4DzN8zck182PS0NLfuWUw/OYRrvdggB7AAA7kDjx9n9y9dt2iE2T0DB8wXzcSqQC+Bkx2i+zNwL85PASlpIZsEGX+a4ymetnM8bVGOHLGw73JmDBgDOwakt+sNAPLUXHwOA0oJqjNU9eY/D4Xm2nseUAvCEsAYAAAAAAABgkwdec+AEJDbBZdjuIucAUDtDOEOPyycv6dj568jAYN+onRtBBWSepkmoomKTGA9icE19cEFog6QXpV1oAm40kuyggIbtLp38fZ4KMY7wLsRYDjrP9RjCG5bZvU0CeAvnVOfQQnL7vHAGOwoyOgUrPqvqE82sKh5D7dgXKvmdL2X/rmd94aPAUj/Xkb8w2lbQtJo2kJ8ThkHQKEBugaAas6L40isJJfxyqX9YKrjh4kM3pLN9V7lunO+2V9r2D51S01QD1/UsYIzOL/utCG6o15CG+bSQzPb/SRcU4LsT7oYAQihXUI2xAj/f5XzALCmS7gRuC2nISQ35Mf/WC79t+Lx207tmmu9WlmRZSMNi6Dqi9zl3ok+gMtmGpubfbNj0+XJ/adbny19raZ88v2pt5uM1G26cXtddTkDI6wklbEkfeTSS7KS2rEgF8M9T+3LRourRSFKhkAaekwEXg6AGE1D/wXI6H+nnpHp4HmaXNPVbDPMME6Yw9G8L0oYYpudp6KcB4IT6ayrqC+bgRTP6XJwuGknupL4z17Xx3/2fz37jdlOeRyHcAwkljDadS9DzQ9WCftMDgXgKnxtwPMM4nZ3oHwLOsjQudJzCG2wdGwq1oXNHp+F1f50Hvej97esF2BazsD7sfdRHe84duwQAUH9O/qlyJJA/Y2po+780h6WfN/+pk44lAhoAAOpAUI2xwovftGlP2Rjq3SjEbD4LioMDOB0LcDhnmLuk4h0Fs1kQnnMsEE8pVr1xFs0906E4NIBDaSGZzRM9a/LWW3q+A3CioBpj/bdtJm/64YQS3o0PBID5ENYAAAAAAABQ56opLimYOwXPFiqMDABiqcNwBh0rlHJchIl4VIRuj+CTUI9SMUsUlqkzdI5wanFa3V3fd9onPaTBbbI06G2IZ+ErM2ghWQ9t6KnTCbTZQDy1V4DtgEXQID89oMHpxal5G9MDGgLx1CG7NiIaSb5UScHPpuKU/6lbf/W4X7q9aMHdxuKtzP250ydN2UhznKd772G0z6wVVGO8B/8yJxJKuLecHzQEN+w1hsic+qMLUmZtlutGtl1eJm35541c11EGbsENQTWmtxfrOqRhPi0kd9D9gRva0sN0nyt0uxnEEFRjuyhAgKejCSV8pB7fcgr32ylikbZqQxque9dlxv2PaB827LAr8EuIkIaFUEHtTkOfdD0X1lrSB+u7t95qbK5pIPj15SumxletvTHWsT7zYUDOTDUtyxn+ediOSVrRSHKPgOHFRwcG++45F1O7m02c+7o9mzUHQQ0VoFCQZfT8q4NeCIuxjt5vMWLFmAEtJO+k52x2y1JIw3Ex3gYAdwuqsRds7LcZTSjh1/ER+x1Bw7hq8snmG91nPnf1q5wW/0RCCaN4iYvQc+/3LNijZ+x8BgdQCyq07pZnC+BcenjD3J8Y4y4mGtfXaejLQcDmwlZIktQnSRLru2wUdSOrcICe/6PNDADgANFIcjeNXdv9jcnvtnXmfm3qRv9t6/ellH+L6AcCAQ0AAHUoqMbYuO03bNpzFninILDBXFpIZs+6fuSmfQKwwAk9vMEQ4oA2MVRNC8nnjPOiOHjCqqCRoBqz8rpyIKGEMbYUwMG0kGx2AWqENQAsgVMQYyahhNtx7AHMh7AGAAAAAACAOheNJPtdNCGJTWgZHhjsQzECAIHUcTiDbq5opQiT7ago2R7B3wc2YCYWiKcwObHOuSS0YdRQmMttzlMRxhERizAuhc6H2ym8oV4KNLIC65YXQoTFUTEVPaDBzgKMTnFCn2QWiKeEGOwfjSR3VDpAYsvsOxs/c/vnDyz1c/fnPvhFYzE7XdMG1uZOoUO0zewRVGPtNIic5+BfZls1E2iikWQvFUXbnWssdP1y9zkp31Dgs4VkU3K1tOG0MOOHxqiALpv4eq7ahVBIw9MObZNwC2mYT+TC6lUYpdAGTFyDRQXVWEWhUFV6NaGE6yZAxG0hDTmpIX/F2331w8btF6/4uib5b2VJQoc0LIQ+C3p/NQpwGVxtbesY61j/sNnLHV3bqQ0/+OjFcx3rr0iS9GJCCdvyeaE+x37B2l7nqRjYeDSSbKdgtO/ZvE0IaiiBin3qhfuWG8JfEABjjzsTsK26BtH1Y48g4yvmzh0IgwOwTlCNsfP+CzYdcjbRHWOhDKKR5HLqUxMtjKsq7z2d2nWrbXY9h0WXHdQLzqKF5JctuG9gBbi6UeQGnMQlY43AvdLGAAfWF4T32jrUr9NpeN2PPp2qNdKY8EclSWp16D6Uwp7/v4zC1wAA4jGMUWOvO4Hz3775Z9LKwhVTt/evV/4nKeNdK+JhQEADAABYXYS5lGcTShhzkkxkQZFwgHowZghvUBHgAOWy4HnrgUA8ZckYzKAa66XPf1sZP16rYwkljILsAA6HsAYA63G8p69qbjgALA5hDQAAAAAAAHWMJq6+4cIjkKWCkkMiFEcHqDcIZ5ijFyk7LkhIgxMKFaSpqMyoANsCAqGJkrtcFC7lZFkauDbkpgnDWkjuoNCGHRYUQrXTqyjcZT8tJHcbwhkUDKwuiz7JTA3EU1UXQ+eF7qtfq7TY75PZwa2rCpcWHQS5vJDR1uU/trptlKZz/TDOGfYLqjEWBPAdzhvySkIJv1zrQtik2IufufH9s49dfdqczVpY79udUsv1Jt6rqRQrEvr/s3cvwHHcd57YG4M3SIqgQGnEB5qgvQKplUQPDa17Ce+uWqZP69yKJWq1w14rqRJUlUliJxdTw1S2opJLUklR7q5KEJWqrKqC5ERect5tzjoilzxX+WLEzdtd4lrrsQBSskRoLQEDgGSThADwgRdngNQf/jXdBPGYR/97/t39/VRNQSLB7p7umX78H7/vkUKCGxRDZ0VAvoeQhsLQ823MxwEXTmz/nYqmMii2CEui88TLnPfOsKlqrwf9CNBz31567vN9SMO0tHbmi+rYyGfV37BmKtZk+W/lknwZ0rASKy7b7dp2eIPfw4EKlq2srPp401e+nq2s5HazVXtr5j8+cuGLf1vO65+ghX2nqMjZcx5NmFtJqIMa6PPB2gg3OoIZ6lHoUwhTjnAGzyeVUABwhyBtyOyZ7Fg0lQnENRjATxRDP1SGa8KoqWov4YOyNEexPt/ev9/cMLOu958PfZfHsjd/0vj+9l9u/FsqCj3U2dWG8RgBYsVlVnDjcc7vCBPqwRcoYH9vwMd8QDD10+s8a68PSltrudEY5mZH2w7adfjZLEnSIyzgKUDvaYL6/g/n2/cPAADuc7T57F9unO1fjD/j+nr/VeP7Ih1NBDQAAMBdPC7GvJQXTVU7jCPjDisuHwxojQeAcmMBDgN2eAMFOKCdB26z4nIjfUZ4XU89C8VXDL2RPudezFFl362YqWp4RgXwOYQ1AHhPMXTWn/oFhxW7Mj8cAO6EsAYAAAAAAICQSybSzTRJKRbQwjNsEktPZ1cbip4BcELnkVjIwxlso1QgRZgiZVZc3kuF7kU9xy8UdoumMicF2BYQGEIbymqhiCwVwQr0pGBHcAMrzvg1ATbJLaPRVAaFfMrEisv7HeEMQfpc8TJhTzCLpjLH/bDByUT6QKFFPu/LDa5Vp//t7pV+p2J+LidnP/qgUsryLsBrBx4ioEEgiqGzc8bPOW9Rn6lqMTcXqBg6K1rwvJvLXIwFNbDABoGtGtxABdgP+bAtrmwhDUux4nKMzr9+b4u4XfAcxVZhMcXQ91FBcZ5OmaoWyHYZesYTsi2hmJCGq5Hm0f7q3x8Zqdo5wX8LlxW4kIblUFHuZke7t99DglaVuTe67cq6DTKv5dfemr35yIXPf0n/ezvwOJrKlOXegoq2dQhwbDdTm8HaMm+HFKagBurbanIU7nMGM4A4bodKljNA2IrLrPDrAQE+H1MU0oCxDwBlohh6K7XpeCmwz2xuobCl7/m1jejTP7rYPtp88xG3lxvJVcy2ndj2o5qpqtlFf9VP4Q3DFOCAfgGfopD4Xg+Kcr0YTWVQfAuEQ+f/PdRPEPh2GwiNYbpOLwQ4dHa1CdEnJyoaT9jseG3F+aBs1kmS9Cjdk9cE6H2dptAGX4xfAgDwu3wCGmxy9iPpuzd+6Oo7vlzZIr23ruy1ku1xZ0cQ0AAAAMuhwIbjHhVlXspRU9VCMbaENyoWfpxCEMt1PAHCYoL61ewAh4FoKtOLox9OVlzmPe/ptWgq40nRZMXQez2ar8q+Q6qpavjeAAQAh7CGvmgq4+ocVYAg4nTddn2OOAAgrAEAAAAAAAAITVyyC5xtDeB+sYtPdmPyCkBpqIBNKxWybkXhmgULhcxFCoax4jI7Nprg53Q2mFwvVzEu8Ce6Z9lLL5x/+GLFeM90drX1B/lNLseKy/b9cSwA1ztW+PeYANsRClQ42g5oeDzs+yNPfTTg9YgfB7tSAYA3C/1335g+/pVtuXNbVvqdptxI//o5yyppA5c2RQOMezHAWDyKoTfS8eE96WK32wNlvdr2zZ82StvTG3muwi0n7AAaewKtT4MahAppWIyef9sDEOxmn5tP4jkZnBRD/6EH7TtvmKoWmOKMQQppyErVucGqXSP/VP171rXIfdPebOWyuqkNNJTBMtRO0LoowCEwpqpr6361efvv8Xw/X70ycrZx8vpSYSPsmfBn0VTG8zYoamvsKFO4YhPdw2wqw7qX8k5nV9tBQbbFFfS83kT9WfWLghlAXMPUr99f7uLRdO4/IMg9xTC1naGgNkCZKYZ+yON7wZdEbZMRTTKR3kvnbd+Yrc/WpJ8efG6uct71grZNQ2s+2vkfN+UzhmXKURR6iAIc8JnzCQqNf9+Drd2N/iQQBT3rtWPcEITElOMafT6sY7ik3wavOsM3A9U+GzCtFNwQpDa4QRbagMLZAADuKySgwenBW6b0pzf/pavb81n1N6T/Z83/VI6jbAc0sPFlA+XYAAAA8B8ar22UabyLROOjO0xVwzOSyyjAwVloU3X8N/vzRvpvBDwAuOO0PbcK86vCgeZ9fsjxzQ5GU5kWL3amYui8QyecnjFVDaG2AAFhxeUBt+8lo6lMBT4fACtTDJ31N/6Aw27agOdzAHchrAEAAAAAAADuQoXY91LHfRAnM7HJKj0iFVUHEBnCGVYk3PlEsMIxyxmlgjKhnTwIpUNoAzejVHyxJ6zFF5dDA7FiPr1HfgNFvPix4nILDYC2AxrWB/W9uuwETRA4Hk1lfD/BLJlIF1ygq3b+ZtWTk//71+ukG7XL/U7lfHZmW/bsB65s5G+wiX1nMIBYbBwH3Ti9ZqraqzwWrBg6Oxf+nMeynR752RZpveWrS/KJCzvHP8p87cumXNVcRIDtyYfQIQ2LOYqzB6FNs2xFq0E8FPLyMucNGzZV7XW/H34Kb9knapGmiUg0Oh6JbstVVC17/2cbizwwMVT1sHW+up1HcFehFq4HKEw610QAACAASURBVNZ5N/rMNQeh7fyTTS27JmvquD3Prp+8Yf3OleHVrmsLocg06dHTdilHIRgvjmENFZUU6Vz1QmdX2xEBtqNg1E7MQo02UgE4tl8bBA+yhrv10aTn86Jcb6y43EznBRE+S+xafMzrcyMALE0x9FYK4vRCj6lqvrxGlwuNbxHl/L2qzK4vW4ce/VItcTFLiv2k+a/WjNVeL/Kfj1JQ0EJhaPbf6DsWlxWXWVGMpzlvYF80lYnl8XsA3FBIg5ABrQAe63cGLQWt3Za+682O11YEb/qO/Rm9h8ZR/ecBem8sjJjdex3u7GrDuBsAgCIVG9Dg9AfTfy19c1p39RD8Q50m/X3dn3t1WBHQAAAAJaPAhiMetA8vh13PVBSEFIMVl1cKdbCLhjeWMeADwE9YgMOAI8DBwNELDisus+P5OMc39Ew0leEeaqAYOnuufo/3egi3+WcAUB48zoUIawBYHcd51y9gnCmAuxDWAAAAAAAAAMui4hZ7qAhyECc6TLEilawgMYoMAfwWwhny0k8FyoQqmmjF5b00KVXUY8bOuyejqUy3ANsCAZJMpFlxs6cwMbMkrNjTGdHOa6KiYox2cIPon7vhaCrj+6KrIrHicuOicIaiJouFkD1h2Q5oCNSgfJpA+L1C/932W71Nj82e/N2Vfiea/fzsmvnxiRI2r88xSBjFlATnUdBBn6lqXIsqKYbOBuK+wnMdtTerpNhPZKlq1h+5B1P33JIuPDS28N+3anMDM2uyAzfunRH13stXIQ2LUYjhXmrX9PszwkJIZDSVQehsyCmGvo+ee3k6ZaraST/u6aCENGSl6tyVSMvV8zV7Llyp3HbDuy1cFkIaCkTBQXa7erNfCsReXbu+abBp04rPJaWIzM3lHr3w6w+qcrlsnouZomcY1pbs2eeP+kU7OE5KZiENj9KrhtM6iuGLoIZkIm2HMDTTPV6TqOd9yIv9PWevftGKP1txuZ2C0cvd3zZFIQ14HgAQjGLoBYf3FuktU9XQd1cguq97itqHhPaL/QPPzqzJut5+1TBRc3H3KdntZ/xRR+HdIfQri4P6Lns96LN8J5rKHPTTvoFgoOdBYdv+AATgvEazZ+whvxwU+n7bbT3N+J77Vj+9zi91j5hMpNm9ykFqew3SGCtWtO+IX0NwAQC8lkykW+ha4Mr14E9v/i/Sg7c+cPVd/KThX0jnar7l6jIXQUADAABwoRg6u748X6a9O8jm1ZiqhkA7H0LAA0BB+hxjnez5WQir8RkrLrO5oO9z3OrT0VRGzeP3SuLRvDPbCVPV9nu0LgDwCMIaAMpHMXR2D7ne5Q04aqpaBw4rgHsQ1gAAAAAAAAB5oQkR7VTkLIgWCp91drWh0AGEDsIZCiJkgTIqSKcJXvyrhwrKoEAwcIPQhoKxc1k33QPhu1kkKy43O4IbRDwPH0NITuloELId0ICBxvkbpIAGFs5g+GWji5VMpN8s5hr07amuXRvmLi07uKJhbsJ6IPfrQoseDVM4YQ/uv/xDMXSvCirt9mJSjGLovbzPmfcOr5EeOr2J5ypcM/Tol9Jsw531iecrpNnZOhbccGtgsnFWhEm4vg5pWAoVWQ3CMwI7JqcQvBNuiqEXda9RoDdMVfNNISf6ju/xe0jDtLR25ovq2Mhn1d+wZirW5FvMnieENLiEAoRaHYXGhPusZisrqz7e9JWvZysrV/yclmLr2OX+6LUvrSIX4XlwEYXxdbjcV8KO/WOSJK11cZluECqogfqr6qm/qp6+O83otwqMUUc4g5CFGui8fUCQMRGsbedINJXxzb0ZQJgohs6u7Yc4v+VRU9VewgereJzu61wzvmmy6eNvXXiWx7Kbz91ryGfv9SJMgV2vztPPIT8Vhw4a6sv0oiDHE2Ho8wMx0BigvX4JwwQQzO3i+ew6Xe5xYclEusnRzmOH3GJ8nz9NOT5bBYeDJBNpu0i3qwWAymyQCm8fQeFtAIA7UUDDfh5h6c/deFlqzn7s6h7/q7WvS5mqR1xdJgIaAADAK4qhs5C8t8u0wyfYXBsENoQDAh4A7jDoCG8wEOAgNo8C8LdHUxmuz36KobfQ+3C7yPNS+ugaj881QMAgrAGgfBRDZzUXnnZ5AwZNVWvJ4/cAIE8IawAAAAAAAICCJBPpBipOsDegEyWmqKBlNwoRQVAhnKFgU9RxLWJIAzsP7xM8SIdNytejqYwXhQAAFlDI1D5RizUKgBVdPNPZ1YbvpcvovGwHN4jy+XspmsrgvrZAVlyOUTiD/fJiAFtQnHYENIRqclkykd5HBcELcs/clbq9U//n16ukW5XL/but2U/+sWZ+anqV5doBDb343hePnpdGy1GwQjH0w5Ik/YDzal4zVe1VzutYoBh6jAadcz2HPthzv3T/5/fwXEXJvtxyUxrbenPFxZQxuOH2M2+QQhoWo5DDIDwjTFHgWjdCG8LHo2Kgw6aqvS76zhU9iCXfkIarkebR/urfHxmp2jnh3datCCENHqBrUrMo7fOZe6PbrqzbIPNafsPs9MRDFwfOurCoUfqMenINpP7Q77lw77BZkqQ2SZJETBgrS1ADFeezC/TZgSYNKL4ZWMP2pGTRizdTKG+HIJ9FBKAD+IBi6Ic4tzMcNVXNs8CqoHLxvs51H+8dUccfmHJ9u6pnKm9842+2/6iMb+0UjbvDdcxjVlz2oo+BFZ2JodAM8BKC8ckA5bIQrGQX2efZBkzj9pod7T8Yv+dvXD47FKx2kAp4B2lM1lEKbUC4FQCEFs+ABqe/GH/G9WUeXv9/SzMVa9xYFIJ8AACgLBRDZ9ff98q4918wVc3zcSggvhUCHhrp/21BCneE8GLPAwN2eAPN78JzgQCsuMzmUb3CcUveiaYyB3m+U8XQG+mz5UUgDhvbHjNVDZ9fgADiEdbgRWANQBBwDFvcjRBFAPcgrAEAAAAAAACKRhMq2gUvEl4KNrGgp7OrDZOfwdeo8I1d+CmGcIa83S6AKOIkcisu76OJqaIeT7b/TkZTmW4BtgVCCqENdxilc1oPCmN4w4rLDY7gBi8GQC2lP5rKvFXmXeELVlxupAlidjjDtrDvkwJM0EA/O6AhtMVZqHhIUYMkvj7zk21fzaaXLZB6z9zVzMZcZnCJvxqlAbw90VRG6KKHIqF7hAZHkQjnayWsEMFS19Ehuv9d6s+X+v3hxddjxdDZuefnnHdTn6lqsTx+zzUcBw/dVnkrIu3+981S7c1qL99a3rK1OWnokTFprmou739jBzfc3DBzbrYhy6tYyu1nXlPVQnN/SAVY9wakPbOHnrtRVD1EFEM/QJ9hnk6ZqnZSxL0ahJCGrFSdG6zaNfJP1b9nXYvct1oYl1cQ0lBGFPy4g4qD7/CySPhUdW3drzZv/z2e62i1Mh+um5684fJiF4JIvQgITibSe6l9sdB2+HV0v9HCadNKxT2ogZ67NjoK89WjnTY0+ljxPgpo8MW1he4xDgjQ5zZFIQ0YnwDgA5wD9dj54KUwtdnwRvd1B0TZntn6bM0//ulAB49l3//5uvSDPdE0j2UXYIqeMzFexGNWXO71oG/6RDSV2S/cmwdfo/GN7YKPhQMIkikaIz9EBfgLbmej722z47UVISu+NuUIZWDtOUNeBG8mE+lGKuZ9MGBjtVj7GAvSOt7Z1YaQKwAIPK8CGmzr5y5L/821/9rVZc5UNEiH1/+7UhYxSGNoWUADCmIBAEDZKIYeo7kd5QrGe9FUtcP4BECprLjsDHVocYzBQsAD+NEEzfuyAxwGoqkMnhs8ZMXlFtr3vK6P7Bi38J5TqRg6e+58muc6HJ4wVQ2htAABZcVlNob8eZff3RPRVAbnDYBVKIbO7ku+4LCf8DwO4CKENQAAAAAAAEDJqCDlHpooFcSJFmwCwhkq2I5iRSC8ReEMrZgAVTD2PT9FRWREDGlopYHsIh/XHiomg+IRIAQ6L+4LcMDUStjEvzOY+FFeFNzQ6ghv8Kq4wFEU9lqeFZed4QzlCtTwK3timRFNZY6HfWc4JRPpjmKvN/tuvv2NOunGkoV9K+ezM9uyZz+g/7WfURHQsAxqp9jqKAzatKhAqFBYYa7ePxn6s1u1ubWct2u3qWqe3xN4MSB4/eV66ZH/dwvPVRTtYuuENLlhpuh/PxeZvzFbnxuYXD973qXghlCGNCxGhbH3UvEnvxd+6qfQBu4Fq6H8FENn17iXObcLsfPE66aqCdEWTs9Te0Uu1JZPSMNY5IGJoaqHrfPV7Za3W7cihDQIiD7zWxe18XPxyaaWXZM1ddwmZzfdmBhpGb34Oce9PEz3Nb0826KpbbEjz2NRI0nSo5IktfHaHhe4FtSQTKTtZ6wdoj93AVdTNJm1X9S+teXQOfeAIH0H7Jx2BG09AP6iGPohTvdrPaaqcQ1WCiO6dzkgQoDUF21XH72wc5zL9Sf2k+a/WjNWe53HsoswSkUK0W7lESpe5EUhrheiqQzOU1CyAI3nsftezi/xdzvy+Pf5PEs3eBnyCaHU7yjWP+RsN6ZQzmZH2w8COf1tmI71KJ23hkVoz0km0naRb6+KjXmBFWlj90yHO7vaBgL0vgAAPA9ocJKzH0nfvfFDV5c5VPWw9KO1bxT6zxDQAAAAQqLAhuNlDMU7aqoal8BqgJUg4AF86DSNueqlMZB4ruCEU1FypxejqQzX4siKob8qSdIrPNfh8ALGrAAEmxWXeZxTENYAkCfF0Ac4PLOfNlVNxTEAcAfCGgAAAAAAAMBVNCGjPcDFkNkklJ7OrjYUvQVhIJzBNQshDaJ+v6mQpCZ4MWkUiAShhSi0YZQKLp5BwUUx0QBQO7yB53X7RQTn/Bbtd5UmiGFwbeH6aAKxgQGgy6Nn4kPF/Nst2U/Xt8+kdi31d1mpOlc/fz3VnP3V32L//wZd15scgQx2ERPfFYbo+87wkzeaplvy+NWi3f/5uvSDPdETkiQtdV0YoiIyS/35Ur9fULEGxdDZBIcB3sWhms/dK8ln7+W5ioJN3XNLuvDQmGvLKzG4ASENS6DirEEJoV0oWI2wruBTDL3o+40C9Juq9lY5d2YQQhrYPdyVSMvV8zV7Llyp3HbD+y1cFkIafMaKy3YBtB1UlK/ka9bVteubBps2/S6vPRGZm8s9euHXH1Tlclle63C4HboeTWW4fa6TifRealtc7pxkhzTU8NoGFxQc1OB49mpe9BN9UeE26ghn8GU7BZ1bOwQpdooQdACf4vh89pIoAXpBRW35O+gex5V77EJ88GdfPMcjvLfxUn3/w91bRJz43E+FC/G59oAVlw9KkvQ25zWxwsOxaCqDosNQFDoP7wtAwfdR6nvpESW4jvbtajbmce2rp+vkahDaGFz2dRttQP415QjgGKUQDuFDIqn490Fqt+EdQOWlE3RPfDxA7wkAQqacAQ1Oj82clPZO/RtXl/lRzRPSv2/47/P5VQQ0AACAL9DYbaOM1+wTVHycbcO4qWq4boKQEPAAAjpNc2/sAAcUvS6RFZfZXNKfc1xFXzSVieXxe0VTDJ09h7/Hcx0OCF0CCAGENQCUl2LoLOTpB25vhKlqFTi0AO5AWAMAAAAAAABwkUykg1TobCm3C79gIil4DeEMruun4mTCBgxYcXmfyIXp6Jx4DAUhwS/oPkXogo9F6qOABgxi9REqCraHQ3ADG+j1l4HfgSuw4nKLI5xBDdgEXi8M0uD44xTQMB78t+yOZCL9w2IL/f3B1F+3bpr7LGr//9VI8+iFqtbR89XtFrtv7exqK2vRZK8tKgraQM8/DYIUUnTFxR3jLZ8/dvVJnuuovVk1+tjxlh978HaGlwuD+LVy+WuXfufaS7w3IPaTZmnN2JL1sstiMDYqZWtzXFbNghum1t06N33PrYFbtbnrK/wqQhryZMXldnpG8Ps55nZxKBR7DS7F0A/Q55WnY6aqdXu9EymwdC+FQvsypGFaWjvzRXVs5LPqb1gzFWu8KFSfLxTHDAj6ntjBDTsKvXZlKyurPt70la9nKyu53ThtHbvcH732pVWGPb7QPsYr5C6ZSC9V3H0ztTu4XmzXRayQ6v7OrrYlJ8FQe+nWRWF4TUF69gJXsGe+81SEVPjCfiuhe/8DAtxroH8NIAAUQz/kcqHpsofnhRHdD7XSfVArz8LTPNuEW/8heuq+gXUXeCzbJayd4ZQoBc2DzIrLhgeFg05HUxk13HsaCpVMpIPSDj9MY4dxL58HR5/vanbk8TtLXaMRGAHwm/PSEPUTsvabYb/fcyUT6UYa83WwnAXBOWDjsQ5Tfw3GYgGA8BznY/Z6WoTt/YPpv5a+Oa27usx/qNOkv6/78+X+GgENAADgSxTYcESUazhdU+0C5OM0V4UVk0RBV/AVmqu2XKiDs98khnls4JI+O7zBEeKAdqU8WXG5l3P7Itfi5Iqhx+ia6cX5pM9UNa7BEwAgBoQ1AJSXYuisvf19DhvxjKlqCI4HcAHCGgAAAAAAAIC7ZCLdSoWV9gR0b/dTUQpMvAIuEM7AxSh9d88IHtLQSoWfRD7mC5PpUQAS/CggoQ3sfNZD5zMUW/Q5KrYYo3vnUosTHA1bkS8rLjfSwFY7oGGbAJvlJxOLwhkGwr5DikVFRp4v5p/Xzt+sap9OtbKAhoGqr40uUdz3paCd76nYaT0989Q7ioIG/rlntj5bk3568Lm5yvkaXuuI5Cpmd/1064/XjNWuVMzfE5/+0cX20eabj/BcV8NEzeyj/2FrTdVspNxvV/pyy01pbOtNT9aVq5ofnV5zq39RcANCGopEz+L7XC60WA72Z4AVrMazQsAohs6eZ1/mfL1kn6HXTVXz5PNDz0P7RO5HuFnRuH6s8oFtsxUNS054YUFb/dW/PzJStXPC+61bkfBhtVAaKy43OIIbVi0sO9C06Suja9dv4bXbG2anJx66OHC2zIeVa3hRMpFm56vvUhvEJreX7zJ2TlJZ8Rjqs21Y9Nzl93se4KvfnuQbhPYIOl8eEOR+gxVRPBJNZXwdfAEAC89n7Fp6yMVdcdRUNYw/EoBjrM5WR4hDyfq+M/zkjabpFrffYfVM5Y1v/M32H/lg105RgfOTAmxLYFG/6YAHRTtei6Yyr4Z4V0MeaGzOHhqb4/f+P7SzCWrRdbvgcFMAH5miUIZ+agMd8nuoZj6SibRKY6mLGosjqAkao3UYhb8BQDQiBjQ4PXfjZak5+7Gry/yrta9Lmao7hrVNUHFrBDQAAIDvKYZ+xAfPUxM0NmHAGeiAIAcICgQ8AAeDjvAGAwEOS7PiMmtTfI/jKk5EU5n9vBZOwUu9Hs2RZZ+pmKlq+BwBhACnsIYXoqnMEXx+AFZH1/gxDrvqHVPVDuIQAJQOYQ0AAAAAAADgmYBNuloKmwBxhiaUogAaFI2+KzGEM7jKDmdgr/Oif0epOF2H4EWS2L48hiIyEBRUWPspH51z+yigARNAAoquBTvonuBrBb7LqWgqE4rOVCsuO8MZCt1PIEmn7YCGaCqD84lL6H7+TU5BQOx581hZ3lgJlikIGopAhpXwKsrltPnTxp7t6Y3neK4jXyycovdPhv7sVm1uLc/11N6s/tFjx7fdomtDWSYrZGtz0tAjY9Jc1Zzn656vkK7W3qw6vt6q7/w//uc/+MTzDQgQPxSOLwALeOvGM3ywcCgIupR+U9Xe4rkCv4c0ZKXq3Ejlzkuf1nzzwrXIfdPl2cJloXhciFlxudkR3HC7n+F6XcPa/qi8m+eeabUyH66bnrwh0N539TpIBWoO+6Qw2C8kSfoPbKxw2J+/YEUsNGCSrhuTVPBvuLOrLVChb3Re7BCkYGcP9bEhWA8gIBRD30vtn4uxcQlXV3iXwwjZ9BcKH3beaxd0Xbm5YWZd7z8f+i6PNy1SW3Ce2PfjGPq7+bHiMmsjf9+DVe1GPyMshYrnt9N4YR79pl7qoXY2jAv2CeqzzzvcFEBQw9ROw84954PYXlOoZCLdQu07HR4VKPPKaSoGjiJGAFA2ogc0OH3v2n8l3TN3xdVlvreuU7pcud0O0jne2dV23NUVAAAAlJli6Gx+0ds+PQ5LBjmwnygoDUGGgAcowiCdJw07yCGaygyEdUd6FG6/nec+Vgy916P5suxaq5qqhj5fgJDgNJ7ktWgq8yo+QwD5UQyd3bM97vLuGjRVjet8dYCwQFgDAAAAAAAAlAUVamwPSLGzpbBiFj2dXW1nxNs0EA1NDLODGXYIUiTE73wVzmCz4nIDTVB9SowtWtIUFZDB+Q0CSfDQhlGaAH4GE8DDha4PMUeY02oTyHuiqUwgJ29acTlGg0rtFwaUFqaPBl0a0VQGk8k4SibSB+i+zm3sXuwl0SbgO4pdbFwUxICiF8u4uGO85fPHrj7Jcx0NEzUXd5+ST/JcR6HGN002ffytC896sKonTFUzkon0fsdEYs+uGRdbJ6TJDTNerW5BJBuR1l+qlxqtBimSrbD/+AQrJNzZ1WZ4ujEB43hWD0JBqYXC7dFUBoXbA0IxdF73HE7HTFXrdnuhVlxupZAGYcNKVwtpGKzaNfJxzeMjMxVrsuXZwmUhpAHuQsEozX/z9SeSjVM3HtoweX0Nj73UdGNipGX04ueCHoF+ajMpum07mUizSSQHfdAecVGSpLQkSRcE2BYQwyi9hqhtgRX4Gw1LO7MVl1m7/wEB7ufRxwYAEEA0Bq7ZMd5n2X7mz/ZYbZe/cr3N7b0QyVXMtp3Y9qOaqapZH+7hfgptQMgoB1ZcPuJB0Bzrf1SjqQyKYsECCmkIQhAyu3/vxhid4KDQpbvCTQEEMEVtNv12+w3ujVaXTKTt0Aa3i5iUEyuod4T6+HFvBQDc+Smgwekvxp9xfZn/qvH9ZxDQAAAAQacYOnuGei+Ab/O0Hd7gDHRAkAOE0SoBDzH6M4l+J0hBmLA8O/DGDnAYCEsIuxWX2VjPVziugmtRcsXQvejntb1gqhqCZAFCxIrLbG7+z11+xwhrACgAx1DF7aaqhTawC8AtCGsAAAAAAACAsqKCjnuooFQQJ76gqDLcBeEMXPgynMGJik8fEPxcyCagnoqmMkIVBwbggYpqiFI0EiFQcAe6ZtivpQqMvRuUgXNWXLYng9nhDBgMWhg2qPK4I6ABHeweoSIkb3Ja29FyXBPoPTU5AhnsIAZhCyyLarY+W5N+evC5ucr5Gl6byIpz7frp1h+vGau9Ltpu4FWQbBF2/mtxTrTxKrhh6p5b0oWHxngt/i7LhDQsxiYivYrQhtI4ArREDXcrxCg93+MZw+cUQ2efy5c5fyZZkaDXTVVzpb0NIQ1cIaQBVqQYertz8tbOSwPrv3rlQuPWscvr7705vrYml6ssZQ9G5uZyj1749QdVuZxo343FbhdbjKYyeZ3bqPDXqz5ol7ghSdIv6HwA4dS/KJhhMszXBbqHPyBIkdhhVmwvmsqg2CIAQMA5wo13OApCL/Tn9fz5rzt4tAs3Xqrvf7h7i9/b/nootAHjUVxEfa29HjzLvBNNZQ56+uZAOIKNsynFKLUb9OCcFGyLxvE2o98bPDJMbTajFKY5jHNNaZKJdIwCdrmOAyiDo6wtCX38AOA2vwY02O7PfSG9cD3p9mL7oqlMLI/fAwAA8D3F0GM0tyRIz08rWSrIYQCFKwF+i/qSnPfDquO/EfAQXKfp3LjwClqAAwWXfMFxFQvzlXiF2XscsPSaqWoorg4QMghrACg/ej7/kMOGIIQJwAUIawAAAAAAAABh0GStdkGKJfDQR6ENoUich99COAMXUzQIwLfhDDYrLrNieh2CT/brpwIyCJ2B0CnjZHJ2nmOFU7sR+AQrseJyM90/x6hA62g0lXnJzzuNBnrYAQ1fE2CT/OaEI5wBzx5llEykD3G6frDJ+q/zeGeOQAZ2brGfYxrwDOOuvu8MP3mjabqF5zo2f9rYsz298VwZ3l5efrF/4NmZNVnexe5PmKq2f6m/oGK7XCYdD8ZGpWxtzu3F3iXPkIbF2KD6w51dbce5b2DAWXHZbsMMQtEpVgivG8GM/qUYOvscHuL8BvpNVXurlAX44XuzUkjDtLR2pr9GGTxf3W6VZ+tWhJAGWBWFu7y5TOjjgpbRi2u/cvXC+ujE6JrN41cb185O1RayZ7eOXe6PXvtSxO/ISljf3c+iqcyS359kIq1SSMPjwmzx0mYlSTpHr1kRNxBcNewIY2A/r6Kw392o3bRDkDaNheLTuOcGAAgv1vZ+7p+N/LfX7p96jcdOePj/2/zjxosNQehTtoPVunFv4x4rLvOa3LvYM9FUBm3PIZRMpFm7394A9CcO0/kHIcchRuPEmh2hS8u2pQGsYorabuxgzaHOrjYEOHJExcc7KLghSIUD+6iPH0VVAKAkyUTaDmh43s978sFbpvSnN/+l24s9HU1l1Dx+DwAAIBCoIORxFF1feN4ap7k3twMdEOQAsDoEPATWaQq1sQMcfBsiasVlg/OYzxeiqQyX9jrF0HkUUF/OsnOuACDYENYAIAbF0Mc5hCni+g7gAoQ1AAAAAAAAgHCosP0emsDFu3BfOdhF0M6g+HIwIZyBiyk7mIH9DMKkJSsuN9B57ikBNmc5o1Q8BoWeIfSoePU+D0Kl2LmuB5O/oRhUgKx+uQKDoqICIXZAg+jFD0XURwPEj/t5IGQQUWESXpMb3yq2GG8ykW6mohI76GczPXsH8flbOBd3jLd8/tjVJ3luV8NEzcXdp+STIu+Hmxtm1p394+Fn5yrnaziv6kVT1Q4v95dUsGG/W8ENX265KY1tvVnqYlZUZEjDYoOs6DAKOpTOisus7efbAQiYskMxTyKo0Z8UQz9A7Uw8HTNVrbvQ5VNIw1Mi32sgpAHCoJjzxH3Xx+uax6w120Yvrr//+vjaB66NLjsQvGF2euKhiwNnfbwr2fXvFE0ynEwm0i0U0uCHgjX9FPqKkIZgGV0UyLDwE33L+aH7jwOCFNVk/WwF30MBAEDwkNOSewAAIABJREFUKIbOpSCEH9qDi7Bwf44+c/dYcZk937zCeTUTrOhONJUZ9/K9QXkEbIwv2thgWTRezB4DjLHAsJxhRxvOeYRqlh8VJD8YsHFo7F7rCAU3oHAoAOTFEdCwn0PBp7L4g+m/lr45rbu9ahSSAwCA0FEMvZHmoPh97CsvSwU5jJuqhjm2AEVyBDyoFOIQwznIF/rs8AZHiIPQfYGcCpA7cQv8Uwy9hfazF8/w7NiqpqqhbxcghDidK49GU5kOfJ4A8qcY+hEO81UmTFVrzOP3AGAFCGsAAAAAAAAAoSUTaVbwrN2Dwsjl0kehDRik4WMIZ+AicOEMToIViVkOK0zVzQpTibl5AOXBKbRhigqqdaPYFoSBFZdbaHClGqRJYB4atMMZ2E8UPBFbMpF+k1OBkp6ViqzTs3TDoiAGBDKU2Wx9tib99OBzPAMKIrmK2V0/3frjNWO110XfH5ldX7YOPfoll0HKDqxgQcxUtVWLFZQa3JCtzUlDj4xJc1VzJW7y8jYMryk1pGExhDa4xIrL9nNCTPBn/XwshMz6LQAs7BRDZ9f9lzlf69mz6+umquX13Or3kIaxyAMTQ1UPWwhpgCBQDL2ZzhEl23lpYP1Xr1xovO/6l2s2TVxtrMnlKtkyW63Mh+umJ2/4fXfNSnVzH9b+8Saz7tmnpyrWCbBFK7pIbYpoT/SvKUchP7uY31TQ+sS8REHpBwQZW8CO6bvRVAbHEwAA2D05azP6kMeeaD53ryGfvTeoz4d4/nWRFZd7PSh6cyKayuz39I2Bp2jMTDuFNAShLfwkxulAIWissB3c0Er98X7/LkD+7LacfjtcE+04YqNQXhba0BGw8WknKLTBEGBbAEAwQQxocPqTyf9VemTW9ZqbL0RTGYydAgCA0KHAhiPFjJkOOTb2esAOcLADHRDkAFAcKhYdc7wQ4CC+QUd4gyFagIMVl9k5ehvHVTwRTWVcb5fzOEgp73lWABBMFKI05vKb4xZmAxBUiqGzPsz3OLy9J0xVQz8iQAkQ1gAAAAAAAAC+QBNc9tAkryAWlxy1C6Fh8pc/UPHTHTQAAOEMpQt6OEOzI8yjVfAJeuw4HImmMjgXAayA7k32ljgBvZ+KbZ/BvoYgo4EbznAGngPegmiCBtstBDREUxkMhPORZCK9j4oU8/CWJEkbFwUxoBiEwPq+M/zkjabpFp5buPnTxp7t6Y3nsE/uXI2parFC/gEVbdhPRRvyGux8sXVCmtwwU/RGrqZhrFba1M9tDjVCG1xCxWFLfU4QRT+FOGICmU8ohs7anA5x3tp+U9XeWu4v/fIdWC2k4ZPqPxwcqdo5UZ6tWxFrrzuCIpVQKMXQD1G7tOtaRi+ubct8+snzZ34y7PfQokuVX229XNnSPidVLoSrjVVulkYqd0gjVTvLv3F3ukFtBBdE2ihYUf+iYIarOJe7j/riOgTpt+2jvjYEogMAwALF0Fm72/Nu7w0W3rvnr78ahjY9FFR3AQXq93pQrPPFaCpz2JM3BZ6hkIZ9ggSjlYI9m3VjnC64KZlINzuCG1oDOsY9jIYdbTlsXPNwZ1cbnvN9KplIN1L//6sBG7fG+vkPU9+RMAXxAIA/GtfkfLE+Onauezzou/+5Gy9LzdmP3V4sl0KbAAAAfsGrDyOklgpykFAkE6AwVlyOLQpwCPyzTgDY5z/DDnIox/xHKy6z4Na3Oa7iaDSV6eCxYMXQj3sYoIQCzgDAzpluF6FGWANAgSisye3gFOYdU9UO4ngAFA9hDQAAAAAAAOA7VCS/PQATv5bDijewos2Y1CEeu9A+l6JGIYNwBvGwSWXHUIQRoDBFhDZM0XW+GxO/IcisuKw6AhowKLJwpx3hDLg2+xgVLnkz7PsBJOnijvGWzx+7+iTPXdEwUXNx9yn5pJ9292x9tib99OBzc5XzNZxX9Zqpaq8W8w/zCW6YuueWdOEhHuOifiOSjUjb+pqkSLaC2zoIQhtcZMXldgrs8XtRHvbcciqayiBkzgcUQz9Az6c8HTNVrdu5fL+ENMxW1Nd9GdksT0bWRxf/nQ9CGk4h7BGKoRh6O+cJ1ayt6yVT1SbpXOC74PWxyKbNI1U71axUvXapv5+OrFsIbRio2iVlK2q938DfmpUkKS1Jkm/C2UJmmPp2++nnQjE/tAF7g+69DwhyH8L62rrz+D0AAAgJmlQ5wKNA/vpL9X/3SPeWX4YkxNkusN6NQsnFs+Iya+d+j/NqWNuKij7OYKCxuvsCMF5ylM4hPTiHAG80lqx1UYADiMsO2Oync8VQ0MYzw52SibRKff9BKkTK7r+OOwriDXR2tXleDA8A3OUIZLCDGFT6ueTYpbD4i/FneLzTDdFUBqE3AAAQaoqh8y5uDb95duulZ7fbgQ4olg2QH0eAQws9H8U8CCiH0tjnPTvAYYBn/6EVl7n1yxP2fmI8QigUQ2dznV5xe7nLeMFUNcwXAgCENQAIQjH0Xg7t/n2mqsVwjAGKh7AGAAAAAAAA8C2a0OK7oi8AIYVwBnEtTGiPpjK+KuoKIKJkIr1SMdZhKhyBwooQSFZctgtZ2wENGPBYmD4afLjwwsSvYEkm0h0BDhuEPHgRSBDJVczu+unWH68Zq73ut2NypeX65v5vWk95sKrdpqqVNLjbEdzAJiVts/98MDYqZWtzrmzkUpoG10mNlzx9zERog4tocsjeABTjuV0QL5rKoJiVoBRDZ23mL3NuL2efhddNVRu14nITfb7b/RrScDHyoHW2dm/mWuS+6fJs3YoQ0gAloXPCm5y/n0dNVbvrM0rXv3aRC8ZMVdyzbrDqEXW6Yu2mfP/Nhaod0kjVTunLyGa+G3c3O6Rh1usVwx3s4n1D9N+sz2sKBfzKy4rLXoRV5YNdt9+NpjL4PAAAwB0UQ+dZHH+7qWoDyUS6mYpBbw1BUWh2H3YMz8rFs+IyK+T7NOfV9EVTGUz69TEa/7KXzit+hrE6IAQKPmn26fjSIBm2AzapXWcYAS7hRX3/HdT3H9RxbqcdRUAR4gAgoGQivTiIIYZAhuXVzt+UDk78F64vN5rKVLi+UAAAAB/i3J8BK1syyIH9NFUNc4sAlkFzGe0QBwQ4+MdpOs8tvNwKcLDi8mFJkn7AcS+8Fk1lXnV7oR5ff9l43w6P1gUAgkNYA4AYFEPndQ+zAc+TAMVDWAMAAAAAAAAEAk1kaUcBTACh9NOrF+EMwmKFofVoKjPq0+0HEJIjtKGBBg11o2AXBI0VlxsXhTNsw0EuCBtMfdwRzoCJsAFGz6uHwr4fwqzvO8NP3miabuG5CzZ/2tizPb3xnF9386d/dLF9tPnmI5xXwwIIYm4NMqIJ0x2j8o3vjm+avN+NZS6lZrJKaj53L6/Fr4btMzbg60hnVxsGZ5XIistBar/skSTpJNoTxKQYOvd7jy1jV4bf/dG/HhL984yQBgg7xdB5FzDvN1XtrZV+QcRQl1sVtTWZqkfar1c0FV3A9nqkSRqs2iVZldulbEWtuxt4pwG67voulM3n+ulcPEoF/CY7u9r6w75TREPnl+8LUjyW9bcdQagZAAAsRTH0AU79aCdMVdu/3F86ikI7gxyChBVb1nGfVjjq5x3woFgNl4IlwE8ykW6g9r69nMNgvcDODSdxjgBRJRPpJhp7utXxE9xjB27abTxDGLsHK0km0h0U3PB4SHYUQhwAPJRMpBcHMbCfLRhzW5ATbLztf3n9v7valBs56fKyUUQOAADAQTH0GD0noNi5WE7b4Q3OQAcU3gS4G/WDOcMbYnj+8oXTjrAaFuBgFLLRVlxmx/lDjm90MJrKuD4nzOPrbp+pagjbB4DbOIQ1TERTmUbsYYDCKIbO7lt/zmG3vWCq2hEcDoDiIKwBAAAAAAAAAoUmjO2lSWN+nzAG4Dd2OMP5oE10DFA4g22UisZgQioAAOTNisuqI6Dha9hzBTvhCGfo9dm2Q4mSifSbeEYNp4s7xls+f+zqkzzffMNEzcXdp2S3J6J6arY+W3P2j4f3zazJ8v6evGOq2kG3FqYYOtveH9ZMVm1tmKjZUTNV2RKZq1jr1vKZzZ9skOqvVbu5yGJMUGjDYYQ2lE7EotUlYEVpf4b2BfHwKtB+3/Xxum9/8oHcenko+sDE6Odbxq+MiPj+lwtpyErVuZHKnZc+rfnmBYQ0QNAphs7atF/m/DbfMFUt7yJnVlxup3NT2YrPZaoeaRuPRB+dkypr3FhetqJGGqnauRDcMFWxzo1F2kYppOGCmwuFO7DivpOOon1X2Z91drWh2L4P0ATbDkHup49FU5luAbYDAAAExHEyJfOMqWrHC/kHFOCwwxHeEIR+iz4KbUCoaAGo35fXZ9PpiUKLqYD3qGi8/czu9zbrHgppwDkBfIXGvm91jE9tDsD30SvDFMzAvvfn0b4DpUgm0qzNiY0neD6kOxIhDgBFWhTI0EKvGIocl6SPxiodt8cqWXGZnaPfdnk9R6OpTIe3bw0AAEBsVDj6OIqb+8biIAfDVDU8ywE4LApwsJ/XMC9SfH12eIMjxGHJuSxWXDY4B7E+E01lCuqbX41i6I30vry43g6yzz1CfgDAice5M5rKVGAnAxROMfRxDv0JR01VQ9s3QJEQ1gAAAAAAAACBRQPm29FhCsANwhn8Z0qSpO5oKuPrQq4AAOANKnpmBzTwHLAWVH00cfU4ipBAMpFuD/Fk7tBiAQTppwefm6ucd6UQ7FIiuYrZXT/d+uM1Y7XX/b6fxzdNNn38rQvPerCqgouYLUcx9O8vbneqmaxqWjNW+2jNdGVLxbxU0rFfd6VOuv/ze9zYVLcgtMFFVlwOUugsaxfqiaYyKDAvCMXQG6hIuyufrZ2XBtY/3t+77YFro7cHf0bm5nI7Lw3+sv7WjDChByuFNAxW7Rr5uObxkZmKNdnybeGyENIArlMM/RC1bfPSbarasWKWbcXlVuq/2+PVkb9U+dXWq5XyY1mp2tVgLafLlS0LwQ2XK7eXspgbkiT9gq6tULpReg1R/wgr2DeKop3+ZsVlLqFURWCfo3ejqUzeoTUAABA+iqEf4dQ3MGiqWkupC6HC0HZBaL8Xhj7FnlNQnDl/Vlxmbb0/4LyahcIfyxVOgfKikIZ9Xj6fc7IwHk6SpDN43oMgSSbSzYuu00EIWSrFFLXx2MGbQ51dbXgmBy6SiXQjBYUeRHHSBQhxgNCj88LiIIZGjKt1HRtze4QCGu46z1hx+VVJkl5xeaWvRVOZV8vzdgEAAMRFBaQNzM33JRTkBMgThZvHHC+c88Q36AhvMOgnO47vc9zy09FURnV7oYqh8w6YsLE5QKqpar0erAsAfARhDQDiUAydzXV+2uUNmjBVrRGHGaA4CGsAAAAAAACAwKNJZe0BKXwGUE4IZ/A3Nnhdj6YymJQKAABLsuJyCw1QswMa3E7hD7pBO5yB/UTREXCigkdvBvQ+E5bR953hJ280TZdcMGslmz9t7Nme3nguKMfgsz1W2+WvXG/jvBo22LjFVLWSztOKobMB+d9b6Xcaxmtaam9WtxQT3BDJRqRtfU1SJCvkOEWENrjMisus7fKpALRdjlJRLBbcgMJ4ZaYYOmvjOlTKViwV0uDUMDs98dDFgbPlfq8IaQC4k2LovMPi2Gf3DVPVSjrXexFcNBbZtNmq3N42XbF2E4/lL2U6sk4aqNoljVTukLIVtfn+sxlJkj6SJInd2896ta0BYRfqcwYzjKJYX/BYcZmdJ1hg3lYB3txCwSjc8wIAwEoUQ2dtw19w2kkvmqp2mMeCaZzdDrrmNnMOgXMbuzc82dnV1u2jbS4bKy57VWzraDSVQWEogSQT6VYKafDT93spt9ujEdQCYeAIWWr14TW6UMOO9h4WvjmM7zmUSzKR3k+hDSjIfjeEOECgJBPpxUEMCGTwxooBDU48CshJkvRMNJU5LsauAAAAEAsFNhzhUDAS+EJBToASWHE5tijAAc+EsDuayrgadKAY+hHOY3ydXjBV7YhH6wIAH0FYA4A4FENn46re47BBuxHYBFAchDUAAAAAAABAqCQT6RgFNyDdHmB1CGcIhmEKaQjUMQQAgNJRAQ5nOMM27NaCTNBE04WAhmgqg8mmsKJkIt1BRUghBC7uGG/5/LGrT/J8pw0TNRd3n5JPBm1vfvhUZt/k+lnexXRPmKq2v9h/rBg6K4byciFFhQsNbmgaXCc1XhL+URWhDS6z4nJQimRNUZGsMwiNLC/F0A9QIfSCtP/T2eijFz6PLhfS4PTAxOjnW8avjJTjjS4X0jAtrZ3pr1EGz1e3W+XYrjwgpAG4ofsU3kFx77o9aJsmOe516xo4VXHPugtVD7Zdr2gq6zX1QtWOheCG65GNK/3aUUmS3pEk6VsBL7JXqv5FwQxXUagvPOgc0SFIf96xaCqDAtAAALAqxdBflSTpFU57akOpYbSFSCbSzY6i0K0+CBxl94tHgjbWiQe6z/rQg1Wh+KUAkol0Oz17ixCAVgo2Fq4bbWsAt8NXmn08DtZu6+m3QzgRwAmioiLuB6mNatX+s5BDiAMIi+aTOYMYVPqJ+WXeyjugwcmKy70cjpXrRTcBAACCxuOC0uCOZ0xVQ5s8gEscAQ4t9BwZQ/tQaLgeSs+xGPNS3jFV7aBH6wIAn0FYA4A4FENn95lfcNigF01VO4xDDVA4hDUAAAAAAABAKCUT6SYKbdjjgwmkAF5hExl7Ec4QGGwi20kUjAEAACcaILifBge6OpAiJE7bAQ3RVMYI+86AwtBz6JvYbcE3W5+tST89+Nxc5fyqBfmLFclVzO766dYfrxmrvR60HXpzw8y6s388/CzP/UeKHmykGDorpv9UsStmwQ3116tbq2cqW5b6+5rJKqn53L3FLr4cENrgMisuN1FoQxBCfnqofQKhDWVQaLgMC2nY8/lH29bOTtXmu7WRubnczkuDv6y/NTPt1Tv0cUjDQntdZ1cb2uuAm2JDWgrQb6raW7wW7rgGxoppx79VUVtzsfLBR7+MbG7js4XFGavcLI1U7pBGqnY6/z1rYzjY2dV2uwBMMpEu6T4zAEbpxfqoJu1ghs6uNtxHhJgVl3mf1/LFPofvRlMZFI0EAIC8KIY+wCko/aipaq4WhChUMpHeS/ftoo+96afQBtxPrsCKy6xAx9ucV8PakGMIv/deMpFuoHbmvQEYJ9tPbWsIYgFYBo1J2EGhLDsEC2cZdoRwnkcIJ/hVMpFupLF3r3K63w8yhDiAJxyBDKojmKEF39myKyqgwcmKy64XxkEBOQAAgPwohu5FOzK4p+x9SQBBZ8XlFnrejCHAIbBY/2ZLNJVxbX6MYuheBekzJ0xV2+/RugDAh3iENSAYFaB4nMYanjZVTcVhASgcwhoAAAAAAAAg9GgwLgtu+FrY9wWEzjBNemITGPuDNPEppOEMTqwQ4rFoKoPJbAAAIUeD/+xwBhUD/wo2yCaHOQIaUIAaSpJMpA/R/SmIa7kCL035FrHp+87wkzeappcswu+WzZ829mxPbzwX1M9RZteXrUOPfsl7IBAbPK2aqlbQIEDF0F0LXolkK2oartW01N6sanEGN2z+ZINUf63ajVWUw1FWmAJFFdxBBavbqZCW39s2+im0AYW0PEYTO7630lqLCWlwapidnnjo4sBZ3u8sJ1VVjVVu3nK94t4t8xWRSvvPxyIPTAxVPWwJHtLAAhq6UXwKeFIMvZkCWnh6yVQ17oVOrbjcQBMYn8r3PvxS5VdbL1e2tM9JlbxDv4qWraiRhisfujxRef//8D/+G+3/Wmo5yUSaHccOwYrpuWnKUZjPLs431dnVhgL4cAe6F/6+IN+FhSJS6HcDAIB8KYbO7ufe47TDdhfapskDFYB/SpBQpdWwZ/JTeCZfHqdJ+IudjqYymADsESrYHpS25R4KaUDwCkCB6Hq91TGOttmDc4Ld9tNPbT9DaPeBoEom0uzehhUsfRoHuSQIcYCC0ffPGcTQgkAGIZUc0GCz4jKPgpaD0VSG6xg/AACAIOHc9wHumjBVrRH7FMBbVlxuXBTeEMNzqq+9GE1lDrv1BhRDZ8+fvR7N7e2juVKYBwsAy7LiMgulfsXlPfRENJUxsNcBCqcYOrvv+AGHXbcB9wQAhUNYAwAAAAAAAABxTFDbk2/hFwCfQThD8LFjrKPwIQBAeNHAPtUR0IBBfYWZWBTOgImf4KpkIs2eOZ/HXi0ruziEs0DoVXYvXcwzErUl3G5D+OifjXx74v6p/43nG2yYqLm4+5R8kuc6ROBF6AVbjalqsUL+gWLoXEJX7OCGpsG167f+asNut5dfBghtcBEVrN5DhbX83m7J2i66o6nMGQG2JTQUQ//+4rDiNTNTVWr/h1t2DfdvqcnlKkvdFw9MjH6+ZfzKCI99ulJIwyfVfzg4UrVzgsd6XYCQBvAUr/sUh1Omqnl+H2rF5VZH/91dxiKbNo9U7VSzUvVar7etEBEpN9s0N5Lekv3UDl1jE+J+tlx7fjKR3kfFb/2q3/HcxV6TnV1t6LuAvFDRpQ5B+vtYOHq3ANsBAAA+ohg6r8L3Bbdn8kZt5B0+CKqeoufzwLetF8OKy14VB3G1qAncjb6T+5Z7hvYRu13tDEIaANxFQaF2cENrif1Ow44+9/PF9rkD+F0ykW6he+KDHhVbCwuEOIRYMpG2C1wuDmSI4XsmvEEag3uks6vNtbBJKy6z8dA/d/nNI1QQAACgQIqhx+j+HPdk4nvGVLXjYd8JAOW2KMDBfq79Gg6M8FwN91MMvZGun14c+wkKanDtmRwAgglhDQBiUQyd1QV5n8NG4dkQoAgIawAAAAAAAABYQjKRjlHhF3R4gp8hnCE82ATVkygWAwAQTjQJyQ5nwP1r4U7bAQ3RVAYD0YC7ZCL9JgICuXMGMYx6VRiUBtAOcJ2AMi9dl8/d+3TzuXtnlvkcNRX458Karc/W9P7J0J/dqs3xLrr7mqlqr+bzizTJ6Hsct4V9dl/65r/7nRoq5tARgGs7QhtcZsXldgpt2Orzt8LOzz0U3IDCPZwphs4CP9g9SL3bIQ22yNxc7tELv/6gKpfLurVMhDQA5E8xdN7BcOy8/YapamX7TFtx2Q5dZ9fB+qmKe9YNVj2iTles3VSubcrX+rnLH23NffKL6vmZ2SX+Cdu3p1hh1MXXRCqe1yHwdZ/1Q01SP9QkPXuhKB+UxIrLB+h7Xm7su/luNJUZwhEFAIBCKIbOijZ8wWmnvWCq2hERD0gykW6le1fR26HZNf6YmwUjg8KKy7wm/S62G32y7qPv4D4fBKesZpTa1XrwbAngjWQi3UDnDmeAw2J2/3u/3f/e2dWG52WAJSQTaTu0AWP4+EGIQ0A4AhmcQQyNnMIPgS8uAQ1OnIrHvRZNZfIaMwYAAAC/Rf0gzvs3lX7iOUgsR01V6wj7TgAQFc0FjTleOIeKxdVi44qhH+E8vtfpCVPVUCgdAFaFsAYA8SiGzqM4/Dumqh3E4QYoDMIaAAAAAAAAAFaQTKTtwi97UEwTfADhDOHEJqieQmFDAIDwsOJyjAY0s9fTOPQF66OJmscx8APKIZlIs0IpT2Hnl8wZxDBFz0JT5SwKoRj6cQ/Oyy+aqnbYrYVRu8dS7R0bRQiDuNJyfXP/Ny0vvi+rDkimQucvc24fOmaq2h0hfMlEuoVCmfwe3IDQBpdZcZm1j3w7AJMz2Dn8DIU2jAqwPYH1L4688viWscsv77w08ICbIQ1O66YnR1utzK9KXc5yIQ0XIw9aZ2v3Zq5F7pt2a5tdhpAGKAtnIAvH9b9rqpoQxTRZ8Z4Hb/2nH22Ys/6zDbkLAmzR8tbMTwxszX7SUz9/7Xoev87OIb0UzHzHNTGZSJezeP1Sz16jnV1tuG6DqyiQ5fuChJOw9sMj6HsDAIBiKIbO2m9/wGHnscDCFlPVxkU+MMlEmo2zO+CDcT39FNqAQtMOVlz2op+jL5rKxDivIzToOxeEcN9halM7I8C2AIQeBcA0I5gToHjJRDpGoQ1eFWEDhDgIica8oJBvMHEPaHCy4jKPwpYvRlMZ18bhAQAAAIIcBDNoqlpL2HcCgJ/QfFHnC2GG5XE6msqobq1ZMXQexdCX4+p8MwAINoQ1AIhHMXSDwz0gng0BioCwBgAAAAAAAIA80aD5dgwMAYEgnCHcFiaOR1MZTBwHAAg4Ky63OMIZWLHm9TjmBRmkCZh2QIPQRWwg+Kg4/ps41HlhzzyTdO87aRcHFbF4kmLo7Pz8PufVnDZVzbVBv15YIQzCDsZc1ad/dLF9tPnmI5w3l10rYisVOlMMnXfQyrCpaq+v9AsBCW5AaIPLqKjtvny/U4LrodAGtHW4yPkZ6Y/Kv3u9roFrKPG20Yu/2nhjoqgC3ghpACiOYugdnK8D/aaqvSXC4Ukm0q9SgauFtpF1c1elluxZ6f7cF1LV/Gz5N5DUSNOjm7Kf9WyYu1hsmgR7BuqJpjK3i1RSkbwOjuFh/YuCGSY7u9r6Oa0L4A402bhDkP5A1vfWncfvAQAA3EUx9EYqDMqjL+8dU9UO+mGvJxPpBioe74fg6h4KbcDz/G/uyxopRG4b51W9E01lfPF5FhF9x/bQ94xrW58H2HPnSTx/AgBAULHwYWrT7vDgHguWhhAHzmielV2IV0JB3kDzNKDByYrLPIpUoXgcAACAh6gPJUZhDs5ABxQj52e3qWqe3rcBgLscAQ723NIY5pVytz2ayrjSduTRPDPbUVPVOjxaFwAEgBWXWd/F2y6/k9eiqcyr+HwAFEcxdB7fS2a7qWroGwMoAMIaAAAAAAAAAApEhQbtooJ+n+wG/jJqBzOwibEIZwitKSoUcybsOwIAIKioCIbqeGHSWmEmFoUzoAMZhJNMpHkXU/WTfrrHHXIEMox2drUVVeS5HDgX4LJNUJhAYM5pyUT6ABUSWtUv9g88O7Mmy7sNZtnByYqhexGy8papanmaR0QxAAAgAElEQVQXI6LJ7h308uOAexbacNjrydtBZsVluwje3gC0qywU6IqmMijQVYKlgjyylZVV5zZ/9Rtzkd8GIbgtMjeXe/TCrz+oyuWy+S56qZCGrFSdG6nceenTmm9eQEgDwPIUQ2ft6Yc476KXTFUr6/15MpFmk9YOL1fMqmp+RtqSO78Q3FA3d937DbS3Q7p1Y2Mu84sHcr926xo26ggzmqSCnE/lex+9hGFHGAP7eZX9Gc5hUE5WXM772ZAz9p14F8FhAABQCgpSe4/TTvTdpEkaY6f5oK8Tz/cOVlxm/dM/92BVKIpZIMe41SC0AfdQSINv+gMBAABKRe3cB1GIVBgIcSjAokAGZ5FdhJAEX9kCGpysuDzOYXzUhmgqM+7yMgEAAKAICHLgxjdB4ACQPysu2+fJGAIcXOdakXHF0GPU5uTFsekzVS3mwXoAIEA4jQ1BWANACej+4UMO+/BFU9UO49gA5A9hDQAAAAAAAJAXKpIg2YXiWUEQ7Lnbg47bUUAXOHGGM5wP0uREhDMUjU0OP4VzMACA/9HAOOer0TGgGPeWhTttBzSgqAf4QTKR9qKgqijsIIapoBYEVQydTUh9mvNqAjkgJplIszaV51f7vfFNk00ff+vCsx5s0jOmqh1f/IeKoR+iZ1deekxVO1LMspOJdCMVdDjo00H27Br+amdXG67fLqHQhhgVcr4dcsKK4U9XrF2Traitu1VRWzcr1a3JVVSz/14j6nuZltbO9Ncog+er2y0BNsc3tmQ/Xf/Qrb/btmHu0pLnhOm6irrxxsoNPN9P7czc9IaxubFi/i0LaRis2jXycc3jIzMVa/IOfPAYijiCMBRD/6EkSVs5bs8pU9VOluv9JhNpNhHk1UImX9+f+4KdC6X7c97VVIpIudnGOevcptxn56rnZ2Y5rYYVsjzDwozombJjmVD50UWBDL4LxINwoGCp73M+h+WrjxWaQv8bAACUSjH0Xk79fKdNVVP9eoDo/lUT5Lq/EnbPfKqzq+2MuJvoDSsus+ewVzivjIVUt6Aw5uoopGFfAILg7Ta1M3hGBQCAMEsm0i3U7r0fhfSEFNoQB+qTWapILj6n4TPhCGgo+3geKy6zz2VR4w9WEk1lKtxeJgAAAPChGDruVYszaKpaix83HAAKQ89NzvCGGAIWC+Za3yWFEPV6dAwWtttUNfS5AkBBENYAICbF0Ac43EOcMFVtPw45QP4Q1gAAAAAAAAB5seLy4UXF1IdZ8XiEN/wGTYhrpwlxSxVGAcgHwhlgOewzcSyaygxhDwEA+AMNVJBokJvkCGLAgGB3DNJkMDugAQPKwHeSifSbAXp+dAYx2MVAJzu72voF2DauFENng1Te57waXxfiWg0FNhxY7Tnxi7arj17YOc67ENFdA5UVQ2fX7u9xXCf7/rxkqlpJbWsIbQBbMpFuputL86Oz3btbbvU9Vj9/fft8RaTSrzvJJ8X7y261kAansQ2RDTO1kTqe29w4nhurm56fzvf3fXScTyGkAUShGPpeuo/ihd3bv1HqfUoxHMWqVg32Wk79/HVpW/bsQnBD1Tyv/ARJWjc/2r85+1m6fv7adW4ruRPro+3+h7oD/X9f9137/pj12U51drWhDwGERv2F9oRgUYo1s/63bgG2AwAAfI4KBbk9idm2ZMis31Bb8FM+6BthfRsnw9DHsRIrLvMKH3E6EU1lMBl4GRR0so9zmLQXRimkoQdtagAAAL9Fffz7qS0cxfPE5/sQB/rMLS5uizGtYLMDGo53drUJ1QbBqXDc6WgqE9jxeAAAAGGCIIdV7TZVrVfwbQQADhYFONjnRt59f372QjSVOeLG9iuGztqOHvdgX7BneRXneQAoBsIaAMSkGPqRUubQLGPCVLVGHHKA/CGsAQAAAAAAAFZFRRNeXuX3EN5Akol0jIIb0GEJq0E4A6yGfSZORVOZM9hTAADisOJyi2MQb4tjYG8j7gG5mVgUzuCriY4AS0km0rwLq7rNGcQwhWKgCwNfGmkSNs/JHOz8FzNVLdDnPSouf2i1Z8cPn8rsm1w/u4nz5twOx1AMvYHaxHgWDztmqpprhUER2hAOFBy7EMggSVIDtb00LfdZZUX8t9/qjW6a+yzq5x3EivlfibRcPVu7N3Mtcl/eIQBBt+PWmWhz9uNoPiENtrkKKXL1/sr75ioqIrx2T2R+fm7j5dyVyLw0t9LvTUtrZ/prlMHz1e0Wr21xSQ8VagxMGy74G92nvMm57f1drydx8bqXYYENLLhh3Zx7X+G6+RsXt+TOn1k3N1qu8wJ7LmN9B93RVAbnJhCSFZfte1U7oEGk/kL2vXkXQekAAOAWThMlmUFT1VqCcqCSiTS7P9hLL9HHEoW6LcCKyzHqm+Xdzuxa4ZOgoGCTvQIFnBVrmEJPMe4NAABgFclEWqV28aexr3xHqBAHCsNuWSKQwYsCgeA/wgY0OFlxuUOSpPdcXizCAwEAAEJAMXT7fnhxoEOYAvPeMVXtoADbAQCCoOLcMccLc2ElqS+aysTcWBDHcQNLecFUNfSzAkBRENYAICbF0Hm0hzNPmKqG+boAeUJYAwAAAAAAAKzKisvFFJAMfXgDFU1jE+f2cC7qB/6BcAYoxCkqshTa8BsAgHKhQQYSDciVHBPWYj4teuxXp+2Ahmgq42lxSAAvUEEi3sVVC8We5SfpmWXSDmYIcyDDShRDP+7BRPkXTVU7zHkdQqDAho6Vig/d3DCz7uwfDz87Vzlfw3mbF/a7Yuj7JEl6iuN6hk1Ve53HgqnQcQcVdPDjpCKENvzmOLI2lo2OYIZ6ancpyj1zV+p2zXTL980NbKySblWW992V5mLkQeuL6pg1UrVzws/voxQspKF11txWJ92oLWYx03UVdeONlRt4bmPtzNz0hrG5sSXXj5AGgJLQIOw9HPdiv6lqb3l5lJKJNHtPh3m2vdw7d2EhuGFz9nzRy6iSbt2I5n595r6cUEGSfSy4Ae0nIAIrLjc5JvMWfe/KGfvOHEEfHAAAuIWCfZd8/nXBa6aqBW4iM42r28f5ucYNLCStmwrOh+7ewYrLrH35bc6rWQitDntYP/Ub7qGQBr+PNe2n9rR+AbYFAADAV6jQfofbgcZQFtxCHByBDIsLz6K4IuTDFwENTlZcZu0ir7i8WBSOAwAACLkQBTkEKhQcAPigEHfnK2yhj09EU5mS561wLK68FITxAEBJ6Nz/oct78XQ0lVHz+D0AWAbHcYi4dwAoAMIaAAAAAAAAYFVWXP6+CwN3Qx3ekEykYxTcgAHQ4cIm7PYinAEKYJ8rWUgDCsABAHBgxWV7opr9anRMWsO9Wnn10cREFs7gi0lgAKWiYqReFyLqp2eVIUcgwygKEBfGo0G0p01VC9UANSpGdGilwIaLO8ZbPn/s6pMebA7b989xXscbpqpxD0Ohc82rCG0QEwWV1FMbS9OiYAYuaudvVj08e3rLtuzZLX4PbRiLPDAxVPWw5YOC/64pNaTBaWxDZMNMbaSO5/Y2jufG6qbnp+3/99ExQ0gDCEsx9Fa6Z+LpJVPVPPn8JxNplUIaPGuXqZqfkVqyZ6UtufNS3dz1vP5NRMrNNs2NpLdkPz3HfQOLN0qFZHtQhB68RJO2WqmdVfTCsqeiqcxJAbYDAAACRDF0ngXtt5uqFtgi9hRWuk/gkCcb61c51tnVdkaMzfGOFZe9CK7ui6YyMZHet1couKSdQhr8Pv4O7WkAAAAuon7+gxjTGDh5hTjQ/KPFhWMxxhWK5buABicrLhscCoU+g3HKAAAAsBzF0IMWkBboviYA4MMR4NBC58FYQMNFT0RTmf2lLoRCgNwuer6cE6aqlbzNAABWXHa7EDXCGgBcoBh6L4fnzz5T1UI5NgugGAhrAAAAAAAAgFVZcflNDkUVQhne4Jhct8cHhSqgcFN2MAP72dnVxr3golcQzsBNqINsAAB4sOKy3ZFv/4w5JqsFcUCYnw3a4QxsElg0lRkP+w6B8KEC3S+7/MbtIAb7JyuIcpXde3Z2teF+0wU0AaOX83WFTZKNhXFiBAU2dKw0oOjjvSPq+ANTvIt3XWBFPDkuv9tUtWMcl38Xn4c2sFCnw51dbUcE2JaC0ed6K4UwNFDbSsNKwSRecbPwfzlNS2tn+muUwYGqr43OVKzJ+vm9LIVXwMZchRS5en/lfXMVFRFXN9ghMj8/t/Fy7spExQNjn1T/4eBI1c4JXutyCYrKgfAUQ/8h52vIKVPVuBcyTybS7L76CIfiKgW5P/fFQnDDhtyFZf/Z+rnLH23NffKL6vmZ2XJua4F6KBg6MH1VIA4rLjdRn2HMR/2GrJ3kL6OpTL8A2wIAAAGjGPoApza3o6aqdYTh85JMpNl4uqd8MJ6OjfPRO7vaQnNPYcXlRioky7uv/bVoKvMq53UIg8aR7itDqLvbpig08Aza0wAAAPigwGP2XPA8dnGgnaY31+LTMR0gjgka12aHgvT6MaDByYrLPApTPRFNZQyXlwkAAAAh4NMghxdNVTsswHYAgM9Zcdk+/8UCEuCwMG8rmsqUNG/LozlmNjavRjVVDfNwAaBkCGsAEJNi6Gz81CscNg5BfgB5QlgDAAAAAAAArIgKLbzpwV4KXcHyZCIdo+AGkQdhwMoCFc5gxWW70OUO+tm66CeUDuEMAAAloAFdzlejY4Ar7qnEN+EIZzCiqUxv2HcIgPSbZ8NDUuH33M4ghlH678kwFQcqJ8XQDQ8Kyr5gqpovi9K7hYIFlixSNFufren9k6E/u1WbW8t5Mz5iBYY4LJd9h18yVa0sz4Q+D21gYU+vihrakEyk7RCGZnrVF3GOL4st2U/XP3Tr77ZtmLvk64CzrFSdG6zaNfJxzeMjQQht4BXS4DRdV1E33li5gceymUtr7pv55J624ar+3Wle63AJQhrAFxRD3ytJ0gGO28q+A2/wvE9JJtKNdC/yA17rKEb9/HXpd27940J4Q9X8bzIZ1sxPDGzNftJTP3/tukjbWiD2nNgTTWV43NdCiFCwuz3ZtuyhYwVi34N30S8HAAA8KIa+X5Kk9zkt/glT1UJVODCZSLPi9Xt9EAbVR6ENoWhHsOIyz8+50+6g9yFTG/I+v7Qbr2CUQhp6EBYPAADgDWpb76D2uZZyByEDQFkN2kEMkiSN05jc8c6utkA+T3EoGidFU5kKt5cJAAAAoBh6o+OZzRnoUO7ntz5T1WKhP0AAwAUFvzvDG2I+mqdScpg8nfsNj+Y2T1BQA+bkAoArENYAICbF0Nn91IccNi70c9YB8oWwBgAAAAAAAFiRFZdZmMDzZdhLoSlonkykm6jjsUGAzYH8TPoxnIGKqNQjjMFTCGcAACiAFZftTnj7Z8wRyODrorEhxgqVHKdwhlAVkwHIVzKRXu652xnEMEX3lVN+D4nzO8XQD0qS9Dbnt3HCVLX9wd+bq0sm0ssWI77Scn1z/zetpzzYjFOSJF1weZlHTVUre7FchDYUh9rymqh9pX5RMIPv3ZcbXLtjtmfzprnPon5/LxcjD1pna/dmrkXumxZgcwpyz9yVup2z/7B5S+7TB3iFNDiNbYhsmKmN1Lm5zH+6t2XyH7d8/ca12nU59v+bP238VePFBhELGCKkAXxDMfQGCljnec15l+dErmQize49DorczlM1PyNtyZ7/pyem3zOjuYGbAmySW6aokOaZaCqDcx6syorLDdQu20o//Xq/eyqaypwUYDsAACCgFENn/WBPc3h3g6aqtYTxc5NMpBuoXXjJMF/BsPbj7jAUq7fi8mEPQvdYu28smsqMc16P56g/cK8Pg88WG6bPPAIBAQAABJBMpO0CoKqjGChCHACCoc8RxCAFPZBhOVZcZue1L1xe7GA0lQllmwsAAACUjwBBDttNVRvARwAAvLAowME+53kRZlAIV/olFUM/4mEtnidMVcP8XABwDcIaAMSlGPo4hzk3L5qqdhiHHWB1CGsAAAAAAACAFVlxuUOQiY+jdrFzVqASRUQA7uYIY2im8A/n/weiYKAPIJwBAGAZNGGmxRG+4Pwp2mArKN6gHc5AAQ2BK6QBwEMykd5HoXBDCGQQl2Lo7DrWy7mw7AS7XpqqhvMnWSHQRPpsj9V2+SvX27huwLw0KVVIxyRJmnVpif2mqr3l0rJcgdCGu1FBOFY0ayMFM7RSW4vfC2nlzeuwAJ6uRppH+6t/f2SkaueE6NvK9vuumW7Z67CMuQopcvX+yvvmKioipS5rcUiDLZKryP3Of4p+UDUbyZa6DpcgpAF8RzF03n123O5Tkok0CyM77IP7jTvuLay4zO4B2n1SJLYQrMDPz6KpTL9/Nhm8QH2NrY6QBj9jASV/ic85AADwRG3GbhcMtL1gqprnQaUiSSbSzRTaIPp9yRS1MXQLsC3cUFGVXg+e696JpjIHy/hWXUPtzHsopKHJ52+nnz7nuL8GAADwAYQ4APjGadpQg4IZ2DPXQGdXG4roEisus/PYz11eLIrGAQAAgHAUQ1dpfl0Hp5BwFOUEgLKjZ7yY41XOOcUvRFOZkvrjFUNnc3BecW+TVoTzOAC4zorLrheDj6YyFThSAKVTDP24C8+Gt2t+mKp2HIcFIH8IawAAAAAAAIAVWXH5TUEniiG8AUIHYQxCQjgDAAChwVLSEkEMLT4t/Av5maCJYscpnAGTxAAgsBRDNzyYvP4MBr7cjYpyHVrq2fcX+weenVmT5dp2FclVXJqrnP9blxb3hqlqQgayJBNplUIb/FikoajQhmQi3epoY2lyBDMAqZ2/WfXw7OktW7Lno3XSjVo/75cbFRtufl799ZHz1e2WAJtzh3KFNDhN11XUjTdWbijm396KVM19tvGrU33Rh28uDmlwapioGW355cZfubjZxWAFynWENIDfKIbeSvdDPL1kqpqr3w0f3V9MUJjE4c6utruC06y43EShDXsD1h/DjvcpVvwH/RvhZcXlmCOgwe8FZG2s3+5dfK4BAIA3xdDZPeQPOKwGob4OyUQ6RqENot+rsPvrI0EuZk/3jh96sKpnoqmMb/tKkol0kJ4hEXgKAAAQIAhxACiL084gBnr1LtUfBXez4jKPwpeBCQkEAACA4OEYFN5nqloMHxkAEA31PzpfXrRVlRzipxj6fkmS3ndvk1Z01FS1Do/WBQAhYsVl1+fKIqwBwB2KobNr/3sFLuyOmh+mqqHmB0CRENYAAAAAAAAAy6LCI2/6ZA8hvAF8j75z7LXRUSDQ+YLyQzgDAISSFZftiXmNi8IYJEzWC6XTjnCG3rDvDAAIB8XQ2QTNtzm/2ROmqu3HR2ppywU2jG+abPrk8Yv75irna3iuv2aq6sPZ+uw/lriY7v+fvfsPjuPM7/z+ABgABEmIIMHdWVLiEFqvKdneXWGAvWuTrju1Qmd9KYsRVetRp1x3FnUJnPKmElHYKifeWpWoeKOq+0MQdZVa/wGnRP6RS/XOOUsdZdfFCaOGE5M7GwMDaH9J1K4EDClpRyIkQCQBAgSB1AM9TTeHM8AM0E9Pd8/7VdU1VAuY/jGDme7nx/eTM63v+7RL2sQttEEVxur2BDLso61lYx64eT75xZtj925f+WRbFPffdUNsX3i3tfe9t1v/aXGhadtSPffl3qU3d/zGzf9n/87lX+2o5364PtnZvHOhvXlLtT8vQxp++vkHr0984ctzNxLty9X8zt43u37W9cHWerTfX1SF5WJbMBHxZjj2s0KI+zQe5Gs50zrr15Opgk/yeuJJv55To9Pq+qGqwejFTEoW3DwYs4CneVUk6Cx9rPGn+iMfUO27D8XwgF9LZgu+fZ4BALAWw7FlYUUd9/QUWyhjcGBUFr4/EoHi9xdVaEMsr601FcostRpYkswWIlW8VLVFH1H3jFEm7xHPCSHOE9IAAEBjIMQB2JTZ0iAGN5yBQIbNK2ZSOoIyn0lmCyfrcTwAAADVMBx7XNN4jvsp1gkgCjwBDm57Va/P/fLpzcyJNRy7VxVCDmL8P2E7ALQhrAEIrxqC/CY84QwOLyngD8IaAAAAAAAVqWIjUSiiUg7hDQgdwhgiiXAGAA2hmEmZ6jh7SwIZZEfeft4FDW9CDSCT4QxnGv1kAGg8amDLuOaBtKuFh3KmxSTdNQwOjG5VgQ13FCp+t//KV95/cEZr8aOmFbHc8Wnbj+Z2LL6xwaeQxY2+nTOtyNxXRjy0QZ7vH6rwhsUQ7E+shC1gYKOWROutqcRX3/tF6z8pftr8uRtBbjus53C5STRf+XzL55abmprX+rmNhDS4mm813frSD5M/Siw2BxWUQUgDIs9wbFmQ9AmNxyH70L7rx3XK4MCobE86rpawf0+MqJCGDQ1KL2ZSMgDqsGpHC3ux2FrIz8sLyWzhfHR2GetR79eDKqRBZ/BLPcl7gO8lswW+8wEAgTAcW4YpvKJpW+mcaRGYXoZqI35UXYuHnSx2/9rQcH/sxhrpmLBfxkgyWzBr/q06GBwYPaBCGqIe6jet3rcX4vi+BQAAtSPEAbhtyhPGcDuQYaN9TKiepvvPR5LZAq8dAAAILcOx5birlzTs31M50zrFKw8gioqZVI8aq9m7yQCH08ls4dhGT4Hh2F1qnq2OUJ1SzDMDoBVhDUC4VQjym3XDGeQj1wmAHoQ1AAAAACGTTveZnk6Cnio7CWbVQD930J+Tz48xaAybVsykjqmiDXFAeAO0K2ZSW1WBE/m4jzCGSCKcAUDsqIFIPSUhDL3qOJk4h3Km3HAG2VGbzBboqAXQ0AzHDqLo0OM50yIQpwqqGNeflBY9yj9aODK3Y3GPzm0nFpvnOj5tG7u2a+HiSvNKrUXGT+dMK5IFbyMe2iCDGn6sFkIbfHbP8kdbvrpwLrVn+e1k1I/lg+ZfL77VdvD9j1r2X9O5nQdunk/uW/ppMsxBFze2NG2Z6WrZWe7/XWvbeiu/56tXf/a5B+Y3s42ts23TPWO7f7aZ56gCIQ2IBcOx5bXPC5rDAF7Mmdam/1YGB0Zlv+LJCIQ0yHaP40PD/b5cf6u+oYOqWGyc+oJkX+oFWaiTvpLoUe/LXnXfFLdAkXLkZ9hf8F4FAARJY7vxSM60IlGgvp4GB0bltfexCBTHl20o54aG+8+GYF98o8Yg6A65lp5JZgsnAzy0mgwOjB5S94JRD0S7rN6nhPYBAICqEOKAmJryBjGo8bMykIEwxToqZlIzGu49709mC5OROhEAAKChGI4t77He1XDMr+ZM6yjvJgBxUcykukrCG+Syf43DWw0/2Mxc2YDml7nSOdOiXQKANpqCUndSkwDwh+HYcszU03I8oRvQwLUBEAzCGgAAAIA6S6f7ZAfAUbU85vPeuDfaZ/L5MQaRoWbFTOqFGBeYJ7wBNSsTxtChHrfGYNJloyKcAUDkFTMpt1hHb0kgQ886g4sAr1fdgIZktkBHLQAohmMfF0K8pPl8MPFhA1Qx4Nsho4sdS22jj0394XLLSpvO7W651nqlfS4x+enuG2/UENhwMWdaL+rcryAQ2oBKZGjDl27+f8n9S2/cmxA3W6J8oj5p/sLsz1v/2dR7iQdn/XxeGdJwYDG3f4u41u7n8+ryyc7mnQvtzVvcp/crpMFr75tdP+v6YKuOdnlCGhArhmPrDlafyJnW9zbzBOoaQQ4Ef8i/3dJCfrafHBruP6FrA8VMSrbLHYrAuaiVDG04n8wW+GwNsWImtc8TzhD2osV+ei2ZLcSq+DEAIPwMx5bft3lNO/pUzrRO8TaozuDA6AEV2hD2MY6yDeT7cSryWcyk5Hl/RfNm5H2cGab+axUoHZfAPtrRAACArwhxQARMeIMYVDDD5NBwP3MuQ6qYSfleDCeZLTTF5fwAAID4Mhx7XNP4o50506J4LoDYKglw6FH/dj9Pn09mCxseP+opmBwExg0A0K6YScnPmSd93s4jyWzB4dUDNk8F+c1wDwcEj7AGAAAAoE7S6T7ZqH9cQ6NVJbLw5sl8fowGLVSlmEnJiWQvNNDZIrwBq4qZ1AHCGGKNcAYAkVLMpNwJa10lYQyCSWzYpAk3RZ+BDwBQnhrMIic67NB4imShoR4GzGzM4MDoE6og0qoPHpjpeedrV76ue7udV7a827LUNHtt5+LPltpvXaviV76bM61LuvcrKKog83EN4cNBILRBo/aV64mepYnuKIUSVHJDbF+42GZMvdV6qLiZ54laSINruUk0X/l8y+fe3/75m2/v/rV5P0MaXM23mm596YfJHyUWm6sNvlkPxeUQO4Zjy/6Kb2k8Lvm3/ec509pQn5gqunQqIm1UL8vQqaHh/kCuu1U/62EV3NARxDYDIvtYzsn7JPpXwkEFhLgBDVEvFFsr+Rn2PUJEAAD1YDi2jsnK0mzOtLp4UWs3ODAqr72fiMD190UV2hCL9uJiJnUmgHbiiWS20FvFz2k1ODDare7xDsfgPu+CakdjjCwAAAgEIQ4I2IgniIFAhggrZlLyM+N1n49gJJktmA11IgEAQCQZji3Hab+kYd8p/g2gIcl7zM3MoTUcO4gge9fLOdM6HtC2ADSwYiYlA2ye8/kMENYAAIg8whoAAACAgKXTffUuWiEHHZ4gtAHrKWZShwIMEwkjwhtiSoUxSA+oxwMlj4gXwhkAhJqaSCJKghi61GS0/bx68NGUDGbwBDRQFBwA1mE4thNAG97jOdM6w2uxcaoI1+02rDf/+QeHpvdd/7LObbYsNd/ovNJeECtNi9d2LbyxTmDDuZxpfV/n/tSLKqhwIqJtiIQ2aCZDCvYt/TS5c/lXOgNvtJOhDe8lHij+tO3h9xaatlUVKiBDK35rceTe/Utv3JsQN1uieNyfNH9h9u9Tv3199Mvde3VuZ+ts23TP2O6fbfJpCGlAbBmO/azmIOnXcqZ1ttZfGhwY7VLXAE/r2S1fyb7xY/UswKP6XA/HLBRcFsk/L6916UMNlgoC6VX9nA810rGXkN/7f2kepGwAACAASURBVEG/HwCgHgzHltfDk5pCfp/PmdYJXtiNGRwY3aquvR+NwO5eUKENkb6eKWZSOv8evJ5PZgt1+dtQIQ1HhBAH67F9H82r8L3zhDQAAICwIMQBm+ANZJhUy3hQod0IRjGT0lEI89VktnCUlxAAAISd4dhybEhew26+mjMtrocAoAYaP5PLGcmZFiGDAAJBWAMAAOUR1gAAAAAEJJ3uC1vRitNCiOP5/BgDEVGWGtQY9QlmfiK8ISIIY2h4hDMACI1iJuVOHusqCWMQTChDAGZLwhnqVpQQAKLIcOzjQoiXNO86kx18MjgwKq+xZFtWx2LHUtv471/6g5vtt7br3Gb7XOLjrTNtxZUmcetG581f3th+s1jmx2Txo2/nTCvW96aDA6O/IYT4n2T4SAh2p1aLqg1BhjZcjdauR8O9S2/uOHDzh/fuXr7UHeXjWBKtt95refBXb7b9zvufNn/uRrmfiUtIw89b/9nUe4kH5f2EeOdrH331RudNrcX29r7Z9bOuD7ZupL2dkAbEmuHYssDoExqPcTpnWt+u9ZcGB0Zlf/fxAApxbtaE3M+h4f7QTPZQ/VeHYtj/Ks/1+WS2MB6CfYkl9d5xAxriFPqxUa8ls4Wag2YAAPCL5rbj+3OmRZ/eJqni+lYEwq3c4vnnohzaUMykZLGQ1wPYVKAT+gcHRg+okIaojzmcVu+zC1EPBwEAAI2DEAeo8a93BDHIcIYw9ftAP03F4uoWBggAAFArw7HltfB+DSduZ860qC8CAFUwHDuo8HqhxmKafEYDCAphDQAAlEdYAwAAABCAdLqvVxXI1NEhuhly8OLRfH6MRi7cpZhJvSCEiHQBLc2mvUXhk9nCpVgfbYgUM6l9sviiEEI+blWPHYQxNCzCGQDUjSo6IEqCGLrUxLCwXfujMYy4AQ0UyAOAjTMcu0dN8tU5mFa2y/UwiNY/gwOjsn3gW7KNYGbPXPdP/5P3v6F7m9un2wutCy3X5b/n77l5sUxgw+mcaZ3XvR9BUcWp3LaYcu0xnUKI/gi30ci2hVFCG/S4Z/mjLV9dOJfas/x2MurH8kHzrxffbe0tuoEG8tgeXPz7vffeevMLUQ1pkMf0RvvhQmkQxcK2pS3v9n/Ut9yyou24mm813frSD5M/Siw2L1X5K7I90CakAXFmOLb8vn1Bfdfq8mLOtKr+OxocGJUhYycj0OY1q0IaToVgX8oqZlLy9T2sQhvi1Bd7uwAofTWbo94jveq6ulfzZ0GUyGLG30tmC1wDAADqSmNhHMJ9fabaM60IBV651znTahFqTNTquqHh/o2EXQaimEnJ+8WnNW9rSl4fJ7MFrf0qgwOjh9Q9W9SD0i6rIJDY9FHgM8VMyh2bVI5bzLocd1zTWlaLIJf8/7LrdP8tAgBQDiEOsTPlDWJQY18FgQxwFTMpORf3MZ9PyOPJbOEMJxkAAESB4di62t6fyplWaMdWAUBYqKAG2U7xUAC7NKuCGpgTDCAwmsIaaH8DNClmUqt1bKghAuhHWAMAAACgWTrdd0wI8UrIz/Pz+fzYiRDsB0KimEl1qyIwqN68mjBJeMMmrRHGsI9iJCCcAUBQipmUO5GrqySMQTC5CyEyoQZ8OQxeAAD/GI7tBPB9/3jOtPjs9tngwKhs0/qmLKL09sFi/4dfvNqvc3tNK2J5R7HjF03LTbfkf9/ccqt4bdeCW1DrYs60Xgz4FGyaOodyecDTHtNdYyFhQhtQUfvK9cRvLY7cu3/pjXujGmzg+qT5C7M3ROeNKAdQVApp8Prwi1fvvbL/6hd17seOYsd79/5s5zvr/JgsSPgaBebQCAzH/qbmyV0TOdP6XjU/ODgw2qtCGsLeHjar9vPk0HB/ZIoFqgKLh2MYSH5BFgWlv7R6qn9Uvg8OxaAorA7yGv0v6BcEANSb4diyIOjrmnaDNmNNVPH9R2MSlibHKLrX2ZfUf8+56+oZblnMpMYDKFTyajJb8D3UZHBgdKsK1Dscg/eJfA+cJeg0GJ6xReWsFY6wXnBCFMclucWWvSbLrJtRBZnvWEcxAQDAZhDiEGoTnu9/N5BhZmi4n+9+rEvTfeYjyWyBQBAAABAJhmPLNsS8hn09nTOtY7wLAGBthmPLYJsnAzpNjBcAELhiJqWjJt7zyWyBGnaABp6/2Qk1d+ZMMluIzNwZIEoIawAAAAA0Sqf7jgshXorIOT6dz4/RsYpVxUzqUIAdR3FFeEMFKgykmzAGVIlwBgBaFDMpUz1vb0kgg5yktZ+zjpCacsMZVEBD6aR2AMAmGY4dRHveqznT8r2YED6jiip9SxY4/Yejk99Y2LaktbBSYqHlaud0+2X3v2Vgw/WuxXdWmldO5EwrlO1B6hzJArC7VRvNAdVG43dRWEIbsKYHbp5PHljM7d8irrVzpoKzJFpvvdfy4K/ebPud99cKafB652sfffVG580dOndy3092vdH50ZbZMv+LkAY0FMOxD6hrGV1k/9Wf50xreq3nV4WNTkSkv/C03Neh4f7ItpOovrMjqo0yTn1l8nrqQjJb4DO8DBXW0auul+NQOFiHeRX8cTZ+hwYAiCKNxRimcqZVqdg3fKDaRA+rpRHGp02rRajrcnfdFXmNNTTc73vbtbq+1VE0qtTjyWzBl0IlKrz4UEzeFxdUSMOa9/txVsyk1gtAMDf4/+Rzam0bRVmzZUIdhBovU826cYoSAAAIcQjMhDeIQX2HT0a53wbhUMykfC+Ek8wWmnh5AQBAlBiOPalhnuNszrS6eCMAQGUBzS1zPZMzrZO8HACCpmptvO7zZglrADQpE3Asx1XIMVQnk9kCIdmAjwhrAAAAADRJp/tkY/jTETu/BDZgVTGTOqAmoVEYwj8NE97gCWNwC/6VLsBaCGcAsGnFTMqdVNVVEsYgmGiFCHEnsE2qyWsOHaUAoJfh2D3qM1dnwRU5AKYnZ1oUB9FIFd564vrOha+/8XuXv7HcstKmc3tbZ9veb7+euF1gfPv0lh+n3tj11NBwf13vaQcHRvd5AjO7PcEMQetU2/2KEELra6FJI4Q2eIu3Be43bv6/e7+0+KNfv2flo8/V7xTE362V1puF1i+/Pd7+e2/PNe24WcsBz9+zuPWX/+Sj/3SlZaVV14lqudk89+vnk/9n60KLd98uENKARmM49gua++Zey5lWxaLngwOjsh3tuFrCXohwRIU0lCvIF0nFTGqrasd8NGZ9tKsF94UQ55PZQiMXDu1Wr+8DJRMlcCe3r1AW1rzIuQEAhIVqP35X0+5QfCEgqji/DEo72BAHvD557TWnrtnd8YxvqcfpWgv/FzOpIIqWyLb43mS2sOHCrzF6H9y+1wpjSIMq7FDJeuEIlQqF9WgoTIbG4Y7D8Rovs25SLXes28znDgAgXAhx2JARbxCDuxDIAF3UXAC/22Fmk9kCRYkBAECkGI6tq17J4znT8iUYGQDixnDso0KIHwR0WKdzpkWNJwB1QVgDEB3FTEqOpcmvscNyPIS8fzyTzBaYuw5sEmENAAAAgAbpdJ9sDH8loueWwAbcQRWNeEAVVCO8wT+RDW8gjAE+I5wBQM08E7p7SwIZmJSNqJhVk9Ykp+RxnE5QAKgPw7GdACZfM7EhQIMDo8fe7b/yx+8/OKO14FLTilju/KjjnZalppvNt5pufemHyR8lFpvlhPTv6S6QpIpKeQMZ9oW4jaZNBTYQ2lA/Fz3BDLI9cm5ouD80BXA9IcIUy/OXW7Tt3Gba3gzHPiyDcDTv67mcaX1f8zaA0DIc+4gq0q/LdM60vl3pueW1kww/iED72pQMkxga7o/1dXWMvxflRID/q1GK8KvX0Q1ouC8EuxRWE56AhoYN9AAAhJvh2PJa+TlNO7mTgN9gDQ6MHlDF+usRbhtF7vW727Y45wl3uOwNLi5mUkH0tYwks4W1iv2XFaPXfVq1912oNjR6neCE9cIReir8vy6C6NDgvGN/XDNVrhPJbCE2AaQAEBcNHuIwWxrEoJbxoeF+7lcROE2F4jZ0LwkAAFBPhmOvV5BzoygODgBlqM9d2X6/I4DzI8fMmYwVAFAvhDUA0VHMpE4JIZ6sYodlf4+cZ3MymS3cNU4BQHUIawAAAAB8lk73+ZmSPKIa8t1BjuV4B4P6NQj0qXx+7JRPz4WYIbxBm9CENxQzqa2qWMhWVeCvQz1upYgIfEA4A4A1FTMp9/q2qySMQTTQpCdE34SagF06cW2Gjk0ACCfDsY8LIV7SvHOv5kzrKG+BYA0OjB6a+BeX/9dr3TcqFRPyRWKxea7zypapvW92/azrg61ucVHZ3vPi0HD/ptp5BgdG3TaZ3SWBDFFtp4l6aIO8rvuJEOL9EOxLOZdVsbSLnqJpl6st2hUGqg36sCpQ3RGV/Q4h+Vn0WjJbOO/XrhmO/a0Aitm9mDOthijgDXgZji0/+57V/LlX9u9rcGBU9jOfjECBRTlw/OTQcH9DTeBQ34uH1HdjnL4XV7+nVHH+2PQVqX7WXrUc4Fqmoml1vTpOeykAICoMx57UFGxGMZw6ku3HKjSPMZCbJ9vDL+1YLnb88af/zZ81i1tbNW/vmWS2cLKaH1Sv8+GwtKnfv5Tv7li+2l7u/+1afn/7juUPO8v9v23LnyzuufWLLVtWrn1a4akZUwNE30iZIygX6jCuxiXdsS6ZLVDQCQA0iFGIQ2kgw+r3ydBwPwFCCJ1iJqUjNPPlZLZwnFcbAABEjeHYMxqKhs/mTKtSiC8ANCTDsbtUm3wQY2llO00PQQ0A6klTWMPpZLbAOCjAR8VMqkv169R6Xzih5gmdYSwBUBvCGgAAAAAfpdN9PWqw4mY6POUgexmUcCafH6v5JleFRchGq8c2eWTpfH6MSfFYF+EN2mgLbyCMAQEjnAHAHVTHrSgJYuhSk5d0FLcA/OZOWBOeCdHuIxOfASCCDMf2o01vPQykraOBb//9139y+L2zyy0rWoMBtn3Sdrn3b1J/U7JatvGcGhruX7etdXBg1G2neUC1sXV72m7iKOqhDR8IIUbrFNowr0IYLql/y7aX+c0Gg4SNaseURdQO0u5cE99DGlwBFZOX+//dnGnRjoiGYjj2NzVP8JrImdb3vCtUcaGTPvQrB+FlIcSJoeH+hr6eLmZSh9T3ou7gnCDNq/uxs8lsYTo8u1W9Yia1zxPQQF9rZbLP8Lzffd8AAATBcGw5HvMVTZtK50yLcZp1NjgweiSGAWl107/w1z2/O/+XXw9g++lK4V8qBPmgel0rti0mb73T2X3rctlwhI6Vq21fuPXLir/7hVu/2Fvp/+2+dWnP+rsPANpNqaINXpNVrpshYBEA1hbSEIcpbxCDGts6U82YFSBMipmU7MN82uddej6ZLTRUKDwAAIgHw7Fl3ZEnNRzM4znTOsPbBAA+Yzi2E2DbDuMEANSdKgD/ic/7MZLMFswqfg5AlYqZ1GbHLsq57fLe7yRjAIDqENYAAAAA+Cid7hvfRBENGdJwIp8fc6r42XWp4IjNFNeQAzR7NxIYgcZGeIM2NYU3FDMpt0jLA4QxIGCEMwANrJhJuZONukrCGEQIJiAB1ZpQk9QmSxYmIQNATAU0oJbJDHVm/of//U/n77n5b3TvxW/933v/quuDreWKzJ4eGu4/Pzgw6g1h2OppP2vkNjRCGyq76AlmkO+rK0PD/Rc1bCf0VHHqR2lvXpN8b1zQEdLgZTi2LHD3hM5tCCHO5Uzr+5q3AYSG4djyeuBbGvdHfpf8ec60Vq9RBgdGZZvdCQ0FTnSQfejHhob7S4vFNTQVDnBYtb3GqZhsIN9lm6UCpQ6o809/eGVuEMdFFXJLnyEAILI0tiHLULXeKn4OAVDF/Z9QBf6xSf/FtefM/Utv6A6am1CTiYUqkCtuiUTrjabt99xo3rZzRTQ3y3Vdy8XuxMpiFNueASBsZtW9fqly81/uWpfMFnyZJwMAYRdAiMOEJ4hBEMiAOCpmUjraYh7hegQAAESR4dhHhRA/0LDrp3OmdYw3BQCsftbqCA2s5KmcaZ3itAMIg2Im5XcxasIaAJ8VM6nN1LQsNaFqUp5JZgvUlQQqIKwBAAAA8Ek63ScLWjy3gWebVSENJ3W8Ful0n+yAlQ31Ozbw6y/n82PHNewWGgjhDdq44Q1uaMOBkkcgKA0ZzlDMpOggQqPrLQlkkBOJ9jf6SUEkeCcNOyWP43QqAkDjMRxbtn29pPnAX82Z1lHeXvVlOPa3mpabBlaaVx7QuSOtCy3Xev96379vm08sRuC0hE2jhjZMq0W2rcy5wQxDw/3lQj8angqpPSJoB/WS752zyWwhsCAP+ZkawGvwYs60GjKcBI3HcOwXNPefvZYzrbPiswJBx1VQw0b6joMkB4EfHxrup2DKGlRowEEV3BCnPlh5HXRBhveEpd9J9Xn3qn5vvyY7xJHbbzge5LUJAAA6GY4t+8Lf1bQJijCE0ODA6D4V2kD70yZsX/647V9ffeYPOlY+3R7ZgwAABMEtOO41XmbdpFruWJfMFgh5BRAZ1YQ4pJZ+svrYtjInPx/FfNMO573EA5Pqs3GScGs0imImNalhbsL9XDsAAICoMhx7RsN4r6mcafXwpgDQ6AzHlsE1rwR0Gl7OmRY1nACEBmENQLgVMyk5fyGvYSdlzZVe2syB8ghrAAAAAHyQTvdtdELelBDiaD4/Nl7Fz25YOt3XpQqRbqRowCP5/BhFMOAbwhuAyJouWS6FNZxBNTZ3lflf7qSGUm7B+XLrKbgDANHiTuCdLFlmktmC1vsuAED0qCJb45oL1cpBKz050yIQqI4Mxz4khHhSBQD850KIXTr3pvvStp88+Hd7zof9vIScbDf8mqzpFcF9LxfaMO+GMKhFFrCdHxruv7TG82ANxUxqnypMfbCBz1PgIQ0uw7Flu/6zQogOjZuRfyvfzZlWQ4TDonEZji0DaB7VeAKmc6b17cGBURkedjICgauzKqSBgrU1Un0jh2LYryFDG87X4/tOhUT1qoU+7comPAENBI4BAGLHcOxTqm3Rb7M50yo3tgUhMTgw2qtCG7gW3KDfXPy7vUfmXtJ5zwsAQKmpMqEOM2pcwLrrGF8GwC/FTKp0foJ3foN3TkO18xXczzfv55c710+2zTIuCbGioUicSGYLTbxLAABAVGnsr0rnTIv2EAANy3BsXQWQyxnJmRYFzAGECmENQLgVMyld94JTyWyB8D6gAsIaAAAAAB+k031nhBCP1fhMcsK6mc+PBTIgchOBDSP5/BiNYNCG8AYgNErDGORyRT76WVilmEnVGpggVfoe6tVcVBUAEC6zZSaZMdkMALBhhmPL75GHNZ/Bx3OmdYZXqX4Mx94qhHjBU1Bctj19Q/cOffEfdv/tnre6SguBoHZRDm2Qg/b/Ughxami4n2Lzmqj25UMquEFncECYXFAhDXUthmw49mFVsFCncznT+n6YTj7gpyCCT/ZPdP/NfT/Z+UwA172bNavCJE4ODffTxrMJ6rvxsPp+jNN342X5vaDaAbVcWxUzqa2ecIYDDXRtUatp1U57kQKGAIC4Mxy7SxXD1DE25eWcaR3nTRR+gwOj8vr6CNeHG/P7c/+2/8uLr/dHcd8BAFBGypwIp8y6cVVE/Y51jGkDoq/M/Afv3IbSEIZ6hmYT6IBYKGZS8m/sdZ+PZSKZLVSarwQAABB6hmMfFUL8QMN+0l8FoGFpHg9QarW+VM60aJ8BECoawhooAA/4RAWD67pWeSaZLZzktQLKI6wBAAAA2KR0um8jA8BksYnefH4s0GJdmwhseCqfHzulabeAOxDeAGgzL4S45Hmcc/87mS1ccjeqBjaXs1ZgQleZ9fWebAAAiJ4JNUlssmSZoegXAMBvhmPLSQUvaT6xr+ZM6ygvXn0Zjn1MCHGwZCf61aJN862mxf5X9/+7tvnEYgOdbp2iHNogCyKcGBrup41dI1Vc+aAqTh3XNuVQhDR4GY79LfX3qdOLOdO6GIoDBnxmOPY3N9BvW5XWhZbO5C/vuX9/vvu3I/C6nVbflQRd+ayYSbmBRvfF6LBkP9d5Gdzgx3diMZPa5wloiNN58ttFT0DDpWA3DQBA/ai2xVc07cD9OdPiGjgiBgdGZdvTo+r6GjX6k0//+Bv3LH/EOFAAAD4zUSbUwR0vt946xtEBm1TMpLxzH7pU27CrNIQhiEJ9QSsdp3s72CGZLZQLogECV8ykdBQifjWZLTCODwAARJrh2DMa7lOmcqZFMV0ADUcFNWyk9tJGzKqgBtp2AYROMZMa9/uzMJktNPFKA5tXzKR0jl3cScg3UBlhDQAAAMAmpdN9sgH+4RqfJZ3Pj9WlIT2d7utVnQa1dMZO5fNjdLSiLlSRLTe44QGKZKDByUmr7WVOgVzfrDprl9TjTSFEpxBijxBioeTnuwLqPAYAwDXrTuhS9yPex3E68wAAQTIcu0d9L+mcVC2/+3pypsV3XB0Zji3bk75VYQ+OqHtmbbZPb5l86D/e97dxP88BI7QB64pZYWpfC1L7zXBs2S75rBCiQ+Nm5HF/N2dac/U5SkCPda5TNqx5qamtc3rLV7bOtn059cau9sRCS5hfwRH13UjxH82KmZR8vx0qE2IWdbKo1PlaCtR5+p571SMFY8ubd8MZVPst38MAgIZkOLbvE5KVkZxpmVX9JEJlcGBUXj8eCyC8MlaSt97p/JfX/uwbiZXFtkY/FwAAaOAdl+eaKbNOeMbr3UZxdkRZSfBCj1pEmRCGWuf8NbpKgQ4ExiAQxUzqhBDiOZ+39XwyWzjBKwgAAKLMcOwzQojHNBxCmgLiABqN4dhyTseTAR324znTOsObDEAYFTOpjdTNWxNhDYA/dISpKKeT2cIxXiagMsIaAAAAgE1Ip/vkhLnXa3yG5/P5sboO7kqn+44LIV6q8dcez+fH6ABA3RHegBDrVEuptgqFXtrXKACjtVgkAAAalE7Ouj1Ji8lZAICwMRzb90FkZTCYNgQMx352jbYjeQ//DXXfrs3eN7su3D+6+8eNcs4DRGgD1qUKUx+JaPE8WSD5nAppCHVxZMOxZTDGE5o3cy5nWt/XvA0gUIZjv+B3kfjtH7cf2DrT9rXm5abtOy9vE7ve2xbWF5XvwjpR/ayHVWhDnEIKptX35oVy35vFTKpbFebqpajumi4LId5S5/FSiPcTAIBAGI69kbGh1aL9OOIGB0YPqNAGwr+qdHj+f/nK1xZei1uAHAAAceWOBfQar3LdZDJbmOSdgVoVMylvoN1aIQw6itKgdiPqN8ZLgx0YM4zNKmZSOooQP5XMFuibBAAAkWY4tuyXeEXDMbycM63jvDsANArDsTdSb2mjnsmZ1kneXADCirAGIJxUYHle0849QqA/sDbCGgAAAIBNSKf7ak1Lnsrnx3qq+Dnt0um+WhvLRvL5MbOKnwMCRXgDqiQLL+6u8KOVghH2VljfrbuQIwAAITOrJlRJTsnjeDJbKJ1wCQBAaAU0qPbVnGkd5V1QX1UWD5ftSVrbPJtvNS1+9f+476+2fdJ+NSSnJm7cNsEoBl9SqDogqkDzEVWYOuwiE9LgZTj2twIofv1izrQuat4GEAjDseVn0qN+bavjauve7dNbDrYsNa0WCW2bS4h9P94VxhdTtjGdHBruPxGCfWl4agD/4RiGF1xQ36Xd6th6KaC7pgnV9vtWMluYDvF+AgAQOMOxax0bWq2pnGmFYgwpNm9wYPSQaofu4HSu74+u/unX99x6m/c/AACNZ0oVcfeaLLNuxjNO8fY6Cr9HSzGT6lLtsq61Qhj2N/r5irlKgQ6EumBNOgrEUXwKAADEgeHY8n7qEw2HQt8VgIZhOLZsq3o9oOM9nTOtY7y7AIQZYQ1AOBUzKW1jF5PZAvd/wDoIawAAAAA2KJ3u20iH5iP5/FgoBnal030bSU+8P58fY0AkQo3whsiqNRihUy3l1m9v9JMJAECNJkonQqmFiY4AgFgxHLtHTQDeofG4ZAHanpxpEWZUR4Zjy/ahF6oskPV1VQRAm/briemvnen5qzie6xCRbUu/IYT4tQjuO6ENAVFtx4fVErYCerI48mvJbOF8CPalZoZjy3bcZzWfV3mOvpszrciEWADl+Pn30rrQ0nnPh1sOti603HEts/fnO0XHp61hO/+nhRDHh4b7uU4OGU+oUS8FZhvCtLovvkjbLwAAlWksdiM9nzMtAsxiZHBg1G1z8i2UL662L3/c9l9f/ZM/TKwslhsPCAAAUIuRMj9bbq5WuXXjyWyBtuoqFDOpHs94ivVCGHSOxUE8zXoCWty/1dvBDgQ6NK5iJuV7ARwKxAEAgLgwHPuMEOIxDYdzf860uAYHEGuGY/eqNogg2rHknG2TuWUAwk5TcOr9tO8CG6eC0Sc1XbM8k8wWTvLyAGtLcH4AAACADas1wXgkLEENUj4/Np5O952uMUHxuFqA0EpmC3NqgO7qoF3CGwIlJ1HuVht0Qxba1b+F+u/uEOwnAACNpNxkptuTmph0CABoMGcCGFR7jMG0ofBEDYVm5bXRH1YIi/TFwral7rcPFvt//UJyND6nuG4uCyFk+99F9XhJrhsa7l8t3j44MCoLQpzQMFBUp/1CiFcGB0blfsvBbqcoZK2Hajs+W8ykzqmCIY+GoL0y0iENrpxpTRuOfVZ9/urSrV6z79f9gIHNsTZbEL95qantno86vrbleuLLpf+v86MtYQtqkAWzjg0N9zPhIqSS2YL8Ljql+lTD8v0If130BDRc4twCAFAVnWMkmewYM6pt8uzgwOh5dc/3UKOfk0quNe9adLb8kfO783/59XDuIQAAiJBy/cHl1j1X7pCKmVTpqglVIN5rUi3rrotC0aFiJtWrAheECmCoFMIQpb52RNsOz/vtrved+jtlDHSDUSExfptt9PMKAABiRVdYw1H6sADEmeHYsg3sVEBBDbMENQCIkHEN/QI9ZfpS0kzFdAAAIABJREFUAFTvqMZrllO8DsD6mlZWfA8WBwAAABpCOt03XuOkqsfz+bEzYTo36XSfLFz1eg2/MpXPj+kY9AYEhvCGDdurfnG7rPVTEsLQrbOgIQAAWJM7SXCyZJlJZgvjnDoAAD5jOPaJSpPwfXQ6Z1q1BrzCZ4Zjyzafb9X4rHtVUVqtDvx98rXPTXa+z2u+rnkVwnBJ/fst+Tg03F91YdmIhja4ZtWEp5OENuhXzKQOCSEOqvbiIMmiyReiHtJQynDsbwVwLl/MmdZFzdsAtNjgdcodOj/a8pWtn7b1N63c3S/TvNQs9k90yzCHMLyAUyqkwaniZxEyxUxKvlfd70hEz7wbzqCKVc3xGgIAUBvDsSdVwKbfaENuAIMDowdUaAPjEit4/Pq/OXTg5g/vCiAEAACIEW+BeddMmXXCU3j+tmS2sGbbejGTMj3/WSmEQRC8gAYxpcZPz5QJdiDQIWLU51stc12rMZLMFszNPw0AAED9qWLjn2jYkYmcafVW8XMAEEmGY+sKuyknnTMt5nYDiIRiJqVjzu0j6/VzAKismEk5mvr4TiezBcYuAlUgrAEAAADYgHS6Tw5efbeG3wxtyMEGQifS+fwYHQOIDcIb7gph8K7rVOsBAEB9zJaZOMQEIgAAamQ4tpw4kNd83uTE396cafH9XGeGYz+7wfYdWYxWa3Go1oWWa71/ve/ft80nFnVuJ0IueoIZpoUQV4aG+30twE5oA6oVYFFq+R4/m8wWYhk2YDi2DPaVn8MdGjcjPy++mzMtCk8jcgzHfsEThF2V1oWWztb5lu62+cTetvmWnublpor9Nt1TnaLrVzr//Koiv7+ODw33n4ria4Q7FTOpbvX9eFjzZzs277JqS5btxlWHnAEAgLsZjn1UCPEDTafmkZxpMRm5QQwOjB5SIcE13Qc2gu3LH7f9q2v/w5F7lj/i3AAAAAAIQmmgw+1gB4qGhUsxkzouhHjJ552iABUAAIgVjQXH78+Z1iTvFgBxYzi2nJPxdECH9VTOtBg/CyAyCGsAwqWYSdVa17IW/G0CVUpwogAAAIANOVrjL4W5MV12LLxSw8/LwWnHNe4PEKhktjDnFq4Q8QpvkBMZ24UQbZ4Jn4QwAAAQLhNqws9kyTKTzBYISAMAwD9BtM0dI6ih/gzHPryJtpzzQog9Ogtn3Wy/tf3tQ8VDv3Xu3kYa1DStFlmYfs4NZhga7p8OYuNDw/3yXJsRDW3YoQa8Hh8cGCW0QTMVnnCxmEmdFUIckQE8PheljnVIgytnWtOGY8tz+ITGzXSrQoff17gNwHeGYx+p5jqjbS7R3Xajpbt1PrG3daF571rhDCW/F4aghuf5voqXZLYgr9nk5/rZYiblhhodaPTzEhLz6vpCtiO/pV4rAADgD13F+6YIamgsQ8P95wcHRsdV+BkBaB7Xmnct/setf+I8ce1//EZodgoAAABAnO1XiygtalvMpNx/lo7pJtChPno0bJWCwwAAIG4cTWENR1XdEQCIDcOxjwUY1HCaoAYAALBJuuo6TtHXAVSvaWVlhdMFAAAA1Cid7pOD7R6q4bfuz+fHQjmwK53u6xJCfFLDr0zk82O9GncJCJUQhjeUC2Eotw4AANTfiNoDt+Nq3J28k8wWKFoHAEAADMc+oYqd6/RyzrQIN60zw7FlG84Lmyx4JdtVtBeH+uI/7P7bPW91xWki8LwbwqCWt+S6oeH+SyHYtzsMDoz2qkFrT4Zot6o1qyZBUQQ7AKpd2I9CehdUSENDFVA2HPvZANrSX8yZVqzDLxAfhmPLa4xny32edFxt3Zu40SIDGvYkFlv2Nq2s9vXUbO/Pd4qOT1vrdc5Oy1CkoeF+Cp00gGImtU99P/odbIT1Tas25ouE/QIAoIfh2LIg4Luanv4pCjM0rsGB0W7PuL4H1OM+dU29NQRjEuvi9+f+bf+XF1/vb8BDBwAAABBNE54QhzuCHWi390cxk5Jj7h/2+WkfoQgVAACIE439WRM506KGCIDYMBy7V83t3hHAMY3kTMvk3QMgaoqZlI65t88kswVCwIANKGZSM5quXfi7BGpAWAMAAABQoziGG6TTfbUOZAtt+ASgmyrSdZ+aNOmGOPihUy2EMAAAEA1Tnkk2k97JN0y4AQAgHNTA2rzmnZHXBL0506Jwep0Zjn1MCHHQh734ik/PU1HzrabF/lf3/7u2+cSizu1ocFkViHWDGa7IdUPD/XMROw5ZHE1OVDpBaAOqUcykDgkhHq2xjbYhQxpchmPLYoPf0bwZeW6/mzOtyH0GIboMx66mT2irKrjpJa9L72teamprn0/sbptL7GldaNmbWGze48fJ6Pxoi/j8O/fU47yOqJAGips0INVnelAFN9CPqc9F1e483qjXFQAABMlwbNnm8rSGTcr2nB7akbGewYFRb4CDe2/p3ot2x/Ha+7+8+t8d2X3rki/3x0CMzKp7wXJm1vh/QhUdqkTeW5b9LipmUrLfpKdkdbXr5NyKh3gDAgAArBpRjwQ6bEAxk5Lnar/PT5vm3AMAgLgxHHtcU5vc/TnTooYIgMgzHLtL3Y8HEdTAvDIAkVXMpGTQzOs+7//zyWzhBO8KoDbFTErOj35F02nbWWm8CIC7JTgnAAAAQM1qTTOOQnGKMzWGNchzcErj/gChlcwW5lRRjIvuPhYzqQNrhDe4IQzSnjXWAQCAcHEny7jX8+6kmYoTlwEAQOgE0X51jAG19acKJ/sVsPBjVWRGW5vNcstK208Pv/976ddSZ3VtYxOmSwIZVh+HhvtjVRh2aLhfDrw/NjgweiKCoQ1ywsBzchkcGB1R9ywOhbL1SWYL54UQ54uZVK8qSF2pWPu8/DkhxLlGL6acM61LhmO/pkIudOlWr0cYP0tDT01CEmG7jjEcu9rCk7ur/Dm3yOV6/ArmvkPrQktn+/XEnsRCy+7WhZY9LUtNvhfVbF5qFrsLnVX8pK+mVEgD/cUNTPWZnpOL+o48RGFGX8y74QyyP1qdZwAAEJxjmrZ0hnZkVGNouP+S58cqFpIcHBh172P3qWCHDk+4Q7X3wqHw2tbjzr+89mffSKwstvEmQYiNrLFra4YjqLFG5Uwms4XQFD1T++Lb/hQzqS4VYFqq3DyMcutqmdcAAAAQJu51zF3XM8VMSpQEc5WOUQ/VNWKd+B3UIAhqAAAAMSXHbb2k4dCoIQIgLpyAghrkff5RxgMAAAAf6Bq7eJr6OEBtmlZWVjhlAAAAQA3S6b6TQoina/iVR/L5sVAXSUqn++RkiHwNv3I6nx/TdXMPRELJRCJ3olCPWuRkx3/KKwkAQGhNqQnG7jLjTnRhQgYAAPFgOPYJVcxcp5dzpnWct0z9GY79rBDiPh93RFY8/oYQQmtxqL1vdl24f3T3j3VuYw0XS4MZSgqBRZIqPi7b7Eofe9SE7ikVXrwacOAOih8cGO2JYGhDOYQ3BKCYSe1TIQFuSMy8W6yagsp30vD5XM53ZTiE5m3EguHY8rPuqBDiPxNCfF0d0/tCiJ/L3Ab1+CPPsT5Q5XFXE3SwNYD3Qt21zSW6268n9iYWW7pbF5r3Ni83bde9T91TnaLrV4HV4JSTyk4ODfefCGqDiJZiJuUG6RyKUnHYELjsBjQkswW+0wAAqBPDseV4yFc0bf3+nGk1erFFBGxwYNR7L+7e43tDErUEF25E/8Jf9/zu/F9+3f9nRkytFZywZjjCGmEEjBeKABUW2VWyp+XWuWO5S9f5XvgXAABAk4YMdFDXe7XMb63GRDJbKBciBgAAEGlqLOC7Go7h1ZxpHeXdASDKDMc+FeC8kMdzpnWGNwyAqCpmUrJe1us+7/7zyWyB+QZADYqZlK57POmRZLbAPFOgBoQ1AAAAADVKp/vkjefD1f5WPj/WFIVznE73zdSQDD2Rz48xUA2xVBLC4E7iKV0XRIo6AADYOHdidukElXFSvwEAiD/DsXVM3CwlC773uoXeUT+GY8tisE9o2IEeTyFrLZpvNS3+xsies10fbJ3WtAlZ9HXOE8xwRa4bGu6PdDF5w7Hd4NTSx6rb7T3ccIMzOdMaj1Fog4vwBo1UQWr5nXOBkIbyDMeWwRbf0byZyznT+nPN26iZ4djVBhjsq+LnvIUUa/25bk9xsmqeQ3jCfNzl/Sp/r+F0XG3d2zaX2JNYbO5OLLbsbVrRG/RUqm0uIfb9eFdQmzsthDg+NNzP9S+qUsykDqnghtgHtWzAvLpGl+3WbyWzBV33AwAAoAaGY8vv5oc0nLORnGmZVfwcUBeDA6P7VNiat53Cuy6Qa/o/uvqnX99z6+3S4uoIv4mNhiN4is/ehUniCIIqdlD6ueMdL77WOrHBfikAAAC/TKnr7ZlywQ5RHC9fzKRkUeAf+Py0I8lsgXYZAAAQSxr7tnYyRwJAVBmOfVwI8VJAu/98zrQoRg4g0ghrAMKhmEmdFEI8rWFnppLZAuOxgBoR1gAAAADUKJ3uq+UieiSfH4vEgK64hlAALkIYAACIjSnPhG7vJJOZZLZQcSI3AABoHBonHng9kjMtCsXUmeHYslDUC6polA5fL1OkxVft1xPTXzvT81ebeE63kPYlVfT1LfnfQ8P9kS34qgJXujxteN5Hne13szK0QU5ev+9nO3+xP9/9XwkhjsaszZDwBgTOcOwjQohHNW/33BrF3XZXGVKwr8rvk2pCGOpNfnftVY/bfdoXb3CD+++G0rzU1LblWuve1oWW7taFlr2JxeY99T7+vT/fKTo+bdW9GfndcWxouL9ScUVgTcVMSn5uyuCGgw1+pqbVd5UskHQxBPsDAAA8NAcAP5UzrVOcb0Td4MCo2ybibWtx11XbrlLR9uWP2/711Wf+oGPlU7/aMhrR1EbDETxFXe9CcAJQPVXMpFS5dW7fV+k6xrEDAAA/VQx0CON1fjGTkgXcnvP5aSkMBwAAYktjQXL6tgBEkuHYOgqOV3I6Z1rHeKcAiDpNYQ2vJrOFo7w5gOoVM6kZTeMFnklmCyd5KYDaENYAAAAA1CCd7qt1Ut7L+fzY8Sic43S6r9YBbY/k82NMwEEoeCa39HgK6HnX7eeVAgAgMkbUjrrXmuPuJJFktjDDywgAANZiOLaOSZulXs6ZViTa/OLOcOxjmou+yiKq/63utqXuS9t+8uDf7Tlfxb7Mq1AGucwNDfdHssir4dhu8EJPmSVM7XgTLUvNF+77yc6d9/1057+IaYEcN7xhXAU4cM8FLQzHflYIcR9nV5u2koCGtoC2+4EqPn4ljgEOrQstne3XE3sSCy27Wxda9rQsNVUT+hGYzo+2iM+/c4/OzU2pkAb6g+GLYiYlg9YOq+v3UP09aTShwtRk23bDhdwAABAlhmPLgjNPatjl2ZxplRZiBmJrcGB0q6cNSAY4bFUhDvvUujVDMH9z8e/2Hpl7SXfoZ1BmNxqOsM7/Y+wM0ECKmVS5UIeeMmHz5dbJ33uI9wsAAFjHhBqnP1ka7BB0oEMxk9LRPvNUMlug0DAAAIgljWHkr+ZMi+K6ACJFfSY6Ac35kPfSZs606LMDEAvFTMrvgtQjyWyhXKA9gDKKmZScI/2KpnOzk3FGQO0SnDMAAACgJr01/vxaE23CptZ9LR3QD/iOEAYAAGJnyjOZwzuhYyaZLUTp2hkAAISQGlyrO6hBXs+c4PWvP8OxD2gOapDBCHKy7qgQ4nWdBzy97/qXP+q5Ovm5yc4fyRAGFcwwp0IZLg8N98/p3L4OhmObqghMb8ljlIrCPHQrsfzQVO+0kMuWq61TX3h7R7LrVx1btn3SHoLd88XDalk1ODA6oSYpOIQ3wGfy8/Q7nFRfdap+kj117LPboxYvGeDwvie84Wqd9q1mbXOJ7vbrib2JxZbu1oXmvc3LTdvDuq/NS81id6FT19PLYpLHh4b7KVoCXyWzBXlNe1YuqtDg4fUKtUbQtLqWl23dF9UxAwCAkFPBoroKzpzk9UcjUW3ZbshwxbDhwYHRbk+I2wPqcd/P2v75xS8vvt59/9K4723/V1r2fdC+Mvfp1uXZ6RaxdLPkf68ZjqDGtpQzmcwWJv3eVwBw+T2erphJdZWZD1NunfCM1/d6uMw6AAAQbe44nru+54uZlPvPSoEOfo//19HvzT0bAACIrZxpjRuOPaWh1sJjsv+MIuQAokL1+Z8KKKhBjrE9ymckAADw0TFNJ/M0QQ3AxhDWAAAAANSm1kFfURrQVeu+EtaADVMFOLpKJnh410WpaBsAAPhHI+pf7kR2d9L6OB05ABB9hmMf3UCQJRAkXQW1vI4xqDY0LM07ci5nWrLYqmM49vO6g0Au/k7xKxd/p/ivovL+UuEoXZ5CLe5jbIu03Oi8uX+y78rqv1tuNq90X9rWtKPYIeTSfr217vvnk4fU8rQgvAE+ypnWJcOxXxNCPMp53RRZxHCvKm7erXE7m1Ea4LCoipeHLsCh42rr3ra5xJ7EYnN3YrFlb9OKaAvBblVl53vbRPNSk46nltc8J/m8h26qcM94MZOSn2VHVFtDR0RP/GXVDi7bwC+FYH8AAEDtjmks2kAIGlDG0HC/20Yg7g51+A8vFjOp1dDsa80777kl2lqXmhKtN5o677natOvDy4nfXL1/X2pqu+emaL/9tzvf3LnwbiI9XWZzMpj5nBDivNouADQsNX6vXEDNmY2eE8+cAK9q1/VoKCYIAAD8V02ggzuHYLw02KGGQAcdY458Db8CAAAIoTPumF+fHaWfC0CEnAqwPo2ZMy2CAQEAgC+KmVSPxvm43NMBG9S0srLCuQMAAACqlE73yQ7Lx6r9+Xx+TEuVDF3S6b5abhBG8vkxs4qfQwMhhAFADE1VCDSaYeA2cPvvoJZJFACAiDIcWxYreoXXDw3u5ZxpHW/0kxAGhmMf0VzwezpnWt/2rjAcezyAtq1Xc6YVROjIugzH7lEFUtyl19Pmp6t4XWRt+6R9NbThng87RPelbXE+VMIbsCmGYz8rhLiPs1iTvZ7P4u0R2u+1XBNCXFFFGT9Q/17UucHmpaa2Ldda97bNJ/YmbspwhuY9VfxaKLXNJcS+H+/ye9dOCyFODA33M4EMdVHMpLaq68xHQxxG45pXxWTdgIa5cOwWAADYKMOxJzUVCQ5NWx8Qd4MDowfUIe4TQmxVYXD71HX7haHhfq7bASAiVDGKnpK99c5LWG8dcxUARNFsybwEN1jHnbPHOA3ERWmggzfYQT5+4vNxziazhdKwKAAAgFgxHFveL+Q1HNPpnGkd490CIOwMxz6pKbSmnKdypkXRYwCxU8yk/C5IPZLMFqhJB1ShmEnpupaZSmYLpf3uAKqU4EQBAAAANallgNZsBE/tVA0TDxms1kBKJj64DaLedboSOgFgLaUTE7ycCuvdAd13rU9mCxQYBAAAKMNwbDmQ8EnODRqcbDc70egnIQwMx5bFWw9r3pVyA6iPqXtNnRPgHzMc+2jOtM5o3MYqw7G7SgIYvMEMOorTxdr1nQury/sPfta0sOvyttXwBrnIIIcYeUgtq4MABwdGCW9AreTn63c4a2tqKwloaAvxvm7UdrV4B/6WBji8v5kNtC60dLZfT+xpVeEMLUtNYS/+XrXdU51+Pt2ICmmo1J4OBEIFHpyXSzGTkkVWDwkhDobo7E97whkuhmB/AACATwzHNjW2hZ3kdQKCMTTc716nc70OABGXzBYmVcHmUhvuPy1mUuWKwVS7jgLpAGo15fkcmymZ6+CdxzCpPvOq5pnXVTreQzCnCxHhvk+Der9WmmsEAAAQGznTGjccu5b6INUikBxA6BmOfSzAoIbTBDUAiLFZn/vDaK8GqqcrJI+xi8AmNK2s+B1kBAAAAMRXOt1XywX0SD4/FqmUz3S6z6mlwSufH2vSu0eoNw3ptwAay0iFo60UmFBpklXNkxEAAADgD4IagNseyZkWRWxDwHDsb6pi8bpM5Ezre+We23Ds40KIlzSfBTnAsTdnWpu+D1bF5oQqNuKdrK/z/KFE+/XE7eCGXZe3i8Ric5xPkRveMK7CG2jPwV0Mxz4ihHiUM3MHWX1/T0lINj4rju5dKgY4tM0lutuvJ/a23WjZ03KzeXfzctP2OJ6/zo+2iM+/c48fTzWlQhqYOIbQKmZS3Sq0QQa1ddRhP+V1zVsqoGGadwoAAPFkOLYs+vuYhoObypkW93cAAAAxVMyk3D5Xr3Lt+5XWEZwPRMeEN1yhZJ6DdwyRbEcuNzcicJ7PqNJgB0GBLDSg08lsQVehKwAAgNAwHPukpmLlj+dMa8MBmgCgk+HYvap9Joiw3ZGcaUWqdhQA1KKYSdVUb64ayWyBmnTAOoqZlGy/fkXTedoZlr4rIIoSvGoAAACANlG8Wa1pn9Ppvq58foybcgCIpokaAxNmVKG9uySzBQqWAgAAxIzh2F1q0CIFvQEhXiaoIRwMxz6g+XNpXghhV/qfOdM6aTj2Uc0T2OVg8VMqYGFNaoC5N4TBfWSCfYgsbFsSH37x6uoixIdi2yftKrhh2+pjzDzk/RsdHBidUtcTDuENcOVM66z6/LqvwU+KLEK+VwhxQP0b5c9R6blZDW9ILLbcbL+WaO641trVcrO5u2lFtMX9/DUvNYvdhc7NPo0MhTo5NNx/wp+9AvRRAQln5VLMpGRow0H1mamL3N5F1Rd2MZktzPHyAgAQb4Zj92gKapBO8vYBAACIp2S2UHYs9UYVMylvIXVXuXWiQh8yfcNAdUY8P+WdL3HHHImoz4uo5jOqTKCDN9iBsYKIE8aoAACARnFKU1iDHDNPWAOA0PHMeQwiqGFKfR4CAAD4TVfY8GmCGoDNIawBAAAAqFI63Vdr0rGvg7ADMl7jBEQ3bRrxNRtQJxWAO81W+B6pGJiwxufxOI2oAAAAqAVBDcAd5MBaitmGh64BSK5zOdOaXudnjqrJvDrbzB42HPu4muBSOjm+R7XL0mYXUdd3Lqwu7z/4WXONG9ogFxnkEDP7hRBPqiV24Q2GY5uev0t5LE7OtJjsXx05OfA7UdhRn+31vGe2x+rIgrMa4LDUdkss7bolru9aEG3zCZFYaBatCy0isdAiWhebY3ngO9/bJpqXmjbzFKeFEMeHhvvpL0DkJLOF80KI88VMap8Q4rC6HvYj9eqyfF4VznCJdwYAAA1HV1vjrLrvBQAAANalxniXGwO+4WKIxUyq3Nwntzj7eut6VB8fEFal8yzG1RwLURrC4He4SlxUGejgfo6UBjsQ6IAo4TMAAAA0hJxpjRuOraMeBMXJAYRVUEEN8rP1aM60GHcLAAB8VcykejSG8jN2EdgkwhoAAAAAAGsZ19iwA0TZSIV9rxiY4JkE4DWZzBYo4AYAAIDQMBy7N8BBi0AUHGNgbTgYjn1EFWjWZTpnWmfXe275fjAcWxZy+4HmE/OSWhBzH993fXWR2q8nbgc37Lq8XSTiV3A8cuENKpChSxWhWDcwxXDsO46J8IbycqZ1yXDs14QQj4Zx/3zUVhLQ0BabIwuRxY4lsVhSst0NcJCPrQvNomUp2p+nbXMJ0fWrDdelH1EhDRQjQeSpQIVTxUxqqxDioApuqOUeYV712V1UYedzvCsAAGhoxzUd/BnalAEAAFBPyWyh3Hj2SmPc16WKhfSU/Fy5dW6fWuk6CrujkilPuIIoeZ/eEcLAnItgeT5HKn52eAIdygU7EPqCMOBzAwAANJIz7thcH+0wHFsWKd9woCQA+M1w7FMBtjfK+WSMvQUAADroGrs4VaGvGEANCGsAAAAAqtdV47mK4oCuWjsKaj0nABCEiUrBCBU+myutn0lmC3SgAgAAoGEQ1ADc5eWcaTEwJQQMx+5WhVh1OlXtc8tJJ4Zjn9YwqQUNbmHbkvjwi1dXFyE+FNs+aRe7Lm+7HeAQQ6EIb1DXQF2qiIQ3mGEjBSTuOCbCGyqTATnq3N8X1n3coDZPgaLSIkUIiBvgMNe1uLrBpuUm0brQItrmW0RioSVyAQ6f/+U9G/k1+flzbGi4n+tZxI4KWTgnl2ImJb9LDq0xAfOyEOItFc5wkXcDAAAQn92vH9PYF3KSkwwAAIA4UUXyfevjKmZS5UIdhKfg+3rrKgaro668wQszJfPT7ghhSGYLBNzFwHqBDiV/6wQ6IHDMBwMAAA1GR1iDdFQ9NwDUnernD2oOz/OE1QBoIL632cuwXwrGA2s6pun0MHYR8AFhDQAAAED1yg0GXksUC+7U2njWSwdr7MmGz4cb/STAV1OVghEqBMZUWi9omAcAAAD8owYsnmQyM3CbvH89wekIDUsIobNS/UTOtGot3HpcTSZn8ji0ub5zYXW59BUhWm423w5t6L60TbRfb43jiS8X3jDuCW/Y8ER6w7HdwvneYIYgCkCUC28Y94Q3NHpxABmU850Q7Mdmdar30wEhRHe0DyWeVppXVIDD0u3jkwEOMrzhsxCHxGqIQ/Ny+A5/x6+2iva5moZ5zsrr2KHhfgZZoyGoQjvjxUzKDXiTwQ0XPQEN07wTAABAGbomO05wrw8AAACsTRXqLzcPYMNzA1Soa1fJ6nLryoVtUzT+bhOe+WWTlUIYmM+BtZT8ra8X6FAp2IGxjNioKc4cAABoJLKguOHYsxquocuFKAJA4AzHlp9HrwS03dM502I+GYBGItv9H+MVB4JRzKSOaez/oBYk4APCGgAAAAAAgB+8IQzuQOrbA/MZiA8AAACElwpqCGrAIhAVx3KmVWuwKTQwHFsWvn5I47mdF0LYtf6SfH+oz8/X9ewWcKdbrcvi4/uury7v9l8R7dcTq8ENuy5vX31MLDbH8YztV8vqoN/BgdFZN+SgXHiD4dhuAQdvIEOX5s+QWt1xTGpynNOo4Q0507pkOPZrQohHQ7A7tZJFwR9QBXy2R2vXIVSAw8K2pdVFiIXVdS1LzSKx0ByaAAcZ1LDrvW3V/visCuA7OTTcz3UsGo4KZfi+WgAAACpSgY4Sk4CyAAAgAElEQVQPazpDhKYBAAAAdaBCXUttJvzBWzjeVe06ofGeYyNGPL8zXimEocI5BLQqCXQoW0ComEm5ISsEOqAWk5wtAADQgOQ19ZM+H/Z+w7F7CSsHUE+qjz+owsMyxPQ4LzgAANDomKanfjWZLdA2DviAsAYAAAAAwFpogMGsGpQvPIPzZ7zr1ABpAAAAABFkOLYsHPQ0rx1wh5dzpkXoYHjoGnzkOpczremN/KJ8nxiO/bwQ4jktewasQRYX//CLV1cXadsn7WLX5W2rwQ1yiakdS23Lj13fufDYwrab4hv/898ufPr5G58sbFu6vrDt5q9F9JB3qOCGhg1vyJnWWTmZTwhxXwh2Zz09nqUt3LuKjbiVWF5dvAEOMrChdaFZJBZbVIhDi/Zzu+XTNpF8p3N122uYKgmwoU8PAAAAqM4JTedpNmdap3gNAAAAgOgrKSDvteGicMVMyiyz2g2hr2ad8MzhECX7d0cIA4VYECfq/ey+pysFOrh/S+WCHcIUnoLgMPYPAAA0Ih1hDUKN5adwOYC6MBy7S32+BRHWKMfxH82ZFrVTAACAFiqgWle/BWMXAZ8Q1gAAAADoE8UGeDoNUIpB2vFFCAMAAADQ4AzHPqVpMDYQZVMai3WhRoZjHxFCdGs8b9OySPhmniBnWicMxz4qhHjIv90Cand958LqcukrQrTcbF4NbOi+9Fl4Q/v11sid0dnkvFhqW149JhnMsLB9SVzbuSButS57f6xdCPGF+u2lFpXCG8ZVeENcCwrI69LvhGA/SrWVBDSgAS2131pdhLh5++B1BTjI5909tX01gKeMiZJwBvpwAAAAgBqpQg5HNZ03JjsCAAAAqCiZLZTr56OYOOCDZLYwvt6zrBHo0MWYn1iiLxUAADScnGmdUWNO/S5ofpSwBgB1dCrA+3YZ1EB9HQAAoJOue6upZLaw4dB5AHcirAEAAACoXm8tP5zPj6070C9s5D6n033azgmAwIyoDU16AjfcgfyTyWyBTkIAAACggaliRLLT/WHeB8BdjuVMi8maIWA4tgxpOKx5T/wqoHZUFVL3e3ILsCEy0ODj+66vLlL79YTovrRd3PNhx2p4Q2KxORQnVgYxyEAGGcwg9/n6roVygQyNzhve8Jzh2EK1/zpxCm/ImdYlw7FfE0I8GoLd6VTFOQ5oDgxChJULcGibT4jEQvNqeMNqmEMNn7XNS81ix686xK73tnlXj3iCGSjWBAAAAPjjqMY2vJO8RgAAAAAAhFOVgQ6m+me5YAcCHaIlcvN6AQAAfOKo8aZ+2m84dm/OtLjGAhAow7FPaPhMq+SpuIzLB4AN0DGX1iSwGijrmKbT4tc8aaDhCcIaAAAAgJp0cbruwjmJuWS24BQzqUY/DWFCCAMAAACATVFBDQ6TB4GyXmZwbahYQogOjTs0kTOti348Uc60JtVA8Jf8eD7AbwvblsT7D86sLtKODzvEPcUO0X1pm9j2SbvW872w7aa4sX1pNZhB7ocMZLix7ebqv7FhD6slVuENOdM6azj2wToFJMhtPqAKbWyvw/YRA4sdS2Kx5MrFG+DQNt8iWpbuDnDo/GiL2Pnetk9bF1pe94QzMLEVAAAA0OOEpud9VbYR8poBAAAAABBdcg6d2vmK/e5rBDrIZT8vf2jQ3woAABrVGU2FzWVB0eO8qwAExXBs+bnzXECbO50zLQocA2hktKUBAShmUvL6ZoemLXEtA/iIsAYAAAAAAOpvQiUNz3gascfVfxPCAAAAAMAXhmP3qg53ghqAu01pLNSFGhmOfUDzZ9W83wOQcqZ10nBsU9MEF8BXs5+fX10ufeVj0XKzWexQwQ3ysf16a82b8gYyLLUti0+T82KpdXn1vxGISuEN4yrAYSZCL8OLQogjQoiDAWzLWzSjLYDtoQGVBjjIsIats22iY7b1Stt84pfbPm5/dXdh+/82NNxPPxAAAACgmWq701U0kcmOAAAAAAA0gPUCHYqZVJcKcpDKBTsQ6BCAZLYQpXESAAAAfpJhDa9oOKNHCWsAEBQ1//FkQJubyJnWMV5cAAAQAF3XHK9Smw7wF2ENAAAAAID1TDEYdMPWCmGYSWYLpAsDAAAACIQaqCgnCO7gjANlHYtYMeu40z3Y+WzOtOY0PK/c70k+axElt1qXxcf3XV9dpPbrCdF9abu458OO1fCGxGLz6noZwiDDF7zBDLfalldDHxA6bnjDKsOxJ9R1oBP28IacaU3LApeGY5/VENrQ5gln2EtAA+rhVmJZXO2+IZfdQgi5GG8J8d8bzi/GPX+n41yXAgAAAFroanOcypnWGV4yAAAAAACgQgI2EujgDXZg3NHmjER55wEAADZDjjszHPtVIcRjPp/I/YZj9+RMiwKgALQyHLtLBc8EcW885bkfBwAA0KaYSfV45/r57BSvHOAvwhoAAAAAAOuZJKzhLlPqvAjP4NlJtRDCAAAAACBUDMc+qjrbmcQHlPdyzrTKTo5F8AzHlsW5uzVu+HLOtM7peGI1wUUWffuBjudHVaY87XSTnuBUoSa0mxomIMXKwrYl8f6DM6uLtOPDDgIZou8htTwtIhLeUBLaID9XD2zwqTo9AQ17fN7NSOu8skVsnWkTLUtNqwEsNzpvirkdi41+Wuplhydk5Tnx2d/plPoOGyfAAQAAANg8VdDhSU2nksmOAAAAAACgalUGOrj93OWCHQh0WBsFhAEAQKM7o2mstJyXdLLRTy4A7ZyAatvMys81xuYCgDZdnFrgDsc0nY6pZLZwhlMN+IuwBgAAAAAA/tFaIQxyQCyFGwEAAABEiioa/gqvGlCRbAs4wekJB8OxZUjDYc07Y+t88pxpnTEc+2W3KDp8N+sJYBj3BjPkTGu9ydaOO0nIcGxTTRoyVRF7VEBQQyytFd4wXsXfUmBUaMOLhmPLsIYjVYY2yO+SB1Q4g87wn0hpudksdhQ7RPelbWLX5e0isdhcdvev71xYXWaT8+L6zsXVf6Mu9qvlsZIAB8cNcSBsDAAAAKjJcY2ni6I0AAAAAADAV8lsYdIzv61soaUygQ7eYIeHG/gVIawBAAA0ujOa5hAdo18MgE6GY58KcG7H8ZxpjfOCAsAqHe1pvVX8DNBIdIU1nOJdBPivaWVlhdMKAAAAVCGd7nNqGaiWz481RfG8ptN9tdwkjOTzY6bG3UEIFDOpE24hmAhzi7gJTzE3t6AbIQwAAAAAYslwbFl86CVeXWBNaQbYhofh2N/UPLj6Qs60tA9AMhy7S7U77de9rZgaUYfleB5ndP2tGo7do0Ib3ACHHY188gEVZOSGNzhhCm9QoQ2/K4ToUKsuqsffVsuXhRCfr+Muhkr79cRqQIMMZ5AhDRv1WXDDgloIcAiZCTe8gQAHAAAAoDLDsSc1tdWdzpmWromUAAAAAAAAm1LMpNwQh9JgBxHjQIfHk9lC2YALAACARmE4trweekzD4d4fpjGlAOLDcOxjmoJmynk+Z1onePsAwD8qZlJ+F6UeSWYL1KQDPvv7kvNVf6DpXNyvwp8B/P/s3V9sJdd9J/gjqaW21HKakhLRGdtsajPjmdnJQmQHmEI8s1AZXmD2wYFoLOiLfRIbCz9MXty2gV0gCKAW1hjsi+P2y+TBC6j7ZRdlPoRCMsDsYAMVgfmDOws3SWyCzXoyMUkpG9OJLDJW67/Vi6JOydVX7G5e8p66/z4foHBpmc1bdU7duvXnnN93gM5oTQAAAMbYXUMYqtfZ1d19HQwAAEybrCyqYuTP6Xi4qxcENYyOrCwWEgc1vBVC+H4bG9zNO/tZWVSDqDbaeL8xtNW4h/fR67AKTMdJQ9fiUu+LdXDDpE5Mh7u5EM8jD88ls7IYmfCGbt6pwhl+GENxqs/o/xA/r0JWonOvnz0MaHjyLz55+PMgVH+vWpqqAIdmiMM7594f8pZPrafjUn9eQ/yeLRsBDs53AQCYavE+XapQ1eTBsAAAAAAnNbu6e89nhY1Ah6OCHVKO5UrFPEIAgA/Hj6UIa6ieu13VvsAgZWWRtxjU8JKgBgCgZSuJ3u4lQQ2QhrAGAAAA7mVYN2XW4+t2XIQwAAAA3EMsXHtVUAPc05YBtqMjK4tHQghfSbxCf9jNO2+2tdFVYeSsLF4IITzf1nuOkJ3GPb3mUhWMHvl7erGo9WY9mSgW9MvjMo6T0OG07hbe0Foh+Kws5uNEP0EqPc7/5OHw+CvnwhOvnAtnbz7Yznv2BDi8/9AHh6ENAhxGwtPN76sY4LBehzcIcAAAYApdTrTJW8MKHwUAAAAYlEagwx3vc+wtz+Xxx5EPdJhd3XW/BgAghLUQwncStMOKsAZgkOL48LWWGnUrYbFkAICP2Vuem08UpFe5psUhjftu3bqlaQEA4BgWFy9e67PQ4WMbGzfGqpj84uLFaoDc6338k+sbGzc8jJhwcUDlywPcyt4QhtAY0LktsRMAAOBkYlBDOcTJb19vhOzBqNvu5h33IEZEVha/FUL4UsK1ebWbd/7nYWxtVhblBBYVP4jH+/3e10kv/hwnA9TBDVXB+PMjsFowbAeN8IZykMeBrCwWGgENwlKiB967/zAooQpnePzVR8OZd+8fifXqVQU41OENfzv7VnjjsXfCzx/8YLRWcnrV3+VlI8DBuTEAABMn3sv5UaLtutTNOyY8AgAAANwe6HBUsMOFltpoZ3Z1d15/AAAcPifbTDTu8iljzYBBaHkeZDVudsHxC+Boe8tzgy5KvTW7uruguZl2e8tzV0IIzydoBvfCIaEzGhcAAI6t35vuC40C9OOi35tcHkTQtBULtO03inMKYQAAAGhBLDi0NsQitooSASeSlcUTiYMaKsUQe2cl3isbt6L+deBq2Xzt5p1xu+c9UHFw/rW4NAvJ5xMYygHHVR3fno1L9bk4VXhDVhZLjUCUtgo2jLyzN88cBjRU4QxVSMM4qEIkqnVtru87594Lbzz+rgCH4Tsfv7c++u6Kn91mgEP1+d2f4jYCAGAyXE60FQfxmQwAAAAAIYTZ1d3bxhj12luem2nMXU0V6GDuIgDAL1Rjnb+ToD3yehw1wClda3Ee5JKgBoC72hnw/J1hzXOHUbOSaH1ck0FCwhoAAAC4q2qw5N7y3HpPCMNmHcwwu7rbV6ElAAAABisWii6HVAj8IA5YnOri3cCppBpwVPsP3bzzw2F1UTWgOyuLqijci8NahzvYiROUNxv3/Q5fFWY+vliE/vD+aFYWM3ECkiLzTLu+whviZ6cZ0DBu4TbJnHv97GFAw5N/8cnDnyfB2ZsPHi7NAIcquOHD5d1w8/F3wsGTb01WR46PowIcduL33EchDs4TAAAYM6nuPa45NwYAAAA4vtnV3f1GkMOdAh3mY3DDnYId7jWewBxHAIBfWEsU1rCkMChwWllZXKnHmrfgknmPAPe0bR4cDNbe8lzK+aWuySCh+27duqV9AQDgGBYXL1Y3+5/vo62+sLFxY6xu2C8uXqwGr73cxz95YWPjxpWEqzR1/vlv//ZCHFAIAAAA9/Tjfzj3d//q1+ev3rrvvnNtt9Z9t27d/NU/2b78qf9n98/1FHAS1THstac+lWyA9X0f3Hrn1/7tn3zv7BtvvTPsDvq/f+s3v/Xeww/9k7berzpGP/Du+39+//s///GZd9/78YNvv/vjh954+8fnfvqzHz++s/fjttZjmv30wuynXp/7lYU3Zz75T9//xIMLw/iuhlF15p33th568+3N9z5x9u+2eWwcB1UoQxXOUIUZVKEG06oZ4HAw+9bhz4yG+3/+wV51jnH2jbc2H95/488/u/HnCp4AADCS/vN//ev/7cGvPvE/pVi3+e6f/ffusQEAAAC07+m3X/3U33l//1OPfPDeo0/8/I2/W63AzAdvHQY7vHpm5l//b+f/8b/WLQAAH9r68j/9X3/+4AO/Nujm+Pv/543fOvfTn72hmYGTSPksv9dDN9/+P379X3X/Fx0FcHf/42v/5uojH7z79CCb6cqvfOkLmp1p9s3X/s9vffKDtwc+Z+5n93/i3337if/md6egabd//1/+y+0RWA+m0BmdDgAAMFKuhhCe0SUAAADcy2vznwr/33/11FDa6eH9N8Kv/bs/PffQzbe/p6OAk/jggfvDB2ceCJ/8yX6y9nvslb8OZ994678bhQ76L//1/xX+5EtZ+PmDgxum8ehf74cH3n0/PLJ/Mzzw3vuHx+Yz7374WtX7ruYnx4UheHxn73CpvTXzaNj/9C+Hnz15PrzxK/J6mW7vn33w6WqZ9naoPf7qucNwhsdffTSceff+0VipIatCK6qlqQ5tqEMcBDgMxwcP3D/7wcMPzVZBK2/8yvnw13/v04frUZ+LNB2eo7z7/m3/rTp/aTp78+1qMtzkNxxMgZ89+Ytz3Orct772eXPmXPj5Qx/+/O65T4R3H/nExxrjoTc/fiz45E8Obv+d6njxZu/vpLueBGD8vfvw2STbUJ3TPr6z97/bRQAAAADat/WJz4St8Jk7vW81DqGVgp8AAOPgV/90O7y6MPCshvD2L537w3M//Zl9AOhbNa7sjV8+30rDVWNa/+G/+cE/CyH8Mz0FcHc/eeCTYf6D1wbdSi9rdqbVzM/fDJ/8IM08mX/16K//kyn5fL1Q5b6MwHowhYQ1AADA8ZUhhOf7+P2F+G/GSd7nuo7b9gEAAMBEqIIadv7x3x/KplSDFT/38tZhMU6Ak/rZ7GNVse5k7ffgm++ET+69PjL9Ux0z/4t/96fhP+XHr01eHW+rf1cXOq6LGytIOp6q/qyWX/3TcFi4tipm+8aTM2H/008cWbCW0Xf+Jw8fruP7D36gaDx9eeC9+z8KZ6heOZ5P/uStcO6v/yp8cN9r4YP7/ircuu+Nw2NpNXHrZ79yPrz12KOOp0NUfbf1hhEdHU504Z4rWZ8D1epwqrv9TnCOBAN1p+CFKmzhnXMfFr6u/lv1/w1CdfzuPYafJODsJMePRuAdABOk+o4a1PdUryd+tNffPwAAAAAAAIAhSDWeqhr7/MT2j3Up0JdqvNl//qf/6KOxaCk99Obbh3MfARieqlj9/gOP6AGm0sLbrybZ7P0HHg5/dvZTdipITFgDAACk0//McQAAAIB72PnH/yC8Nj87lGY6/5d/E+b/4/8rqAE4lfcfejAc/J0nkjbi46/8ZOQ6qZrw8uR/+svwk7/36cP/XQ0Af+jm2+HszXcOXz8KZ3j948WHmSxV/8785d8cLp/Z+PPDorf7n/7lw2LjVYBDGxMQOJ5zr58NZ2+eOXz9xBtnwtmbDx7+fObd+2/79+8/9EE4mH0r/O2Tbx2+Cm+gV7UfPfHKo+HJv/jk4T7EvX1w348PQxkOwxnu/6twK7z7sX9Tfbcefr/+8MOBzNXx883HHj0s8P3mzDkBDmPqqKK6B5/+5b43pj7XaqpDsGrVd3JvkXbnYkya6jP1/kMxbKEKRTj34XHx5w+dOTxWhgEHLwzToI4fvYEO9TVbUx2m94vf+fgxB4Dh+cnnPpPkvatzTIVnAAAAAAAAGAfV+Ifq+dagx9BVYzGqsSbGWAH9qIIa2hjTWx2bfu3f/qljFEAffnzml8L8e68NtMlmPnhLWANTa+GdV5Js+ubZz9qpoAVmdwMAwPH1Gx0/jmEN/a5zmjh9AAAA4EjDDGp4YnsvXPiPf6ZjgFN77am0x7Fzf/O34ezP3hrJjvrVP9k+LCitiCdN1f5Q7Rd1sfGfPTlzWGh8/9NPTETR3FF3GL7w3v3hl/YePgxhaAYzHFf175545dzhEnrCG24+/k44eHI0j0mkVe1LVThDtV/0sz9NoyqIoQpk+DCc4aeHrydRTayqAxxqzQCHnz15/vC4KhRnOhwWpe+Z2FftByfx8aLsHy/c3lvc/cy7Hw+CgNM6TvDCafZ1PtR7Dv7GrxzVMBfu2Vr3OnYIjAFIozrfT/Uc5Ykf7ek1AAAAAAAAxsbMX74WfvL3Pj3w1d3/9C8LOQeOrZoP2daYts9s/GdjNwH69PZ95rvAoPyDd34cZn6eZh7h5ic+o5+gBffdunVLOwMAwDEtLl7s5wR6fWPjRj5Obbu4eLEMITxz3N/f2LhxX9o1AgAAACpZWVQjEqvr9qeH1CAvdPPOFZ0BnFZWFgshhH+esCGrkUy/0807b+osJkE8B6ieNSzF13tXheVjzt48Ez5x88Fw7qdnwwPv3R/ON4IZ2lKFNxwGOFSvwhsm1uOvfhja8firjx7uY9zRTry+qZbN3/veb2y22VRZWcyHEBbiksfX87qLFmxVc5V73qbs+d/bcflIN+/0/g4TIB6L5uOWzMRjUa051sQxarodVN+VPS2w2XMscdwAaMjK4nII4TuJ2uSpbt7ZPsbvAQAAAAAAwNDFsfsbCdbjejfvrOhh4F6ysqiOFS+21FDmPwKcwN7yXHXsfH7AbfeF2dVdY1mZOnvLc2shhGcTbPdLs6u7S/YoSO+MNgYAAE7oQMMBAABAeiMQ1HCpm3eu6WrgtLKyeCSE8JXEDfmHghqYJN28UxVhXYtLXdS3Dm7IFe79hSqE4dHXz4azb5wJZ28+OJRAhrup1qdaasIbJkO139XhDNUrd7TVE84w1OKmsbjqdn1sDb84vuaNEIdjB9xDH466rr/nvpaVRe9/Ok7x9nBUEITiwmnEezd12ILgBQbp/BHHiZMcN3Z6Ax2OERaz3807rQYqAQzI5UQN+ZJzKQAAAAAAAMZJ9dw/K4tqzMCFAa+2IqHAPcXAmLaCGl4S1AAADNPe8tx8oqCGijoP0BJhDQAA0J/1PgpzjGMBj37W2YRsAAAASCwOSlxLMDD6OKrijyvdvLN2+j8FcOiLIYQnEjbFq92888eamkkWiwJejUt1rlCHNiwNMdipbeufeOPBtx/96dlPPPaXj/zy2ZsP/qNmCMK4EN4wvs7ePBOeeOXR8ORffHJkwkBG0HpPOENvAfmRE4+vtw1ejtdjCwIcGEHHLd7+fO9/OKKA+3rP/94/ThBEN+/0FnmfGD3BC+GIsIWZ+PP8kO7XwElcOGJ/PUnow1bP8eA4xwyhD0Br4n2SVN/PV/UkAAAAAAAAY6iaE/S1Aa/2+awslsw3Au4kK4v5OI64DdWYphWdATBS5nUHUyjV+cjO7Oquay9oibAGAADoT1+FRBYXL85sbNwY+eIjIa5rn/9kO9GqAAAAAL8oDFrGIoxtq4IacoXUgEHJyqIKafhS4ga9dozfgYkSCyVXy5VYWHgpFhROWZywDeuNwq/bcdns5p0jn7l846s/yBvbPZbF1HvDG24+9s5HAQ7V8vMHPxjq+k27KpShCmeo+khAw8cc9AQzTEwB93g9dNs1USz+2gxwmJagHCbXUd+bz95ra48o4L5zxBiC3uPBkUXd7/T9Pijxc1sTvACnc9T33kmOGb1BMdvHOIZsx3AlgLu5nKh1diY5rAoAAAAAAICJdi1BWEOIY5YVDAU+Js5rWGtpTmQ1jnkl9ThEgAmXYh65sAamUaqwBvOmoUXCGgAAoD+bx5lk3LDQYtLzaS30+e9NgAYAAIBEsrKoHshfHVJQQ1VgcUlQAzBgqQYa1f64m3de0WlMszjB4Fo9AC8GP9UBBv0822jLVizaXDaDGU5SgDUWh//oeUwjvKFug2GcU51KFQhQLX/nzz6sIS28oX2Pv3ouPPHKucOAhrM3H5y2zb+bnZ5whqm6bmiE5HykJ8Bh3MNy4KQuHLHvHytA6RRF3HvDFupJPTOCVGDk9R4fjjpePN/7H3qOFwdHBcDEa4vaUSExTI7kgT+Ml6ws5hPe/7hqdwAAAAAAAGAcVXODsrI4SDCWdskOAdzB1RbH8JkDCXB6xuHBKe0tzy0lnEskrAFaJKwBAAD60+8N+nEKa8j7/P1x2S4AAAAYKzGo4cUhrXNVNDlX5AoYpFgw/nMJG/WtEMIf6TS4XZx0sFkXFIzFxJfi84C2Jj/sxOLKm83XkwQy9OOI8IZmcIXwBo70wHv3H4YzPP7qo4cBDWfevV9DfWirJ5xBoHuP3gCHrCxmGsENdYiDAAc4vhMVcQemzvljHi+YYLGgyGYj2Ke+5jQJfzqlCos9MNkRAAAAAACAMbcWQnhuwJtwPiuLqkj6mp0DqGVlcSXB8eZOvh7H8AIADFuq8Yvrs6u75nFBi4Q1AABAf04S1jAu5vtcTxfwAAAAMGBxQOKwCg6uVwWcBTUAg5SVxSMhhK8kbtTvd/POmzoO7q5ZTDwWEl9qhBecpoh4XRyzWvbje+yPUnHM3/veb9wWXDGJ4Q3vnHvvtvCGd869P/R1HAdnb54JT7zyaHj81XOHAQ0cWq/DGWLwCX2K11T3CnAYy2MPAMCIqUM7bgvqyMoiNMIDy3it2kp4IEN1OdGbr3luAgAAAAAAwJhLEdYQ4lhkYQ3AoSrApcV5kde7eeeqlgcAhm1vea6q3fhsotW4poOhXffdunVLkwMAQB8WFy/u91E4Y2dj40a/IQhDsbh4cbuPYkwHGxs3Zuw3AAAAMDhZWVxLNPj5OKoBiiu6Exi0rCx+K4TwpYQN+8Nu3vm2joPTycqiLhy+1FvkMqoDGbbjshkDGSaikPskhDf0Et5wZ1XIxZN/8cnDcIbq5yl30AgVKGOwCS3JymI+Bjc0QxwEOAAApLfeDHCIIQ6CysZYVhbV840XE23B4igFUgIAAAAAAMBJZGXRT52U49rp5p2xqKcCpBXnI5QtjYPd6uadBV0KMBh7y3PVXIaXB9ycL82u7i7pIqbB3vLclUSBVQezq7vqPELLhDUAAECfFhcvlncoVHQnj21s3Ngf5XZeXLxYXZC/3sc/Wd/YuJEnXCUAAACYGllZVNflVVDDs0PaZkENQBJZWXw2hPC7iVv3W92884oehMHKyqIaEDtTBzN0885IP+cYNOENk+fxV8+FJ145dxjQcPbmg1O17T12esIZtkdq7WgGONThDdZbUZQAACAASURBVP08lwYA4HR6gwrLGFSoUP+Iy8qi3zGdx7XezTvGSQIAAAAAADD2srKo5i09l2A7hJ/DlItzI6vjwIUWWqIa2zE/bfMbAFLbW54bdGHq9dnVXeOumAp7y3Pbic6Dvju7unvZXgTtOqO9AQCgb/1O7KtuGq2NeDP3e2OrTLQeAAAAMFXiYMTqOvvpIW33pW7euWavAxL5SuKG/WNBDZBGN++M+nONpH7ve7+xGSeMXA23hzfUr21MJBmoKqDgyb+oll86/LNVeMMbj78b/vbJD8Mbbj72zrht0l098N79h+EMj7/66GFAw5l37x/htU1qqyecwcSkEdfNO3Vh4I+Ow1lZLMTjz4IABwCApM7Hc636fOv58OH5WIjn1vt1gEO8Zpy6cMNRFM+XU50je34CAAAAAADApFhLFNawEkJQQBSm21qLQQ25sRoAwKjYW55bSngedFVHQ/uENQAAQP/KeiLmMS2NQVjDUp+/L6wBAAAATikWELomqAGYRFlZfD6E8LmEm/ZWCOGP7DxAGxrhDYe+8dUfzMfQhnycwxuqpQo0qLz/0AeHoQ3jHN5w9uaZ8MQrj4Zf+snDH23XFFpvBDN4njchunnntmNQ+MX1ZN4IcBjWdSUAwLSoz7duCwWIQQ7rzQCH6udu3nE+3p5UhV8OPEMBAAAAAABgUnTzzlpWFgcxxH6QloQ1wPTKyuJa71iKhC7HMbUAAKNiJdF6rM+u7m7rZWjffbdu3dLsAADQp8XFi/2cSO9sbNyYH+U2Xly8uN1HIaGDjY0bM4lXCQAAACZaLKxZJhjkfBzV4Orc4EQglawsHgkh/IsQwsMJ3+Z6N+/8e50IjIJJCG/oNS7hDedePxsef/XcYThD9fOUOaiDGWI4g/P7KZeVRTO8QYADAMDw7YQQtusAh3juvt3NOybQDUhWFjOxjVM8a/luN+8oKgMAAAAAAMDEyMpiLYTwbILtWTRHCaZPVhZVceIXW9pwz/ABEtpbnht0Yeqt2dXdBX3GJNtbnqvmE/4o0SZeml3dvWYHgvad0eYAAHAiL/XxEPLC4uLFhY2NGyP5cLFatz6LBpUJVwcAAAAmXiyguSaoAZhgX0oc1PBDQQ3AKPm97/1GVRjyWlwmIrzhzLv3HwYgVEuI4Q1VYMNhgMPsW+HgybeGtm5VOMP5vYcP1+3szQeHth5DsBWLvNbhDAq8cptu3imbz3Jj4dqFeByqAxzGPkwGAGCMXIjLM3GVnw8fnqeFeH7/UYBDHerQzTv7OrgvSwmftVxN9HcBAAAAAABgWFKFNVQF2xVRhymSlcVCi0ENLwlqAEhuZ8BzDZ7WZUyBpUSbeCCoAYZHWAMAAJxM2edDyMvxAeMo6veBxJp9BgAAAE4mK4uVFgci9tqKQQ2KPQHJZGXx2RDCFxO38Pf1IDDKJjW8oQpIqJZaFdzQRnjDA+99GBxRvffjrz56uC5TYr0nnMF5PH2J134CHAAARlM9GfWZ5trFIIf1ZoBD9SqA+Y6uJPq7VaEHAXkAAAAAAABMmrVEc5qWhDXA9MjKYr45NjWxrRGu1wQwSbbNK4C+pboGEtQAQ3TfrVu3tD8AAPRpcfFi9eDgR338q4MQwvzGxo2RKqKyuHhxJt4oO9/HP3ts1LYDAAAAxkFWFtVD9+8MaVUFNQCtyMrimyGEzyV8rz/u5h1hDcBYi+ENC43whqcnoUcHGd5w9uaZ8MQrj4Zf+snDh0ENU+CgJ5ihrQlMUE+aW+gJcejn+TEAAO3YaQY4NIIcpjJUICuL6tz15UR//svdvLOW6G8DAAAAAADA0GRlUT0HezbB+z8lEB0mX1YWM3G8cxvj3w/ifMhNuxZAWnvLc9Wx/ZlBvsns6u59uo1Jtbc8l3L84lOzq7uurWBIzmh4AADo38bGje3FxYvrfdxgOh/T4EctsXCpz0IbLwlqgMGIhW/yOGla0SUAAJhwWVlU9wSeG9JWXg8hXBbUAKSWlcXnEwc1VJW//0hHAuPu9773G9uxsOZh4cdvfPUHM43ghrENbzi/9/DhUqvDG24+9s7h688f/OCu//7c62fD46+eOwxnqH6ecDs94QwmETE0cYLsR8ekcHSAw0AnXgAAcCIX4nLbuVlWFiEGNjeDHA5/nvDnAiuJ/u6OoAYAAAAAAAAmWKqwhqp2yVU7Dky8qy2OdV8S1AAAjKhU4xfXBTXAcAlrAACAk7vWZ1GKKyMY1nClz983CREG52o9kCFOmt6JE6Wrwkz7cfL0pE+aZoJlZTETizjNx6V2VDjJdiwGBTDSYpG6ulDdTFzXw8KKvrNpWyP8aynul9W+uKZ4zOiJ50VXhxnU0M07qR74A3wkK4tHQghfSdwi3+/mnTe1OjBpfu97v7Efn8H0hjfURdJD/LmfAO6h6w1vqEMb6qUKb6jCGarfqQIazt58cJL37a2ecAb3QxlpdwhwWGgEOCz0rL8wB+C46ufitZlxDaoCGDFPx+W2oipZWRz0BDgcjksa92IG8TlZqucuCsgAAAAAAAAwyaoxYS8m2L4Vz9pgsmVlcaXFOZJf7+ado+pSADAm9pbnFmZXd4XuMHH2ludmEp4TjVqNSpg69926dUuvAwDACSwuXpyJExj7KYxzaWPjxkhcDC8uXlzp8yHqwcbGjZlj/B5wD1lZVMW1Xj7uZ68ObojHHCEOjJSewuXzjSJNgygctxXDS3odGfjQU9il5vMC9OWIQIb8mMWibiu6KISGFOJ55FLcL++0Tx7EQbNlDG/wPThEMaihHGLBuWpQooHOQCuysqiCGr6Y8L1+2M0739abwLT7xld/UF+vzvcsCh2PlvWecAbXZkyVxj22pmYAaog/94Y+jF0wDUy5+ll2rfkMb7PxnK+v4PYYDnOv40Xe87+rY86Fae8QgD7tNAMc6rFJ4/CcMxaAeD7Rn3/M8zUAAAAAAAAmWVYWa71B8APylHmVMJmysqjmtf5BSxt3vZt3VuxKAO3ZW56r5qJ/bcBv+IXZ1V3BO0ycveW5yyGE7yTYroPZ1V01HmHIhDUAAMApLC5evNZnwmE1UX1+Y+PGUCfznTBo4oWNjRtXEq4WTI2sLLYHUCjioBHgUE+cHosJ04ynWBSlGcpQLc+M6eb0Fo6p3THw4YjQiP1u3pHgDWPqFIEM/djpCW9wzKBvcV9tBjScpFjhS3V4g3PFdo1AUMOlbt4ZicBIYPJlZfHZEMLvJt7Qb3Xzzit2J4B7+8ZXf1AXL65fFxpFjhVBH7yDnmAGg8lhgGJ4ZdNxgyAE2ED/1hv/YiDBC8N0jOOH0BiAO1tvBDhsxjESI3OtM6CxV0dR8AEAAAAAAICJl5VFquKiX+/mnav2IJgssc5E2dK4qq1u3ukd0wVAYnvLc1VduecH/C7CGphIe8tzqcYvfnd2dfeyvQaGS1gDAACcwuLixWoS94/6/Avf3di4MdQL4sXFiydJMn1qY+OGwp5wSllZpLg53WtdiAMnFYuWzPcEMyhodHw7dwh8OOoB0v6dQiN8ZuH0Wgpk6Nd6Xbix+vx3885QQ9wYTfG7uA5nGPT+uhVCqIr3r/muSavlAYi9qkKxK928szakzQemUFYW3wwhfC7hlv9xN+98374FMBjf+OoP6mvmmZ4ghzDGAa1t2qmv7WM4g4BGGAPxWn2mZ02PGwShcDvjqBm8cFvYQuNZlnDye4iBrEcFOvQGxPT+jnMqYFIdNAMc4rVRq98nWVlUz9H+INGf/8IohVIAAAAAAABACnHuZb91Uo5DkXWYMHH8VNnS3OxqTMK8udcA7RPWAMeztzxXzUF5OVFzPTW7uqsGCAyZsAYAADilxcWLVaHL5/r8K1/e2LgxlKKJi4sXTzJZ8frGxo2VRKsEUyMOXNgcYkGXrVh4o540va34xnRqFBVZ6AllSJHay+CsH/GX7hT40Cy68xFFBZg0IxrI0I+tnvAGD86mUNyPmwENbZ0rVsVFq+vSa84JB2sEghpyfQq0KSuLz5/g/mg/3goh/E4377ypYwHa842v/qAuYF5fc883lmm7j7jVE87g+h2m2DELt4c7BEF4DsNJbd0hbEHwwphoPM9oOk5gjNAHYJxsNQMc6vFJgy6ikJVFmej4qHAMAAAAAAAAUyMri81E8zCfMk8SJkfCZ/S9zIsEGCJhDXA8e8tzJ6k3eRzrs6u7vWPLgSEQ1gAAAKe0uHjxJKnxhw8JNjZutPqQYHHx4kkLRj61sXHDA1E4pawsqmK4z45gO/aGOOwr6D4ZGkU/8kZxj4UhBoYwmg76CXyI5xK9tg2eIpUJCGTox06z+KNBRZMrK4tmOMMo7MsHMbhhrZt3hhIsOCmysqiCDl8c0uZU5/Urjh1Am7KyeCSE8C9CCA8nfNvfd2wDGD3f+OoPZhrX6nUxy2bAwzjfg1zvCWcYaGFRgFq8R9R03CAIxdvH252CF24L6Pa8lqPEoNjmMeE4x41JfaYCjJf1xvfeiccmxWfH/Y7VPK5L3bxzzX4FAAAAAADANMjK4nII4TsJNtVzN5gQWVlcDSF8raWtcewAGKK95bkU54YvzK7uXtGvTIq95blqTPbriTbn0uzqrnMhGAHCGgAAYAAWFy+eJO2w1cCGUwQ1vLCxccNNLzilWGzl5TFrx504SbqsJ0wrCjKaYlGOupB5/bOCG4yCrX4CHxoFiZo2u3lHQbwJN2WBDP2ow1TKGN7ge3hMxX28GdAwykVLD+I+V4c3OAYf0wgENeT6C2hbVhZfCSF8MeHb/rCbd76tYwHG0ze++oP6On++Zxmla/6DnmAG197A2GncX206bhCEgO/T2blT2ELzWYh7u4yaI0IfjnMcqf7/CzoTGLCdZoBDPUapm3eOGjuQshBEdW047zkLAAAAAAAA0yJhUPpL3byzZEeC8dbyXMnvdvPOZbsMwPDsLc+lqIslrIGJkijUpHIwu7o7c4zfA1ogrAEAAAZgcfHiTJw02G8hg1YCG04R1HA4CXFj44ZJiHBKWVlsT1DhgmaIQ110RDH1xLKymGkEMdQFnxXEYFod9BQ8qt0x8OGI0Ij9bt5pJTSLDwlkGJj1ngAH378jKoZ11eEM47yfv1SHN9ypMA5JiwMdR9VHK44HQNuysvhsCOF3E7/t73Tzzms6F2ByfeOrP6iLANevC42C4ikKiO/0hDO4PwTQEO9pNR03CGIS7vMeK3jBc1H4hSOOGb0hEIJigNPYagY4xGUt0TFE4QcAAAAAAACmTlYWm4nG/TxmfA2Mr6wsqvE9Gy1twHo37/SOQQKgZcIa4N72ludS1Y/77uzqrvGLMCKENQAAwIAsLl48Terh1zc2blxN0RenXK8vb2zcWBvwKsHUycqiunH8/BRsd108fTNOkBbicAI9xczrVwUroD07dwh8KI/4b73Fmmrb01rQXCDDUNRFJsv4vavI5JDE/b8Z0DCJ391VUZxrMSjEvhZlZVG1yXNDevvr3byzMqT3BqZcVhbfDCF8LmEr/FE37/zhtLczwLT7xld/UN9rmOkJcqg8c4zm2eoJZxBCB9CCOFlzpuedjhMEcZxj+3H0hj7fFrbQCHie2vv5MCqysrhToEPzGJLyeAFQeco5AQAAAAAAANMmK4vT1CK5m0vdvHPNDgXjJ47l2W5pfmw1zjtXjwRg+IQ1wN0l+ozUnppd3TV+EUaEsAYAABigxcWL5SkmA1cPES5vbNw4qhBw3xYXL1YX91dPURj3pY2NG0uDbB+YRrFo7+aUF9o/aAQ4bMdiKFNf+CQWqWmGMswrKAETb/2IDbxT4EOzWNRHunlnIOeKpyGQYeQd9IQ3DH2fmWRZWTTDGabtM1AFhVThftemNbghDjxcG+I53He7eefykN4bmHJZWVRBMb+ZsBVeCyF8q5t33pz2tgbg3r7x1R/Uxb+bRX3rcAaTdwDG2DGKuAteAA41nl819YbEMBnq7wHjKxiU9W7ecbwAAAAAAABg6sS57hsJtvulbt5RqwTGTByvV7Y0V/YgBjVM5dxUgFGTqBD99dnV3RWdzSTYW56rwuieS7Ap67Oru8YvwggR1gAAAAO0uHhxEAnRVRHf6sJ8bWPjRl8FZOL7Vw8tV045IbUqurnQ7/sDH5eVRVW89VlNc0frkx7iEIs4z/cEMyhoDgzSQT+BD/F42+u2469AhomzXoc3VK/dvOM8/4TiZ6MZ0DDNgVxNBzG0YK2bd9ZGZ7XSaXng4VEudfPOtSG9NzDlWghqqPy+AdcAAAAA3E0j1MczTU7DMxcAAAAAAACmVlYW1bzSCwm2/zHzGGG8ZGWRqgjxUb48LXNRAcbB3vJcNe7u9QGvqiL0TIREn4/apdnVXeMXYYQIawAAgAFbXLw4yPT4uqhqXci8th8nloZGEd2FUwY01A7Tpzc2biiGBqcUi/QPOjV4WmzF495mXLZHuUhjTwGAZihDisEpAHBaW3VwQwxvmKigpEGL53R1OIPiPsfzUiO8YeIG1WZlsRC3bxjnetU1+2VFg4BhaSmo4YfdvPNtnQwAAADAScV7+c0Ah3pMhyBumna6eWdeiwAAAAAAADCtsrK4GkL4WoLNF5oOYyQri8shhO+0tMZf7+adq/YPgNGytzw36OLUwhqYCHvLc6nOkw5mV3dnjvF7QIuENQAAQAKLixeromUvjmnbfnlj44b0aRiArCy2FesfuN4Qh/1u3inbevOsLOZjCEMeX+dN5gdgAuz0hDdMdXBb/L5vBjT4nj+d9UZww9gHg8TiTuWQ9ovDcMVp/4wCw5GVxSMhhG+GED7Twgr8TjfvvKarAQAAAEghBnU3x3xUk92e0dhT6YVu3rky7Y0AAAAAAADA9IpzpTYSNMD1bt5ZsWvB6MvKoppL+wctrahjA8CIEtYAR9tbnktVQ+67s6u7lzU7jBZhDQAAkMiYBjZc2ti4IZ0eBiAri2oi7/PasjU7McShjK/bpwlxiANL6kn59c9Pj1+zAMCJrdfhDVWQQzfv7E9yU8aiPHU4g+/8dLYawQ1jFzgQBx1eG1JQQ3W+uySoARiGloMa/qibd/5QRwMAAADQthjo3QxwqEMdUkyyYzQ8NQlh4wAAAAAAAHAaWVmkKD560M07MzoGRlusq1G2NGeyml+aT/p8ZYBxJawBPm5vea7ah19O1DRPza7uGr8II0ZYAwAAJDRmgQ2CGmBA4uTtzSEVceV2zRCH/dgvhwWns7KYaQQxzJtkDwB3tdUT3jDWD/3i+VozoMF5W/t2GsENJw7ZaktWFsO8vjcIERialoMaXgshfKubd97U4wAAAACMklicoBngUIc6eMY0vq53887KtDcCAAAAAAAAZGVxNYTwtQQN8eVu3lmb+gaGERXrbVRzO59uYQ0PqrEW5kgCjK695bn9QY+Hm13dvU+XM872lueqmozPJdgEYSYwooQ1AABAYouLF6vin9dGeGJm9UAj39i4sTkC6wITISuLatDAs3oTAJhgO3VwQ/XazTsjfz2RlUUznKGNwWMc30EjuGHkBuBmZXElhPD8kN5eUAMwNC0HNVR+fxzOKQAAAACgFgsXLPQEOMx7FjUWvjAOgeIAAAAAAACQWgyv30jwNgLUYYRlZVE9M3+mpTVcNGcIYLTtLc8N/HtBWAPjbG95rhof+nqiTbg0u7p7zQ4Co0dYAwAAtGBx8eJCDGwYtUmY6yGElY2NG9sjsC4wEWIR4Jf1JgAwZQ7q4IYY3jD0wiZZWczHYIY6oGFUA/T4uJca4Q1DDSnIyqK6ln9uSG9vQDIwNEMIavhhN+98W48DAAAAMCnis6pmgEP9ekEnD91ON+/MT3kbAAAAAAAAwEeysthPMP/uoJt3ZrQyjJ6sLK6GEL7W0opd6uYdxYgBRpywBrjd3vLc5RDCdxI0S1WbZX52dXeodTSAowlrAACAFi0uXrwSQnh+BNq8uli/srFx4+oIrAtMlKwstk2qBgA4tN4T4JD8YWEMzqrDGUYtLI+T2Yrhh1VwQ2tBg1lZzMT3fXZI/SaoARiaIQQ1VH6nm3de0+sAAAAATIP4TGumEeAwP+iJrtzV17t5x9hJAAAAAAAAiLKyqOZRPZegPb7czTtr2hlGR1YW1bzFF1taoe92885l3Q8w+oQ1wO32ludS1ZG7Pru6q44EjChhDQAA0LLFxYvVxMoriR5UHsf1GNTQWpFLmBZZWYxKIAsAwCjaqYMbqhCHbt7ZPO06ZmUxH4MZ6oCG83p+om3F/efaIPafO4lBDeUQAz8udfPOtSG9NzDlhhTU8EfdvPOH0972AAAAABCfUTQDHOpQByHlg3NQtW0bQfMAAAAAAAAwLrKyqObn/UGC1b3ezTsKkcKIyMqiGpOw0dLarHfzTq7vAcZDirCGEMJTs6u76twxdvaW56pzmJcTrffi7OpusloZwOkIawAAgCFpObShmmC4JqQB0omFgjcVCAYAOLaDnvCG8jj/MCuLZjiDwjTTayde55bdvLM2qFaI5/VrghqAaTSkoIbXQgjf6uadN+10AAAAAHBn8RlGM8BhIS7GKvVHMRgAAAAAAAA4QlYW+wmeP+5088689obhy8qiGmuw3dI4g61qfEM37+zreoDxsLc8dzWE8LUBr+wXZld3j1VDAkbJ3vLctUS1IbdmV3cXdDaMLmENAAAwZIuLF2diodFqeXaAa1MXPq2KTK5tbNzwAAMSyspibcCfYQCAabRehzfEIvz7sfBMM6BBwRl61QGFdXjDia5/s7JYiPvfMPaxahuWjhtaAjBoQwpqqPx+N+9s6lAAAAAAOLkYdt4McKh+fkaTHmnRPUkAAAAAAAD4uKwsUhUk9YwOhiwGNVRzF59uYU0OYlCDzz3AGNlbnrsSQnh+wGssrIGxs7c8V503vZ5ovS/Nru5es1fA6DqjbwAAYLhiiMK1uFThDXlj0uR8fL1XociDWMx0O75ubmzccJMKWhInPAtqgI/ban43xe+1mSN+Lz/iv1W/e0GbAiOmOq7txwFJM/H41cbApGnyTLNwTFYWO74P7ukg7pfT3E7n40Dgw8HAWVm8VIc3HDe4IZ7Trw0xqMHgQ2BohhjU8MeOfQAAAABweo0w6LXmH4vFFpoBDnWow7Q+41x3TxIAAAAAAADuaC1RWMNKCOGyZoehutriWIEVz+YBgDG2kmjVD3rHeAKjR1gDAACMmBiyIGgBxkvqtNIX4ut8XJ65x+9D29ZjKMN2/A7b7uad7RTrkJXFwhGBD3VxgV71Z6bXcYKQgOnVDGTYr0PR7nRciwVO6sC13Pf0wAlqONpW3EfX6uI78TtyRYjIoWfj8mJWFlvxfH3tLp/jqt1ebH81D1Xrt5Tq3AngXoYY1PDDbt75vg4CAAAAgHRiqPWR4xEb4y/yxviKSR9PkXqMFwAAAAAAAIytbt5Zy8riIMEzwyVhDTA8WVlcThTEcpSvV8cS3Q0AjLFU1y5rs6u7+3YMGG333bp1SxcBAADACWVlcSWE8HzC9tvq5p2PFaHPyqKeJJ0LcaAlOzGMYbPxuhkn9o+9WGy9n8CH/Ij/NqM4NoyNvgIZ+pWVRTO8IRcQwwAc1OEM1eu99tV4rrgUwxt8N/3CTmzDa928U33uRyGoIZ+U8ylg/AwxqOHVEMK3u3nnTbsNAAAAAIye+LyzGeAwMwHjkg66eWdmBNYDAAAAAAAARlZWFtXcq2cTrN9iPZ8LaE98/v9yS294vZt3VnQvwHjaW55LUUPrhdnV3St2CcbF3vJcNV5yI9HqLs6u7romghEnrAEAAABOKBbB3UxcgPkL3bxTHveXGwXnFxoTphcUiaYPzQLm27F4+bH3QT6uEa7S606BD0eFRvgcQ/+SBjL0Ix4H8sZyQX9yDFt1QMNpvovj+eFSXFIMlB1XO/HYMKwwi+shhMuCGoBhEdQAAAAAAPSrMf6hDnCoQx3G4fnnC928Y+IvAAAAAAAA3EVWFlWh9RcTtNF3u3nnsraH9mRlsRDnqLZRo6CaD5ubLwkwvvaW51IE/AhrYKzsLc9dCyE8l2Cdt2ZXd4+qJwWMGGENAAAAcEJZWawlLng7sOT4O4Q4jMtkadJYr8MYGgXMpe+Omaws+g18mDnivz8z1Y3IuBuZQIZ+xO/lOrxhweeQ6KAOZ6heU+zHjX2vDm8QBDQcAzvPBziJrCw+G0JYEdQAAAAAAAxKLPLQHJNU/zwqz6OeGvXnyAAAAAAAADBscf7Z6wlWY6ebd+Z1MLQjfpar+apPt/CG1dzYeUENAONNWAPTbm95bibW4Uox5vHS7OrutWlvYxgHwhoAAADgBGKB9EHfYG5q7YFk3JZ6knQuxGGiHMTC5ZuNYuYjX8Sc4cvKoj4m9LpT4MNRoRGOJQzKWAYy9Ct+H9fhDbki+lNjqw5o6Oadsu2NzspiqRHe4Jjdjhe6ecegEmBoYlDDN0MID7e8DtV33jVBDQAAAAAwXWIBiN4Ah/mWCkLUXurmnSW7HgAAAAAAANxbVhZrIYRnEzSVgHVoScLP8VEWu3lnU98CjDdhDUy7veW5lRDCiwma4bCO3OzqrmArGANndBIAAACcSOqk0ittJcffqTBwT4jDMCZKc3w7MZm3jK/VstnWPsTkiYOdjhrwdOpC4llZHBX4UBdn6HW30AiF7CfLVAQy3E38Pv7oMxY/K83wBoX0J8NBHc5QvQ57H+/mnbW4LpfjPrcS9zfnfGlc6uad1NcRAHc0xKCG/+D4BwAAAADTKY5dudPYpHpMQN4YNzCf4Nmo+5MAAAAAAABwfKmKvFcB61f1A6SVlcXVFoMaLglqAOAuemvLwCi7nGjd1gQ1wPi479atW7oLAAAA+pCVRZXY+3zCNtvq5p2jipaPhFjItw5wEOLQrq06iCEu+3cK24Bpk5VFv4EP+RH/bcbxLKmpD2Q4jViopA5uUEx/vGzVAQ3j8r0d97eluDwzAqs07qqQjpUYjgEwFIIaAAAAAIBxkpVFV5THQwAAIABJREFUb4DD/AmfW+10885RYwYAAAAAAACAI8T5uq8naJuRrqEAkyAri5UQwostbcr1bt5ZseMATIa95blqjNWPBrwx67Oru0fVdoGRsrc8V12nbCRap8XZ1V3hVjAmhDUAAABAH2Lh2urm1/mE7faFcSzAH0McZmIB6dNMkiaE9RjKsB2LOytmDkMUj/39BD4cNVhsIfF3x6gQyNCiWKCkXnznjo6DOpyheh33/T8Orq2DG54dgVUaN9X+kHfzjgfowNAIagAAAAAAJkV8dtUMcKhDHe4Udv/1bt65agcAAAAAAACA48vKYi3RXLKnzDeFNGK9j7Kl+ezr3byj+DbAhNlbnht0gWphDYyFveW5ai70cwnWdWt2dVdgHYyRMzoLAAAA+nI18cPJ6+MY1FBpFKC9bf0bRc6FONxuJ4YxbDZeN7t5Z3+UVhI4PL7V4Sm9Tn28jsX2e90t8GHmiP/e9jFVIMOIiOcMH+2HcSBVHd5Q/Xxh2tuoRVt1QMO4nsvdSTw3uRaXaj9baoQ3TEMIzWlU+8WKoAZgmAQ1AAAAAACTJD67OvJ5XHxeOtMIcFion3EBAAAAAAAAfSkThTUsxXoNwABlZTHTYlDDTvwsAwCMvb3luZmE5zaufWDM3Hfr1qCDiwAAAGAyxYLaLyfcuIMqyGBaivXHB74LcZlv/DxpRX+bRc23Y0HziSriDIyeRlBOrzsFPtwpjV4gwxiL+0Ed3FC9Pj3tbTJAB3U4Q/U6rZ+NeH5cBzcIB7lddQ6YC+IChklQAwAAAAAAAAAAAAAA0K84N/FHCRpuq5t3FnQIDFZWFpstzSE+iPMmN3UhwOTZW54bdIHq9dnV3TvVMoGRsLc8txJCeDHBuhzWkptd3VVvAsaIsAYAAAA4pqwsthMXof16N+9MfRrqHUIc5segAPB6HcbQKGruITMAIyN+xzbDG57RO33ZqgMaBC99XFYWC43ghmkPBqnOC5cENQDDJKgBAAAAAAAAAAAAAAA4qYTF35/q5p1tHQODkZVFNY/nuZaa88vdvLOm6wAmU4KwhoPZ1d0ZuwujbG95LtV1z/XZ1d0VnQ/jRVgDAAAAHENWFldCCM8nbKutbt5Z0Bd3l5VFHoMb5mOR6bZDHA5iEEO17MeCzdsGhAAwruJ3ax3eUC3ndeZHDupwhurV9/3xZWUx3whumLZQkOvdvOOhOTBUghoAAAAAAAAAAAAAAIDTyMricgjhOwka8ZK5BzAYCT+nR3mhm3eu6DqAybW3PFcOujbA7OrufXYZRtXe8lxVa2Uj0eotzq7ubup8GC/CGgAAAOAeYrHZzcTFi7/QzTulvjiZnhCHhfh6msTanSqEoQ5jiMtmN+/sD3M7ASC1eN6TN5Y2Q5FGwVYd0ODcbDCysphpBDdMeiDId7t55/IIrAcwxQQ1AAAAAAAAAAAAAAAApxXnGv4oQUO+1M07SzoITifW2Hi5pWa83s07K7oMYLIJa2Da7C3PVfOin0uw2Vuzq7sLdigYP8IaAAAA4B6yslgLITybsJ08mEwkK4uFRoDDUSEOW3UQQ1z2FWYGgF+Ihfbr8IaFQT9cHwEHdThD9drNO9u6P62sLJYa4Q2TFNxwSZFyYNgENQAAAAAAAAAAAAAAAIOSlcVmz9z8QXmsm3f2dRScTKyjUbY0R7OqyZH7zAJMPmENTJO95bmZWHcsxfnUpdnVXfOuYQwJawAAAIC7aCFNvioQPO/BJAAwLuL5UR3ekI9hwf2tOqBBSNNwxQGBKzG44cIYb4qgBmDoBDUAAAAAAAAAAAAAAACDlJXF5RDCdxI0qvlYcEJZWczEObIpglR6VfVQFrp5Z1t/AUy+FGENVUjX7OquulqMnL3luarOxYsJ1uuwnpz9HsbTGf0GAAAAd5X6If8VQQ0AwDiJAQcfhRzEgvvN8IZRK7p/UIczVK8GhY2Obt7ZDCFUA3YvN/ajlZYGCQ5CtW/lcTsAhkZQAwAAAAAAAAAAAAAAkECZqFGXWqjjAJPqWotzMHNzcgGmynaCsIaFhOeUcBqXE7XemqAGGF/33bp1S/cBAADAEbKyuBJCeD5h22x1886CtgcAJklWFvON4IZ8SIX3t+qAhhguwRiJ+9BS3H+eHdE1F9QAjISsLD4XQvhtQQ0AAAAAAAAAAAAAAMCgZWVRFe29kOBPP9bNO4qYQh+ysrgaQvhaS212ydwhgOmytzyXotbWF2ZXd9V7YKTsLc9V9VA2Eq3T4uzqrhoUMKbO6DgAAAD4uFggNlX6aS313wcAaF0371SDL6tlrX7vrCzyRnjDMwnW6aAOZ6he4zowpmL/VYMGr2ZlMRODG+rwhvMjsFVbMajBYGBgqLKy+HwI4bkhrMMfd/PO9/U+AAAAAAAAAAAAAABMvLVExeGr+WIKwcMxZWWx0mJQw3VBDQDABEtV921LUAOMN2ENAAAAcLSriQvBVg8npf4CAFMhnvd8dO6TlcVCI7yh+vnCCdphqw5ocF41uWIgwrV64G1WFs3ghpPsN6clqAEYCUMMaqjuZ/x7ewEAAAAAAAAAAAAAAEyFa4kKxOfCGuB44pzcqy0113o376zoGgBgEu0tz83EehUptHW+BiQirAEAAAB6ZGVRPdh/NmG7HCRMVwUAGHndvFOlwW/WDxuzsphvBDdUr08fsQ0HdThD9drNO9t6evp0885a3AfqAYYr8WF4G8EN1w0yBEaBoAYAAAAAAAAAAAAAAKAN1VzArCx2EszfSlUgFSZKVhYzcW7t+Ra2a8dnE4ABW4jfYzAqlhKeV63pZRhvwhoAAADg464lbpMr3byzr90BAD4Ugxc+OgeLg8fq8IYQwxk8hOc2MfSjCkG7HAM/lmJ4w1FhH6clqAEYCYIaAAAAAAAAAAAAAACAllVFR7824Lc8n5XFUjfvKGgKd9dWUMNBNUdTLRSAqbaZYONnpr1RGTmXE63Q9dnVXedRMOaENQAAAEBDVhZXQggXErbJVjfvXNXmAAB3FgdzrUmO57hi4Ed1nn01BjfkMbzh2QE04tedwwOjQFADAAAAAAAAAAAAAAAwBNcShDWEOP/LHEK4g6wsqs/e0y21z0o376Qo0g3A+FBonom2tzy3kPDc6pq9B8bf/foQAAAAPhSLuqZKPq2l/vsAADDVquCGbt651s071WDdx0IIl6pC4yGEgxO0yyVBDcAoENQAAAAAAAAAAAAAAAAMQyzgfpK5WfeypEPhaFlZrLQ4l+iFbt4RnAIATLpUtd92Zld3S3sPjL8z+hAAAAA+UhVhPZ+wOaoCh26qAQBAS7p5Zz+EcC0u1QDFpTiINw8hXLjLWlSDh5ecvwOjQFADAAAAAAAAAAAAAAAwZGsJ5jacr+Z7KRIPt8vKopr/+GJLzVLNH7qiCwBIZEbDMgr2ludmEobFXdXJMBmENQAAAMAvHlY+m7AtDhImqwIAAMcQB+4eDt7NymIhhLASgxuebvzr6tw97+adTW0KDJugBgAAAAAAAAAAAAAAYASkCGsIsWCqsAaIsrKYb/EzsaUOCgAN+wkaY0EDMyKq647ziVblmk6GyXC/fgQAAIBDqW94XenmnRQ3pAEAgBOowhi6eedyN+9UgzyeCiF8PYTwUjXoQ1ADMAoENQAAAAAAAAAAAAAAAKOgm3eq4vEHCVYl18HwoawsZmJQQ6pCwk3V53lJHRQAarOru+bXM8lSBVRdn13ddT4FE+KMjgQAAGDaZWVxJYRwIWEzbHXzztVpb2cAABhV3byzHUK4GheAoRPUAAAAAAAAAAAAAAAAjJi1BHMdLmRlsdDNO4oDQwjXQghPt9QOS3FeJQDARNtbnltIeI51zd4Dk+N+fQkAAMA0y8piPmHqaS313wcAYApkZfG5atHXAJNNUAMAAAAAAAAAAAAAADCC1hKt0orOZtplZXElhPBsS81wqZt3ymlvcwBgaqSq/7Yzu7rrnAomyBmdCQAAwJS7GkI4n7AJrntICQDAaWVl8VshhC+FD3+uXl6Lyw/j6990884PNTTAeBPUAAAAAAAAAAAAAAAAjKJu3lnLyuIgQX2GpYQFVGHkZWVRBZY839J6VnOIrtkrAGjJvIZmBCwlWoWrOhcmi7AGAAAAplZWFnniZPkDgwIAADitWLj7Sz1/5om4fK7+DzHE4a0QwitxeS2+vtrNO2/qCIDRJqgBAAAAAAAAAAAAAAAYcWWCGg0XsrJY6OadTZ3PtKn2/RYL/W51886KnQyAu9gKITw9wAa6oLEZpr3luZUEYXM1AVgwYYQ1AAAAMM1S3+y60s07+/YwAABOKiuLz4YQvtLHP384Bjh8rvkfs7L4KMShm3e+r0MARktWFtWx/otDWClBDQAAAAAAAAAAAAAAwHGtJQhrqFRFVC/rBaZJVhYz8TOVqoBw004IIbeDAXAPamUxaVIFVV2fXd31eYEJc78OBQAAYBplZXElcfJulSjfVno9AAATKCuLJ0II34wBDKdVhzh8MSuLz9lfAEZHVhYrQwhqqEJ8vi2oAQAAAAAAAAAAAAAA6MNaosZa0glMoTJx3ZPaQfUZ6+YdBYUBgKmxtzw3H0J4JtH2XrMnweQR1gAAAMDUycqiuol2OfF2p/77AABMsKwsHgkh/PaAghp6fd6+AzAaYlDDb7a8MnVQww/tBgAAAAAAAAAAAAAAwHHFYu8vJWiwC7EOBEyFrCyqAr9Pt7Stl7t5Z9OeBQBMmVQ14HZmV3dLOxNMHmENAAAATKOrIYTzCbf7ejfvuJkGAMBpVMW7P5OoBX8zhkEAMERDDmp4Rd8DAAAAAAAAAAAAAAAnsJao0ZZ0BtMgzil6rqVNfaGbd67ZsQA4pv1BN9Te8lyu8RmSlURve1WHwmQS1gAAAMBUycqiunn7bMJtPkiYqAoAwBTIyuIrIYSnE29p28XBAWgQ1AAAAAAAAAAAAAAAAIypVGENqYqpwsiINU9ebGl9XurmnSt6H4A+bGosJsHe8lx1bXE+0aYIwoIJJawBAACAaZP6RteVbt4ZeEIwAADTISuLz4cQvtjCxrbxHgAcQVADAAAAAAAAAAAAAAAwrmI9hZcSrP7TWVnM2zGYVHH/ThV20mtLAAoAMMVSnQddn13dVV8OJpSwBgAAAKZGVhZV4vuFhNu71c07V+1RAACcRFYWnwshPNdS4z0R3w+AFglqAAAAAAAAAAAAAAAAJkCZaBOW7BxMoqwsZmJQw/kWNu+g+izFYBUAgKmytzxXBWQ9k2ibr9mbYHIJawAAAGAqxIT5y4m3NfXfBwBgQmVl8dkQwm+3vHWftz8BtEdQAwAAAAAAAAAAAAAAMCHWEm3Gih2ECVUV9n26pU2rghq27UgAjIh5HUHLUtWB25ld3U0VWgeMAGENAAAATIuriRPmr3fzjhtpAAD0LSuLR+Ig0odbbr3fjO8NQGKCGgAAAAAAAAAAAAAAgEkRC8FvJdicp7OyUNCXiZKVxZUQwrMtbdMltU8AOIXNBI3n3I62pQqAu6onYbIJawAAAGDiZWWRJ35weZAwTRX4/9m7fxgrrnVv0K+OTgIJSIxEwr+IL6SzEiSU1BMaQQIVQmont68IRjqyZT6dI0sToIMTWxN9EBYkWDhF33ICU1kjTXI7Gf5NgPQhQQLpaPks7m3jNu6m96pde+/nkdDV5eBda71rVe3qXb3fHwAsvy8j4ticZjl243CAlSOoAQAAAAAAAAAAAAAAWEK3K02ptVlYFuV7Rd+ONJ07Q9vVOi8BWA1vrDOL7NXlE/ne61ClKbjPgiUnrAEAAIBVUPtDrhtD2/mgGQCAPSu/aHd6jpVbt2oA9QhqAAAAAAAAAAAAAAAAltT9StO6ZMOwDJrUn4qIWyNN5cnQdtdsHABgxdW6H7pz9N5zPeZgyQlrAAAAYKk1qb8REScrzjE/sBzr4SgAAEukSf36HBp4f+xIk/p5hkUALC1BDQAAAAAAAAAAAAAAwLIa2u5p7rdQYXoXm9QftnFYAvm7RYdGmMaziGhtGABglb26fCIHZZ2vVILbNhcsP2ENAAAALK2SMr9ReX61Xx8AgCXUpH4tIq5MZGbnJjAGgKUiqAEAAAAAAAAAAAAAAFgBtZqWXrJ5WALXRpjC23y+DG33xoYBYKIECjGWWr3gnh299zxZRVh+whoAAABYZrcqp8zfGdrOh2gAAOxJk/rjI/2S3W6dbVJ/0CoC7F++njap/0pQAwAAAAAAAAAAAAAAsAJq9VsQ1sBCa1Kfv0N6coQ5bAxtt2m3ADALGtKz4Gr18LhlY8BqENYAAADAUmpSnxN1L1ac29uKSaoAACypEopwPSIOTGyGYzcVB1g6267xZ0ae20tBDQAAAAAAAAAAAAAAwNhKk/hnFQ57sUn9YQvKAqvVLHi7/z603W2bBABYda8un8j3XocqlcH9FqwIYQ0AAAAsq9ofcN0Y2u6N3QMAwG5NOKghOzeBMQAsrG3X+GMjz0FQAwAAAAAAAAAAAAAAME/3Kx37klVlETWpPxUR5ysP/aeh7W7YIAAAv6oVlHXn6L3n+szBihDWAAAAwNJpUp8fKJ6sOK8nQ9vdsnMAANijK3No4r1bx5rUH7egAHs3gaCGd5YNAAAAAAAAAAAAAACYk9uVDttaUBZU7RCFJxUbEgPArB1WUWp6dflEzaCsWsF0wAQJawAAAGCplIT5jcpzqv36AAAsmSb1FyLi7MRntT6BMQAsFEENAAAAAAAAAAAAAADAKhvabjMinlUowSUbi0XTpP5w5b37Ngc1DG33xuYAoJJZ39edsVBUVqsf3LOj954La4AVIqwBAACAZXMrIg5VnNOdoe2SXQMAwG41qT8XEV8sQMHWStNxAHZBUAMAAAAAAAAAAAAAAMCvajQxPdSkXmADi+ZS5Z4nl0pACgDU8lRlWTDXKg33to0Aq0VYAwAAAEujSX0bERcrzudtxRRVAACWUJP64xFxdUFmdiAHNkxgHACTJ6gBAAAAAAAAAAAAAADgP9VqZCqsgUVzo+J4/31ou2RHAAD8y6vLJ65VDMoS1gArRlgDAAAAS6FJ/eERPty6MbTdGzsGAIDdaFJ/pDTyXiTrFhfg0wQ1AAAAAAAAAAAAAAAA/Jeh7TYj4m2FkghrYGE0qW8j4mSl8d4Z2u6W3QAA8BvXKpXjp6P3nj9ValgtwhoAAABYFhsVH1pmTzy4BABgt0oj768i4sCCFe1Yk/rjExgHwCQJagAAAAAAAAAAAAAAANjR/QplOdSkXmADi6JWs+BnQ9vVem0AqO7V5RNrqsysvbp84lREnK9U2NsWDFaPsAYAAAAWXpP6/KHZt5XnsWGnAACwB9fm0Mh7VtYtNMDvCWoAAAAAAAAAAAAAAAD4QzXCGjJhDUxek/rDEXG10jg1CwZgTKnCsQ5bQSqo1RPu2dF7z2v9bANMmLAGAAAAlkHtB4t3hrar8SEyAABLqEl9Dmo4s8AzWysNyQEoBDUAAAAAAAAAAAAAAAD8saHtckPTtxVK1Co7C6BWs+Dslg0AAPA71yqVRFAWrKi/WngAAAAWWZP6SxFxvuIU3lZ+KAoAwBJpUn8uIs6ONKPcwPtIRByY8evm11uLiEczfl1gj5rUn97hvzgeER8Hqhzf4VpwpPyJcr3Izf63IuJ1RGxq/r97ghoAAAAAAAAAAAAAAAB2JQc2XJ1xqU42qV8b2m7TEjBhtZoF3xna7o2FBwD4L68un8h95w5VKomwBlhRwhoAAABYWE3qD4+QAH/Dg0sAAHajNFWf9S+S/pH3uYF3RFypFA6xLqwB9qZJ/fZwhA8OliCF7Q7s8HfZTsEMs3Lso2NcbVL/pIQ2ONc/QVADAAAAAAAAAAAAAADArtUIa4jSCH/DMjBFTepzs+CTlYamWTAAy+CwVWTGagVl/XT03vOnFgtWk7AGAAAAFtlGxQeW2ZOh7WqHQQAAsASa1OfG61+NNJP3Hxp4N6l/WCms4Vie09B2Lyq8NkxCCVj52H/b4e+Ol4CF7XYKZlg0Z/KfJvU59GUzIh46539LUAMAAAAAAAAAAAAAAMDuDW13v0n924g4NOOyXRLWwITV2pu550my8ACMrEaj+rUS6gX79uryiVMRcbFSJQVlwQoT1gAAAMBCalKfPzD7tvLYPawHAOBPlWbe13Zo5l7L3Q8N1fP/bVL/slIj8XUPk5mKJvU7hSP8bzv83YESrrDdwTk0218kB0roy9km9a9zaEMObxja7vUqF6WE8Fwf8dr+gaAGAAAAAAAAAAAAAABgkaUKzVNPNqlfG9pu085gSkrvk/OVhnTLYgMwBzXCGmCWrlWq5rOj954LFYEVJqwBAACARVW7aewdCfMArLLSoHjs5sTL5v2HhvosvesjNoL/eWi7Rx/9XW6sfrXCsdZyEIWG4XyuEmSy/dz4bzu81E7vN96D5ieHX1zJf5rUPymhDR9fc5beHIMaHg9tJyQHAAAAAAAAAAAAAABYZPcrhDVEacq6YWcwMbX25NtyLgEA8Fu1whp8xxtWnLAGAAAAFk6T+ksVk+WjPLT0kB6AldOkfi03Z4+I06VZM/vUpP5laaS/qeH9cmpSf23EoIbcxPvBDn+/WZqrz7qp+IFyTVi5Ru3sX5P60+UXHbyfLK4z+U+T+ivlOvNwFUKIBDUAAAAAAAAAAAAAAADsS24w/z8qlPCSPhBMSZP6wzWbBQ9t98aCAwD8l1eXT+SfCU5WKonvecOKE9YAAADAQikPK29VHvMNDy0BWBWlmfa50pB97KbEqyA38b+a/zSpf5yb3g9tt7XqRVkWTerXI+LsSNN5+UdNvHMQSJP6zUpjWRfWwF40qT8YEV+UvcNyOFCuL2eb1L/eFkL0etnWV1ADAAAAAAAAAAAAAADA/uReDU3qf4qIizMu5ckm9aeGtntqiZiI3Cz4UKWh1O6rAgBjWlNtZqRWUNZPR+8993MGrLi/rHoBAAAAWDgbFZNNsydD23loCcBKaFJ/pTQkPiuoYRS5zteb1H/XpN7D5AXXpD6HnFwZaRa5IfrNP/k3tQIVjpXm5fCnSgDQ14IaltqRcu3L72X5Pe1cCehYeIIaAAAAAAAAAAAAAAAAZuZ+pVJeskRMyEalofwilASAeTl673mqcOjDFpT9enX5xKkKgXAf+K43IKwBAACAxdGkPn9Y9m3lAdd6GAoAk5GbETep/0Yz7bnJja6/LM3+WUClofdYQQ3vI+LHoe3efeofDW23VUIdanCt4JNys/4m9ddKo/sjqrUycjjH1RLccK2EdSwkQQ0AAAAAAAAAAAAAAAAzVSus4ZplYgqa1LcRcabSUHzfCADg92r9LPDs6L3ntX5+ARaIsAYAAAAWSe0HineGtquR7AsAk1ECAnIz4mNWZe6uNqkfq+E/M5Kb0o/c0Pv20HYvdvlvH1Yaw1qZN/xOk/q13Kw/Is6qzso6UNb/epP6HNxwoUn9woR2CGoAAAAAAAAAAAAAAACYraHt3kTETxXKeqZJ/SnLxQRUaxbsO0cAADuqdf/l3gv41V+VAQAAgEXQpP5SRJyvONS3EbFhMwCwrEqj9SuaaU/Oel4bvzi1GOYQ1JDDxDb38O8fl/N81vJ8c0P+R3WmyaIqgTPrFpBtckjDF/lPk/qtcl3aHNru3RSLJKgBAAAAAAAAAAAAAACgmhQRFyu8eO49ccuyMS9N6g9HxNVKh/edIwCW0WGryn68unwi/wxwslIR3X8Bv/qLMgAAADB15UFl7YflN4a2e2MzALCMSiPirwU1TNbZJvXXShAA05Yb0x8baYS5kfeewhFKM/THlcbj+sFvNKk/IqiBP3G6/NLxd+V97vSUCiaoAQAAAAAAAAAAAAAAoKr7lV78mmVjzjYqHt73jgCYgrczHsMZq8o+1foZ4Kej954/tThACGsAAABgQWxUTDXNngxtVzsMAgDmokn9eglqOGIFJi03wr8usGG6mtRfGTGwYGsfjbz3FPCwB6dLc3744IJKsEsHtr3P5eCGK/O+nghqAAAAAAAAAAAAAAAAqGtou9z09EmFg5xpUn/K8jFHtZoF3ynnDQDM26YVYCpeXT6R7/0vVhqO730D/0lYAwAAAJNWHpJ/W3mMNVPrAWAuctP/JvW5CfEVK7AwjglsmKYm9eciYn2kwb2MiB8/9z8e2m4rIl7Pdkj/aawaMHGl0f5Y4SUslyPlWpJDG77J19ex3/cENQAAAAAAAAAAAAAAAIym1ncpWkvIPDSpvxQRJysd2nePAAB+r1ZQ1rOj957fV2/gA2ENAAAATF3th4k5WT7ZBQAskyb1p3MT5Ig4bWEXzofAhuOrXoipKGtxdaThvM/3v0Pbvdvn6zyc0Xg+dq7S67J4LlgzZuBYub7+s0n9tSb1a7WLKqgBAAAAAAAAAAAAAABgVLWan16yjMxJtWbBep8AAOyo1v2X734DvyGsAQAAgMkqifLnK47vbURs2AEALJMm9Rfm1ISY2RHYMBFN6o+U82ksN4e2ezGDYz2uNN4DTeoFNqy4cl6cXfU6MHN5T33ZpP67JvVXyj6bKUENAAAAAAAAAAAAAAAA4xra7mlEPKlw0ItN6g9bTsbUpP5U3nuVDnnDYgKwzF5dPnHKArNXry6fyD3oTlYqnO9/A78hrAEAAIBJKg/Gb1Ue242h7d7YAQAsg9zUuEn9NxHxhQVdCgcENsxXk/qDEfHViE2978woqCH/Auu7ioENmvRzYeUrQE05pGE9InJowzc5IKZcj/elBM0IagAAAAAAAAAAAAAAABhfre9WXLKWjGyj0uHeRsR9iwnAhGxWGIqwBj7HtUpV++novedPrQiwnbAGAAAApmqjYqJp9mRou9phEAAwiib1axGRgxqOqfhSyQ2lvy4NphnflyOeUw+Htns049ec9et9cDqHw1R6bSaurL3ADsaSr8FXI+KfTeqvlfudPSvvo1fnENRwV1ADAAAAAAAAAAAAAAAQnjeRAAAgAElEQVRApEolENbA2Go1C74/tN0bqwnAhHhfYu5eXT6RAz4uVhqH74ADvyOsAQAAgMlpUp8/JPu28rhqJdYDwGia1B/MzYtLU/mxGxAznqsCG8ZVzqvTIx308dB2d2f9okPbbUXE61m/brFe6XWZvgvWiDnJISFfNqm/1aT+SpP647sZxraghrHdGdruoc0CAAAAAAAAAAAAAACsuqHtNiPiWYUyXGxSf3jV68s4yvdOD1U62A3LCADwO7WCst4evff8vnIDHxPWAAAAwBTVTh3NTROTlQdgkZUmxddL82KWXw5s0CB/BKWx91jn1cuImHlQwza1GoULD1lBTeqPeM9hAg6UwJivm9R/k98bc3jVTsOac1DDozkcFwAAAAAAAAAAAAAAYKpqNUO9ZMUZyUalw/wytN1TiwgA8Du1whpq97cDFpSwBgAAACalSX1+GH6+4pjeVnwICgCjKE37c1DDMRVfKVea1Nd6mMi/zq21ERt7v4+Im0Pbvat4jMeVXvdAaYLOarlgvRfS+yWeW74PuhIR/2xS/1W5hv9KUAMAAAAAAAAAAAAAAMCk1GqI2lpmaivfWzpT6TCaBQMwRW8qjMl9G7v26vKJ3IfuZKWK3bISwE7+qioAAABMRZP6wyN8kHVjaLsaHwYDQHVN6g+W5O9av9DD9J1tUh9D2/nlqxlrUn+8YrL+x8YIasj75F2T+hzYcLbCy+fX1JB8RTSpP1JpH/Fb+drwYhd/l/3Hx38xtN3WTvUsvwy8tuRrmO+NzjSpz/XanNNcBTUAAAAAAAAAAAAAAADsYGi7zSb1zyo0XL2k3oxgo9Ihnvm+MAATtWlhmLNavT9+OXrv+VOLC+xEWAMAAABTslExzTR7MrSdVFMAFlKT+tPlYdIRK7jyzpbG6T/Wbva/KkoQypcRcWCkKd8d2m6n5us1PKrUtPx03odD270eaR7M1wX139HLiPj4OvyihC5sl8+T//Xx3411/uRfZs+/FNWk/m4JbViPiGNjHHsODghqAAAAAAAAAAAAAAAAmKT7EfFvMx7YoSb1l4a2u2/JqaFJ/eGIuFrp5QU1AAB85NXlE6ci4mKlurj/Av6QsAYAAAAmoUl9/oDs28pjqZVWDwBVNanPTbK/UGW2yeEd15vU3xTYMBPXRwxCuTtmQ++h7baa1L+uNL/c8P1uhddlQko4zDya38/a6/Jnu/clXGG7dzv83a/n0oLO+z+V94t8/XlU1nW9hDcIgtofQQ0AAAAAAAAAAAAAAAB/7naFsIbsUgmCgBquVayqZsEAAL9X6/7r7dF7z91/AX9IWAMAAABTUftDrO+HtktWG4BF0qT+YER8WRrzw8eOlcCGH4a2+7gBObvUpP5aqeUYHg9t93AOa5OPeaXC654T1rASLsxpkjuFI7woAQsf/93HoTWvXRc/rdQnn793m9SvldCG/OfAlMc9QYIaAAAAAAAAAAAAAAAAdmFou80m9W8j4tCM63VJ/aloo9JL/zS03VMLB8AKOWWx2aVaYQ2CGoBPEtYAAADA3DWpzw+/z1ccR35gf8NKA7BISuPkaxNpmpwbOj+ewDimbm3Epv8f5ON906T+5tB2LxayanPUpD43oT870gheDm03r4e3jyuFNRxoUn9Oo/Ll1aT+SOVz5McctDC03U7BDIwk/6J7RGyWkKi1suaCov6coAYAAAAAAAAAAAAAAIC9uR8RV2dcs0O5Z8XQdvetBbNUeqGcrFTUWxYLgAnbrDA0YQ38qVeXT7j/AuZGWAMAAABz1aT+8AgfYm0MbffGSgOwKJrU56bq6xMZ7pOcDj603bsJjGXSmtQ/jIgv59DgOgd6XBfYsDc5ZCAivhjpcDnw5OZIx/qdfP42qc/n8pkKL5+bumtWvrwuVJzZ4xISwESU9/p8Pj8qQR3nyjl+xBr9jqAGAAAAAAAAAAAAAACAvasR1pBdKq8Ns3StUjWfDW2XrBQAU3X03vM3ry6fsD7MQ637r1+O3nv+1IoCn/IX1QEAAGDONiommWa/DG132yIDsAia1B9vUv/NRIIa3kfE3aHtfhDUsDu5TkPb5Yb8j+dw+A+BDWtzOPbCyedaRFwZadz5XPpxAudRrabip0tTd5ZMWdezFWf1wJ6ZrqHtXg9t92Bou7+VsJnH5XqGoAYAAAAAAAAAAAAAAIDPMrRdDlR4W6F6rRVhlprUn4qIi5WKestiAQD81qvLJw5XvP/Sgw74U8IaAAAAmJvycPLbysffsMIALIIm9edys/2IODaB4b7MjZmHtns4gbEsnBIUNa/Ahi/LXuIPNKk/WM61AyPVKAeevJj3egxttxkRryu9/BQCZpi9CxVr+jiHAVizxTC03VZ5b8vBDXciYmuFyyGoAQAAAAAAAAAAAAAAYH/uV6jfySb1a9aFGarVq+StZsEAADu6Vqksb4/ee+7+C/hTwhoAAACYp9ofYH1fmtICwGTlxvFN6vMDo6sjNo//lMclqGHuzeUXWWlq/fOcpnBVYMPO5hDUkJt6T6mpea0QEfttyTSpPxIRZyvO6sFKFnbBDW33LgcVDG13swQ3/FwxBGaKBDUAAAAAAAAAAAAAAADsX42whqjY3JXVVGs/3R/a7o09BcACeDvjIZ636PyJWmFZghqAXRHWAAAAwFw0qb9U+QPU/GHvDasLwJQ1qT8eEV9Xboi9W+8j4sccMpCbMds4+ze0XW5GfmdOh79aQkD4rVyTYyPV5PEEm3rXGs+BJvVrlV6b+bhQ8aj53FilBv9LKa9hfp8b2i6HNvyjhMG8X9LpvhfUAAAAAAAAAAAAAAAAMBtD292v0Pw3u2SJmIXy/dxDlYp5yyIBsCA2LRRjeXX5RBsRJysdzv0XsCvCGgAAABhdk/rDI3yAtSFNHoApa1K/XoIajkxgmC8j4u9D23lYOmOlsfO8AhvOCmz4L03qr0TEmZEOt5WDT0Y61q6VBvlPKr38uUqvy8ia1B+pHCL0wJoul6HtXpSwp43ynlfrOjMPOajhpqAGAAAAAAAAAAAAAACAmUoVynmySf2aZWIGan039xff5QYA2FG1+6+j954/VXJgN4Q1AAAAMA8bFVNMozygnFxzXACIfzXBPtik/npEXJlIQX4e2u7vpYk7FZQGz/8oDZ/H9mtgQ953q7y2TepzkMD6SIfL4Sc/jnSsz1Gr4fiZ0uSfxXeh4gwee79Zbvk9b2i7HyLibxFxNyIWeb0/BDW8mMBYAAAAAAAAAAAAAAAAlsn9SnOp1eSVFVECP85Xmq0+KAAAH3l1+cThiLhaqS7uv4BdE9YAAADAqJrUn4qIbysfc8OqAjBFTepPR8R3EXF6AsP70ID4wQTGsvRKo+eb8wpsiIjrqxrY0KT+eMUHsx/L6/vD0HbvRjreng1tt1mxefq5ikNnBCVw42zFI3nPWRE5lGNou4dD2/2tBBY9ntN74OcS1AAAAAAAAAAAAAAAAFBPrbCGS9aMfarVr+Tt0HaaBQOw0l5dPnFq1WvAjmoFrr09eu+5+y9g14Q1AAAAMLbaH159XxrQAsCkNKm/kBvmR8SBCYxrKyL+NrTd1gTGsjK2BTbUapT/KcdWMbChBDVcH/GQubH3PNZ3rx5Xet2aTf4Zx4WKR3m8IOcHM5bf//IvEg9tl39R+U5EPJl4jQU1AAAAAAAAAAAAAAAAVDS03ZuI+KnCEU42qdcEmM/SpP5wxcCPW1YFgAXztMJw3aexk1phWYIagD0R1gAAAMBomtTnh5LnKx7vbUTcsKIATEmT+iNN6r+JiC8mMqy7Q9vlBsTvJjCWlVMaP/8jIl7OYe45sOHrEmCw9EowxbURA1LuLFBj70eVXjdf79YqvTaV5feryoEbD6whQ9s9Gtruhxwale9J5vR++CmCGgAAAAAAAAAAAAAAAMZxv9JRajXbZ/nl76QeqjRLzYIBWDQ1whrgN15dPtHmwLVKVRGWBeyJsAYAAABGURLka394tTG03RsrCsBUlKbl35Qm+fP2OocEDG330AaZrxKUcXNODapzM/brKxLY8OWI597PuQH5SMfat6Ht8vXgSaWXPzfiVJitCxXr+bjsO/hV3g/5nmRou7+XEKOHJShhngQ1AAAAAAAAAAAAAAAAjKdWWMM1a8hn2qhUuJ+GttPwGgDg92rdu/9y9N5z91/AnghrAAAAYCwbFRNMs1+GtpMkD8AkNKk/2KT+WmkWf2ACY3pcgho0H56IbYENj+cwogPLHthQzr/TIx0uN6F/MNKxZqlWuMSZJvVH5jMlPldZs7MVC7iI5wgjyfcnQ9vdHdouf27wY8UwmU8R1AAAAAAAAAAAAAAAADCioe3e5Cb2FY6Yv+N2ylqyF03q24o9UW5ZDACA33p1+cThiLhaqSx60QF7JqwBAACA6sqD7G8rH6dWQj0A7ElpgH+9ctPr3cqNh+/kQKMSDsCE5DUpYVPzCmz4ukn9uWXbE03q10c8/15GxN2RjjVTQ9ttRsTrSi+/dPtqBVyoOMUcaFJrr7Fk8rVpaLsfIuLfy/X15QgzFNQAAAAAAAAAAAAAAAAwH6nSUS9ZT/aoVs+SZ0Pb1drnALBo1qwY21yrVIy3R+89F9YA7JmwBgAAAMZQ+4Or70uzWQCYq9IkPgc1HJvASrwsjYcfTWAsfEIJbHg4pxpdXabAhib1+eH8lZEO96G59yIHodQKCplCWA271KT+SOU1e2At2KsSaPRwaLu/R8Q/yvvk+wqFFNQAAAAAAAAAAAAAAAAwP/crHblW41eWUJP6UxFxsdLMbtkzACyoGmFDh20GtqkVliWoAfgswhoAAACoqkn9pYg4X/EYbyPihlUEYJ6a1B9sUv9VaRJ/YAKL8WtzY42HF8fQdncj4s6cBpwDGy4sYt22a1J/fMRfoFyGoIasVpjLkRKcwWKoef4/HtrutX3AfuT7mfw+ObRd/oWbHyPiyYwKKqgBAAAAAAAAAAAAAABgjoa2ezrD74psd6Y04IfdqPndVM2CAQA+8uryiTYiTlaqi7As4LMIawAAAKCaJvWHR/jgamNouzdWEYB5aVJ/OiK+zr+4NYFFyE2HfyyN/1kwQ9s9mmNgwxdN6scKOpi5HJgSEV+OGJZyexmae5cm+jV+kTU7V+l1maEm9Uci4mzFmj6wXszS0HabQ9v9EBH/Xt4zX+7h5T9c8+6WkIYNQQ0AAAAAAAAAAAAAAABzV6uZfWtp2aWNSoW6ox8KAMCOavU3+eXovedPlRz4HH9VNQAAACraqJhemv0ytJ0UeQDmpkn9hdzkfiIrsFWCGt5NYCx8phzY0KT+XXmwOFbwwAdnm9THot1flaCG6xFxZKRD3s3Nwkc61hgeVQqbOZODAEogBNN1oeLIHlt/ain3O/n69aiEjqxHxNq294IcYPWi3B/9Rw51cI8EAAAAAAAAAAAAAAAwSfcj4p8VBnapYhAES6JJff4+76FKs7llnwDAbxxWDl5dPpH3wdVKhXD/D3w2YQ0AAABU0aT+VER8W7m6tdLpAeCTSnP4LyPi9EQq9fPQdg8mMA5mIAcBNKm/WQII5hHYcDwibi5QU+srEXFspGPl5vMPRzrWKMp+e10p7OJcRLg2TVRpcH+24uisPaMooSB3858m9fne7LWgEAAAAAAAAAAAAAAAgMUwtN3TJvVPIuLMjAd8sUn94aHt3tgKfMK1SsV5kr+/qfAALLCnFYa+ZkNQ8f7r7dF7z4U1AJ/tL0oHAABAJbU/tPreg0kA5qFJfX74991Eghpel6b6GmIvmaHtXuS1jYj3c5hZDj64XkJJJq1J/YXKzea3ezm03bI+mH1c6XXHWhs+z4WKdXusWT7zMLTdlr0HAAAAAAAAAAAAAACwcGp9d++SrcAfKd8ZP1+pQLcUHoBFdvTe8xphDZBtVKqCoAZgX4Q1AAAAMHNN6i9VfCCZvY2IG1YOgLE1qb8SEV9GxIEJFP9JRPwjNyWewFiooAQ2/C2HBMyhvh8CG45MdW2b1J+LiC9GOtzLEp6xrB5VmteR8suKTEw5t2uGaQgRAgAAAAAAAAAAAAAAAHYrVaqUsAY+pVaj4LdD22kWDADwkVeXT7QRcbJSXdx/AfsirAEAAICZalJ/eISE942h7d5YOQDG0qT+eJP6byJifQJFfx8Rd4e2+2Fou3cTGA8VlTW+OcfAhm/y/p/aGpcxXRnpcPmcu73M59vQdq8jolbwy7lKr8v+XKhYv62ypwAAAAAAAAAAAAAAAAD+1NB2mxHxrEKlLpYeGPAbZV/UCvPQKBgAYGfXKtXlydF7zzfVHNgPYQ0AAADM2kbF5NLsFwnyAIypSX1uNH69NK6ft9yw/+bQdg9tgtWxLbChVjP9TzmQ9/+UAhua1B8p5+SBkQ6Zg1FejHSseXpc6dhnypoxEWU9zlYczQNrDQAAAAAAAAAAAAAAAOzR/UoFq9WQn8WW98WhSjO4ZW8AwI7WlGV1vbp8IodlXa1UAPdfwL4JawAAAGBmmtSfiohvK1d0w4oBMIYm9Qeb1F8rD3rGagr/KY9LUMMqNI3nIzmwYWi7mxUb6n/Kh8CGc/Nel3xeRsRXI56Td4a2m0dIxuiGtnsUEe8rHXfue4ffuFCxHFurcs4AAAAAAAAAAAAAAAAAM3W7Ujlby8QOblQqyk9D2z1VcACWxC8znkatoCQWw7VKo3xbMfgNWCHCGgAAAJilWg+/P/h+aLtNKwZAbU3qj0fE1xFxdgLFzs3Tfxza7nZu2D+B8TBHeR/MMbDh6gQCG/LD12MjHethCTBYJbXmO4VrKf96fztSeT0eqDMAAAAAAAAAAAAAAACwV6WXxLMKhbtkMdiuSX0O8DhZqSi1+64AACyqjUrjvn/03vM3dgWwX8IaAAAAmIkm9fkB9fmK1XxbMZkeAP5Tk/r1EtRwZAJVeRkRfxdWxHYlsOHunIoyt8CGJvVXIuLMSId7MrTdvGo8Tw8rHftIk/rTi1GCpXeh4gS3hrbbWvUCAwAAAAAAAAAAAAAAAJ/tfoXSHSr9MOCDa5Uq8Wxouxp7GABgob26fKJmWNYtuwOYBWENAAAA7FuT+sMjfGC1MbSd9FIAqmlSf7BJ/fWIuDKRKv88tF0Oang9gbEwMUPb5ab6d+Y0qhzYUOsX0XZUAiLWRzpcDkm5PdKxJqVcb2o1259LyAf/Jb/PRcRaxZI8UG4AAAAAAAAAAAAAAABgH2p9t09YA79qUn8qf0+2UjU0CgaAP/Hq8onDarSSavUoeXL03vPNVS8uMBvCGgAAAJiFjYqppdkvQ9utZMNcAMbRpP50RHwXEacnUPL3EXFzaDtNr/mkoe0ezTGw4exYgQ3l/Kz1i28fy+ffD0PbvRvpeFP0uNKYzpawAOYnB54cqHT0raHtagV9AAAAAAAAAAAAAAAAACtgaLvcaPVthZkKa+CDmt+N1RcFgGXzpsJ81uyS1VICOoRlAZP3V0sEAADAfpTU+G8rF3FjWRapNKhdK39yo9QXEfEyIv6X5qYA89Gk/kJEfDGR8uf3gh9XvFE8e5ADG5rU5/uJ6xWbsP+RD833b9fas03qj0fEVzVeewcfglJej3S8SSp76kql/XQ2Ih4uQZkWTjlX1yuOW8AQAAAAAAAAAAAAAAAAMAv3KzRzPdSkfmNoO81cqRXWcGdouxoNrQFgnnKQ1kUrwD7Vuv96W352AJgJYQ0AAADsV+1k9++Htttc5FX6KKDhzEf/8+lt/y5KcENuuJybBP9H/v817Aaoo0n9kdIE/thESnx3aDtNzNmzoe1eNKm/OafAhnxvcz0ff9b3LOUe6tqIc8rn4IuRjjV1jyo19l8X1jA36xXPpS3BcwAAAAAAAAAAAAAAAMCM1AhryG40qb+tof7qalKfv7N6slIBBIEAAOysVljD/aP3nru3B2bmL0oJAADA52pSfykizlcsYE4uvbGIC5QbgDepX29S/01E/LP8MsDHQQ07yQ3Dz0bEF6Xh8j+b1J8bfwYAy61JfQ7Q+WYiQQ05oOcfghrYjxIycLMEP43tWAlsODjj414f8Rz9eWi7RyMdaxHUuh7le+TTu/h3zFA5N2uEb3zwwHoBAAAAAAAAAAAAAAAAszC03f3Sa2LWDkXEbYu00mo1Cn4ytN3mqhcXAOBjry6fWNtl37XPISwLmClhDQAAAHyWJvWHR/iwamNou4VJLv0ooOG7iLgyowbDV0tCPwD7lBtWl2vqlxFxYAL1fFyCGl5MYCwsuAkENnzXpP74LF6snKdjBTU8HtpOs/lthrbLITJblV5eENn41iu+520NbVdrrwAAAAAAAAAAAAAAAACr6X6lWV9sUt/aU6unSf2piDhfaeIaBQPA7q2p1UrZqDTZJ0fvPReWBcyUsAYAAAA+V/4Q7GTF6v0ytN3tqa9ObkhcKaDhY2fzMXKT8QqvDbASShP56/maOoH5vo+IO/m9bmi7dxMYD0ui7Kd5BTbkZvDX9xvYkO+tRjxPc53ujnSsRfO40njPuqcdT6n1esUDCjoBAAAAAAAAAAAAAAAAZq1WWEN2u0n9YSu2cm5UmvDbyvsVAOapRjN892Er4tXlE3mtL1WarbAsYOaENQAAALBnJTH+28qVq5WIum8loOFKk/oczvB1xYCGj+VjfLffBsgAq6g0f78+0vX6z+Tm8DeHtntkM1JDDmwY2u7vFZvtf8qHwIbTn/MfN6lfK/dWY3hdzkWBKTso16j3lV5+CqE5q2K9nJc1bA1tt7XqBQYAAAAAAAAAAAAAAABma2i7+6UJfg0nKzbuZ4JKOEetRsG3h7Z7Y90BWFLe49iPfP91qEIFhWUBVQhrAAAA4HPcrly174e2q5Gq+9l2CGjITU+PzGEoudHq103qz83h2AALp0n9wSb1X5Xm77WaVe/Fw9xEf2i7F3YTtQ1td3vOgQ17ul8pgVTX6g3rN3IIwY+CGv5UrVCZ9Uqvyzb5PbByrR+oNwAAAAAAAAAAAAAAAFBJqljYf2tSv2bhVkatRsHZrVUvLgDAH9ioVJj7R+89FyQCzJywBgAAAPakSX1+CHm+YtVyaumNKaxKfrjepP7aBAIadnI1j20iYwGYpCb1p8v1+8wExvehMfzdCYyFFVICGx7OacZXdxvYUJrKXx8xVOW20JRdqbV3jpRrNHWtVzyntoa227J+AAAAAAAAAAAAAAAAQCX3Kxf2toVbGbV6mPwytN3TVS8uAMDHXl0+sVax34+wLKAKYQ0AAADsWpP6wyN8ULUxtN3cUku3BTTkeX4ZEWcnFNDwsbNN6r8pzY0B2KZJ/YXS+H0K1/DczPpvQ9ttTmAsrKASEnJnTjPPgQ1XPvUP5hDUcNf5uDtD270u17AadhXkwecp59V6xfI9sDQAAAAAAAAAAAAAAABARbXDGs40qd+wgMutSX0bEScrTVKjYACWXY0+YK1dsxJq3Wc/OXrvuX4hQBXCGgAAANiLjYoPIaOkxt8ee0X+IKBhrGbB+3UsIr5rUn98QcYLUFVuTt2kPjd9/2Iilf55aLubQ9u9m8BYWGFD2z2aY2DDer7X+sT/fqXc04zh8dB2D0c61rJ4XGkeZ4WOVbVe8WearaHtaoV4AAAAAAAAAAAAAAAAAOTvRebmwN9XrsSNJvWnVHupfer7rfvxbGi72oEiADBXmuLzOV5dPnE4Ii5VKp6wLKAaYQ0AAADsSnnA/G3latVKQ/2N0sj7XJP6r5rU/18LGNDwsTzur/OcpjUsgHHl8J0cYBMRpydQ+tcRkUMaHkxgLPCrEthwMyLez6EiZ3cKbGhSf6Hch41hax7BYIuu7Jtae2astV8pJQRjveKcvbcBAAAAAAAAAAAAAAAAY7iRm+JXPM4hDV+XV5P63Cj4aqUJ+r4qAMDOLpX77Fl7GxHCsoBqhDUAAACwW7UfFH4/tF3VJN3cxDsHNETEP8sD1TM1jzcHV3dqggywCprUXynhO1MI3nkSEf8Y2m5rAmOB3yj7cp6BDd+URvJRgqa+GOnYLyPix5GOtYweVZpTzUCBVbZe8f1wy/sbAAAAAAAAAAAAAAAAMIah7d5ExEblQ11sUn/Jgi6lmntHyAcAwM5q3YPdP3rv+Rs1B2oR1gAAAMCfKg+Wz1esVE4svVHrxXMj4Cb135Um3ssW0PCx3zRBBlh2TeqP5+veRBp+5+b3d4e2+2Fou3cTGA/saGi7F3MMbDgWEdeb1J8u4VljyPO87bzcl8eVXvdI2QvMSPk5oOZ74gNrBQAAAAAAAAAAAAAAAIxlaLv7EfFT5cPdalJ/2KIunWuVJnSnBIkAAHt3Ss2W16vLJ9Yq9ngTlgVUJawBAACATyoPlGt/SLVR40HktpCG3Aj4yKxff8JyE+TvcgPzFZozsILydT43fS/XvXl7mZvfD2330F5kEZTAhr+VvTu2Y+XcHcvNMl8+U6lfrb1yzrrMVA5qOFDptbeGttua07wAAAAAAAAAAAAAAACA1bUREW8rzv5kRNywv5ZHk/pLZV1ruL3q9QVgpTyZ8WRrvT8zDRuVRvHk6L3nm9YYqElYAwAAAH9mo/IHnL8MbTezB5FN6g+ucEjDdrlB69elkTnAUinX+mvlOl+rIfVePNYMnkU0tN27vHfnFNgwljvOzZmpFUZzNl/X5zCfpVPquF5xXg9WtLQAAAAAAAAAAAAAAADAHA1t93SEMIV/a1LfWuelUa1R8NB2aQXrCcDqemPt2Y1Xl08cjohLlYp1yyIAtQlrAAAA4A81qT8VEd9WrtBMHnCWxt0XImLVQxo+drU0NAdYCk3qj+cwmtzcewLzeR8RP+bQodL0HhbOtsCGJ0u4eg+Htns0gXEsi81y3athCtf0ZbBeMcRoa2i7rdUqJwAAAAAAAAAAAAAAADAVQ9vlBq2/VB6OJrBLoPRKOV9pJvYIAMDOclDDoQq1eRsR99UcqE1YAwAAAJ9yu3J1vh/abnM/L/BRSMMXFZuTLo6CD8MAACAASURBVLKzTeq/ybVa9UIAi61J/XoJaphCIM/LiPj7ft/HYApyYMPQdj9ExOMlWpAnQ9vdncA4lkYJ9qh1zTu3giWdqXKvv17xEA/mMC0AAAAAAAAAAAAAAACA7TYqV+NMk/obKr7wau0TjYIBAP7YtUq1uX/03vM36g7UJqwBAACAHTWpv1QxKT7KQ8jPfkgtpGHPjuVaNak/vmDjBvhwzb8eEVcmUo2fh7bLQQ2vJzAWmJmh7W4vSWDDyxFCx1bVw0rzPuY+dd/WK/5MtDW03daIcwEAAAAAAAAAAAAAAAD4naHtNiPiv1euzEaT+lOqv5ia1B+u2Cj49tB2GgUDsGpm/t736vKJ1i5iD24pFjCGv6oyAAAAHysPH2t/QLXxOQ8hm9QfiYgc0nC2zrCWWm7e+nWT+jtD2z1a9WLAVJVm1Ts1W369iuEATepPR8RXEwnleR8RP2hYzTLLgQ1N6vMev7qg08zn6c2h7d5NYCxLZ2i7F03qX5YgsFlbF7LxeXKoUalfLQ8WrCQAAAAAAAAAAAAAAADA8rpVmvGfrDTDQ+W7bpoIL6ZLZQ1r0CgYgFWUw7IuWnl24XCFIj07eu/5puIDYxDWAAAAwE42Kj6Yzn7JjYD38h8IaZipq7n5+V7XAKijSf1aROQ/x/+s+XWT+o//Kjclf7HDP90pTCD/u4+bl086AKJJfb7ufzGBoUSp6Y8awLMKcqhTud4sWmCDoIZxPKy0N9Zy6ID1+yzrFUONtoQUAQAAAAAAAAAAAAAAAFMxtN2bJvU5rOF/VhzS+Sb1l4a2u2/hF85GpQHnPilPl7huAAD7daZCBYVlAaMR1gAAAMBvNKk/FRHfVq7Krh9uCmmo5myT+uMaGsN8lPPvbAlpOLKPQeTGzKd3+Pud/m5HUwyAKNf+r/4svGJEd4e2eziRscAotgU2XKnYBH7W8rm60/WL2dqstC8OlPfFR9Zr93LARQlrqOXBApQBAAAAAAAAAAAAAAAAWCFD26Um9T9FxMWKs76d+2/kcAh7azE0qW8rNQnObi9bvQAAFoB7MGA0whoAAAD4WO0Pp74f2m7zz/5Rk/rcaPx/r/ggdApyM/ODc2yAnJugf9ek/qbGxlBfCSDITajPTSiEYCfzDoB4V0J6ptAcPl+nf3SNZFWVwIa8/68vQGDDz3m8ExjH0stBX03qNyuFqa0La9iz9Yrn59bQdju9VwMAAAAAAAAAAAAAAADM27WIeBoRhyqNI7/urXIcFkOttXo2tJ1GwQAwO6fUcrm8unzicIUJ/XL03nPBacBohDUAAADwn5rUX4qI8xUr8jYibnzqH5SQhgt7aQq+YF5GRG5uu5mbfzepP14e+M6rcXtu7Pp1k/o7GhzD7DWpP1gCGs4u8XVtN/YdADEHjyPibm5KPuExQnXlfuXmxAMbHg9t92AC41glDyuFNRzL98dCcnan3GesVzyE8woAAAAAAAAAAAAAAACYpKHt3jSp34iI/1FxfFeb1N8e2i7ZBdPWpD43CL5aaZCCGgBYZU8rzF1Yw/JZW/UCAItPWAMAAAC/Kg8eb1WuxkZ+4L3T/7DkIQ05oOFRCWh4vf1/2NYAOQc2nJnfEH/9JYHT0vxhNprUr20LaWCxvC8hDQJsoCj3K3+PiK/mGDD1R166fxlf2RMvK+2Hdb+4uGvrFUNUtoa226r02gAAAAAAAAAAAAAAAAD7lr9f2KQ+92o4X7GatzUUXggbFQfpO48ArLIaYQ2wGwLTgFEJawAAAOCD/ODxZMVq/LJTI90m9edKk9GpNf7drz8MaPjY0HbvIuKHJvU5rOKLOY75bJP64xFxs4wJ2INy/uRwhnMVGydTV752385NyNUZfivfz5SAqesTum/L91g3JzCOVfUwB35VmPtak/qD7kc/Ldeo/BxVy4OJTh0AAAAAAAAAAAAAAABguxzW8P9WrMjJJvU3hra7oeqTdq3S4O4MbadJNQAAwJIT1gAAAEBu9JlT/L+tXInfpNCXkIYcTHBkiVbgSQ5niIj/+LOAhp0MbfegSf2L8hB4Xo3ec/Pl73IzZs3K4c81qc/XsLXSLHmZrmer6OHQdndXvQjwKbl5/oQCG95HxI8a+s9Vvu+9UuG+9UB5b320YPUY23rFnxm2hrbbmu7UAQAAAAAAAAAAAAAAAP4lN9JvUv/fK/fM+LZJ/W1N+6epSf2lHKpRaXC3F70+AAAjaBUZWHTCGgAAAIgRHg5+P7Rdbua6jCENHwIaNmfRLDjXqTRBvjbHJsi56evXTepzwr8mufCRJvUHtwU0zLtZOfuXG77f/vA+BXxaud/5e5P6fK9ydo7lui1Yar5KeMdmpX2wLqzhj5V7kfWKh3hQ8bUBAAAAAAAAAAAAAAAAZmpouxvle4+1GvZH6cuhCe00Xas0qmdD26VFLw4ATJB7KnbDfRgwqr8oNwAAwGorCfHnKxbhbUT8n03q15vUfxcRVxc8qOF9CWi4ExH/PrTdDznQYBZBDR+UxsM3y3Hm6Wr5hQTgX9fLtSb1X0XEP8u1TFDD4tuKiL8JaoC9G9ou/1Lh4zmV7o7zdjIeVhrIsSb1xxewHmNZLwFrNWwNbbe19BUEAAAAAAAAAAAAAAAAlk3t3gjnm9Rv2DXT0qT+VERcrDSoG4taFwCYlaP3nmuYD8BK+KtlBgAAWF1N6g9HxK3KBciNfP+Pis1Ex5ADGnJD4M2xGgOX8IcfmtRfiIgv5jj3s6VR7s1ZBlLAoij7PzdEXlvw6xi/9/PQdg/UBT5fDmxoUv965HuVxzkoy7JNQw4Za1L/slKA0Xr5WYJtmtQfLLWpxXsjAAAAAAAAAAAAAAAAsHCGtktN6r+PiH+rOPYbTepvD233xg6ZjFoBGm8j4v4C1gMAYB5aVQcWnbAGAACA1ZYfOp6sWIH/b4Gbm48e0LCT3Ei8Sf2LiLg2x1rm5rvfNanPgQ0v5jQGGE2T+iPbAhqOqPzSyY3l8y9Bba16IWAWyr1KPq+ujlDQrRwQYeEm52Gl9V/LwQQCw35nveLPBVveHwEAAAAAAAAAAAAAAIAFdqP0ZjhUaQr5dfP3HC/ZJJNxrdJA7gvlAACYq7n1fQNW01+sOwAAwGpqUn8qIr6tPPn/e8GK+740m/1xaLuN3Ax4nkENH5Qx3IyIl3McRm4I+3WT+nNzHANUk5tBN6lfb1L/TQ4nKY2QBTUsnycR8Q+NqGG2hrZ7FBF3Kpc13wf9aOkmabPcR8/agRKcRJHvV8o9Si0P1BoAAAAAAAAAAAAAAABYVKW5fq3m/R9cbFLf2iTz16S+ZjDHjUWqBQAsmMMWjD9z9N5zwVnAqIQ1AAAArK7blWf+/0TE6wWpbh7n3Yj429B2d6cQ0PCxoe1elMCGJ3MeytXywBqWQg4gaVL/VUT88/9n725C68qyfMGvSmLioMEGP/DEX2+iGjVW86A39sSn8NQm3APHGVrTN0o9apZkE0r6ETOTSmiihk8x6WanB+3AHj6ROyYSB+pRMtQkPXm2ZSgMLZBpsOiaRHMyj7OVUXaEP+7WOffe3w+EI/yx7t5rH8s74srrHxFfRsR5J7uQ+iHi/ef3b7qmfb3szYAahsCGe5WG9vc1/f6dqOFcat2fawYTzKMbQ4hFDU+EGQEAAAAAAAAAAAAAAADzrmvaBxHxfeVtbKWSDRke33qlFXzfNe3TeWoEAFT2bMblrziwhbO67A0A5t9nzhAAAGD5pJJvR8T1ihv/14j4xzlobB/S8GgYLjx5wyDcb1LJtyLi5ojrvZpKvtAPZDY0mXmUSl4d/gf/asWBx0zHi/4LnobQG6CiftB7KrkPbPj7GX9+7e8c8xICtqz6+/TVCns/3987fQ7/0/3l88rhFQ8r1gYAAAAAAAAAAAAAAAA4SWsRsRcRpyu95qUhKGDDqY5jmBlQa9Dz1tT3DwAn7Olw/4F3mfW9+7FOAyftFzoOAACwXIZ0/s3Km94ZAhumqh/2+23XtL+al6CG47qm7Qep/kNEHI24jPMR8fUQ2gCT1z+rqeQvU8lfR8R/HAZKC2pYfLvDkPelH/INJ2X4/XZvuG/Nwrd+D09fH9QxwzP/sZoBBfPkRsW7y4vhDAEAAAAAAAAAAAAAAADmXte0T09grsZXQ2AA41iv9KrPuqYV1gAAMK5D/QdOmrAGAACA5bNeOaX2XyJiqoM+n8xzSMNxXdPuDYOQX4y4jH5Y7K9TyddGXAO8Uyr5bCr5Rir5f+2f1WHI8VkdWwp9mM0/9F8I0zXt62VvBpy0IVzhP3/kPeVouLP1H4/m/c62ZLYrbXc1lfz5Mjd22H/N0IpaZwcAAAAAAAAAAAAAAAAwiq5pNyLiceXXrh0IwVukks9ExN1KvRHUAADwAV7euSjADFgInzlGAACA5ZFKvtyn81fe8BQH6vbDfh92TTvVEImP0g9CTiX3gQ1rEXFlxKXcTSWv9EPRR1wD/MkwzHh1+Bjz9wXj6YfDf9M17YEzgPH0QSnH7in/9xDC8EYf5vCXIJVFu6Mtsd2I+LLC9k8Nf64vc3DHjaEPNRwIRQEAAAAAAAAAAAAAAAAW1HpE/KHi1q6nkte7phXacLLWKr6auRkAcAL6Af/n7j/f0+uFcKbCJp4uYR+BkQlrAAAAWC613xT8537Y54Q6upAhDcf1g5D7oeSp5FsRcXPEpVxNJV+IiHvDmuBEpZLfBDRc1fml9qhr2ofL3gSYijf3FAeyHIaAjt1KfxZfXdawhiGI6kbFl3hUsTYAAAAAAAAAAAAAAADAaLqmLank30XELyuuYSOV/KBrWgNlT856pVf6zjkCwFuVPqRqxq2pMeCfxeFOBpw4YQ0AAADMyr9GxD9OpJuPI+K/LnJIw4/1w8lTyfsRsRYRp0ZaxvmI+DqV3Ac27I+0BpbIEBDSD2++NuJzzzQc9QPhl+nzPsBE7VQKa1hJJZ/tmnZKwXAn5UbFe85B17RLGYIBAAAAAAAAAAAAAAAALI2NiLgdEZcqbfh0RGwOr0FlqeSaZ7np/AAAPthlLQMWwS+cIgAAwPLomraJiP8lIp5V2PTOENgwpt2I+FXXtEs5sLtr2r2IuBcRL0ZcRj9I9tep5GsjroEF1g9qTiXfSCV/3T9rlQcYMx+eDJ/7BTUAjGz4XFwrUOHGkp5vzX0/qlgbAAAAAAAAAAAAAAAAYHRd0x5GxHrldXwxhAhQ31qlV3jWNW1xfgAAH6xGWMNTxwCcNGENAAAAS6Zr2gcRsRoRv5nhzv9lGJY9ljchDVtd09YaDjsXuqbdHwIbHo+83rup5FpvcrNkUsmf9wEgqeS/j4g+pOHLiDi7BF14PAxR7j+2h8+zP/5Ydr/vmvZe17Svl70RABOyXWkpSxcGNgSg1QqlOuiadqdSbQAAAAAAAAAAAAAAAIDJGOZsfFd5PZup5DNOvZ5Ucj8I+ItKL7A5hT0CwBJxb+KnCGsATtxnWg4AALB8huT/jVTyVkT0H9c/sQljDfnsQxoeLntAw48NQ8u/SSXfioibIy7lair5Qh8eYZA6HyOVvDoMZr6yRA18MXxO3f3Y3zfD77sfD3b+d28JuOh/zoW3lFj5mNc9YY+Hz//7c7BWgGWzOwQrzdqpPrxgyQIGat7lH1WsDQAAAAAAAAAAAAAAADA16xHRRMTpSuu61M/xGF6HOmr19tUwewUAeLsag/P7uUIP9HshXF72BgCL4W9++OEHRwkAALDkUsm3h5T3Sx/RiX8+4bCGo4jY7j8EAPy8Ydj92lsGt5+koyGwwVB1ftYQNHBjeENlzOf2JB0Mg613pho+M4EAiP7zyN7w8cTnf4BpSyX398+rFRbZ/xlwbxmOvw+miIi7lcofdE37q0q1AQAAAAAAAAAAAAAAACYpldwP+/9t5bX9T13T7nkCZi+VfFgpbOPbrmnXxt4fAEzVyzsX+8CrP8x4eb85d//5hkOffy/vXCwRcX3GG/n35+4/rxESAvBOn2kNAAAAXdM+SCWXIUX+qw9oyL9GxD+eUAOFNHyE/k38VPK9IbDh/EjL6Ie3/zqV3L9BfZLBHsyJVHI/8P/aMNT5x8P/F9Wb8IHteQgyeccan3xKzQ8IgNgT9gIwd3YqhTWs9PeGqYYbzdjNirUfjbIjAAAAAAAAAAAAAAAAgBF1TbuZSu5nL1ypuIqtiFh1zrM1nFuNoIbe5lj7AgDg3xLUAIxBWAMAAAB/0jVtnyC/kUru3/jNEfE/v0dndobAhpqENHyifsj5scCGml808HPuppJXuqbdGnENTEQq+fNhiPO1EYNExvC4/9zZB6ks+7NYIwACgGnomvZJKvmgUgjTjYj4/SIfdSr5WsUAqwMBagAAAAAAAAAAAAAAAMAS6+cu/FPF7V9JJW90TbvhIZuptUp1v/d3/wEAPskZ7QMWgbAGAAAA/krXtH2iaEol/x8RcSsi/od3dOhfKg/V7oe7PjJIdDaGoItvUsn9md4ccSlXU8kXIuKe8I3lNAwfXh05OOSk9Z8rdyNiz3MPwBLpA9e+rLDda4se1lD5vv6oYm0AAAAAAAAAAAAAAACASesH86eSfxMRX1Vc53oqeWuY38EnSiX38wmuV+rjlvMBgFGsavvCmPUcqVdL3EtgRMIaAAAAeJf/PSL+34j4HyPiP7zl59QKURDSUFHXtA9TyfsRsRYRp0ZaxvmI+DqV3Ac27I+0Bk5QKnllGKy8OuJzd9IOhiHVfUDDgecNgCW0Wyms4VQf/rSo/70wBFudrVT+wH9nAQAAAAAAAAAAAAAAAMTmMHPhUqVWnB5CABqtnon1SnVfdU0rrAEAft5ehR6d0XfeocbzBvCzfqFFAAAAvM0wxPNfIuK/RcT/OfzzG/88DCKfpb7et13T/soA0bq6pu3/Z+S9iHgx4jL6gf2/HobRsoBSyRdSyV+mkr+OiL+PiKtLENRwNAQ0/Ofhc9m2oAYAllXXtK+HwIYari5wW29WrP2oYm0AAAAAAAAAAAAAAACAudA17eEQ1lDT9VTybU/Ep0kl94Oca/Vx86T2AQDz7Nz954cOkLd5eeei0A1gYXzmKAEAAPgJ/TDPuxHx/0TEw4i4HBH/ISL+cYZNe9IPNx8CBDghXdPup5LvDV9AcGXEvt9NJa90Tbvl7OdfKvlsRKxGRB/CcX5Jtn00pDHv+TwGAP/GTqVghZX+3rFooUhDkNnZSuUPhOIBAAAAAAAAAAAAAAAA/FnXtCWV/F1EfFGxJVup5MtDOAQfp5+JcbrW+TgTAIBPslqhfe7OwCiENQAAAPBO/TDPVPLNYwNDnw4fs9CHNDzsmvaJExhH17SvI+KbVPKtiLg54lKuppIvRMS9YU3MkeHsLgz/43zM4I+T9vhYSIPnFgDeor/rp5IPKgUQ3IiI3y9Y32veyR9VrA0AAAAAAAAAAAAAAAAwj9aGGRq1wgD6uhsRse7p+Gi1evdd17Szmp8CAMDs7OklMAZhDQAAAPycfqjn3Rl2SUjDxHRN+zCVvD98IcGpkVZ3PiK+TiX3gQ37k20WfTjDSkT8bUSsDCENYz0zY3gRETtDQMOBpwEA3st2RHxZoVXXFimsIZV8rVKoRe+gD+KrVBsAAAAAAAAAAAAAAABgLnVNe5hK7sMUfltx/b9MJT/omrZ4Sj5MKrmJiEuVym/WWjcALKhXMw64uu5BAWBKhDUAAADwk/qhnqnkmzMYHLrbDzkX0jBNXdPu9UEJQ2DD+ZEW2Q/9/3Uq+VvDZKchlXx2CGY4f+zbZXMwpC3vChIBgI+yWyms4VQfcLBA98abFWs/qlgbAAAAAAAAAAAAAAAAYG51TbuZSr5deWDwVkRc9pR8sPVKdZ8JzwCAD7YnYIG3aDQFWBTCGgAAAHgf258wYLUfzvqwa9oDnZ62fhD9scCGKyMu9m4qeaVr2q156Nsi6fseEReOBTN8akjLvDoa3iDa64NMlv25AIBP0TXt61Ty40r3y6t9INy8H1AfOlHx3nUgCA0AAAAAAAAAAAAAAADgJ/UzFv57xRZdSiVvdE274RjeTyq5D7f4olL5zUp1AQD4dEK1gFEIawAAAOB99IELtyLi1Ad0S0jDHOqH6UbEN6nk/rxvjriDq6nkPjTg3rAmZiyV/HlEvAlnWBk+lt3jIaDBQGMAmK2dSmENK6nkswvw3xw1792PKtYGAAAAAAAAAAAAAAAAmHtd0z5NJf8mIr6quJevUslb/Wt5Yt7LWsXaWxVrAwAAMIf+5ocffnBuAAAA/Kz3HN5/NAxi3RbSMP9SyavDG9gfEtIxa0dDYMP+sp/HpxrCL44HM5yd7x3NzIvh89auYBAAqCeV/HWl+0f/3x6/n9ejSyVfi4i7lcofdE37q0q1AQAAAAAAAAAAAAAAABZKKrkPUrhUcU/fd03beGp+Xir5MCJOVyj9bde0NYMgAGAhvbxzsUTE9Rnv7d+fu/9ckNUcq/Rc/N25+8/LUjUSmITPHAMAAADvaTsibrxjcP/R8OPbhp0vjq5p91LJ94bAhvMjbax/3n6dSu7f8N5ZxD7XkkruAxn+dghmuDBy6MbU9GEye4JlAOBE7b5H+NvH6MMO5jasoVJP3nhUsTYAAAAAAAAAAAAAAADAoulnK/yh4p6up5LXuqbd8uS8W9+jSkENvc1KdQFg0e1VGMp/OSKENfBXBDUAYxHWAAAAwHvpQxhSyds/GiYqpGHBdU27fyyw4cqIu73bhw/4ooO3SyWfHYIZzh/7lr92dCygYV9vAODE7VQKJjiVSl7tg8bm7UhTyX3QxNlK5Q+EnQEAAAAAAAAAAAAAAAC8v65pSyr5236+QcW2baaSH3RNe+ho3mmtUt3H8/h3EQFgItxdAFhowhoAAAD4EH0ww42I6IMZdoU0LIfhjL9JJd+qNGD3fV1NJV+IiHvL/tz1wRURceFYMEOtIb+L4HE/HNoXTQDAuLqmPUglP64UAHZtCGWaNzXv1o/msB8AAAAAAAAAAAAAAAAAY1uPiNsRcbrSOvq6mxUDCeZaKnk1Iq5X2sPmkrQRAOCkrOo0sCj+5ocffnCYAAAAvLd+WH7XtPs6tpyGN7b7N/1PjdiAoyGwYSmew1Ty5xHxJpxhZfjgp70YwmX2lj3YAwCmZLhL/sdKS/pVHwgxLweeSu4DJu5WKn/QNe2vKtUGAAAAAAAAAAAAAAAAWGip5H6mwn+pvMe/65q2eJL+Wip5q9LfvXvVNe2ZCnUBYCm8vHNxIyK+mvFe/+7c/efuQ3Ps5Z2Lsx5s/vjc/ecCIIBRfKbtAAAAfAhBDcuta9q9VPK9IbDh/EjN6IMifp1K/rZr2p1FO5A+EOVHwQxnJ7CseXBwLKBhbgY1A8AyGe6SB5XuN334wcM5aufNirUfVawNAAAAAAAAAAAAAAAAsNC6pt0aAhuuV9xn/xqrXdMeepr+LJXchyncrlR+q1JdAFgWNe4sTUQIa+A4d2NgNMIaAAAAgA/SB3YcC2y4MmL37qaSV/ovdJjnE+z3EBF/OwQzXBjCKHg/RxHRB3bsCpIBgLmxWymo4Oq8hDWkkq9VDOQ6WMRAMwAAAAAAAAAAAAAAAIAT1s9T2IuI05Ve9lJErEfEhoP9i7WK/d6sVBcAlsWek+a4l3curmoIsEiENQAAAAAfrGva1xHxTSr5VqVhu+/raiq5Dzi4N6xp0lLJZ4dghvPHvuXD9UOe97qm9SYOAMyfnUr3x7Op5NU5uR/UvD8/qlgbAAAAAAAAAAAAAAAAYCl0Tfs0ldwP+P+q4n6/SiU/8Pfm/2K9Ut3v+vOsVBsAYFmdqbBv92JgNMIaAAAAgI/WNe3DVPJ+RKxFxKmROtkHHnydSu4DG/andJqp5JWIuHAsmOHsBJY1rx4P/zN9bx6COQCAt+ua9iCV3P+5fqVCi65N/c33VPK1infCg65pdyrVBgAAAAAAAAAAAAAAAFgqXdNupJJvV/r7cG/0gRDNsj9ZqeS+B5cqld+qVBcAgNk61E9gLMIaAAAAgE/SNe1eH5QwBDacH6mbfVDEr1PJ3441oDaV/HlEvAlnWBk++DQvImJnCGg40EsAWBg7lb449Uoq+ezE7w03K9Z+VLE2AAAAAAAAAAAAAAAAwDJaj4g/VNz39VTyete0m0v+dK1Vqvusa9oHlWoDAJ/msv7NNecHLBRhDQAAAMAn65p2/1hgQ43Bu+/rbip5pWvardovlEq+8KNghrO1X3NJ9MOV9yJit3+ulr0ZALCIhrCvg0r3p2sR8XCKbUslX6t4ZzwYK7QMAAAAAAAAAAAAAAAAYFF1TVtSyb+LiF9W3OJGKnmra9rDZXyQUsn9oN+7lcovewgGAMzKXoVOGvY/32qc39NlaiAwLcIaAAAAgJnomvZ1RHyTSr4VETdH7OrVIUjh3rCmmehDICLib4dghr7+qRH3uGiOhjdk9vrhzcveDABYEruV7oxXpxrWUPmO/KhibQAAAAAAAAAAAAAAAIBlthERaxFxulIP+rpbEXF7SXu8VrH2VsXaALA0zt1/fvjyzkUHTm3CGoDRCGsAAAAAZqpr2oep5P3hDfGxAg3OR8TXqeQ+sGH/Q39xKvnsEMxw/ti3zN7jYyENMwvWAADmwk6l8IKzqeTVqQVApZKv9WurVP6ga9qdSrUBAAAAAAAAAAAAAAAAllrXtIep5H5+wv9VsQ9fpJJvd037YAl7XSus4dv+7CrVBgBYdpeXvQHAYhHWAAAAAMxcPxy3D0oY3hQfK+igD4r4dSr5258bXptKXomIC8eCGWoN0iXixTCceVdAAwAsr65pD1LJfXDTlQpNuDYEQk1JjWCKNx5NbK8AAAAAAAAAAAAAAAAAC6UPUUglf9eHKlTc12YquSxTwMAQgnGpUvnNSnUBAKgT1vBUX4GxCGsAAAAAquiadv9YYEONIbzv624fxtA17Vb8+c36zyPiTTjDyvBBXQfDwOTtfjCzXgMAg51K98QrJH9sKQAAIABJREFUqeSzU7l3pJKvVQwDO/i5YDIAAAAAAAAAAAAAAAAAZmI9IpqIOF2pnX1owcbwOstirdI+H3dNu7dEfQSAeXTdqXHcufvPhTUAoxHWAAAAAFTTNe3riPgmlXwrIm6O2OmrfWDD8M+1BuXy115ExB8jYrcP7tAbAODH+i90TCUfVLqf9QEJDyfS9Jr34EcVawMAAAAAAAAAAAAAAAAw6Jr2aSq5D1P4bcWe/DKVvLUMQQOp5MsVhzRvVqoLAMvsewELHHNGM4BFIqwBAAAAqK5r2oep5H5g/1pEnBqp40Ia6jmKiCcR0Z/xH7umfbKoGwUAZm63UpjB1SmENaSSr1W8hx50TbtTqTYAAAAAAAAAAAAAAAAAP9I17WYquZ+bcKVib7YiYnUJer9Rqe6riHhQqTYAAH826/vwK30FxiSsAQAAADgRXdPupZLvDYEN53V9rr0Yghn+FNDQNe3+sjcEAPhoO5XCGs6mklf7O+jIR1Njb288qlgbAAAAAAAAAAAAAAAAgLfrZyb8U8XeXEklr/fBEIva/1TymYi4Xan8Vte0h5VqAwBQx9izIYAl94tlbwAAAABwcoah/n1gw2NtnytPhmHA/xAR/6lr2v+ta9r+CxR2BDUAAJ+ia9qD4a5Rw7UxDyeV3L/+2UrlD/q7WKXaAAAAAAAAAAAAAAAAALxD17T9INnfVe7PRir58gKfQR/UcLpS7YUNuQCARfPyzsUzDnX+ODdgEX3mVAEAAICT1DXt64j4JpV8KyJuav7k9AOTX0TEH/vBycIYAIATsBsRKxVe5koq+ewQCDGGmnfdRyPtCQAAAAAAAAAAAAAAAICIjSFw4FKlXvRBBlsR0Sxorzcq1f2+a9qnlWoDwLLr/4y9PuMerEZEWfbGzqHVCks+XPiuAZP2C8cDAAAAjKFr2ocR8Q8RceQARtUHM2wPZ/Grrmn7j2+6pt0W1AAAnISuaXcq3gmvjXGIqeT+dc9WKn8w9AwAAAAAAAAAAAAAAACAEXRN2w+TXav8ytdTybcX7XxTyU3FkIvNSnUBgD+HNUAtezoLjOkz3QcAAADG0jXtXir53vBFCOcdRHX9EOQnEdGHMPyxa9onC75fAGB+9OEDNyqs9mpEPByhCzcr1t6tWBsAAAAAAAAAAAAAAACA99A1bUklfxcRX1Ts11Yq+fIQDrEoaoVcPOua9sEC9QkAAIATIqwBAAAAGFXXtPvHAhuuOI2ZejEEM/wpoKHv9QLtDQBYLNuVwhrOppJXTjKkKpV8rX/dSuWPhl4BAAAAAAAAAAAAAAAAML5+TsLTiDhdaSV93Y2IWF+Es+6DJyLibqXyW5XqAgDw1xr9ABaNsAYAAABgdF3Tvo6Ib1LJtyLiphP5aE/eBDP03w59BQCYvK5pD1LJ/T1mpcJarw13pJNS8z677Y4HAAAAAAAAAAAAAAAAMA1d0x6mkvswhd9WXNAvU8kPuqYtC3DsaxVrb1asDQDUsRoRi3DH4dN5DoBRCWsAAAAAJqNr2oep5P3hDfZTTuYnHUTEi4j44xDMsD/htQIAvI/dSmENV1PJvz+JkINUch8McbZS+aM+rKFSbQAAAAAAAAAAAAAAAAA+Qte0m6nk2xFxvWL/NodhxvOuVljDt31wxgL0BwCmrB+m/9WM13fGiQMwBcIaAAAAgEnpmnYvlXxveJP9vNP5i78EM0TEfte0BxNZFwDATHRNu5NK/rJSaNfVEwo6uFmx9vZJBE4AAAAAAAAAAAAAAAAA8MHWI+KfKrbtSip5o2vajXk9miHQ4lKl8luV6gIA8G81egIsGmENAAAAwOR0Tbt/LLDhyhKe0NGbUIY+oKFr2icTWBMAwEnYiYgbFV7nRu2whlTyakScrVT+6ITCJgAAAAAAAAAAAAAAAAD4QF3T7qWSfxMRX1Xs3Xoqeatr2qdzej7rleo+7pq2VKoNAMAJOHf/ufscMCphDQAAAMAkdU37OiK+SSXfioibC35KL4Zghj8FNPRhFRNYEwDAGLYrhTWcTSWvVA7BqrHuN7aH+zEAAAAAAAAAAAAAAAAA07QZEWsRcanS6k5HxFZENPN2/qnkyxFxvVL5zUp1AYD6zugxAFMgrAEAAACYtK5pH6aS94cvSji1IKf15E0wQ/+twbsAAH/WNe1BKrm/J61UaMm14Q42c30QRKU1946GEAsAAAAAAAAAAAAAAAAAJqpr2sNUcj8X4Q8VV3i9f42uabfm7DlYr1T3VUQ8qFQbAPhrTyv0Y1WP55JzAxbO3/zwww9OFQAAAJi8VPKFIbDh/Jyd1kFEvIiIPw7BDPsTWBMAwGSlkvtQhbuV1vefagRlpZL/vmJYw6M+wKxSbQAAAAAAAAAAAAAAAABmKJW8VfHvyMUQUHC5D4eYh3NLJZ8ZhjufrlD+d13T1gqCAAB+5OWdi7MeZP39ufvPG32eLxWeg8fn7j8XAAGM6jPtBwAAAOZBH3KQSr43BDZcmfCS/xLMEBH7XdMeTGBNAABzo2vanVTylxFxqsKar0bE9iwLppJXKgY1HM16vQAAAAAAAAAAAAAAAABU1YcH3K4UThBD3c1h9sI8qNmLzTnpAQAA7zYXIWTAYhPWAAAAAMyNrmlfR8Q3qeRbEXFzAus+ehPK0Ac0dE37ZAJrAgBYBDsRcaPCPm5UCD+4NeN6x20Pd2AAAAAAAAAAAAAAAAAA5kDXtIep5D6w4b9UXO3dVPJW17RlDlqyXqnu913TPq1UGwCAt3h55+KqvgCLSFgDAAAAMHe6pn2YSu4DEtYi4tQJrv/FEMzwp4CGrmn3PT0AAFVsVwprOJtKXplVyFZfKyJWZlHrLY4qBEsAAAAAAAAAAAAAAAAAUFnXtFup5H4ewvWKr7QVEZenfJap5CYirlQqv1WpLgBwcgz+nz9nKqx4b9GbBkyfsAYAAABgLnVNu5dKvjcENpyvtIcnb4IZ+m+7pn3taQEAqK9r2oNU8pNKQQjXhjveLNyq2Ixt908AAAAAAAAAAAAAAACAudXPQvjvFRd/KZW80TXtxoQbtFap7rM+EKNSbQDg3b6fcRjVab0mIg41ARibsAYAAABgbnVNuz8ENnw5pCSf+oS9HETEi4j44xDMsO/JAAAY1W6lsIarqeTff2oQQip5pdL6ekd9WEOl2gAAAAAAAAAAAAAAAABU1jXt01TybyLiq4qv9FUq+UHXtHtTO89U8pmIuFupvKAGAIBxXNZ3YBEJawAAAADm2jBk909vpKeSLwwDc998e/Yn9vaXYIaI2O+a9sCTAAAwHV3T7qSSv/zEQK53uTqDMIRbFZu1/alhEgAAAAAAAAAAAAAAAACMq2vajVTy7Yi4UnEhmxHRTPCo1yvWFtYAADCOGmENT50lMDZhDQAAAMDC6Jp2vw9eeLOfVPLnQ2hD//Hvhh/7Y9e0T5w6AMBc2ImIGxUWeuNTwhpSyW/umDUczSBIAgAAAAAAAAAAAAAAAIBp6EML/lBxJddTyetd025O7LzXKtX9tmtaA30BYEG8vHPxzLn7zw+d51JztwNGJ6wBAAAAWFhd076OiL3hAwCA+bNbKazhbB+48AkhXrdmvJ7jtod7LAAAAAAAAAAAAAAAAABzrmvakkr+XUT8suJONlLJW13TTmLQcSr5dkRcqlR+q1JdAODn1bhrrEZE0fu5cXnZGwAspl84VwAAAAAAAKaoa9r9iHhRaWnXPuYX9SEPEbEy++X8yVEf1lCpNgAAAAAAAAAAAAAAAADj2IiIVxVf+fTEQgzWK9V91odfVKoNAPy8PT1aejXCGp4ue1OB8QlrAAAAAAAAYMpqhRdcTSV//hG/7laFtbyx3TXt64r1AQAAAAAAAAAAAAAAADhhXdMeRsRa5Vf9IpXcjH22qeR+gO/1SuU3KtUFAGAk5+4/F9YAjE5YAwAAAAAAAFO2FxFHldZ39UN+cip5JSJWKq3lqGIwBQAAAAAAAAAAAAAAAAAj6pr2QUR8X3kFW6nkMyOf83qluq8i4kGl2gAAvJ+x75oAVQhrAAAAAAAAYLK6pn09BDbUcO0Da96q2KftYa8AAAAAAAAAAAAAAAAALKa1IXSglksRsTFy59Yq1X3QNe1hpdoAwHgu6/1cuTLjxda8GwO8N2ENAAAAAAAATN12pfWdTyVfeJ+fmEpeiYiVSus4qrhHAAAAAAAAAAAAAAAAACaga9qnJxCm8MtU8uoYu00l90ENpyuVHzuEAgCI2KvQA2ENy63GMwXwwYQ1AAAAAAAAMGld0+5HxItKa7zxnj/vVsUebXdN+7pifQAAAAAAAAAAAAAAAAAmoGvazYh4XHklWyPtdL1S3e+HoAsAYFyH+r+8Xt65eGbZewAsLmENAAAAAAAAzIPtSmtcTSV//lM/IZW8EhErlV7/qOLeAAAAAAAAAAAAAAAAAJietcorupJKrhWc8Fap5NX+dSuVHyt8AgCA/99qhV4IAAEmQVgDAAAAAAAA82BvCDaYtVPv8UUBtyr2Z7tr2teeQAAAAAAAAAAAAAAAAIDl0DVt//flfld5sxup5Msn2NBa4RDPuqYV1gAAsJj2nCswBcIaAAAAAAAAmLwh0KDWG+033vUDqeSViFip9Lp9+MR2pdoAAAAAAAAAAAAAAAAATNdGH0RQcXWnI2LzJHafSj4TEXcrlRfUAADTcVhhJY3znRtnlr0BwOIS1gAAAAAAAMC8qBVscD6VfOEdP3arYm+2hxAKAAAAAAAAAAAAAAAAAJZI17T9sOP1yjv+IpV8+wS6ulaxtrAGAJiIc/ef7zmLpba67A0AFpewBgAAAAAAAOZC17T7EfGi0lpv/Pg7UskrEbFS6fWOKoZPAAAAAAAAAAAAAAAAADBxXdM+iIjvKq9yM5V8pvJr1Aqd+K5r2qeVagMAML7iDIApENYAAAAAAADAPKkVcLCaSv78R993q2JftrumfV2xPgAAAAAAAAAAAAAAAADT1wcdvKq4yksRsVGreCr59vAaNWzWWjcAAAC8IawBAAAAAACAebIXEUcV1nuqD2x48y+p5JWIWKnUl6OKoRMAAAAAAAAAAAAAAAAAzImuaZ/WDFMY/DKV3FSqvVap7rOuaUul2gDAdFx2FnOj1n0SYHTCGgAAAAAAAJgbXdO+HgIbarhxrOatij3ZHvYBAAAAAAAAAAAAAAAAwJLrmnYzIr6v3IXNWRdMJffDlb+Ydd3BzNcLAMzE4xm38ZJjWV7n7j8XzgVMgrAGAAAAAAAA5s12pfWeTyVfSCWvRMRKpdc4qrh+AAAAAAAAAAAAAAAAAObTeuVVX0klb8y4Zq01v4qIrUq1AYBPc6h/ACwaYQ0AAAAAAADMla5p9yPiRaU134iIWxX7sd017euK9QEAAAAAAAAAAAAAAACYM13T7kXEbyqvej2VfHmG9dZmWOu4B13TGgQNADAt150HsKiENQAAAAAAADCPtiuteTUiVirVPqq4bgAAAAAAAAAAAAAAAADm22ZEPKu4g9MRsTWLQqnktaFeDZuV6gIAMB2PnQUwFcIaAAAAAAAAmEd7Q/jBrJ2q2Ivtrmlfe9oAAAAAAAAAAAAAAAAA+LGuaQ8jYq1yY66nkm/PoM76DGq8zfdd0+5Vqg0ATNDLOxcb57KUDpe9AcB0CGsAAAAAAABg7gyhB/P0BZd9sMT2BNYBAAAAAAAAAAAAAAAAwER1TVsi4rvKq9tKJZ/52F+cSl6NiCuzXdJfbFWqCwDMRtHH5fPyzsXVZe8BsNiENQAAAAAAADCvduZo3dtDwAQAAAAAAAAAAAAAAAAA/JS1iHhVsUOnI2LzE379+gzXctyrrmmFNQAATM9HB339hD3nDEyFsAYAAAAAAADmUte0TyLiYA7WftSHNUxgHQAAAAAAAAAAAAAAAABMXNe0hxUDEd64m0puPvQXpZL7Qb23K63pUwIkAACYL4fOC5gKYQ0AAAAAAADMs3kIQdjumvb1BNYBAAAAAAAAAAAAAAAAwBzomnYrIr6vvNKtj/g1axFxusJa4iPXAwDMv8vOcPJWl70BwGIT1gAAAAAAAMA825342o/mJFACAAAAAAAAAAAAAAAAgGlZq7yaS6nkjQ/8NeuV1vJd17RPK9UGAGanxp/Xwhqm70yFFbr7AZMhrAEAAAAAAIC51TXt64kHNuwMawQAAAAAAAAAAAAAAACA9zaEF/ymcse+SiW/14DkVHLTBzxUWsdmpboAwGwZsM+seJaAyRDWAAAAAAAAwLzbmfD6tyewBgAAAAAAAAAAAAAAAADmUNe0GxHxrPLKt97z561Xev1nXdOWSrUBAPh07xXuBTCvhDUAAAAAAAAw17qmfRIRBxPcw27XtFNcFwAAAAAAAAAAAAAAAADzY63ySq+nkn8yiCGV3A/o/aLS629WqgsAwGzUCGt46myAqRDWAAAAAAAAwCLYnuAeHk5gDQAAAAAAAAAAAAAAAADMsa5pS0T8rvIONlLJZ37ix2sGRmxVrA0ATN+qM1o+5+4/F9YATIawBgAAAAAAABbB7sT2sNs17cEE1gEAAAAAAAAAAAAAAADA/NuIiFcVd3H6Z0IT1iu97rdd0x5Wqg0AzNi5+89LhZ7+VGAU03DZOQCLTFgDAAAAAAAAc69r2tcTC2x4OIE1AAAAAAAAAAAAAAAAALAAhkCDtco7+SKV3Pz4O1PJa0OYQw2bnk8AgMm7NOMF1gwhA/hgwhoAAAAAAABYFDsT2cdu17QHE1gHAAAAAAAAAAAAAAAAAAuia9oHEfF95d1spZLP/Oj7aoVEPO6adq9SbQAApssdEJgUYQ0AAAAAAAAshK5pn0TEFEISHk5gDQAAAAAAAAAAAAAAAAAsnj444VXFXV2KiPU3/5JKXo2I65Vea7NSXQBgvvw4KIoJeXnnovMBFp6wBgAAAAAAABbJ9sh72e2adgqBEQAAAAAAAAAAAAAAAAAsmK5pn55AyMFXQ0hDHA9umLFXXdNueT4BYC49m/Gir3gMJm21wuIOF6g/wAIQ1gAAAAAAAMAi2R15Lw8Xq50AAAAAAAAAAAAAAAAATEnXtBsR8bjykjZTyWci4nal+oIaAGB+PXV2fKI9DQSmRFgDAAAAAAAAC6Nr2tcjBjbsdk174GkCAAAAAAAAAAAAAAAAoLL1yvWvR0SJiNOV6m9WqgsAwGyd0U9g0QlrAAAAAAAAYNHsjLSfh54kAAAAAAAAAAAAAAAAAGrrmrYPUvhd5Ze5Uqnud13TPq1UGwCA2VrVT2DRCWsAAAAAAABgoXRN+yQiDk54T7td0570awIAAAAAAAAAAAAAAACwvDYi4tkc7n5rAmsAACbk5Z2LAgGWS1n2BgDTIqwBAAAAAACARbR9wnt66CkCAAAAAAAAAAAAAAAA4KR0TXsYEetz1vBnXdM+mMA6AICPV2PQ/hnnAcBYhDUAAAAAAACwiHZPcE+7XdMeeIoAAAAAAAAAAAAAAAAAOElD8MF3c9T0zQmsAQCA99foFbDohDUAAAAAAACwcLqmfR0Rj09oXw89QQAAAAAAAAAAAAAAAACMZD0iXs1J87cmsAYAAEZ07v7zov/AlAhrAAAAAAAAYFHtnMC+drumPfAEAQAAAAAAAAAAAAAAADCGrmmfRsTGHDT/265pDyewDgBges44EwDGIqwBAAAAAACAhdQ17V5E1A5SeOjpAQAAAAAAAAAAAAAAAGBMXdNuRsTjiR/C5gTWAAB8uhrhS6vOZbKuL3sDgMUnrAEAAAAAAIBFtltxb7td09YOgwAAAAAAAAAAAAAAAACA97E24S497pp2bwLrAAA+nT/T+RRTDxgDlpCwBgAAAAAAABbZTsW9PfTkAAAAAAAAAAAAAAAAADAFQxjCbyZ6GJsTWAMAAOM7dAbA1AhrAAAAAAAAYGF1TXsQEY8r7G93qA0AAAAAAAAAAAAAAAAAU9GHIjyb2Gm8iogHE1gHAAAf4OWdi6v6BSwDYQ0AAAAAAAAsup0K+3voqQEAAAAAAAAAAAAAAABgSrqmPYyItYkta2tYFwDAu1zWmUk6U2FRewvQF2DBCGsAAAAAAABgoXVN279Z/zginhz7OPqEPe92TXvgqQEAAAAAAAAAAAAAAABgarqmLRHx3YSWtTmBNQAAs1Nj2L6whuUhxAuYnM8cCQAAAAAAAIuua9pv3meLqeQLEXHqLT/Uf//nwz/veGAAAAAAAAAAAAAAAAAAmLC1iHgaEadHXuL3XdM+nXSnAIAPcu7+88OXdy5q2nJYXfYGAMtBWAMAAAAAAAAMuqbdf0cvnugRAAAAAAAAAAAAAAAAAPOga9rDVPJGRPx25OVuzkfHAAB4izMVmiLIC5icXzgSAAAAAAAAAAAAAAAAAAAAAAAAAIDF0TVtH5Tw/YgbetY17QOPFAAAxwhrACZHWAMAAAAAAAAAAAAAAAAAAAAAAAAAwOJZG3FHW54nAFhYr2a8seselUm6vOwNAJaDsAYAAAAAAAD+P/buGMmN4wzDcJfLuSZDhsUNPDfgXAI1KY/AI1A3WN2AipFQN8CGkw1vgEWGbPYGKtm0TIqktQCmge75nydUlSn290+VFeEFAAAAAAAAAAAAAAAAABZm6PpDSunnO73q0fcEAIs1Om0IOWINh+ijAuURawAAAAAAAAAAAAAAAAAAAAAAAAAAWKCh69+nlJ5v/LJfh66ffE8AAHxptTuKNQDFEWsAAAAAAAAAAAAAAAAAAAAAAAAAAFiutzd+2QffEgBA9TZOCEQg1gAAAAAAAAAAAAAAAAAAAAAAAAAAsFBD1+9TSr/e6HWfPv/7AABe7bRdCwOU52Hmv9HLEkYBlkesAQAAAAAAAAAAAAAAAAAAAAAAAABg2d7d6AdyH31HALB4Y4YHijUsX47vBuBqYg0AAAAAAAAAAAAAAAAAAAAAAAAAAAs2dP30OdiQ0x8xiI++IwBYvMmJl+20XTfRNwDiEGsAAAAAAAAAAAAAAAAAAAAAAAAAAFi4oes/pJSeMr7yw+coBAAAdWsz/O39dyJQJLEGAAAAAAAAAAAAAAAAAAAAAAAAAIAY3qaUXjK99NE3BADAD4yGAUok1gAAAAAAAAAAAAAAAAAAAAAAAAAAEMDQ9YdMUYWnz382ALB8U4YXdr6bojTRBwDiEGsAAAAAAAAAAAAAAAAAAAAAAAAAAAhi6Pr3KaVPM7/2g+8HAMIYnXrx2ugDAHGINQAAAAAAAAAAAAAAAAAAAAAAAAAAxPJuxtc+D10v1gAAwP+ztw5QIrEGAAAAAAAAAAAAAAAAAAAAAAAAAIBAhq7/48dyf5npxUINAAAAVEmsAQAAAAAAAAAAAAAAAAAAAAAAAAAgnvcppZcZXi3WAABca2PBonTRBwDiEGsAAAAAAAAAAAAAAAAAAAAAAAAAAAhm6PoppfT2ylf/OnT9wbcDAKHk+P9+sYaFW+2O++gbAGUSawAAAAAAAAAAAAAAAAAAAAAAAAAACGjo+o8ppd+uePkH3w0AxLLaHYWaAFgMsQYAAAAAAAAAAAAAAAAAAAAAAAAAgLjepZReLnj989D1e98NAMDivHFSIAqxBgAAAAAAAAAAAAAAAAAAAAAAAACAoIauP6SU3l/w+kv+NwAAxPPJzYFSiTUAAAAAAAAAAAAAAAAAAAAAAAAAAAQ2dP3jmT+i+5JS+uibAQBm0hpy0aboAwDlEmsAAAAAAAAAAAAAAAAAAAAAAAAAAODtGQt8HLrej+4CQFxPM7/8J99SGU7btXAGEIpYAwAAAAAAAAAAAAAAAAAAAAAAAABAcEPXjymlX165wvvoewEALFST4VmjjwUolVgDAAAAAAAAAAAAAAAAAAAAAAAAAADpc4Th+W+WeBq6/mAtAABeaTIUUCqxBgAAAAAAAAAAAAAAAAAAAAAAAAAA0tD1f/yQ7tu/WeKDpQCAuZ2268aoRWijDwDEItYAAAAAAAAAAAAAAAAAAAAAAAAAAMC/DV2/Tyn99oM1noeuF2sAAA4ZFhAJKEOOaEaO7wVgFmINAAAAAAAAAAAAAAAAAAAAAAAAAAB86W1K6eU7iwg1AADJj+9zJt8LUCyxBgAAAAAAAAAAAAAAAAAAAAAAAAAA/jR0/ZRSev+dRcQaAACWbeO+QCRiDQAAAAAAAAAAAAAAAAAAAAAAAAAAfGXo+seU0tMX/+y3oesPVgIAWLQcsQb/DQkUS6wBAAAAAAAAAAAAAAAAAAAAAAAAAIDveffFP3u0EACQUWvcZVrtjmINQLHEGgAAAAAAAAAAAAAAAAAAAAAAAAAA+MbQ9WNK6eeU0vPQ9XsLAQCf5fjvgsa4RdhEHwCI5Z/uDQAAAAAAAAAAAAAAAAAAAAAAAADADzxm+kFmAADK8zDz3+jFjYGSiTUAAAAAAAAAAAAAAAAAAAAAAAAAAPBdQ9dPYg0AAFxoNBxQsn+4DgAAAAAAAAAAAAAAAAAAAAAAAAAAAAB31Bj/vk7btRsA4Yg1AAAAAAAAAAAAAAAAAAAAAAAAAAAAAPBahwxLtda/uxw3mCrbAAhGrAEAAAAAAAAAAAAAAAAAAAAAAAAAAACAV1ntjjliDSzT6K5AycQaAAAAAAAAAAAAAAAAAAAAAAAAAAAAACC2JvoAQDxiDQAAAAAAAAAAAAAAAAAAAAAAAAAAAAAQWxt9ACAesQYAAAAAAAAAAAAAAAAAAAAAAAAAAAAA7kkoYJn20QcAyibWAAAAAAAAAAAAAAAAAAAAAAAAAAAAAMA5Ps281k/WB+DWxBoAAAAAAAAAAAAAAAAAAAAAAAAAAAAAOMdkrcXpog8AxCPWAAAAAAAAAAAAAAAAAAAAAAAAAAAAAADMarU77i0KlEysAQAAAAAAAAAAAAAAAAAAAAAAAAAAAAAACEWsAQAAAAAAAAAAAAAAAAAAAAAAAAAAAIBzTHOvddquOxe4qzeB3w4EJdYAAAAAAAAAAAAAAAAAAAACgG8zAAAgAElEQVQAAAAAAAAAwDlGa/E3PhkIKJ1YAwAAAAAAAAAAAAAAAAAAAAAAAAAAAAAwp8maQOnEGgAAAAAAAAAAAAAAAAAAAAAAAAAAAAAgqNN23bo9EJFYAwAAAAAAAAAAAAAAAAAAAAAAAAAAAAD3tnGBu2ky/IvHSt4OBCbWAAAAAAAAAAAAAAAAAAAAAAAAAAAAAMA5cvwQv1jDskzRBwDKJ9YAAAAAAAAAAAAAAAAAAAAAAAAAAAAAwDn8EP+ytNEHAGISawAAAAAAAAAAAAAAAAAAAAAAAAAAAACAuJoMLz/4noDSiTUAAAAAAAAAAAAAAAAAAAAAAAAAAAAAAHMSawCKJ9YAAAAAAAAAAAAAAAAAAAAAAAAAAAAAwDmmDGt1LnA3m6DvBoITawAAAAAAAAAAAAAAAAAAAAAAAAAAAADg1Va742itRckRazgE3hOohFgDAAAAAAAAAAAAAAAAAAAAAAAAAAAAADCb1e4o1gAUT6wBAAAAAAAAAAAAAAAAAAAAAAAAAAAAAOLauD0QkVgDAAAAAAAAAAAAAAAAAAAAAAAAAAAAAPcmGHA/DzP/m19qejwQl1gDAAAAAAAAAAAAAAAAAAAAAAAAAAAAAOd6nnmxuYMB3M9oe6AGYg0AAAAAAAAAAAAAAAAAAAAAAAAAAAAAnOtgsfqdtusm+gZAXGINAAAAAAAAAAAAAAAAAAAAAAAAAAAAABBTm+HVk28JqIFYAwAAAAAAAAAAAAAAAAAAAAAAAAAAAAAwl9GSQA3EGgAAAAAAAAAAAAAAAAAAAAAAAAAAAAC4u9N23bnCzTXB3gvwJ7EGAAAAAAAAAAAAAAAAAAAAAAAAAAAAAM61t9gitBkeMQXcEaiQWAMAAAAAAAAAAAAAAAAAAAAAAAAAAAAAMJfRkkANxBoAAAAAAAAAAAAAAAAAAAAAAAAAAAAAAIBQxBoAAAAAAAAAAAAAAAAAAAAAAAAAAAAAKEHjCjfXBXsvwJ/EGgAAAAAAAAAAAAAAAAAAAAAAAAAAAAA41yHDYq0r1G+1O+6jbwDUQawBAAAAAAAAAAAAAAAAAAAAAAAAAAAAgHPliDUAwM2INQAAAAAAAAAAAAAAAAAAAAAAAAAAAABATG/cHYhKrAEAAAAAAAAAAAAAAAAAAAAAAAAAAAAAmMOTFYFaiDUAAAAAAAAAAAAAAAAAAAAAAAAAAAAAUILWFQC4FbEGAAAAAAAAAAAAAAAAAAAAAAAAAAAAAM6y2h33GRZrXOF2Ttu1OAYQmlgDAAAAAAAAAAAAAAAAAAAAAAAAAAAAAMSTI44x+o6AWog1AAAAAAAAAAAAAAAAAAAAAAAAAAAAAABzmKwI1EKsAQAAAAAAAAAAAAAAAAAAAAAAAAAAAIASNK5wU22gtwJ8Q6wBAAAAAAAAAAAAAAAAAAAAAAAAAAAAgEs8z7zav1zhpnLEMcaC3wvwFbEGAAAAAAAAAAAAAAAAAAAAAAAAAAAAAC5xsBp/MRkEqIVYAwAAAAAAAAAAAAAAAAAAAAAAAAAAAADEs3FzIDKxBgAAAAAAAAAAAAAAAAAAAAAAAAAAAACIJ0es4eA7Amoh1gAAAAAAAAAAAAAAAAAAAAAAAAAAAABAEU7bdesS9VrtjmINQDXEGgAAAAAAAAAAAAAAAAAAAAAAAAAAAAC4xJhhtcYlbmYT5J0A3yXWAAAAAAAAAAAAAAAAAAAAAAAAAAAAAMAlJqtV7WHmv/xzsP2Ayok1AAAAAAAAAAAAAAAAAAAAAAAAAAAAAADXOlgQqIlYAwAAAAAAAAAAAAAAAAAAAAAAAAAAAAAEctquG/cGohNrAAAAAAAAAAAAAAAAAAAAAAAAAAAAAOASU4bVOpe4iTbDvyTH9wCQjVgDAAAAAAAAAAAAAAAAAAAAAAAAAAAAAJcYrcYXfA9AVcQaAAAAAAAAAAAAAAAAAAAAAAAAAAAAACCWxr2B6MQaAAAAAAAAAAAAAAAAAAAAAAAAAAAAACCWNsNrJ98QUBOxBgAAAAAAAAAAAAAAAAAAAAAAAAAAAABKsXGJao3RBwDqItYAAAAAAAAAAAAAAAAAAAAAAAAAAAAAwCVy/Di/WAMANyHWAAAAAAAAAAAAAAAAAAAAAAAAAAAAAMDZVrvjZLVqddEHABBrAAAAAAAAAAAAAAAAAAAAAAAAAAAAAACustod9xYEaiLWAAAAAAAAAAAAAAAAAAAAAAAAAAAAAAAAhCLWAAAAAAAAAAAAAAAAAAAAAAAAAAAAAMClXmZe7o1L3ISdgfDEGgAAAAAAAAAAAAAAAAAAAAAAAAAAAAC41Gg5UkpPRgBqI9YAAAAAAAAAAAAAAAAAAAAAAAAAAAAAAACEItYAAAAAAAAAAAAAAAAAAAAAAAAAAAAAAEGctuvWrQHEGgAAAAAAAAAAAAAAAAAAAAAAAAAAAAAoyGm73rhHVk2GP3ws6H0AryLWAAAAAAAAAAAAAAAAAAAAAAAAAAAAAMClcvxIv1hDfaboAwD1EWsAAAAAAAAAAAAAAAAAAAAAAAAAAAAA4FJ+pL8+bfQBAJJYAwAAAAAAAAAAAAAAAAAAAAAAAAAAAACE0mR47OgTAmoj1gAAAAAAAAAAAAAAAAAAAAAAAAAAAAAAXGOyHlAbsQYAAAAAAAAAAAAAAAAAAAAAAAAAAAAAStK5RlabBb8N4NXEGgAAAAAAAAAAAAAAAAAAAAAAAAAAAAC41N5y1ckRazgsfDNggcQaAAAAAAAAAAAAAAAAAAAAAAAAAAAAAICLrXZHsQagOmINAAAAAAAAAAAAAAAAAAAAAAAAAAAAABDHxq0BxBoAAAAAAAAAAAAAAAAAAAAAAAAAAAAAKEvjHlk9zPyHPxf2PoBXEWsAAAAAAAAAAAAAAAAAAAAAAAAAAAAA4FKHDMu1rlGVHN8AQHZiDQAAAAAAAAAAAAAAAAAAAAAAAAAAAABcZLU7+qH+ipy26yb6BgD/JdYAAAAAAAAAAAAAAAAAAAAAAAAAAAAAADG0GV45+XaAGok1AAAAAAAAAAAAAAAAAAAAAAAAAAAAAACXGi0H1EisAQAAAAAAAAAAAAAAAAAAAAAAAAAAAICStK6RTbPQdwGcTawBAAAAAAAAAAAAAAAAAAAAAAAAAAAAgGs8zbzeT66RTY4QxlTI2wDOItYAAAAAAAAAAAAAAAAAAAAAAAAAAAAAAFxqtBxQI7EGAAAAAAAAAAAAAAAAAAAAAAAAAAAAAAAgFLEGAAAAAAAAAAAAAAAAAAAAAAAAAAAAAIpy2q4bF8miW+CbAC4i1gAAAAAAAAAAAAAAAAAAAAAAAAAAAADANQ4Z1mtdpA6r3XEffQOgTmINAAAAAAAAAAAAAAAAAAAAAAAAAAAAAFwjR6wBALISawAAAAAAAAAAAAAAAAAAAAAAAAAAAACAGN64M8B/iDUAAAAAAAAAAAAAAAAAAAAAAAAAAAAAAJd4shpQK7EGAAAAAAAAAAAAAAAAAAAAAAAAAAAAAErTuggAOYk1AAAAAAAAAAAAAAAAAAAAAAAAAAAAAHCNfYb1GheZ12m77pb0HoBriTUAAAAAAAAAAAAAAAAAAAAAAAAAAAAAAJcYrQbUSqwBAAAAAAAAAAAAAAAAAAAAAAAAAAAAALjEZDWgVmINAAAAAAAAAAAAAAAAAAAAAAAAAAAAAJSmcZHZtQt7D8BVxBoAAAAAAAAAAAAAAAAAAAAAAAAAAAAAuMaUYT1hgfnlCGCM934UwKXEGgAAAAAAAAAAAAAAAAAAAAAAAAAAAAC42Gp39IP9ceUIdQDchFgDAAAAAAAAAAAAAAAAAAAAAAAAAAAAACxf68YA/yPWAAAAAAAAAAAAAAAAAAAAAAAAAAAAAADL12R44cF3A9RKrAEAAAAAAAAAAAAAAAAAAAAAAAAAAACA0mxcpHyr3VGsAaiWWAMAAAAAAAAAAAAAAAAAAAAAAAAAAAAA1/o084IPLjI7AQyAL4g1AAAAAAAAAAAAAAAAAAAAAAAAAAAAAHCtyYLFmzuA8bzAjYBAxBoAAAAAAAAAAAAAAAAAAAAAAAAAAAAAgHMdLAbUTKwBAAAAAAAAAAAAAAAAAAAAAAAAAAAAABbstF1v3Bfga2INAAAAAAAAAAAAAAAAAAAAAAAAAAAAAFxrmnvB03bducpscsQaZr85wC2JNQAAAAAAAAAAAAAAAAAAAAAAAAAAAABwrdGC4bg5UDWxBgAAAAAAAAAAAAAAAAAAAAAAAAAAAABYtsZ9Ab4m1gAAAAAAAAAAAAAAAAAAAAAAAAAAAAAAy9ZmeN3kmwFqJtYAAAAAAAAAAAAAAAAAAAAAAAAAAAAAQIk2rlK0MfoAQN3EGgAAAAAAAAAAAAAAAAAAAAAAAAAAAAC4Vo4f7hdrmE+zlIcAzEWsAQAAAAAAAAAAAAAAAAAAAAAAAAAAAIBrTRYsWht9AIC/EmsAAAAAAAAAAAAAAAAAAAAAAAAAAAAAAM6y2h33FgNqJtYAAAAAAAAAAAAAAAAAAAAAAAAAAAAAAACEItYAAAAAAAAAAAAAAAAAAAAAAAAAAAAAQIk6V5nNm4W8A2A2Yg0AAAAAAAAAAAAAAAAAAAAAAAAAAAAAXGW1O+4tGMpT9AGA+ok1AAAAAAAAAAAAAAAAAAAAAAAAAAAAAAAAoYg1AAAAAAAAAAAAAAAAAAAAAAAAAAAAAMBCnbbrzm0BviXWAAAAAAAAAAAAAAAAAAAAAAAAAAAAAECJNq5SrDH6AED9xBoAAAAAAAAAAAAAAAAAAAAAAAAAAAAAmMPzzCs+uEqxpugDAPUTawAAAAAAAAAAAAAAAAAAAAAAAAAAAABgDgcrFqmNPgDA94g1AAAAAAAAAAAAAAAAAAAAAAAAAAAAAMByNRleNvpegNqJNQAAAAAAAAAAAAAAAAAAAAAAAAAAAAAA55isBdROrAEAAAAAAAAAAAAAAAAAAAAAAAAAAACAIp2269ZlrmZDgO8QawAAAAAAAAAAAAAAAAAAAAAAAAAAAABgDvsMKzYuc7UcGx5u/AaA2Yk1AAAAAAAAAAAAAAAAAAAAAAAAAAAAAACvttodxRqA6ok1AAAAAAAAAAAAAAAAAAAAAAAAAAAAAMBybdwW4FtiDQAAAAAAAAAAAAAAAAAAAAAAAAAAAACUqnGZqz3M/Oc93+ENALMTawAAAAAAAAAAAAAAAAAAAAAAAAAAAABgDocMK7YuU5wcdwa4ObEGAAAAAAAAAAAAAAAAAAAAAAAAAAAAAObgR/wLc9quN9E3APgRsQYAAAAAAAAAAAAAAAAAAAAAAAAAAAAAWKYcsYbJtwIsgVgDAAAAAAAAAAAAAAAAAAAAAAAAAAAAAPBao6WAJRBrAAAAAAAAAAAAAAAAAAAAAAAAAAAAAKBUrctcpan47w6QlVgDAAAAAAAAAAAAAAAAAAAAAAAAAAAAAFdb7Y77DCuKDVwnR+xiuuUDAHIRawAAAAAAAAAAfmfv/pUbOfI7gLf21mW7XOeFI5YdcHmxq0z0JA4cEHoBixcwXqZWovUTaP0Ex0gXatcpA/PKDyDQ+aGhJzDJxGa5XMZGd7bvvK45QUdJ3CUxQDcwfz6fKtQGAmZ6vj/MCEz6CwAAAAAAAAAAAAAAAAAAsKq5pIA+UNYAAAAAAAAAAAAAAAAAAAAAAAAAAAAAAP00MleA91PWAAAAAAAAAAAAAAAAAAAAAAAAAAAAAEBbKRvYzLjLiwcoSVkDAAAAAAAAAAAAAAAAAAAAAAAAAAAAALm8zZzkocm0y975zXToGQD9oKwBAAAAAAAAAAAAAAAAAAAAAAAAAAAAgFzmkgSgC5Q1AAAAAAAAAAAAAAAAAAAAAAAAAAAAAEA/HZkrwPspawAAAAAAAAAAAAAAAAAAAAAAAAAAAAAAVnEpJaAvlDUAAAAAAAAAAAAAAAAAAAAAAAAAAAAA0Fq3J/tj0wEgN2UNAAAAAAAAAAAAAAAAAAAAAAAAAAAAAOQyL5DkyHSauz3Zn3RtzQDbpKwBAAAAAAAAAAAAAAAAAAAAAAAAAAAAgFwWkuy1EmUcADuhrAEAAAAAAAAAAAAAAAAAAAAAAAAAAAAAWIUyDqA3lDUAAAAAAAAAAAAAAAAAAAAAAAAAAAAAQP+MzRTgw5Q1AAAAAAAAAAAAAAAAAAAAAAAAAAAAAJDLokCSE9NZy6jAMedbWDfAVihrAAAAAAAAAAAAAAAAAAAAAAAAAAAAACAXm/n3W4kyDoCdUNYAAAAAAAAAAAAAAAAAAAAAAAAAAAAAAP0zNlOAD1PWAAAAAAAAAAAAAAAAAAAAAAAAAAAAAAD9MypwRVe+J0BfKGsAAAAAAAAAAAAAAAAAAAAAAAAAAAAAoM0OTKcd9s5vlDUAvaGsAQAAAAAAAAAAAAAAAAAAAAAAAAAAAIBc5gWSVNawHrkBPEBZAwAAAAAAAAAAAAAAAAAAAAAAAAAAAABZ7J3fLCTZGs8zL+S6w1kA3KOsAQAAAAAAAAAAAAAAAAAAAAAAAAAAAAB4zJWEgD5R1gAAAAAAAAAAAAAAAAAAAAAAAAAAAAAAPXJ7sn9gngAPU9YAAAAAAAAAAAAAAAAAAAAAAAAAAAAAQE5vMx/vyHQaK1HWsCi8ZoCtUtYAAAAAAAAAAAAAAAAAAAAAAAAAAAAAQE5zafaSuQK9oqwBAAAAAAAAAAAAAAAAAAAAAAAAAAAAAPplZJ4AD1PWAAAAAAAAAAAAAAAAAAAAAAAAAAAAAAD9Mi5wNQvfEaBPlDUAAAAAAAAAAAAAAAAAAAAAAAAAAAAA0Gq3J/sHJrRz84FfP9AzyhoAAAAAAAAAAAAAAAAAAAAAAAAAAAAAyOmqQJrKGpoZdWmxALugrAEAAAAAAAAAAAAAAAAAAAAAAAAAAACAnEqUNdDMWF4AD1PWAAAAAAAAAAAAAAAAAAAAAAAAAAAAAAA8aO/8ZiohoE+UNQAAAAAAAAAAAAAAAAAAAAAAAAAAAAAAAIOirAEAAAAAAAAAAAAAAAAAAAAAAAAAAACAthubUCNHHVorwE4oawAAAAAAAAAAAAAAAAAAAAAAAAAAAAAgp2mBNEcmtFOXA752oKeUNQAAAAAAAAAAAAAAAAAAAAAAAAAAAAAAAIOirAEAAAAAAAAAAAAAAAAAAAAAAAAAAAAAeuL2ZH9ilgCPU9YAAAAAAAAAAAAAAAAAAAAAAAAAAAAAQNuNTGin5gO+dqCnlDUAAAAAAAAAAAAAAAAAAAAAAAAAAAAAkNNVgTTHJrRTiwFfO9BTyhoAAAAAAAAAAAAAAAAAAAAAAAAAAAAAyGbv/KZEWQOrU2wBsAJlDQAAAAAAAAAAAAAAAAAAAAAAAAAAAADQH6MCVzL3/QD6RlkDAAAAAAAAAAAAAAAAAAAAAAAAAAAAAPCQhXSAvlHWAAAAAAAAAAAAAAAAAAAAAAAAAAAAAEDbjU1oZbICWIGyBgAAAAAAAAAAAAAAAAAAAAAAAAAAAAByu8x8vGcmtLJRgWNeFVorwM4oawAAAAAAAAAAAAAAAAAAAAAAAAAAAAAAPmjv/EZZA9A7yhoAAAAAAAAAAAAAAAAAAAAAAAAAAAAAoD8OzBLgccoaAAAAAAAAAAAAAAAAAAAAAAAAAAAAAGi925P9kSmt5Hnm410XWifATilrAAAAAAAAAAAAAAAAAAAAAAAAAAAAACC3qwLHHJvSTpSYJcDOKWsAAAAAAAAAAAAAAAAAAAAAAAAAAAAAIDcb/O/A7cn+weAuGmBNyhoAAAAAAAAAAAAAAAAAAAAAAAAAAAAAoB9KlDUsfDeAPlLWAAAAAAAAAAAAAAAAAAAAAAAAAAAAAAB8yFwyQB8pawAAAAAAAAAAAAAAAAAAAAAAAAAAAACgC8am9KhRy9cH0BrKGgAAAAAAAAAAAAAAAAAAAAAAAAAAAADIbV7gmIoIHlei0GJR4JgAO6esAQAAAAAAAAAAAAAAAAAAAAAAAAAAAIDcbPDfHyWKNwB2TlkDAAAAAAAAAAAAAAAAAAAAAAAAAAAAAPTDyBwBVqOsAQAAAAAAAAAAAAAAAAAAAAAAAAAAAAD6YWyOAKtR1gAAAAAAAAAAAAAAAAAAAAAAAAAAAABAbosCx5yY0vbtnd9Mh3bNwDAoawAAAAAAAAAAAAAAAAAAAAAAAAAAAAAgq73zm7lEAWgzZQ0AAAAAAAAAAAAAAAAAAAAAAAAAAAAA0A9H5giwGmUNAAAAAAAAAAAAAAAAAAAAAAAAAAAAAMD7XEoF6CtlDQAAAAAAAAAAAAAAAAAAAAAAAAAAAAB0wYEpAZCLsgYAAAAAAAAAAAAAAAAAAAAAAAAAAAAASvg68zGfm9KH3Z7sT9q6NoA2UtYAAAAAAAAAAAAAAAAAAAAAAAAAAAAAQAkLqXbedOgBAP2lrAEAAAAAAAAAAAAAAAAAAAAAAAAAAAAAABgUZQ0AAAAAAAAAAAAAAAAAAAAAAAAAAAAA0H1jMwRYnbIGAAAAAAAAAAAAAAAAAAAAAAAAAAAAAEpY5D7m7cn+xKQ+aFTgmPMCxwRoBWUNAAAAAAAAAAAAAAAAAAAAAAAAAAAAAJRgo//uy164AdAWyhoAAAAAAAAAAAAAAAAAAAAAAAAAAAAAoPvGZgiwOmUNAAAAAAAAAAAAAAAAAAAAAAAAAAAAANB9owJXMPe9APpKWQMAAAAAAAAAAAAAAAAAAAAAAAAAAAAAXXFgUtuzd36zGMq1AsOjrAEAAAAAAAAAAAAAAAAAAAAAAAAAAACAEuYFjqms4cNkA9CAsgYAAAAAAAAAAAAAAAAAAAAAAAAAAAAASlhIdaueZz7ZdcuvF2AjyhoAAAAAAAAAAAAAAAAAAAAAAAAAAAAAgB+6kgjQZ8oaAAAAAAAAAAAAAAAAAAAAAAAAAAAAAKDDbk/2D8wPoBllDQAAAAAAAAAAAAAAAAAAAAAAAAAAAAB0xcSk3qtEWcNVgWMCtIayBgAAAAAAAAAAAAAAAAAAAAAAAAAAAACy2zu/mUq105Q1AL2mrAEAAAAAAAAAAAAAAAAAAAAAAAAAAAAAum1kfgDNKGsAAAAAAAAAAAAAAAAAAAAAAAAAAAAAgG4bF1j9wncC6DNlDQAAAAAAAAAAAAAAAAAAAAAAAAAAAAB0xciktmY+kOsEBkpZAwAAAAAAAAAAAAAAAAAAAAAAAAAAAAClXGc+7qFJvZcSC4CGlDUAAAAAAAAAAAAAAAAAAAAAAAAAAAAAUMqVZLdiXOAkixZeJ0A2T0UJ0F0xVpPlj+D6dbD899kjF/Q2hDBf/pFSv6Ypzaa+BvIcAjPOS555yRMAAAAAAAAAAAAAAAAAAAAAAAAAaJO985u5gQB99tG7d+8MGHhUjNUohPAyhHAaQnjeo8SuQwivU5q9asFaHrWcw/Hy9Unmw1+GEC7qV0qzQbTNybP/zDgveeYlTwAAAAAAAAAAAAAAAAAAAAAAAACG4PZkfxpCOMp5qXvnNx/58nyfnAGaU9YArCTGqm6wOuxxWm9Smp22YB3vFWM1XpZlvNjSKX8RQjhLaTbd0vm2Sp79Z8Z5yTMveQIAAAAAAAAAAAAAAAAAAAAAAAAwJCVKBOrt/fbOb+a+SHduT/azbziurAHoO2UNwKNirOoSgy8HkFRMadaqH9gxVgchhNcF/phY1WUI4VVfNviWZ/+ZcV7yzEueAAAAAAAAAAAAAAAAAAAAAAAAAAzR7cn+qxDC55kv/eO98xv7631HgbKGy73zm0nmYwK0yhPjAFZwPJCQWnOdMVajGKuzEMK/7nBT77A891cxVq/rNe1wHRuRZ/+ZcV7yzEueAAAAAAAAAAAAAAAAAAAAAAAAAAAA7aOsAVjFUDZ0HrdgDfWm3vU65iGEz1qwnG+9CCFcxVh1rslMnv1nxnnJMy95AgAAAAAAAAAAAAAAAAAAAAAAAACl3Z7s22MQYA3KGgBaJMbqNISQQgjPWziXZyGEr2KsXrVgLSuRZ/+ZcV7yzEueAAAAAAAAAAAAAAAAAAAAAAAAAFDMSLTFTXt+fQDKGgC+Y77LMGKsXoYQvuzAQD6PsXrdgnU8SJ79Z8Z5yTMveQIAAAAAAAAAAAAAAAAAAAAAAADA710ViGIsXgA2pawB4M7FrrKIsToLIfysQ7N40ebNveXZf2aclzzzkicAAAAAAAAAAAAAAAAAAAAAAAAAfE+Jsga+T3kFwBqUNQB8401Ks/kusoixOg0hfNbBObRyc2959p8Z5yXPvOQJAAAAAAAAAAAAAAAAAAAAAAAAAOzAqMApd7JfL8A2PZU2MHDXIYTXKc1e7SKGGKvjEMKXmQ53GUKYLpviPtQWd7B8TUIIRxnOWW/uPU1p1ooNvuXZf2aclzzzkicAAAAAAAAAAAAAAAAAAAAAAAAA0CMLwwT67qN3794ZMvCgeuPmBptAX6Y0m0j0cTFWB8t2sGcbHKbezLveVPsipVnjH6/LjcVPQwifbLCG3x0qpdlOm87k2X9mnJc885InAAAAAAAAAAAAAAAAAAAAAAAAALzf7cl+vV/tV5nj+cXe+c2xyL9xe7J/kWE/wh/6eO/8Zpr5mACtoqwBeJSyhjJirOqNsA/XPHi9oferlGZZfqwuNxk/2+AH9XUIYbzO5uK5yLP/zDgveeYlTwAAAAAAAAAAAAAAAAAAAAAAAAB4v9uT/VEI4b8yx3O5d35jH9yl25P9JnsIr+rP9s5v7E0I9NoT4wXYvhirV2tu6v02hPD3dSFGrk29aynNrlKa1U1wP12eo6nn9Ubju/oqybP/zDgveeYlTwAAAAAAAAAAAAAAAAAAAAAAAAD4MBv+d5O5AUOgrAFgy2KsDkIIn69x1usQQr2h91mpFac0uwgh1Ov7eo2PfxZjtfU2OXn2nxnnJc+85AkAAAAAAAAAAAAAAAAAAAAAAAAAtMCBIQA0p6wBYPvW2XQAgX8AACAASURBVJi73mh7nNJsXnq1Kc3qxrLJmpt7vyqwpMfIs//MOC955iVPAAAAAAAAAAAAAAAAAAAAAAAAANi+kcy/53nm411nPh5AKylrANiiGKt6w+xPGp7xbQjheLnh9lZssLn3UYzV6bbWKc/+M+O85JmXPAEAAAAAAAAAAAAAAAAAAAAAAABgZW8zR3Uo+qKuenxtAL+nrAFgu16tcbZJSrOt/zhdbu59usYfMutc47rk2X9mnJc885InAAAAAAAAAAAAAAAAAAAAAAAAAKxmLqcybk/2D/p4XQDboKwBYEtirCYhhKOGZ/uHlGY7+0Niee6mG3U/j7E6LrSk35Nn/5lxXvLMS54AAAAAAAAAAAAAAAAAAAAAAAAAQEuUKGu4MlxgCJQ1AGzPacMzXac0a7qpdnYpzc5CCJcNj/tyC0uTZ/+ZcV7yzEueAAAAAAAAAAAAAAAAAAAAAAAAAEBfKWsABkFZA8AWxFiNQggvGp6p6UbgJTXdqPsoxqpEo9rvyLP/zDgveeYlTwAAAAAAAAAAAAAAAAAAAAAAAADYvduTfXvlfWPUhkUAdJGyBoDtaLpJ92VKs2lbZpPSbB5CeNPwY003A29Cnv1nxnnJMy95AgAAAAAAAAAAAAAAAAAAAAAAAEAz8wJ5KWv4xrjAMRcFjgnQOsoaALaj6cbeZy2cy+uG7z8utI4gz0Ew47zkmZc8AQAAAAAAAAAAAAAAAAAAAAAAAKAZm/93S4lyDYDWUdYAUFiMVd2wdtjgLNcpzS7aNpeUZtMQwtcNPvI8xip7q5o8+8+M85JnXvIEAAAAAAAAAAAAAAAAAAAAAAAAAFpmZCAA61HWAFDeccMzvG7xTM4avv+0wBrk2X9mnJc885InAAAAAAAAAAAAAAAAAAAAAAAAANAm4wJrWZgwMATKGgDKa7q5dZs39r5o+P5JgTXIs//MOC955iVPAAAAAAAAAAAAAAAAAAAAAAAAAGiuxOb/9skrZO/8Zt7LCwP4AWUNAAXFWI1CCIcNzvB1SrOrts4kpVn9R81lg48cxlgd5Dq/PPPm2UZm7J55iDzz8gwCAAAAAAAAAAAAAAAAAAAAAAAAYIts/g9A6yhrACirabvatAPzuGj4/pwNc/Lsf2OfGbtnHiPPvDyDAAAAAAAAAAAAAAAAAAAAAAAAAKDbjswPYD3KGgDKarqpddNNs3eh6ebju9woXZ7dY8bumcfIMy/PIAAAAAAAAAAAAAAAAAAAAAAAAADguy6lAQyFsgaAssZNjp7SrOmm2VuX0mweQnjb4LyNMsh5LHl2khm7Zx4kz7w8gwAAAAAAAAAAAAAAAAAAAAAAAADosAPDA2ATyhoAyjpqcPQuNYbNG7z3MON55Zk3zzYyY/fMKuSZl2cQAAAAAAAAAAAAAAAAAAAAAAAAAKU12ftuVYMva7g92Z+0YBkAnaWsAaCQGKtxwyOX+IOhlGmT48ZYbfyjXZ53cuTZRmZ8xz3zKHnm5RkEAAAAAAAAAAAAAAAAAAAAAAAAQFF75zcLCXdGo30KAbpMWQNAOX3e2LvpWnO0zMnzTl9b+8z4jnvmYfLMyzMIAAAAAAAAAAAAAAAAAAAAAAAAAAAYHGUNAOU03cz6qkOzaLrWHBt7y/NOXzdKN+M77pmHyTMvzyAAAAAAAAAAAAAAAAAAAAAAAAAA6KaxuQGsT1kDQDmNfqimNJt2ZRYpzeYNPzLJcFp53smRZxuZ8R33zAPkmZdnEAAAAAAAAAAAAAAAAAAAAAAAAAAddWRwYVTgmE33KQToLGUNAOU0+aH6toNzuG7w3hw/2uV5p8QfQW1gxnfcM4+TZ16eQQAAAAAAAAAAAAAAAAAAAAAAAACUdinhTlgMPQBgOJQ1AJTTpFmti21hVw3ee5jhfPK8kyPPNjLjO+6Zx8kzL88gAAAAAAAAAAAAAAAAAAAAAAAAAOiesZkBrO+p7IBdi7Gqf9BNQggHyx939b/PH1nW2+Vm2FfLf+cpzaYdHmYX28IarTnGapTSbFvXKc/+M+O85JmXPAEAAAAAAAAAAAAAAAAAAAAAAACAbRgVOMfc5IChUNYA7ESM1XEI4dvXszXWUH/maPl6Eb45Zl3gUBc2XNSvXW4iHWM1afiRLv4Ardf8SYP3j5fzaUye77V2nm1kxu/lnnmYPPMa9DMIAAAAAAAAAAAAAAAAAAAAAAAAgG66Pdkf7Z3f7Gwf2j6SJzAkyhqArYmxqlu2XoYQTkMIzwuc99lyo+n6dRZjVZc2vEppdmXKAAAAAAAAAAAAAAAAAAAAAAAAAAAAO1XvE3uUeQHjEMJ0wGMdt2ANAJ2lrAEo7jslDS+XhQrbUJ/nRf2KsXqzg9KGUcP3d7FQYt7w/U0z2eSz8uweM77PPfMweeY19GcQAAAAAAAAAAAAAAAAAAAAAAAAAOV1cb++tsu93+91/yIC+LAnsgFKirGaLDeA/nyLRQ0/VJc2zGOsXm7xnE0bxbr4h8Ki4fs3aVmT5319a60z4/vcMw+TZ15DfwYBAAAAAAAAAAAAAAAAAAAAAAAAAAo1gIFR1gAUE2N1FkL4KoTwvAUp10URP4uxmsZYHbRgPQAAAAAAAAAAAAAAAAAAAAAAAAAAALCW25N9++wCbEhZA5BdjNUoxmoeQvishekehRDmMVbjFqwFAAAAAAAAAAAAAAAAAAAAAAAAAACA9Q15n9kSZQ1XBY4J0FrKGoDcRiGEaQjhsMXJPgshpBir0xas5VuLdiyjkTavWZ79Z8Z5yTMveQIAAAAAAAAAAAAAAAAAAAAAAADAfdMCmYzknJWyBmBQlDUAuR22vKjhu74sWNjQqFEtpdm80DqKWWPNm7TMyfO+vrX2mfF97pkHyDMvzyAAAAAAAAAAAAAAAAAAAAAAAAAA6JwDIwPYjLIGYOjqwoZJgQw0qt23SSbyvK9vmZjxfe6ZvOSZl0wAAAAAAAAAAAAAAAAAAAAAAAAAYLdKlDUszBQYkqemDbTAdQhhGkK4CiHMH/hBdrB81eUK4xDCs0xLv4ixGqc0u/JlAAAAAAAAAAAAAAAAAAAAAAAAAAAA6IyRUWU179G1ADxKWQOwK5chhNd1ScO6JQkxVschhPr1YsNrqEsfLpYFEAAAAAAAAAAAAAAAAAAAAAAAAAAAAOS31j60jxjynrKKKgA29ESAwJa9CSH8JKXZJKXZ63WLGmopzS5Smp3Wx1sedxOHMVavfBkAAAAAAAAAAAAAAAAAAAAAAAAAAADy2zu/KVHWMGQliioWQw8VGBZlDcC2fFvScLpJQcP71MdbljbEEMLXGxzq8xirA98IAAAAAAAAAAAAAAAAAAAAAAAAAAAAhmbv/GZu6MCQKGsASnsbQvi4REnDD6U0q3/ITZbFEOs6840AAAAAAAAAAAAAAAAAAAAAAAAAAACg5UYGBLAZZQ1ASZchhIOUZtNtpZzSbFEXQ2xQ2PBJjNUk87IAAAAAAAAAAAAAAAAAAAAAAAAAAADIbzzgTA9bsAaATlPWAJTyJqXZpC5P2EXCGxY2nGZeDgAAAAAAAAAAAAAAAAAAAAAAAAAAACFcZs7gmUyzyT0bgNZT1gCU8GZZlrBTyzV8vcYaXsRYHWy49qsmb46xGm14vq1bY82NMtnks/LsJDO+zz3zAHnm5RkEAAAAAAAAAAAAAAAAAAAAAAAAAAAMjbIGILdWFDV8x3EI4e2an9tE002sxxuebxearnlrG6XLs5PM+D73zMPkmdfQn0EAAAAAAAAAAAAAAAAAAAAAAAAA0Bm3J/sT0wLY3FMZQjMxVm34EXKV0mybmyRPQwhHK7zvsmVFDaHOKcbqVQjhZw0/Wl/HWaFlAQAAAAAAAAAAAAAAAAAAAAAAAAAAkMHtyf5o7/xmIcuNTTu+foDGlDXACmKsRsuN+1+0Ja8Yq+sQwsuUZhdbOF197S9DCM8eeM+bthU1fCul2VmMVb3+5w0+dhhjdbDlUgwAAAAAAAAAAAAAAAAAAAAAAAAAAIA+K1GqMFY0AMA6nkgNHrYsarhqU1HDUl088E8xVsULElKaLZY/OH/xnv9cl0b8tK1FDd/xao3PTIqtBgAAAAAAAAAAAAAAAAAAAAAAAAAAYHjmZp6FvXMBMlDWAI87CyE8a3FOZ8tCiaJSml2lNDtOafZRCOHj5esnKc0OUppd7DaCx6U0e70slmhikx+cTZvUxhuca1ea5rNJu5w87+tbW58Z3+eeeZg88xr6MwgAAAAAAAAAAAAAAAAAAAAAAAAAhk6RBjA4T40cHnXc8oieLTeF3tqmySnNurpBc10q8VmD929zs+3ihRsDI8/+M+O85JmXPNnI33366WkI4UCKAAAAAAAAAAAAAAAAAAAAAAAAQN+c/OGfT/7yv/8t61X984//6vSXn346GdKXpVCOx7/89NNt7skL35r+/IsvurrvNR2nrAEe96wDGU22WdbQYa8bljUcbnCpi4bv7+LG3k3X3DSTTT4rz+4x4/vcMw+TZ15Dfwa1TV3WcDT0EAAAAAAAAAAAAAAAAAAAAAAAAID++Y8f/TiEkLdk4LfhoxdD+6r8KLzLfsz//NGfDC5HWsUe2+zEE7HDo952ICL/E1lBSrN503nGWK3V5LU8VxNdbAxrtOY1Mtnks/LsGDO+zz3zKHnmNehnEAAAAAAAAAAAAAAAAAAAAAAAAADb8e9P/zT7eUa//dXgpvdH//e/2Y9ZYjYAbaesAR530fKM6vIBGyavrmlWo10utke6UHrSJfLsPzPOS555yRMAAAAAAAAAAAAAAAAAAAAAAACAtfz6yR8IrqV+/ZHZAMPz1MzhUS9DCOMQwmFLo3qZ0mzRgnV0xTSEcNRgrePlZ9Zx2eBcTdbUFk3WnKNQRJ53+lrQYsZ33DOPk2denkHtImMAAAAAAAAAAAAAAAAAAAAAAACgl/7w3W9Guff6/eN3/3MdQrga0jfmL36z+JsCe4xfZj4erGpQ9y/toqwBHlEXIcRYTUIIZyGE4xDCs5ZkVv9weZXSbN0igaFqWmwx2iCnRueKsRp1pXijXmvDj+T4sSPPO3398WjGd9wzD5BnXp5B7fPzL754OfQMAAAAAAAAAAAAAAAAAAAAAAAAgH66Pdmv9/r9KufF/fWvri7+9h//ZVD7uN2e7L/LfMivf/7FF5PMxwRoPWUNsILlZsunsuqF+RYvoj7XJw3ePw4hdKV8Y9zw/Tk29pbnnb5ulG7Gd9wzD5NnXp5BAAAAAAAAAAAAAAAAAAAAAAAAAGzLosB5mu6rx30l5gLQek+MCKCYpsUQXfpR37TlLMeG5fK805UN4Jsy4zvumYfJMy/PIAAAAAAAAAAAAAAAAAAAAAAAAAC2Yu/8pun+fvzA7cm+cgqATJQ1AJTT5429Dxq+/yrDOeV5J0eebWTGd9wzD5NnXp5BAAAAAAAA8P/s3T2S20YaBmDItbmYMaO4JxiCFxB9gtUGjCWfYLUnsHyC1Q0sxUzkE5hzAYK6wYgZM84JZgs2bMuS5gecbqDReJ6qKSsQGx/ez6Ni1C8AAAAAAAAAAAAAAADAcEwiTOquQWCUlDUARFJVu/oL5nWL01cD2kWbWa+bLB5Fnn8KkmeK7PhPfmfuJ8+w/BsEAAAAAAAAAAAAAAAAAAAAAAAAAOPmrkFglJQ1AMS1b3H6s7JcxmglC6qZ8VmLM9tkEPIseQ6THfuduZM8w/JvEAAAAAAAAAAAAAAAAAAAAAAAAAAZWIxsiWN7X4BolDUAxLVtefpqAPtoO2PbDEKeJc/hsWO/M/eRZ1j+DQIAAAAAAAAAAAAAAAAAAAAAAACgax8DP+/pyDY4iXDmVYQzAZKnrAEYm7atX/tH5tP2UusXj3xeF9rO2OdF6fIcHjv2O3MfeYbl3yAAAAAAAAAAAAAAAAAAAAAAAAAAunaSeHKUNQCjpKwBGJt5y/d91Bf3qtq1vdR69ZjndaTNjNdnZHAreYbNM0V27HfmAeQZln+DAAAAAAAAAAAAAAAAAAAAAAAAAGBYFvYFEIayBmBs2n6R3AfI55cWf/dZWS6T/bLbzPasxUdiXOotz/zZcVjyDEueAAAAAAAAAAAAAAAAAAAAAAAAAJCY43o2GdFOYrzrVYQzAZKnrAEYm+ct3ve6qnanAPm0vdz6dYBnxtJ2tg8R5pBn/uw4LHmGJU8AAAAAAAAAAAAAAAAAAAAAAAAAeJwQd75+aWEn55tuDsoagFFS1gCMRlkuX7R817YXct+m7eXWL8pymVwTWzNT2wxjXOwtz/zZcVjyDEueAAAAAAAAAAAAAAAAAAAAAAAAAPA4e/k9imIKgECUNQBj8qrluwYpa6iqXd0KdtniI0/PuEC7Cy+a2R7ql6raBW+pk2f+7DgseYYlTwAAAAAAAAAAAAAAAAAAAAAAAACgZ23uE3yITxYKjJWyBmAUynI5L4riXy3fNUhZQ+Ndy7//JuCzQ2k704eIs8gzf3YcljzDkicAAAAAAAAAAAAAAAAAAAAAAAAAkIsrmwTGSlkDMBZtL6X+VFW7fcBs6kuur1v8/WdluXwV8PmP0szyrMUZ11W1a3uZeRvyzJ8dhyXPsOQJAAAAAAAAAAAAAAAAAAAAAAAAAGlZjGEfx/VsFO8J0BVlDcCDlOVyVf8MMa2yXNZfIF+2/FjQS6mrandqLvdu421ZLich5zhHM8PbtrPHnEme+bPjsOQZljwBAAAAAAAAAAAAAAAAAAAAAAAA4FH2EeLr/c6/jsR4z6sk3xSgA8oagDuV5fJNWS7rS6l/rX/qP5fl8l0KF063cE7xQtCyhsabln//6RmfieFNM0sbMfL7kjzzZ8dhyTMseQIAAAAAAAAAAAAAAAAAAAAAAADAeU5yS4qyBmC0lDUAt6pLGYqi+PGLS53rP7+sv0CV5XKVenrNO1y0/NgvVbUL/gWxOfN9y4/9pyyXL0LP8lDNs//T8mPvY+T3JXnmz47DkmdY8gQAAAAAAAAAAAAAAAAAAAAAAAAAerAQOkA4yhqAb2qKGF7ekU5d2vBrXYZQlstJiimW5fLVPe9wm7cRx3pzxmfqjDv/Etw8890ZHz3nHc8lz/zZcVjyDEueAAAAAAAAAAAAAAAAAAAAAAAAAJCGJO/IjSDGe171/lYAPVHWANzm1QOTqcsQrspy+TqlJJt5fj7jo79U1W4bYaTfVNWu/uL5vuXH6mKMbZeXezfP2jbPbuOn5h07Ic/82XFY8gxLngAAAAAAAAAAAAAAAAAAAAAAAABwlhh33XV2z1+G3D0IjJayBuA28xbJ1Jc//68sl3Vpw0NLHqIoy+WkLJfv6nnOPL+L0on6GdctP9PZ5d6PuNS7fqe3kca6izzzZ8dhyTMseQIAAAAAAAAAAAAAAAAAAAAAAABAC9PNQTnA+drcGwzAPZQ1ACE9K4ri56a04XVdnNBlumW5XDUXUr8884ifqmoX/Yt6Ve1ORVG8OeOj9UXbVZ1thLF+05xdnXGpd+1V826dkmf+7DgseYYlTwAAAAAAAAAAAAAAAAAAAAAAAACgQzHKGpRnAKP15ObmxvaBr5Tl8t0jSg8+974oig9VtfsQK+WyXM6bi7IfM+/HqtotAo51r7Jc1sUSz8/8+MeiKF5X1W4baJa66OJtURQXZx7xS1XtXoSY5VzyzJ8dhyXPsOQJAAAAAAAAAAAAAAAAAAAAAAAAAA93XM9CX459Od0cVrmv4LiePeb+w2+abg5PQp4HMCT/sC3gFqHKGuozXpbl8rooiu0fP1W12z/m0Kagof7y+yrAl8N6tj4upX7RtIY9PeOz9QXcv5bl8rLZVV2IcWpzQFkuJ80Mj83wU3NG3+SZPzsOS55hyRMAAAAAAAAAAAAAAAAAAAAAAAAA+rMYSfbzBGYAyMaTm5vQ5UFALspy+booiv9FfJ36Uuq6tOH02X/vsmq+DC6ai61DqIsaVo8tjzhXWS7rd6kCHXfZlGFcNT9/qHOdNH/+I79FoAa0XvP7kjzzZ8dhyTMseQIAAAAAAAAAAAAAAAAAAAAAAADAwxzXs22gu/T+NN0cnuQe/3E9C32p+Kfp5qAAAhgtZQ3Ancpy+aooirdFUTzNNKkfqmr3rs8Bmox/7nOGR/h3Ve0+pDSQPPNnx2HJMyx5AgAAAAAAAAAAAAAAAAAAAAAAAMD9lDWcJ0JZw+V0c1h1NT9Aar6zEeAuTZFB/WXpY4ZB9V7UUPyV8Q99z3GGH1K81Fue+bPjsOQZljwBAAAAAAAAAAAAAAAAAAAAAAAAgBiO69lcsABhKWsA7lVVu31V7RZFUfyUSVrXRVGUKRQ1/GGAl3snUXRxG3nmz47DkmdY8gQAAAAAAAAAAAAAAAAAAAAAAACA7h3Xs0nmsccoa7iKcCbAYChrAB6sqnZv6pKDoiguB5zax6IoFnUBRQKz/E1zUfa/mzKJVCVXdHEbeebPjsOSZ1jyBAAAAAAAAAAAAAAAAAAAAAAAAIA7xSgJWIi8NWUNwKgpawBaqUsOqmq3ai6g/jSw9H6qql1d1JDsF8Cq2n0oimLVlEqk5jLVoovbyDN/dhyWPMOSJwAAAAAAAAAAAAAAAAAAAAAAAADcSklAe/OhDQyQuic3NzeWBJytLJeviqJ4XRTFRcIp1hdSvx7ahdRluXxTFMWPCYxyXRTFm6ravU1glrPJM392HJY8w5InAAAAAAAAAAAAAAAAAAAAAAAAAPzluJ7FuKfv++nmsM015kiZ/TDdHN4FPhNgML6zKuAxqmr3rqp2i/qLaFEU75tLoFNRlzR8X1W71dCKGorfs62//P6zybUv9bMXOVzqLc/82XFY8gxLngAAAAAAAAAAAAAAAAAAAAAAAABAgq4sBRizJzc3N/4HAIIpy+WkKIoXzc+qKIqnPaRbX0Zdl0hk02JWlst5URT1Rd8vO3hcXbjxoX5eVe2y/LIsz/zZcVjyDEueAAAAAAAAAAAAAAAAAAAAAAAAAIzdcT2r7+X7MXAM/51uDm9zjfa4nr2LcJfh99PNIZt7fAHaUtYARFWWy1VT2lD/LCKVN9QXUW+by6g/VNXulOtWvyjD+FfAo0eT4efkmT87DkueYckTAAAAAAAAAAAAAAAAAAAAAAAAgLE6rmf1fbW/Bn79n6abw5tcIz2uZ/Vdg88DH/vP6eZwFfhMgMFQ1gB0qiyX86a0of6ZNz/1ZdUXD5zjsvlv/cWw/hK3r6rdfqxbbMowPs/zIYUY9SXe+z/yazLUXibPUbDjsOQZljwBAAAAAAAAAAAAAAAAAAAAAAAAGAtlDe3FKGuYbg5POhofIEnKGgAAAAAAAAAAAAAAAAAAAAAAAAAAAADojLKG9o7r2VVRFM9CnqmsARi778YeAAAAAAAAAAAAAAAAAAAAAAAAAAAAAACDN8l8hUGLGoqi+BT4PIDBUdYAAAAAAAAAAAAAAAAAAAAAAAAAAAAAQJeuIjxrYYOtxNgBwKAoawAAAAAAAAAAAAAAAAAAAAAAAAAAAACgM9PNQVFAC8f1bD6YYQEGRFkDAAAAAAAAAAAAAAAAAAAAAAAAAAAAAKQrRlmDwgxg9JQ1AAAAAAAAAAAAAAAAAAAAAAAAAAAAAMC4KGsARk9ZAwAAAAAAAAAAAAAAAAAAAAAAAAAAAABDt8h4g/MEZgDIjrIGAAAAAAAAAAAAAAAAAAAAAAAAAAAAALp2Gfh5TzPeYIyyhqsIZwIMirIGAAAAAAAAAAAAAAAAAAAAAAAAAAAAABgXZQ3A6ClrAAAAAAAAAAAAAAAAAAAAAAAAAAAAAIB0ze0GIDxlDQAAAAAAAAAAAAAAAAAAAAAAAAAAAAAM3nE9m2S6xRhlDVcRzgQYFGUNAAAAAAAAAAAAAAAAAAAAAAAAAAAAAHQtRlnAwhYfZro5KGsARk9ZAwAAAAAAAAAAAAAAAAAAAAAAAAAAAABdUxbwcPOhDAowJMoaAAAAAAAAAAAAAAAAAAAAAAAAAAAAACBdzwJPdm3XAMoaAAAAAAAAAAAAAAAAAAAAAAAAAAAAAGBM9rYNoKwBAAAAAAAAAAAAAAAAAAAAAAAAAAAAgDwsctvjcT2bJzAGQJaUNQAAAAAAAAAAAAAAAAAAAAAAAAAAAADQtW2E500y3GKMsoZThDMBBkdZAwAAAAAAAAAAAAAAAAAAAAAAAAAAAACMx96uAZQ1AAAAAAAAAAAAAAAAAAAAAAAAAAAAAECq5jYDEIeyBgAAAAAAAAAAAAAAAAAAAAAAAAAAAABykGOxQYx3OkU4E2BwlDUAAAAAAAAAAAAAAAAAAAAAAAAAAAAA0LWrCM/Lsawhhn1+rwTQnrIGAAAAAAAAAAAAAAAAAAAAAAAAAAAAADo13RxilDXkSAEFQCTKGgAAAAAAAAAAAAAAAAAAAAAAAAAAAAAgTTHKGk52DaCsAQAAAAAAAAAAAAAAAAAAAAAAAAAAAABGY7o57G0bQFkDAAAAAAAAAAAAAAAAAAAAAAAAAAAAAHl4nuEe5wnMAJAlZQ0AAAAAAAAAAAAAAAAAAAAAAAAAAAAA9OFS6vd6Fvi86wgzAgySsgYAAAAAAAAAAAAAAAAAAAAAAAAAAAAAGIe9PQP8TlkDAAAAAAAAAAAAAAAAAAAAAAAAAAAAACTmuJ7N7QQgHmUNAAAAAAAAAAAAAAAAAAAAAAAAAAAAAGQhs4KDGO9yinAmwCApawAAAAAAAAAAAAAAAAAAAAAAAAAAAACgD1cRnplTWUMM+/xeCeA8yhoAAAAAAAAAAAAAAAAAAAAAAAAAAAAA6EOMsoacTMYeAEBMyhoAAAAAAAAAAAAAAAAAAAAAAAAAAAAAID2LCBOd7Bngd8oaAAAAAAAAAAAAAAAAAAAAAAAAAAAAAGAc9vYM8DtlDQAAAAAAAAAAAAAAAAAAAAAAAAAAAADkYpXRu0wSmAEgW8oaAAAAAAAAAAAAAAAAAAAAAAAAAAAAAOjDtPWJcAAAIABJREFUVup3WkQ48xThTIBBUtYAAAAAAAAAAAAAAAAAAAAAAAAAAAAAACMw3Rz29gzwO2UNAAAAAAAAAAAAAAAAAAAAAAAAAAAAAJCeiZ0AxKOsAQAAAAAAAAAAAAAAAAAAAAAAAAAAAIBczDN6l4vA510HPg9g0JQ1AAAAAAAAAAAAAAAAAAAAAAAAAAAAANCHfYRn5lTWEFqMvAEGS1kDAAAAAAAAAAAAAAAAAAAAAAAAAAAAAJ2bbg4nqX/bcT2bpDgXQE6UNQAAAAAAAAAAAAAAAAAAAAAAAAAAAABAWhYRplGOAfAZZQ0AAAAAAAAAAAAAAAAAAAAAAAAAAAAAkL+9HQP8RVkDAAAAAAAAAAAAAAAAAAAAAAAAAAAAAH25Dvzc55lscpLADABZU9YAAAAAAAAAAAAAAAAAAAAAAAAAAAAAQF/2kv+mRYQzTxHOBBgsZQ0AAAAAAAAAAAAAAAAAAAAAAAAAAAAAkD/FGACfUdYAAAAAAAAAAAAAAAAAAAAAAAAAAAAAAGmZ2AdAXMoaAAAAAAAAAAAAAAAAAAAAAAAAAAAAAMjGcT2bZ/AuiwhnniKcCTBYyhoAAAAAAAAAAAAAAAAAAAAAAAAAAAAA6Ms+wnNzKGsIbro5xMgaYLCUNQAAAAAAAAAAAAAAAAAAAAAAAAAAAADQl5Pkv2mS4EwAWVHWAAAAAAAAAAAAAAAAAAAAAAAAAAAAAABpuQg8zbX9AvydsgYAAAAAAAAAAAAAAAAAAAAAAAAAAAAAyNvefgH+TlkDAAAAAAAAAAAAAAAAAAAAAAAAAAAAAH05RXjuasjbPK5nkwTGAMiesgYAAAAAAAAAAAAAAAAAAAAAAAAAAAAA+rKX/FcWEc6MUYoBMGjKGgAAAAAAAAAAAAAAAAAAAAAAAAAAAAAgb0oxAL6grAEAAAAAAAAAAAAAAAAAAAAAAAAAAAAA0jGxC4D4lDUAAAAAAAAAAAAAAAAAAAAAAAAAAAAAkJP5wN9lEeHMU4QzAQZNWQMAAAAAAAAAAAAAAAAAAAAAAAAAAAAAfdlHeO7QyxpiiJEzwKApawAAAAAAAAAAAAAAAAAAAAAAAAAAAACgF9PN4ST5r0wSmwcgS8oaAAAAAAAAAAAAAAAAAAAAAAAAAAAAACAdC7sAiE9ZAwAAAAAAAAAAAAAAAAAAAAAAAAAAAABkbLo5bO0X4O+UNQAAAAAAAAAAAAAAAAAAAAAAAAAAAADQp+vAz34+8G1OEpgBIHvKGgAAAAAAAAAAAAAAAAAAAAAAAAAAAADo0176f3OR0CwA2VLWAAAAAAAAAAAAAAAAAAAAAAAAAAAAAAD5urRbgK8pawAAAAAAAAAAAAAAAAAAAAAAAAAAAACABBzXs4k9AHRDWQMAAAAAAAAAAAAAAAAAAAAAAAAAAAAAWTmuZ/OBvs8igRkARkFZAwAAAAAAAAAAAAAAAAAAAAAAAAAAAAB92kd49lDLGmLY5vdKAI+nrAEAAAAAAAAAAAAAAAAAAAAAAAAAAACAPp2k/6dJInMAZE9ZAwAAAAAAAAAAAAAAAAAAAAAAAAAAAACkYWEPAN1Q1gAAAAAAAAAAAAAAAAAAAAAAAAAAAAAA+draLcDXlDUAAAAAAAAAAAAAAAAAAAAAAAAAAAAA0KdThGevBrrRSQIzAIyCsgYAAAAAAAAAAAAAAAAAAAAAAAAAAAAA+rSX/p8WicwBkD1lDQAAAAAAAAAAAAAAAAAAAAAAAAAAAACQqenmsLVbgK8pawAAAAAAAAAAAAAAAAAAAAAAAAAAAACANEzsAaAbyhoAAAAAAAAAAAAAAAAAAAAAAAAAAAAAyM1ioO9zkcAMAKOgrAEAAAAAAAAAAAAAAAAAAAAAAAAAAACAPu0jPHtio7+5TGAGgCQpawAAAAAAAAAAAAAAAAAAAAAAAAAAAACgN9PN4SR9ALqmrAEAAAAAAAAAAAAAAAAAAAAAAAAAAAAAenZcz1Z2ANAdZQ0AAAAAAAAAAAAAAAAAAAAAAAAAAAAA5GZio7/ZJjADQJKUNQAAAAAAAAAAAAAAAAAAAAAAAAAAAADQt+vAz7+wUQDuoqwBAAAAAAAAAAAAAAAAAAAAAAAAAAAAgL7tbaBYJTADwGgoawAAAAAAAAAAAAAAAAAAAAAAAAAAAACAPG3tFeDblDUAAAAAAAAAAAAAAAAAAAAAAAAAAAAAAACjoqwBAAAAAAAAAAAAAAAAAAAAAAAAAAAAgOwc17PFwN5plcAMAKOhrAEAAAAAAAAAAAAAAAAAAAAAAAAAAACAvu0jPH8y9q1ON4dtAmMAJElZAwAAAAAAAAAAAAAAAAAAAAAAAAAAAAB9O9kAAF1S1gAAAAAAAAAAAAAAAAAAAAAAAAAAAAAA/XtuBwDdUdYAAAAAAAAAAAAAAAAAAAAAAAAAAAAAQI4mI9/qZQIzACRLWQMAAAAAAAAAAAAAAAAAAAAAAAAAAAAAfTtFeP7CVgG4jbIGAAAAAAAAAAAAAAAAAAAAAAAAAAAAAPq2H/MGjuvZKoExAEZFWQMAAAAAAAAAAAAAAAAAAAAAAAAAAAAA5GdrpwC3U9YAAAAAAAAAAAAAAAAAAAAAAAAAAAAAAACMirIGAAAAAAAAAAAAAAAAAAAAAAAAAAAAAHK0GNA7rRKYAWBUlDUAAAAAAAAAAAAAAAAAAAAAAAAAAAAA0Kvp5rCN8PzJyLcaI1OAbChrAAAAAAAAAAAAAAAAAAAAAAAAAAAAAAAARkVZAwAAAAAAAAAAAAAAAAAAAAAAAAAAAAD0ayV/gG4pawAAAAAAAAAAAAAAAAAAAAAAAAAAAAAgR5Mxb3W6OWwTGAMgWcoaAAAAAAAAAAAAAAAAAAAAAAAAAAAAAEjBp8AzXNgqALdR1gAAAAAAAAAAAAAAAAAAAAAAAAAAAABACq5GvIXnCcwAMCrKGgAAAAAAAAAAAAAAAAAAAAAAAAAAAAAgL5f2CXA3ZQ0AAAAAAAAAAAAAAAAAAAAAAAAAAAAAAMCoKGsAAAAAAAAAAAAAAAAAAAAAAAAAAAAAIEvH9WyR+nsd17NVAmMAjI6yBgAAAAAAAAAAAAAAAAAAAAAAAAAAAABSsI0ww2Skm42RJUBWlDUAAAAAAAAAAAAAAAAAAAAAAAAAAAAAAACjoqwBAAAAAAAAAAAAAAAAAAAAAAAAAAAAAPqzkj1A95Q1AAAAAAAAAAAAAAAAAAAAAAAAAAAAAJCryUg3u09gBoCkKWsAAAAAAAAAAAAAAAAAAAAAAAAAAAAAIAVXEWZYjHSzpwRmAEiasgYAAAAAAAAAAAAAAAAAAAAAAAAAAAAAUhCjrGEIVv7vA+iesgYAAAAAAAAAAAAAAAAAAAAAAAAAAAAAyMvePgHupqwBAAAAAAAAAAAAAAAAAAAAAAAAAAAAADIy3RxO9glwN2UNAAAAAAAAAAAAAAAAAAAAAAAAAAAAAORqMYD3ep7ADACjo6wBAAAAAAAAAAAAAAAAAAAAAAAAAAAAgN5NN4dthBkmI9zsxwRmAEiesgYAAAAAAAAAAAAAAAAAAAAAAAAAAAAAyMfJLgHup6wBAAAAAAAAAAAAAAAAAAAAAAAAAAAAAHpwXM9Wcgfoh7IGAAAAAAAAAAAAAAAAAAAAAAAAAAAAAHI1GeFm9wnMAJA8ZQ0AAAAAAAAAAAAAAAAAAAAAAAAAAAAApOJT4DkuRrjZUwIzACRPWQMAAAAAAAAAAAAAAAAAAAAAAAAAAAAAqbga2SZWCcwAMErKGgAAAAAAAAAAAAAAAAAAAAAAAAAAAAAgH3u7BLifsgYAAAAAAAAAAAAAAAAAAAAAAAAAAAAAyMfJLgHup6wBAAAAAAAAAAAAAAAAAAAAAAAAAAAAgGwd17NFwu+2SmAGgFFS1gAAAAAAAAAAAAAAAAAAAAAAAAAAAABAKrYR5piMbLv7BGYASJ6yBgAAAAAAAAAAAAAAAAAAAAAAAAAAAADIxHRzONklwP2UNQAAAAAAAAAAAAAAAAAAAAAAAPB/9u7gunEdCaBoZ2DutKOZQTMDKwlFqSTkDNgZsLXjjs7gb+f8OWdGllFUAbg3ALCA4v4BAAAA8Bqzdwd4DbEGAAAAAAAAAAAAAAAAAAAAAAAAAAAAAFo2JL7bW+Hz/hQ+D6BZYg0AAAAAAAAAAAAAAAAAAAAAAAAAAAAAZLEGzDF3tN09wQwAVRBrAAAAAAAAAAAAAAAAAAAAAAAAAAAAACCLiFhDSttl7CkiAZCOWAMAAAAAAAAAAAAAAAAAAAAAAAAAAAAAHG8I+OJijwCPEWsAAAAAAAAAAAAAAAAAAAAAAAAAAAAAgDbs9gjwGLEGAAAAAAAAAAAAAAAAAAAAAAAAAAAAAFp2Tnq3OcEMAN0SawAAAAAAAAAAAAAAAAAAAAAAAAAAAAAghdP1futoE0PAmUvAmQBNEmsAAAAAAAAAAAAAAAAAAAAAAAAAAAAAgDbs9gjwGLEGAAAAAAAAAAAAAAAAAAAAAAAAAAAAADje7M0BXkesAQAAAAAAAAAAAAAAAAAAAAAAAAAAAICWTUnvNgScuQScCdAksQYAAAAAAAAAAAAAAAAAAAAAAAAAAAAAMvlbeJb3XrZ7ut73BGMAVEGsAQAAAAAAAAAAAAAAAAAAAAAAAAAAAIBM1k62MSeYAaBbYg0AAAAAAAAAAAAAAAAAAAAAAAAAAAAAcLy3wl/8Y4cAjxNrAAAAAAAAAAAAAAAAAAAAAAAAAAAAAID67XYI8DixBgAAAAAAAAAAAAAAAAAAAAAAAAAAAACatl3Gc6b7bZdxTjAGQNfEGgAAAAAAAAAAAAAAAAAAAAAAAAAAAADI5NbBNoaAM5eAMwGaJdYAAAAAAAAAAAAAAAAAAAAAAAAAAAAAAPXb7RDgcWINAAAAAAAAAAAAAAAAAAAAAAAAAAAAAHCs2XsDvJZYAwAAAAAAAAAAAAAAAAAAAAAAAAAAAACtm5Ldbwg4cwk4E6BZYg0AAAAAAAAAAAAAAAAAAAAAAAAAAAAAZLIGzJIt1hBhb+9KAHHEGgAAAAAAAAAAAAAAAAAAAAAAAAAAAADIJCLWkM3sjwN4LbEGAAAAAAAAAAAAAAAAAAAAAAAAAAAAADjWEPC1xQ4BHifWAAAAAAAAAAAAAAAAAAAAAAAAAAAAAACVO13vux0CPE6sAQAAAAAAAAAAAAAAAAAAAAAAAAAAAIBMIqID52R3nBPMANA1sQYAAAAAAAAAAAAAAAAAAAAAAAAAAAAA0jhd70sH23grfN7fwucBNE+sAQAAAAAAAAAAAAAAAAAAAAAAAAAAAADqttofwPeINQAAAAAAAAAAAAAAAAAAAAAAAAAAAADAQbbLOHtrgNcTawAAAAAAAAAAAAAAAAAAAAAAAAAAAACgdVOi+w0BZ64BZwI0TawBAAAAAAAAAAAAAAAAAAAAAAAAAAAAgGz+FJ7nvfENizUAfJNYAwAAAAAAAAAAAAAAAAAAAAAAAAAAAADZ7A1vZE4wA0D3xBoAAAAAAAAAAAAAAAAAAAAAAAAAAAAA4DhDwJdW+wP4HrEGAAAAAAAAAAAAAAAAAAAAAAAAAAAAAKibWAPAN4k1AAAAAAAAAAAAAAAAAAAAAAAAAAAAAJDNXnqe7TKek9xxTjADQPfEGgAAAAAAAAAAAAAAAAAAAAAAAAAAAADIZml4I0PAmWvAmQBNE2sAAAAAAAAAAAAAAAAAAAAAAAAAAAAAgIqdrnexBoBvEmsAAAAAAAAAAAAAAAAAAAAAAAAAAAAAgOPM3hrg9cQaAAAAAAAAAAAAAAAAAAAAAAAAAAAAAOjBlOSOb4XP+1v4PIAuiDUAAAAAAAAAAAAAAAAAAAAAAAAAAAAAkM0SME+WWENpa1vXATiGWAMAAAAAAAAAAAAAAAAAAAAAAAAAAAAA2ewtbmS7jHOCMQC690usAQAAAAAAAAAAAAAAAAAAAAAAAAAAAAAOMwR8aLU+gO8TawAAAAAAAAAAAAAAAAAAAAAAAAAAAACAeok1ADxBrAEAAAAAAAAAAAAAAAAAAAAAAAAAAACAbPaAec4J7jgnmAGge7/EGgAAAAAAAAAAAAAAAAAAAAAAAAAAAADI5nS9L40uZQg4cw04E6B5Yg0AAAAAAAAAAAAAAAAAAAAAAAAAAAAAUC+xBoAniDUAAAAAAAAAAAAAAAAAAAAAAAAAAAAAwDEm7wyQg1gDAAAAAAAAAAAAAAAAAAAAAAAAAAAAAD3IEEqImGENOBOgeWINAAAAAAAAAAAAAAAAAAAAAAAAAAAAAGT0p/BM7y1u+XS9izUAPEGsAQAAAAAAAAAAAAAAAAAAAAAAAAAAAICM9ga3MiWYAaB7v8QaAAAAAAAAAAAAAAAAAAAAAAAAAAAAAOAw74U/9NfqAJ4j1gAAAAAAAAAAAAAAAAAAAAAAAAAAAAAAdVrtDeA5Yg0AAAAAAAAAAAAAAAAAAAAAAAAAAAAAZLSXnmm7jOdX3XO7jNOrvg3AfxNrAAAAAAAAAAAAAAAAAAAAAAAAAAAAACCjpbGtRMQa1oAzAbog1gAAAAAAAAAAAAAAAAAAAAAAAAAAAAAAdRJrAHiSWAMAAAAAAAAAAAAAAAAAAAAAAAAAAAAAxJu8MUAeYg0AAAAAAAAAAAAAAAAAAAAAAAAAAAAA9OKVwYSIb68BZwJ0QawBAAAAAAAAAAAAAAAAAAAAAAAAAAAAgIyWgJleGWuIINYA8CSxBgAAAAAAAAAAAAAAAAAAAAAAAAAAAAAy2hvbSmuhCICqiTUAAAAAAAAAAAAAAAAAAAAAAAAAAAAAQLyIWMNqbwDPEWsAAAAAAAAAAAAAAAAAAAAAAAAAAAAAoBdDS/c8Xe9iDQBPEmsAAAAAAAAAAAAAAAAAAAAAAAAAAAAAIKM9YKb5hfecXvhtAP5FrAEAAAAAAAAAAAAAAAAAAAAAAAAAAACAdE7X+9LYVt4Ln/e38HkAXRFrAAAAAAAAAAAAAAAAAAAAAAAAAAAAAID6rHYG8DyxBgAAAAAAAAAAAAAAAAAAAAAAAAAAAAAItF3GyfsC5CLWAAAAAAAAAAAAAAAAAAAAAAAAAAAAAEAv5hfdMyLWsAacCdANsQYAAAAAAAAAAAAAAAAAAAAAAAAAAAAAsvpTeK63hjYt1gDwA2INAAAAAAAAAAAAAAAAAAAAAAAAAAAAAGS1N7KZKcEMAPwHsQYAAAAAAAAAAAAAAAAAAAAAAAAAAAAAiBURa1jtDOB5Yg0AAAAAAAAAAAAAAAAAAAAAAAAAAAAAdGO7jEMjdxVrAPgBsQYAAAAAAAAAAAAAAAAAAAAAAAAAAAAAstoD5ppfcNfpBd8E4H8QawAAAAAAAAAAAAAAAAAAAAAAAAAAAAAgq6WRzUTEGiJCFgDdEGsAAAAAAAAAAAAAAAAAAAAAAAAAAAAAgMqcrvdWQhYALyHWAAAAAAAAAAAAAAAAAAAAAAAAAAAAAACxJu8LkItYAwAAAAAAAAAAAAAAAAAAAAAAAAAAAAA9mV9w1/fC530VPg+gO2INAAAAAAAAAAAAAAAAAAAAAAAAAAAAAGS1BMw1NLDtiHcB6IpYAwAAAAAAAAAAAAAAAAAAAAAAAAAAAABZ7bVvZruMU4IxAPgXsQYAAAAAAAAAAAAAAAAAAAAAAAAAAAAAiBMRa6g+YgHwamINAAAAAAAAAAAAAAAAAAAAAAAAAAAAAPRkaOCuS4IZAKom1gAAAAAAAAAAAAAAAAAAAAAAAAAAAABAVmvAXPPBd50O/h4ADxBrAAAAAAAAAAAAAAAAAAAAAAAAAAAAACCl0/UeEWs4WkSsYc99ZYD8xBoAAAAAAAAAAAAAAAAAAAAAAAAAAAAAoC6LfQH8jFgDAAAAAAAAAAAAAAAAAAAAAAAAAAAAAMSZvC1APmINAAAAAAAAAAAAAAAAAAAAAAAAAAAAAPRkPviuEbGGPeBMgK6INQAAAAAAAAAAAAAAAAAAAAAAAAAAAACQ2Wfh2d5q3/bpel8SjAFQNbEGAAAAAAAAAAAAAAAAAAAAAAAAAAAAAIgzeVuAfMQaAAAAAAAAAAAAAAAAAAAAAAAAAAAAACDOe+GTv+wK4OfEGgAAAAAAAAAAAAAAAAAAAAAAAAAAAADoynYZh4rvuySYAaB6Yg0AAAAAAAAAAAAAAAAAAAAAAAAAAAAAZLYGzDYfcd/KoxAATRNrAAAAAAAAAAAAAAAAAAAAAAAAAAAAACCziFjDUSKiEHvOqwLURawBAAAAAAAAAAAAAAAAAAAAAAAAAAAAAOqx2BXAz4k1AAAAAAAAAAAAAAAAAAAAAAAAAAAAAECMwbsC5CTWAAAAAAAAAAAAAAAAAAAAAAAAAAAAAEBv5oPuG/GdPeBMgO6INQAAAAAAAAAAAAAAAAAAAAAAAAAAAACQ2S1gtqHijS8JZgConlgDAAAAAAAAAAAAAAAAAAAAAAAAAAAAAMSoOQoB0DSxBgAAAAAAAAAAAAAAAAAAAAAAAAAAAACIMQecutsVwM+JNQAAAAAAAAAAAAAAAAAAAAAAAAAAAADQm6HW+56u9yXBGADVE2sAAAAAAAAAAAAAAAAAAAAAAAAAAAAAILM1YLb5oPtWG4UAaJ1YAwAAAAAAAAAAAAAAAAAAAAAAAAAAAABpna73iFjDUX4X/s5X3qsC1EWsAQAAAAAAAAAAAAAAAAAAAAAAAAAAAADqsNgTQBliDQAAAAAAAAAAAAAAAAAAAAAAAAAAAABQ2HYZB28KkJdYAwAAAAAAAAAAAAAAAAAAAAAAAAAAAAC9mQ+4b8Q39oAzAbok1gAAAAAAAAAAAAAAAAAAAAAAAAAAAABAdp+F53urdONLghkAmiDWAAAAAAAAAAAAAAAAAAAAAAAAAAAAAADlDd4UIC+xBgAAAAAAAAAAAAAAAAAAAAAAAAAAAAAobw44c7cngDLEGgAAAAAAAAAAAAAAAAAAAAAAAAAAAADoznYZhwrvvCSYAaAJYg0AAAAAAAAAAAAAAAAAAAAAAAAAAAAAZLcGzDcH37nGGARAN8QaAAAAAAAAAAAAAAAAAAAAAAAAAAAAAMguItYQLSIGsee6IkC9xBoAAAAAAAAAAAAAAAAAAAAAAAAAAAAAoAKn632xJ4AyxBoAAAAAAAAAAAAAAAAAAAAAAAAAAAAAoLzBmwLkJdYAAAAAAAAAAAAAAAAAAAAAAAAAAAAAQI/m4Dv/LnzeV+HzALom1gAAAAAAAAAAAAAAAAAAAAAAAAAAAABAdreA+YbKtr4kmAGgGWINAAAAAAAAAAAAAAAAAAAAAAAAAAAAAFDQdhlrC0EAdEesAQAAAAAAAAAAAAAAAAAAAAAAAAAAAADKmgPec7cjgHLEGgAAAAAAAAAAAAAAAAAAAAAAAAAAAADo0VTZnZcEMwA0Q6wBAAAAAAAAAAAAAAAAAAAAAAAAAAAAgOzWgPkiYw1D4NkAFCDWAAAAAAAAAAAAAAAAAAAAAAAAAAAAAEBqp+s9ItYQafZHAeQm1gAAAAAAAAAAAAAAAAAAAAAAAAAAAAAA+d3sCKAcsQYAAAAAAAAAAAAAAAAAAAAAAAAAAAAAKGvwngC5iTUAAAAAAAAAAAAAAAAAAAAAAAAAAAAA0KOPwDvP/iiA3MQaAAAAAAAAAAAAAAAAAAAAAAAAAAAAAKjBZ89bOl3vtwRjADRDrAEAAAAAAAAAAAAAAAAAAAAAAAAAAAAAyhq8J0BuYg0AAAAAAAAAAAAAAAAAAAAAAAAAAAAAUNZv7wmQm1gDAAAAAAAAAAAAAAAAAAAAAAAAAAAAAF3aLuNUyb0/E8wA0BSxBgAAAAAAAAAAAAAAAAAAAAAAAAAAAABqsAbMWDzWsF3GofSZAJQn1gAAAAAAAAAAAAAAAAAAAAAAAAAAAABADSJiDRFmfxNAfmINAAAAAAAAAAAAAAAAAAAAAAAAAAAAAJDbzX4AyhJrAAAAAAAAAAAAAAAAAAAAAAAAAAAAAIByBm8JkJ9YAwAAAAAAAAAAAAAAAAAAAAAAAAAAAAC9Ogfce/Y3AeQn1gAAAAAAAAAAAAAAAAAAAAAAAAAAAABADW4db6nnuwOEEGsAAAAAAAAAAAAAAAAAAAAAAAAAAAAAgHIGbwmQn1gDAAAAAAAAAAAAAAAAAAAAAAAAAAAAAJQze0uA/MQaAAAAAAAAAAAAAAAAAAAAAAAAAAAAAOjVVMO9T9f7LcEYAE0RawAAAAAAAAAAAAAAAAAAAAAAAAAAAACgBkvAjFXEGgAoT6wBAAAAAAAAAAAAAAAAAAAAAAAAAAAAgPRO1/teyZY+EswAwP8h1gAAAAAAAAAAAAAAAAAAAAAAAAAAAAAAeX3aDUB5Yg0AAAAAAAAAAAAAAAAAAAAAAAAAAAAAAEBXxBoAAAAAAAAAAAAAAAAAAAAAAAAAAAAAqMVX4Tk/Sh62XcZzyfMAiCPWAAAAAAAAAAAAAAAAAAAAAAAAAAAAAEAtlg43dUswA0BzxBoAAAAAAAAAAAAAAAAAAAAAAAAAAAAAAICuiDUAAAAAAAAAAAAAAAAAAAAAAAAAAAAAQBln7whQB7EGAAAAAAAAAAAAAAAAAAAAAAAAAAAAALq1XcYp+d1vCWYAaI5YAwAAAAAAAAAAAAAAAAAAAAAAAAAAAAC1WALmzB5rACCAWAMAAAAAAAAAAAAAAAAAAAAAAAAAAAAAtdiTz3lOMAMADxBrAAAAAAAAAAAAAAAAAAAAAAAAAAAAAICkTtf7zW4AyhNrAAAAAAAAAAAAAAAAAAAAAAAAAAAAAAAAuiLWAAAAAAAAAAAAAAAAAAAAAAAAAAAAAEAt9oA5zwXP+ih4FgCBxBoAAAAAAAAAAAAAAAAAAAAAAAAAAAAAqMXS2aY+E8wA0CSxBgAAAAAAAAAAAAAAAAAAAAAAAAAAAAAAoCtiDQAAAAAAAAA6HvOWAAAgAElEQVQAAAAAAAAAAAAAAAAAAADwQ9tlPHtDgHqINQAAAAAAAAAAAAAAAAAAAAAAAAAAAADQsynx3W8JZgBoklgDAAAAAAAAAAAAAAAAAAAAAAAAAAAAALVYAubMHGsAIIhYAwAAAAAAAAAAAAAAAAAAAAAAAAAAAABVOF3ve+I5zwlmAOBBYg0AAAAAAAAAAAAAAAAAAAAAAAAAAAAAkNPNXgBiiDUAAAAAAAAAAAAAAAAAAAAAAAAAAAAAAABdEWsAAAAAAAAAAAAAAAAAAAAAAAAAAAAAoCZfhWf9KHTOudA5ABxArAEAAAAAAAAAAAAAAAAAAAAAAAAAAACAmiy9bOt0vd8SjAHQJLEGAAAAAAAAAAAAAAAAAAAAAAAAAAAAAACgK2INAAAAAAAAAAAAAAAAAAAAAAAAAAAAAPBzH94QoB5iDQAAAAAAAAAAAAAAAAAAAAAAAAAAAAB0bbuMU8L7fyaYAaBZYg0AAAAAAAAAAAAAAAAAAAAAAAAAAAAA1GQJmDVjrAGAQGINAAAAAAAAAAAAAAAAAAAAAAAAAAAAANRkzzbrdhnPCcYA4BvEGgAAAAAAAAAAAAAAAAAAAAAAAAAAAAAgn8VOAOKINQAAAAAAAAAAAAAAAAAAAAAAAAAAAABAPrudAMT5h707yG0byQIw7G703txpJ+sG4Q1Gl9ApeQnlBvQNaO60o0+QwSAG4rhji9LwFauK3wcEMByr/OpV1vnFGgAAAAAAAAAAAAAAAAAAAAAAAAAAAAAoSUTE4Ljy5wFITKwBAAAAAAAAAAAAAAAAAAAAAAAAAAAAgJL0G3mtrdwTYBViDQAAAAAAAAAAAAAAAAAAAAAAAAAAAACQn8mbAMQRawAAAAAAAAAAAAAAAAAAAAAAAAAAAACA/8/R/gDKItYAAAAAAAAAAAAAAAAAAAAAAAAAAAAAwNa1Gd6/z2AGgGqJNQAAAAAAAAAAAAAAAAAAAAAAAAAAAABQkoiIQZPb/XfdOGUwBkC1xBoAAAAAAAAAAAAAAAAAAAAAAAAAAAAAKEamEYP/ZDADADcQawAAAAAAAAAAAAAAAAAAAAAAAAAAAACAvDx7D4BYYg0AAAAAAAAAAAAAAAAAAAAAAAAAAAAAbF2T2f2nDGYAqJpYAwAAAAAAAAAAAAAAAAAAAAAAAAAAAACleV143m/3fvBy2h+XHQWAFMQaAAAAAAAAAAAAAAAAAAAAAAAAAAAAAChNX/mL1X4/gNWJNQAAAAAAAAAAAAAAAAAAAAAAAAAAAABAXibvARBLrAEAAAAAAAAAAAAAAAAAAAAAAAAAAAAA7ne0O4DyiDUAAAAAAAAAAAAAAAAAAAAAAAAAAAAAsHmX077NaAd9BjMAVE2sAQAAAAAAAAAAAAAAAAAAAAAAAAAAAIDSRMQMmox2MGUwA0DVxBoAAAAAAAAAAAAAAAAAAAAAAAAAAAAAKE1OMYM2gxkAuJFYAwAAAAAAAAAAAAAAAAAAAAAAAAAAAADcrwnYXe89AGKJNQAAAAAAAAAAAAAAAAAAAAAAAAAAAABATHThLrtunLwHQCyxBgAAAAAAAAAAAAAAAAAAAAAAAAAAAABKMwTM2yb+HAArEmsAAAAAAAAAAAAAAAAAAAAAAAAAAAAAoDQRsYZ7PS583nO60QG2S6wBAAAAAAAAAAAAAAAAAAAAAAAAAAAAAPIxeQuAeGINAAAAAAAAAAAAAAAAAAAAAAAAAAAAAHCHy2nf2htAmcQaAAAAAAAAAAAAAAAAAAAAAAAAAAAAAODh4Z7wQhOwtz7gTAA+EGsAAAAAAAAAAAAAAAAAAAAAAAAAAAAAoCi7bjwHzBsRXrjHlMkcAFUTawAAAAAAAAAAAAAAAAAAAAAAAAAAAACA+7T2BlAmsQYAAAAAAAAAAAAAAAAAAAAAAAAAAAAAuE8TsLfeWwDEE2sAAAAAAAAAAAAAAAAAAAAAAAAAAAAAgJjwwj0mbwEQT6wBAAAAAAAAAAAAAAAAAAAAAAAAAAAAgBK9LDzztzs+05a5OgDEGgAAAAAAAAAAAAAAAAAAAAAAAAAAAAAo0ZDBzE3AmX3AmQB8INYAAAAAAAAAAAAAAAAAAAAAAAAAAAAAAJnYdePkLQDiiTUAAAAAAAAAAAAAAAAAAAAAAAAAAAAAwH1aewMok1gDAAAAAAAAAAAAAAAAAAAAAAAAAAAAADw8PFxO+1vjC48L7+3ZOwCkIdYAAAAAAAAAAAAAAAAAAAAAAAAAAAAAQInOATM3K+9hWvn3A2yGWAMAAAAAAAAAAAAAAAAAAAAAAAAAAAAA3Ohy2rd2BlAusQYAAAAAAAAAAAAAAAAAAAAAAAAAAAAAuF0TsLPeOwCkIdYAAAAAAAAAAAAAAAAAAAAAAAAAAAAAAD9FBBhuMXkHgDTEGgAAAAAAAAAAAAAAAAAAAAAAAAAAAAAo0RAwcxv0swBkRqwBAAAAAAAAAAAAAAAAAAAAAAAAAAAAgBJFxBpu0QSc2ceNC8B7Yg0AAAAAAAAAAAAAAAAAAAAAAAAAAAAAkIfJOwCkIdYAAAAAAAAAAAAAAAAAAAAAAAAAAAAAALdr7QygXGINAAAAAAAAAAAAAAAAAAAAAAAAAAAAAPDTLQGGJmBnvXcASEOsAQAAAAAAAAAAAAAAAAAAAAAAAAAAAIDi7LrxHDBzRIBhtl03Tmv+foAtEWsAAAAAAAAAAAAAAAAAAAAAAAAAAAAAgNu1dgZQLrEGAAAAAAAAAAAAAAAAAAAAAAAAAAAAALjd48I7e/EGAOmINQAAAAAAAAAAAAAAAAAAAAAAAAAAAADAT82Kexi8AUA6Yg0AAAAAAAAAAAAAAAAAAAAAAAAAAAAAlOpl4bm/zfmhy2nf+hcDUDaxBgAAAAAAAAAAAAAAAAAAAAAAAAAAAABKNaw0dxNw5lp3AdgksQYAAAAAAAAAAAAAAAAAAAAAAAAAAAAAWJ9YA0BCYg0AAAAAAAAAAAAAAAAAAAAAAAAAAAAAcJvWvgDKJtYAAAAAAAAAAAAAAAAAAAAAAAAAAAAAAG8up/2cEEMTsK/BGwCkI9YAAAAAAAAAAAAAAAAAAAAAAAAAAAAAQKnOAXNHhBjmEGsASEisAQAAAAAAAAAAAAAAAAAAAAAAAAAAAABu09oXQNnEGgAAAAAAAAAAAAAAAAAAAAAAAAAAAADgNk3AvgZvAJCOWAMAAAAAAAAAAAAAAAAAAAAAAAAAAAAA/BIRYrhq141iDQAJiTUAAAAAAAAAAAAAAAAAAAAAAAAAAAAAUKqIwEG70M8AkDGxBgAAAAAAAAAAAAAAAAAAAAAAAAAAAABKFRFrmONx4fNeYsYE4DNiDQAAAAAAAAAAAAAAAAAAAAAAAAAAAACwrrWiEwCbJdYAAAAAAAAAAAAAAAAAAAAAAAAAAAAAADNdTvvWrgDKJ9YAAAAAAAAAAAAAAAAAAAAAAAAAAAAAAL8cr+yiCdjVYP8AaYk1AAAAAAAAAAAAAAAAAAAAAAAAAAAAAFCkXTeeK3k5sQaAxMQaAAAAAAAAAAAAAAAAAAAAAAAAAAAAAGC+g10BlE+sAQAAAAAAAAAAAAAAAAAAAAAAAAAAAADmi4g1DPYPkJZYAwAAAAAAAAAAAAAAAAAAAAAAAAAAAAD8EhFjuEasASAxsQYAAAAAAAAAAAAAAAAAAAAAAAAAAAAASvay8OxPV/5+jZgDAAsTawAAAAAAAAAAAAAAAAAAAAAAAAAAAACgZEPi2SNiDanvALB5Yg0AAAAAAAAAAAAAAAAAAAAAAAAAAAAAsKJdN4o1ACQm1gAAAAAAAAAAAAAAAAAAAAAAAAAAAAAA8x3sCqB8Yg0AAAAAAAAAAAAAAAAAAAAAAAAAAAAA8M7ltD9+sY+nhXf1YvcA6Yk1AAAAAAAAAAAAAAAAAAAAAAAAAAAAAFCyc+HzDxnMALA5Yg0AAAAAAAAAAAAAAAAAAAAAAAAAAAAAMMPltD/YE0AdxBoAAAAAAAAAAAAAAAAAAAAAAAAAAAAAYJ6IWMNg9wDpiTUAAAAAAAAAAAAAAAAAAAAAAAAAAAAAwO8iogyfEWsAWIFYAwAAAAAAAAAAAAAAAAAAAAAAAAAAAAAl6wNm/yzWkDLiAEAgsQYAAAAAAAAAAAAAAAAAAAAAAAAAAAAASjYlnD0i1jAEnAnAFWINAAAAAAAAAAAAAAAAAAAAAAAAAAAAALAesQaAFYg1AAAAAAAAAAAAAAAAAAAAAAAAAAAAAMA8B3sCqINYAwAAAAAAAAAAAAAAAAAAAAAAAAAAAAAlmwJmP37y/YhYwxBwJgBXiDUAAAAAAAAAAAAAAAAAAAAAAAAAAAAAUKxdN/aFzy/WALACsQYAAAAAAAAAAAAAAAAAAAAAAAAAAAAAmOdgTwB1EGsAAAAAAAAAAAAAAAAAAAAAAAAAAAAAgHmeFt7Ti70DrEOsAQAAAAAAAAAAAAAAAAAAAAAAAAAAAAB+d0i0j8HeAdYh1gAAAAAAAAAAAAAAAAAAAAAAAAAAAABA6Z4Xnv/p4zcup32qgAMACYg1AAAAAAAAAAAAAAAAAAAAAAAAAAAAAFC6KcH8EbGGIeBMAGYQawAAAAAAAAAAAAAAAAAAAAAAAAAAAACAdYg1AKxErAEAAAAAAAAAAAAAAAAAAAAAAAAAAAAArjvYEUA9xBoAAAAAAAAAAAAAAAAAAAAAAAAAAAAAKN209PyX0/744VsRsYYh4EwAZhBrAAAAAAAAAAAAAAAAAAAAAAAAAAAAAKB0faHzizUArESsAQAAAAAAAAAAAAAAAAAAAAAAAAAAAACuO9gRQD3EGgAAAAAAAAAAAAAAAAAAAAAAAAAAAADguohYw2TvAOsQawAAAAAAAAAAAAAAAAAAAAAAAAAAAACAf4uIM/xm1429vQOsQ6wBAAAAAAAAAAAAAAAAAAAAAAAAAAAAgNJFRA8+xhrC4w0ApCPWAAAAAAAAAAAAAAAAAAAAAAAAAAAAAEDppgTzPy183uvC5wFwA7EGAAAAAAAAAAAAAAAAAAAAAAAAAAAAAEivt3OA9Yg1AAAAAAAAAAAAAAAAAAAAAAAAAAAAAMAXLqf9wX4A6iLWAAAAAAAAAAAAAAAAAAAAAAAAAAAAAEDppoD5j+++jog1RMwMwExiDQAAAAAAAAAAAAAAAAAAAAAAAAAAAAAUbdeNfYHzlzgzQDXEGgAAAAAAAAAAAAAAAAAAAAAAAAAAAADgawf7AaiLWAMAAAAAAAAAAAAAAAAAAAAAAAAAAAAAfC0i1jDZOcB6xBoAAAAAAAAAAAAAAAAAAAAAAAAAAAAA4N8iAg3v9XYOsB6xBgAAAAAAAAAAAAAAAAAAAAAAAAAAAABq8LzwHZ7efR0dbgAgMbEGAAAAAAAAAAAAAAAAAAAAAAAAAAAAAGowBd4hItYQOS8AV4g1AAAAAAAAAAAAAAAAAAAAAAAAAAAAAEBiu27s7RxgPWINAAAAAAAAAAAAAAAAAAAAAAAAAAAAAPC1g/0A1EWsAQAAAAAAAAAAAAAAAAAAAAAAAAAAAIAaTEvf4XLaH9++fFr46NeFzwPgRmINAAAAAAAAAAAAAAAAAAAAAAAAAAAAANSgL+gOJc0KUCWxBgAAAAAAAAAAAAAAAAAAAAAAAAAAAAD4xOW0b+wGoD5iDQAAAAAAAAAAAAAAAAAAAAAAAAAAAADwuTZgN5N9A6xLrAEAAAAAAAAAAAAAAAAAAAAAAAAAAAAA/iwi1PA/vX0DrEusAQAAAAAAAAAAAAAAAAAAAAAAAAAAAIAaRAQQmrc/AFRGrAEAAAAAAAAAAAAAAAAAAAAAAAAAAACAGkxBd2gDzoyaFYCZxBoAAAAAAAAAAAAAAAAAAAAAAAAAAAAAIK3evgHW9Y/9AwAAAAAAAAAAAAAAAAAAAAAAAAAAAMAfNdYCUCexBgAAAAAAAAAAAAAAAAAAAAAAAAAAAABqMAXcoQ3aS8SsANzgb8sCAAAAAAAAAAAAAAAAAAAAAAAAAAAAoHS7buxLuUJJswLUSqwBAAAAAAAAAAAAAAAAAAAAAAAAAAAAAD7X2A1AfcQaAAAAAAAAAAAAAAAAAAAAAAAAAAAAAOBz3xbezatdA6xPrAEAAAAAAAAAAAAAAAAAAAAAAAAAAAAA/qwN2Etv1wDrE2sAAAAAAAAAAAAAAAAAAAAAAAAAAAAAoBbPC9/j0b8MgDqJNQAAAAAAAAAAAAAAAAAAAAAAAAAAAABQi6mAe5QwI0D1xBoAAAAAAAAAAAAAAAAAAAAAAAAAAAAAIJ3ergHWJ9YAAAAAAAAAAAAAAAAAAAAAAAAAAAAAAABsilgDAAAAAAAAAAAAAAAAAAAAAAAAAAAAALWYCrhHCTMCVE+sAQAAAAAAAAAAAAAAAAAAAAAAAAAAAIBa9AXco4QZAaon1gAAAAAAAAAAAAAAAAAAAAAAAAAAAAAAAGyKWAMAAAAAAAAAAAAAAAAAAAAAAAAAAAAApDPZNcD6xBoAAAAAAAAAAAAAAAAAAAAAAAAAAAAAIJFdN/Z2DbA+sQYAAAAAAAAAAAAAAAAAAAAAAAAAAAAAanH2kgDMIdYAAAAAAAAAAAAAAAAAAAAAAAAAAAAAAGm82jNAHsQaAAAAAAAAAAAAAAAAAAAAAAAAAAAAACCN3p4B8iDWAAAAAAAAAAAAAAAAAAAAAAAAAAAAAAAAbIpYAwAAAAAAAAAAAAAAAAAAAAAAAAAAAAC1GDK/x5TBDACb9yDWAAAAAAAAAAAAAAAAAAAAAAAAAAAAAEAtdt2Ye6yhz2AGgM17EGsAAAAAAAAAAAAAAAAAAAAAAAAAAAAAAAC2RqwBAAAAAAAAAAAAAAAAAAAAAAAAAAAAAADYFLEGAAAAAAAAAAAAAAAAAAAAAAAAAAAAAEjjbM8AeRBrAAAAAAAAAAAAAAAAAAAAAAAAAAAAAKAm370mANeINQAAAAAAAAAAAAAAAAAAAAAAAAAAAAAAAJsi1gAAAAAAAAAAAAAAAAAAAAAAAAAAAAAACey68WzPAHkQawAAAAAAAAAAAAAAAAAAAAAAAAAAAAAAADZFrAEAAAAAAAAAAAAAAAAAAAAAAAAAAACAmgxeE4BrxBoAAAAAAAAAAAAAAAAAAAAAAAAAAAAAqEmusYbvGcwAwBuxBgAAAAAAAAAAAAAAAAAAAAAAAAAAAAAAYFPEGgAAAAAAAAAAAAAAAAAAAAAAAAAAAAAAgE0RawAAAAAAAAAAAAAAAAAAAAAAAAAAAACAeGc7BsiHWAMAAAAAAAAAAAAAAAAAAAAAAAAAAAAANRFFAOAqsQYAAAAAAAAAAAAAAAAAAAAAAAAAAAAAAGBTxBoAAAAAAAAAAAAAAAAAAAAAAAAAAAAAIN7ZjgHyIdYAAAAAAAAAAAAAAAAAAAAAAAAAAAAAAABsilgDAAAAAAAAAAAAAAAAAAAAAAAAAAAAADUZvCYA1/z148cPSwIAAAAAAAAAAAAAAAAAAAAAAAAAAACgGpfTPrv/gHvXjX9lMAYAb/62CAAAAAAAAAAAAAAAAAAAAAAAAAAAAAAAYEvEGgAAAAAAAAAAAAAAAAAAAAAAAAAAAAAAgE0RawAAAAAAAAAAAAAAAAAAAAAAAAAAAACAWN/tFyAvYg0AAAAAAAAAAAAAAAAAAAAAAAAAAAAA1EYcAYAviTUAAAAAAAAAAAAAAAAAAAAAAAAAAAAAAACbItYAAAAAAAAAAAAAAAAAAAAAAAAAAAAAALHO9guQF7EGAAAAAAAAAAAAAAAAAAAAAAAAAAAAAABgU8QaAAAAAAAAAAAAAAAAAAAAAAAAAAAAAKjN4EUB+IpYAwAAAAAAAAAAAAAAAAAAAAAAAAAAAAC1yS3WcM5gBgDeEWsAAAAAAAAAAAAAAAAAAAAAAAAAAAAAAAA2RawBAAAAAAAAAAAAAAAAAAAAAAAAAAAAAADYFLEGAAAAAAAAAAAAAAAAAAAAAAAAAAAAAAi068az/QLkRawBAAAAAAAAAAAAAAAAAAAAAAAAAAAAgNqIIwDwJbGG/7J3/8pxXNkdgI9oBfa6ykQGRyKdbErcfgHCT7BQoFhU6E0W+wQCn2CxyTo0FSMw9QQ7fIG+YOrEQ0RWBjhwYlfBNeuWIIuQgJ45M9N/vq8Kxa0tdPfp3+m6QnQOAAAAAAAAAAAAAAAAAAAAAAAAAAAAAAAwK5Y1AAAAAAAAAAAAAAAAAAAAAAAAAAAAAMD2vJMtwPBY1gAAAAAAAAAAAAAAAAAAAAAAAAAAAAAAAMyKZQ0AAAAAAAAAAAAAAAAAAAAAAAAAAAAATM1SRwH4JZY1AAAAAAAAAAAAAAAAAAAAAAAAAAAAADAphxdXQ1rWsBhADQD8hGUNAAAAAAAAAAAAAAAAAAAAAAAAAAAAAADArFjWAAAAAAAAAAAAAAAAAAAAAAAAAAAAAAAAzIplDQAAAAAAAAAAAAAAAAAAAAAAAAAAAACwPQvZAgyPZQ0AAAAAAAAAAAAAAAAAAAAAAAAAAAAATNE7XQXg51jWAAAAAAAAAAAAAAAAAAAAAAAAAAAAAAAAzIplDQAAAAAAAAAAAAAAAAAAAAAAAAAAAACwJYcXVwvZAgyPZQ0AAAAAAAAAAAAAAAAAAAAAAAAAAAAAAMCsWNYAAAAAAAAAAAAAAAAAAAAAAAAAAAAAwBQtdRWAn2NZAwAAAAAAAAAAAAAAAAAAAAAAAAAAAABTNIRlDe8GUAMA97CsAQAAAAAAAAAAAAAAAAAAAAAAAAAAAAAAmBXLGgAAAAAAAAAAAAAAAAAAAAAAAAAAAAAAgFmxrAEAAAAAAAAAAAAAAAAAAAAAAAAAAACAKboewDtdDqAGAO5hWQMAAAAAAAAAAAAAAAAAAAAAAAAAAAAAUzSERQlDWBgBwD0sawAAAAAAAAAAAAAAAAAAAAAAAAAAAAAAAGbFsgYAAAAAAAAAAAAAAAAAAAAAAAAAAAAA2I5LuQIMk2UNAAAAAAAAAAAAAAAAAAAAAAAAAAAAALAd13IFGCbLGgAAAAAAAAAAAAAAAAAAAAAAAAAAAACYoktdBeDnWNYAAAAAAAAAAAAAAAAAAAAAAAAAAAAAwOQcXlxdD+CdLIwAGCjLGgAAAAAAAAAAAAAAAAAAAAAAAAAAAABgCwayMAKAe1jWAAAAAAAAAAAAAAAAAAAAAAAAAAAAAAAAzIplDQAAAAAAAAAAAAAAAAAAAAAAAAAAAABM1c0e3+u9rwpguCxrAAAAAAAAAAAAAAAAAAAAAAAAAAAAAGCqLvf4Xte+KoDhsqwBAAAAAAAAAAAAAAAAAAAAAAAAAAAAAACYFcsaAAAAAAAAAAAAAAAAAAAAAAAAAAAAACDfpUwBhsuyBgAAAAAAAAAAAAAAAAAAAAAAAAAAAADIdy1TgOGyrAEAAAAAAAAAAAAAAAAAAAAAAAAAAACAqbrUWQDuY1kDAAAAAAAAAAAAAAAAAAAAAAAAAAAAAFN1vcf3sigCYMAsawAAAAAAAAAAAAAAAAAAAAAAAAAAAACAfPtcFAHAAyxrAAAAAAAAAAAAAAAAAAAAAAAAAAAAAAAAZsWyBgAAAAAAAAAAAAAAAAAAAAAAAAAAAACm6nqP73XpqwIYLssaAAAAAAAAAAAAAAAAAAAAAAAAAAAAAJiqvS1MOLy42ueiCAAeYFkDAAAAAAAAAAAAAAAAAAAAAAAAAAAAAAAwK5Y1AAAAAAAAAAAAAAAAAAAAAAAAAAAAAECu9/IEGDbLGgAAAAAAAAAAAAAAAAAAAAAAAAAAAAAg17U8AYbNsgYAAAAAAAAAAAAAAAAAAAAAAAAAAAAApupSZwG4z6dSYSxKaQ4i4jQiTiLixY/K/hAR57W255o5TKU0xxFx1P087/59+kCxN90fscvuZ1Fru5hrhj8l01zynDb9zSfTXPIEAAAAAAAAAAAAAAAAAAAAAAAAgO05vLi6/u6Lz/aRsCURAAP3ye3trR4xaD9a0nD6wODiP9banurm/nU9O+l+fpNc0LuIeLv6qbVdjjGfdcg0lzynTX/zyTSXPAEAAAAAAAAAAAAAAAAAAAAAAABgt7774rN9DON+fXhxdabVAMNlWQODVkqzGmJ8HhHPHlnnPxhMvD+lNEfdUo0vd1TEt6vvo9Z2McQ8Msg0lzynTX/zyTSXPAEAAAAAAAAAAAAAAAAAAAAAAABgPyxrAOA+ljUwSKU0B92Shr7DjH9fa3uuq7tVSvM8It5ExMs9lfAuIs6mNIxaprnkOW36m0+mueQJAAAAAAAAAAAAAAAAAAAAAAAAAPv13RefXUfE0x0X8fnhxdVbrQcYLssaGJxSmuNuoPGzNWp7XWtrU9SOdEs1Vnn/biAlfRMRp7W21wOoZS0yzSXPadPffDLNJU8AAAAAAAAAAAAAAAAAAAAAAAAAGIbvvvhsEREvd1zMPx5eXC18AgDD9URvGIrVQONSmvOI+POaixrYoVKao4i4HNAA6pUvI2LZLfwYHZnmkue06W8+meaSJwAAAAAAAAAAAAAAAAAAAAAAAAAAwLBZ1sAgdAONFwMbaMzPKKV5FRF1oEs1nq4WfpTSnA2glkeTaS55Tpv+5pNpLnkCAAAAAAAAAAAAAAAAAAAAAAAAABFxKQSAYbOsgb3rhgWvBhq/0I3hK6U5jYh/GUGpX5fSvBlAHQ+SaS55Tpv+5pNpLnkCAAAAAAAAAAAAAAAAAAAAAAAAACuHF1fXggAYNssa2JtSmqNSmtVmp691YRxKac4j4g8jKvnLoQ+ilmkueU6b/uaTaS55AgAAAAAAAAAAAAAAAAAAAAAAAMBgXWoNAD9lWQN7UUpzGhE1Il7owDiU0ryKiN+NsPTBDqKWaS55Tpv+5pNpLnkCAAAAAAAAAAAAAAAAAAAAAAAAwKBd77i49z4HgOH75Pb2VpvYmVKa5xGxGgj8cr0AorMAACAASURBVEvPfF1re6ajuUppTiLiX5Nu+i4iFhGx7H7u87z7OU78Vr6qtR3MMGqZ5pLntOlvPpnmkicAAAAAAAAAAAAAAAAAAAAAAAAADNt3X3y2mlv89Q6LfHd4cXXsswAYNssa2JlSmtOIWP1B8nSLz7SsIVm3YONyw76965Z0vK217b1BrBuC/SoifrPh25Va28sN77ExmeaS57Tpbz6Z5pInAAAAAAAAAAAAAAAAAAAAAAAAAAyfZQ0A3MeyBraulOagG0C86QDhx7CsIVkpzWpo84s177oaPn1Wa7vIqKobiH2+wbf0ISKO1hmEnUmmueQ5bfqbT6a55AkAAAAAAAAAAAAAAAAAAAAAAAAAw/fdF5+dRsQfdljoHw8vrk59GgDD9kR/2KZSmpOIWO5oUQPJSmnO1hxAfRMRv6+1Pc4aQL1Sa7ustV19U593z+jr2Woo9j6/E5nmkue06W8+meaSJwAAAAAAAAAAAAAAAAAAAAAAAACMxuWOC732aQAM3ye3t7faRLpSmoOIeLOHJQ2va20NGU5QSvM8Iv59jTt9iIiTWtut/vHZfWOLNYdk/2PmcOzHkmkueU6b/uaTaS55AgAAAAAAAAAAAAAAAAAAAAAAAMB4fPfFZ8cR8ecdFvz68OLKrGSAgXuiQWQrpVn90bFMWtTwrQbtzfkaD34fEUfbHkC9Umu72gx23D2zr339kSrTXPKcNv3NJ9Nc8gQAAAAAAAAAAAAAAAAAAAAAAAAAfs7WZw8CsDnLGkhVSnPabYd6uuF9V4OFy5qDkNlQt3Cj77KNm4g46YZD78QGg6hfltK82uV3ItNc8pw2/c0n01zyBAAAAAAAAAAAAAAAAAAAAAAAAAAesLP5gwCsz7IG0pTSnETEHxLu97rW9qjW1uan/Tlb48nHtbbLXVfcDaJ+1Q3B7mOdd9yETHPJc9r0N59Mc8kTAAAAAAAAAAAAAAAAAAAAAAAAAMbFvGMAPmJZA5nON7zX+9XOh1pbw4H3qJTmOCJe9qzg9T6Xa3TP7vvdPOsWjGydTHPJc9r0N59Mc8kTAAAAAAAAAAAAAAAAAAAAAAAAAMbn8OLqesdFWw4BMAKWNZCilOZoNdR3g3uthhgf7XOQMT941TOKD0NYsFFru1oW8q7nZadbKuenZJpLntOmv/lkmkueAAAAAAAAAAAAAAAAAAAAAAAAAMAv2sNyCADWYFkDWQ7WvM/71a6HIQwx5i9LN1Z9/LJnFH2HVm9T36HSL0tpnm+zIJnmkue06W8+meaSJwAAAAAAAAAAAAAAAAAAAAAAAAAAwHRY1kCW5Rr3eV1re1Rre6kLg9F3oPS7WtvFUIrvvqVvel7Wd3B1XzLNJc9p0998Ms0lTwAAAAAAAAAAAAAAAAAAAAAAAAAYr5sdVf7BNwIwDpY1kKLWdtnjD4D3EVFqbc+kPzh9h1CfD/Ad3vT8/ZMt1fE9meaS57Tpbz6Z5pInAAAAAAAAAAAAAAAAAAAAAAAAAIzX5Y4qX/pGAMbBsgYyPWaA8eta26Na2139UcIjldI8j4gXPfL6UGv7dmj51touuoUgj/WslOZoG7XINJc8p01/88k0lzwBAAAAAAAAAAAAAAAAAAAAAAAAAACmxbIG0nTDf7+KiJt77rkaClxqbc8kPlgnPQt7M+B3Oe/5+49ZNLIOmeaS57Tpbz6Z5pInAAAAAAAAAAAAAAAAAAAAAAAAAPAYSykBjINlDaSqtV0NJj6KiN9HxLcR8ceI+LzW9qjW9lLag9Z3EPOQh1C/7fn7x1uqQ6a55Dlt+ptPprnkCQAAAAAAAAAAAAAAAAAAAAAAAAA8hmUNACNhWQPpam2XtbbntbYntbantbZ9BwKzY6U0BxHxosdT36/6PNQ+1dpeR8S7Hpe8KKV5nlmDTHMzlWf+Nzok+usMeogzKJczCAAAAAAAAAAAAAAAAAAAAAAAAICZutR4AH7MsgZg5bhnCosRpNZ3SUjfDLLvJ9Pce8lzXPTXGfQYzqBcziAAAAAAAAAAAAAAAAAAAAAAAAAA5uZ6R++79GUBjINlDUCsMYC574Dnfeg7KHvfg9JlmnsveY6L/jqDHsMZlMsZBAAAAAAAAAAAAAAAAAAAAAAAAADbYVkDwEhY1gCsHPVJoda274Dnnau1vYyImx7P7ZVB9v1kmnsveY6O/jqDHuQMyuUMAgAAAAAAAAAAAAAAAAAAAAAAAAAA5s6yBmDlZY8U3o0oscsev/si+dkyzc1Unvnf6JDorzPosZxBuZxBAAAAAAAAAAAAAAAAAAAAAAAAAMzJckfvuqvnALAhyxpg5kppjnom0Gew874t+jy/lOY4o16Z3snIVJ53sr7RIdHfO86gR3EG5Zr9GQQAAAAAAAAAAAAAAAAAAAAAAADArOxkicLhxZVlDQAjYVkDMOUh1H1rfZ70XJneychUnneyvtEh0d87zqCHOYNyOYMAAAAAAAAAAAAAAAAAAAAAAAAAAIDZsqwB6Dt4eUxbufrWmjWEWqZ3MjKV550pDkrX3zvOoIc5g3I5gwAAAAAAAAAAAAAAAAAAAAAAAAAg1wd5AoyHZQ3AUZ8Eam0XY0ms1vay5yXHSY+W6Z2MTOV5J+sbHRL9veMMeoAzKJczCAAAAAAAAAAAAAAAAAAAAAAAAADSLUUKMB6WNQAHPRK4GWFafTaJ9cki6z4yzb2HPMdHf+84gx7HGZRr7mcQAAAAAAAAAAAAAAAAAAAAAAAAADNxeHG10GsAfsyyBuBljwQuR5hWn01iL5KeKdM7GZnK807WNzok+nvHGfQ4zqBccz+DAAAAAAAAAAAAAAAAAAAAAAAAACBTnzl/AOyZZQ1AH9cjTKtXzaU0B9sr5V4yzSXPadPffDLNJU8AAAAAAAAAAAAAAAAAAAAAAAAAmDfLGgBGxLIGmLFSmuOeb385wrT61ny0ycNkeq+1M5XnvTb6RodEf+/lDHqYMyjXbM8gAAAAAAAAAAAAAAAAAAAAAAAAAABg3ixrAAAAAAAAAAAAAAAAAAAAAAAAAAAAAGAOPmz5HZe+IoDxsKwB5u2g59uP8Q+9y56/3zeTTa+Xae618hwX/f2YM+hhzqBccz6DAAAAAAAAAAAAAAAAAAAAAAAAAJifbc8OtKwBYEQsa4B5O+r59mP8Q++65+/3zWTT62Wae608x0V/P+YMepgzKNeczyAAAAAAAAAAAAAAAAAAAAAAAAAAAGDGLGsAAAAAAAAAAAAAAAAAAAAAAAAAAAAAgM0tZQgwHpY1AAAAAAAAAAAAAAAAAAAAAAAAAAAAAMCGDi+uLGsAGBHLGoA+rkeY1tBrlmkueU6b/uaTaS55AgAAAAAAAAAAAAAAAAAAAAAAAMCwLfQHgO9Z1gDzdtTn7WttL8eW1ho198pk0+tlmnutPEdHfz/mDHqAMyjXzM8gAAAAAAAAAAAAAAAAAAAAAAAAAMj0QZoA42JZA8zbwdwDuMemmcj0Y5tkIs+PTSkT/f2YMyifMyiXTAAAAAAAAAAAAAAAAAAAAAAAAADgfku5AIyLZQ0AAAAAAAAAAAAAAAAAAAAAAAAAAAAAAMCsWNYAAAAAAAAAAAAAAAAAAAAAAAAAAAAAwBwst/iO27w3AFtgWQMAAAAAAAAAAAAAAAAAAAAAAAAAAAAAc2BZAwA/sKwBAAAAAAAAAAAAAAAAAAAAAAAAAAAAAACYFcsaAAAAAAAAAAAAAAAAAAAAAAAAAAAAAGAzS/kBjItlDQAAAAAAAAAAAAAAAAAAAAAAAAAAAACwGcsaAEbGsgYAAAAAAAAAAAAAAAAAAAAAAAAAAAAAJu/w4mqhywB8z7IGmLdem7ZKaQ7GltYaNW+6fUymH9skU3l+bEob8vT3Y86gBziDcs38DAIAAAAAAAAAAAAAAAAAAAAAAACATGb2AYyMZQ0wb33/eDsaYVp9a97poHSZpl8rz3HR3485gx7mDMo15zMIAAAAAAAAAAAAAAAAAAAAAAAAANIcXlyZ2QcwMp9qWI5SmuMBlLGstfUfYwAAAAAAAAAAAAAAAAAAAAAAAAAAAAAA+AWWNWyglOYgIs4j4ssB1fQhIk5rbd8OoBwAAAAAAAAAAAAAAAAAAAAAAAAAAACAIVnNcX6WXM8HHQYYnyd6tp5uUcNySIsaOqv/wP9rKc2rQVQDAAAAAAAAAAAAAAAAAAAAAAAAAAAAMBzLLVSyjXsCsGWWNazvPCKeDrm+bqEE/JJFz3SORpjmcc/f75vJptfLNPdaeY6L/n7MGfQwZ1CuOZ9BAAAAAAAAAAAAAAAAAAAAAAAAAADAjFnWsL6Tgdf3dKQDgxk2C0DyyTSXPKdNf/PJNJc8AQAAAAAAAAAAAAAAAAAAAAAAAGCelvoOMD6WNazv6QhqPB5ADQzbdc/qxjiEum/NfTPZ9HqZ5l4rz3HR3485gx7mDMo15zMIAAAAAAAAAAAAAAAAAAAAAAAAALJY1gAwQp9q2tpuRrCwYTGAGhiwWtvLUpo+BR6NsJ+9al5lssnDZPqxTTKV58c2/UaHRH8/5gx6FGdQrtmeQUP2T7/97erv+JdzzwEAAAAAAAAAAAAAAAAAAAAAAABgG45/9es4/q9/S73z4le//nrx299+rWGwltf//Kc/nYmOfXgi9bW9HXh9q2UShulCPzfySifTXPKcNv3NJ9Nc8gQAAAAAAAAAAAAAAAAAAAAAAACAe1z/1d+IBWCELGtY32lEvB9yfbW21wOog+F716PClyPsZ5+asxacyPRORqbyvDPFJTz6e8cZ9DjOoFxzP4MAAAAAAAAAAAAAAAAAAAAAAAAAYGPXf/UrIQKM0Keatp7VIoRSmuOIOI+Ik4h4OpDSVgOFz2ptFwOohXHotdSjlOZgLItAVrX2vGSZ9GiZ3snIVJ53sr7RIdHfO86gBziDcjmDAAAAAAAAAAAAAAAAAAAAAAAAAJijxd/++i8/ff39//xn/PXtf9971X98+ne+JYARsqxhA90g3lejfQH4P5cR8ZseWRyt/p4cSXZHPX8/awi1TO9kZCrPO1MclK6/d5xBD3MG5XIGDddpRPRdpgEAAAAAAAAAAAAAAAAAAAAAAADAFlnIAFtj5iV7Y1kDcNkzgTENoT7u+ftZ7yXTOxnvJc87Y3mvPvT3jjPoYc6gXM6ggfrnP/2p73cHAAAAAAAAAAAAAAAAAAAAAAAAAAD09ERgMHvrDKEei+c968zaniTTOxmZyvPOFDd86e8dZ9DDnEG5nEEAAAAAAAAAAAAAAAAAAAAAAAAAAMBsWdYAM1druxq8fNMjheMRJdan1psui43J9AcpmcrzB2nf6JDo7w+cQY/jDMo1+zMIAAAAAAAAAAAAAAAAAAAAAAAAAACYL8sagJXLHik8K6U5GHpqXY3PelzSJ4Ps+8k0917yHB/9dQY9yBmUyxkEAAAAAAAAAAAAAAAAAAAAAAAAAADMnWUNwMqiZwrHI0itb419M8i+n0xz7yXPcdFfZ9BjOINyOYMAAAAAAAAAAAAAAAAAAAAAAAAAAIBZs6wBiDUGMJ+MILW+Ne57ULpMc+8lz3HRX2fQYziDcjmDAAAAAAAAAAAAAAAAAAAAAAAAAACAWbOsAYha274DmI9HkFqfGm/WyOAXyTQ3U3nmf6NDor/OoEdyBuVyBgEAAAAAAAAAAAAAAAAAAAAAAAAAALNmWQPwvW97JPGslOZoqMl1tT3rccm2BlDLNJc8p01/88k0lzwBAAAAAAAAAAAAAAAAAAAAAAAAAAAmxLIG4Ht9BzGfDji5vrW93VIdMs0lz2nT33wyzSVPAAAAAAAAAAAAAAAAAAAAAAAAAACACbGsAfhe30HMJ6U0B0NLr6vppOdl2xpCLdNc8pw2/c0n01zyBAAAAAAAAAAAAAAAAAAAAAAAAAAAmBDLGoC/qLVdRsS7Hmk8XWPY8y6cdLU91re1ttfbqEumueQ5bfqbT6a55AkAAAAAAAAAAAAAAAAAAAAAAAAAADAtljUAP/amZxpnA0yvb01vt1TH92SaS57Tpr/5ZJpLngAAAAAAAAAAAAAAAAAAAAAAAAAAABNhWQPwY6uBzDc9EnlWSvNqKAl2tTzrcclNrW3fwdt9yTSXPKdNf/PJNJc8AQAAAAAAAAAAAAAAAAAAAAAAAAAAJsKyBuAHtbbX3SDqPs5LaQ72nWJXw3nPy/r+fm8yzSXPadPffDLNJU8AAAAAAAAAAAAAAAAAAAAAAAAAAIDpsKwB+Kmznok8XeOabTjraunjzQ5r60Omv0ye06a/+WSaS54AAAAAAAAAAAAAAAAAAAAAAAAAAAATYFkD8P/U2i4j4pueqfyulOZkX0l2z/5dz8u+6d5162SaS57Tpr/5ZJpLngAAAAAAAAAAAAAAAAAAAAAAAAAAANNgWQNwn7M1UnlTSnO06zS7Z75Z49J13nETMs0lz2nT33wyzSVPAAAAAAAAAAAAAAAAAAAAAAAAAACAkbOsAfhIre0yIr7pmczTiFjschB196xF9+w+XnfvuDMyzSXPadPffDLNJU8AAAAAAAAAAAAAAAAAAAAAAAAAAIDxs6wB+DmnEXHTM52dDaLeYAD16p3Ot1TWQ2SaS57Tpr/5ZJpLngAAAAAAAAAAAAAAAAAAAAAAAAAAACNmWQNwr1rb64g4WyOd1VDoWkpzuq1ku3vXNQZQr7zq3m3nZJpLntOmv/lkmkueAAAAAAAAAAAAAAAAAAAAAAAAAAAA4/bJ7e2tFjJYpTTHEfHnHvW9rrVdZ3AyP6OUZhERL9fM531EnNbaLjLy7b6H84h4seYtvq21PcmoZRMyzSXPadPffDLNJU8AAAAAAAAAAAAAAAAAAAAAAAAAAIBx+lTfgAeshjYvI+LpGkGthkX/uZTmXUS8iYi3tbbXfW5QSnPQ1fBqg2HYKx+6ewyBTHPJc9r0N59Mc8kTAAAAAAAAAAAAAAAAAAAAAAAAAABghD65vb3VNzbWDQo+7Yb8PptIoquhxW9qbc8GUMteldIcRURNqmE1kHrRDbZe/uj/Xw2nPuj+9/OIOOp+Nhk8/b2biDiutb1MuFcKmeaS57Tpbz6Z5pInAAAAAAAAAAAAAAAAAAAAAAAAAADA+FjWQIpSmtVw3xcTTfObWttXA6hjr0ppVhn8y0jL/7zW9u0A6vh/ZJpLntOmv/lkmkueAAAAAAAAAAAAAAAAAAAAAAAAAAAA4/JEv9hUN5x4qosaVr4spTkeQB17VWv7JiK+GmHpXw11ALVMc8lz2vQ3n0xzyRMAAAAAAAAAAAAAAAAAAAAAAAAAAGBcLGsgw8kMUpz9soYY5yDqr7qaB0umueQ5bfqbT6a55AkAAAAAAAAAAAAAAAAAAAAAAAAAADAeljWQ4UCK89ENdf48Im4G/NKr2spYBlDLNJc8p01/88k0lzwBAAAAAAAAAAAAAAAAAAAAAAAAAADGwbIGoLda27cRcRwR7weY3ruIOKq1vRxALY8m01zynDb9zSfTXPIEAAAAAAAAAAAAAAAAAAAAAAAAAAAYvk9ub2+1iY2U0ryJiC8nnuLrWtuzAdQxOKU0q1y+HkBdNxFxVmt7PoBaNiLTXPKcNv3NJ9Nc8gQAAAAAAAAAAAAAAAAAAAAAAAAAABimJ/pCgrczCHEO77iWbonFP0TEN3ssY/Xso6kMoJZpLnlOm/7mk2kueQIAAAAAAAAAAAAAAAAAAAAAAAAAAAzTJ7e3t1rDxkppVssMfjPRJP9Ya3s6gDoGr5TmeUSshlJ/uYNab7olGme1tsuRR/ezZJpLntOmv/lkmkueAAAAAAAAAAAAAAAAAAAAAAAAAAAAw2FZA2lKaVbDh19FxLOJpPqhG3D8ZgC1jEopzUFEnHQ/mUs8VoOnF93w6be1ttcziPMvZJpLntOmv/lkmkueAAAAAAAAAAAAAAAAAAAAAAAAAAAA+2dZA7B1pTTHEXHU/Tzv/n36wHNXA6cvI2LZ/XtZa7vQrf8j01zynDb9zSfTXPIEAAAAAAAAAAAAAAAAAAAAAAAAAADYPcsaAAAAAAAAAAAAAAAAAAAAAAAAAAAAAACAWXmi3QAAAAAAAAAAAAAAAAAAAAAAAAAAAAAAwJxY1gAAAAAAAAAAAAAAAAAAAAAAAAAAAAAAAMyKZQ0AAAAAAAAAAAAAAAAAAAAAAAAAAAAAAMCsWNYAAAAAAAAAAAAAAAAAAAAAAAAAAAAAAADMimUNAAAAAAAAAAAAAP/L3t0ex22kCwOd3dr/9BuBtBGImARERyA6AlERiI7AVASmIzAVgakITCYwICO4YgZiBH6rvc94x1pK6gYwmAZwThXLdffyA4MRm41+vg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AAAAAAAAAAAAAABYFMMaAAAAAAAAAAAAAAAAAAAAAAAAAAAAAACARTGsAQAAAAAAAAAAAAAAAAAAAAAAAAAAAAAAWBTDGgAAAAAAAAAAAAAAAAAAAAAAAAAAAAAAgEUxrAEAAAAAAAAAAAAAAAAAAAAAAAAAAAAAAFgUwxoAAAAAAAAAAAAAAAAAAAAAAAAAAAAAAIBFMawBAAAAAAAAAAAAAAAA9hReRgAAIABJREFUAAAAAAAAAAAAAABYFMMaAAAAAAAAAAAAAAAAAAAAAAAAAAAAAACARTGsAQAAAAAAAAAAAAAAAAAAAAAAAAAAAAAAWBTDGgAAAAAAAAAAAAAAAAAAAAAAAAAAAAAAgEUxrAEAAAAAAAAAAAAAAAAAAAAAAAAAAAAAAFgUwxoAAAAAAAAAAAAAAAAAAAAAAAAAAAAAAIBF+Ze3GwAAAACoWdOsj1er1clqtfouLvOmbTc33jQAAAAAAGAummb9POIhz+Ml3UVM5JM3GQAAAAAAmIOmWX8X8ZDjeDkfIx7y0RsMAAAAAADAofzjjz/+cPMBAAAAgOpEEv71arV6+cS1PaxWq9O23dx55wAAAAAAgClrmvXlarV6+8RLeFytVudtu7nyBgMAAAAAAFPWNOuz1WqVYiJHT7yMX9p2c+4NBgAAAAAA4BD+6a4DAAAAAJW6/MKghuRZDHIAAAAAAACYrGhM9NSghlU0K/q1adbPvcMAAAAAAMBURazj1y8MakjeRswEAAAAAAAARvcvtxwAAAAAqE0k4r/+xmU9a5r1adtuDG0AZqVp1ser1eq71Wp18pXXdbNarT617ebOuw8AAAAAk3aRcfHn8QEwG+IhAAAAALAoufGQK/8sgDmJGrn0sY2LPOUu4iE33nwAAAAAgMMwrAEAAACe0DTr7yL5abVTFL77v229zLx/D6vV6uPO//0pEqhW8b//+dG2m49f+HqApXme+XrTumxYAzBp0YzoNPadufvLn1b/+dr0n/toVnRjgA3Al0Wx08Vne830HH7heRzqFmd1pzu/v3dT2/fEGnQSr+EkzhpfZHzp7c5Z4l3s+T6NcMnAgjTNehsH2S0K/7xhbvr/HWXclced+MfWtpD8005xuWa7AP/1LONefB6nBpgc8RCAccR56vlnz/bpmfxSszeoX9OsT3eeAVMM83pKcYFYg07iNWzPG3P2fvexVt3E674RwwWGJh4CcHA5NSI5uTQAVYtcwW085CRzf/mniIc8bOMhUzsXABiTeAhM204OySp+d6+nFheI88ZtjcjzzLPFbd+Zu514iDNEYFCxxn63sz6tnhgg+Dwzf3kVtW277mLtXm1jI/ZfAMzFP/744w9vJgAAAIu1M5RhNwiWWxC+L9sA2822CZuCI2BpmmZ9sW288Q23bbv5vFAK4E+R5P5kYc+hg/47DYfPBy4sSnvJq/RhDwnwX9HU5Lev3JI3bbu5csugPk2zPktFM08krad9z3nNzRlj7dkWXeYmsObYNqe8kpgPlIiioOOdgqDchkP78rgzjGYbD7GuAYsSa/PvOa+5bTf/8K8DeIp4iHgIwFb8Tbj7yvP++7bdnLlhUJ9omHH9RDzhMZqLXdT6tsW1n0U8ZOg937YxpWFdQDbxEIA6Nc06t7nN95q7AU/ZqQV+yt2hhxpEvmB6Pn414Ld9jPOCS3tIgP8SD4Hpij3d9Rd6uryPGpEqh1XtDOU6HbgnzeM2HmJYF1Ai4rTbeMhJ4QCGfbndGUpz55wPgKkxrAEAAIBFieDdSQTAjgcuCtqnbYDtxnR0YAkMawBK7SQ6bQstc5IJtkWQ28LuUfZYTbNODYkuRigArTo5DWBMTbP++I2/DelvwnNrJtQlBjX8+o2L+qGmBj1x/ngeRZdjJLjeRyGmgTPA/4hmRNt4yKEHVZe43YmHSM4HZs2wBqCUeMiTxEMAQtOs0znh62/cD00voTLRROPmG/umX9p2c17TlUccZ+ihXF+yHdZ1ad8HfE48BGAaDGsASuwMgz4prAO+3cZExsorjP3o1Qj5grcRD1FbDCyeeAhMU+zxbr6xt7tv282XBnQdROz3zgceyvUl22FdF227+TjNdxrYl4gr78ZEDjmousT9Zz2zxHsBqJZhDQAAAMzeTqH62YSGM3zLw04RfTXN6ACGYlgDkCOSs84G3Oc9RCLT5T4SmSIJ4mrkPWlKzjqzZwSWrKDx5RvNzqEeTbNO53m/ZVzQQ9tunh/6wneGNJwfKNn1MfaxFwf42UAldgrVT0cqCBrDdpj1dcREJOYDs2JYA5BDPCSLeAhAfuPL9227OXO/oA6R43yXGVv4dw2NeWJIw8VIQ6ufYlgXLJx4CMA0GdYA5IhnzqH2edtGt1f7WFdiX3p1gD3pO3mCwNKJh8A0Nc36LjOXpIr6rsjtuzjggFjDuoBtfd32YyrDGb7ldiceYjANAFUxrAEAAIBZ2knAP5/RgIYveYykriuBNmAuDGsAvmakRripsPtiqCB/06zTtf48xPfqSKE6sFgFa7DiJahENHW8KdjrNYc8F4t15qKSpNeH2PdpTgkLEgn4ZzNqSPQ17w2yBubEsAbga8RDOhEPARYrzlXbjNcv1wYqEfu9m4I85x/bdnN5qKuPZ9irAw5p2GWINSyQeAjAtBnWAHzNCIMBbyMeMsj6Es/I1wfMGbxP9dOaWgJLJB4C09Q06xRfeJ158R/adnN6qBcag7avDjik4XNyYWBhYr9zPrMBDV9yG2uuQdYAVOFf3gYAAADmJAJf55GEP/cD5630Ot+mj6ZZ38bQhoNPigcA2IcRC79T4tdp06x7F3YXJpLtS/r5x+n+SVaA+Yo1MiVifbfz36ekhuZpLUgFOh8XUNj4pfsAVCgaE11N4WyvwiT8VeyTf2ua9Yd0RmrvB/MV6+VZxERqaI42lvR8+7pp1mk4zWXERKx1AMDsiId0Jh4CCxBF6enj+c7HUz7Gx6eIjdzNfG0QD4HpuSwY1HAwcRZ5EbnKtUhxpJ+2jdsPOdQb2C/xEPEQAGDeRszBS9//96ZZ9250G4Mlfh328oql84S7iId4JoaZEg/5IvEQmJjYPx06nyRL06zPIyZSUz3LNrfnzHBXmLdYL88qq1Pbt5fxcRn5h5cGEwJwSP/444/c4eMAAABQr0jKuphKkG4EKSn/wtAGYKqaZp3W9J8yLv+2bTcn3mhYhtQo6ECF3/cpmalLcL+SxkS70mvRoAhmIpLvU/LVyQBNPNLwvzS04XpuRTsFe8t3fRvSAf112PM9tu1m9KKbaP5T+1CJh9jHKsaEGYmmROfxsZSh1V/zGE2KLj3rAlMUzdh/z7n0tt38w5sMyyAeMgjxEJiRyA08jY++Ben3EQ+5mVsji4K9pVwbqEDEGX4rvJJm7DP/iElfVT5U4jEabcqZhhkRD/kf4iHA5DXNOre5zfdtu7nxjsP8RRPKywPs9x4jHlK81lQyqGHXY8RD5AjCDIiH5BEPgWmJte2ucM/3Y9tuLsd8oXEemeIMr8b8uR380rab88qvESgUz5oXCxta/TXvo2eWoQ0AjO6fbjkAAABTloJe0XTxzqCGv0kH8L82zfomkg4AACYr9nw3B2pMtIqC87vSfVWFjYlW8VpuInkMmKiUfNU065Ro1MbaOERjjJcx0KBtmvWntIZF4w2A0cR+q3TPN/qQlUiC/W0CTUGexd7vrIJrAQYQv893sW/TmOg/juJ+3FnvAICpEw8ZlHgIzEBaj2Jd/L/VavXzAI2JVrE+pHX2t9QksmnW19EwHWA0Ow1/Snw40KCGm8oHNazijPDXGHoGzIB4yJPEQwCAWYlnuF8PtN9LP/P3plkXNbmtcFDDKl7LjZxvmDbxEGDmrgr3fA8dYii9RNzmZgKDGpK30UNGPgzMwM4+8FeDGv7mdcRDLqx3AIzNsAYAAAAmK4rDJeF/3ctIHLt0AA0ATNFOotMQiaZ9bBPyswodY6BYrcPEXoydsAYMY2dIw76Tr45iDUuDGxR5A2MqbaKTGhON2nhnp0h0KrYNiqzlMGFNs34uCf+bdodYP6/8WgEA/od4yF6Ih8BE7RSj/z7CuvgqGhV9VOQNjOiiQ2OiUc/5Yz94M7H87LcxSAyYKPGQLOIhAMDkxbPboQZX7/o59zkyaplrzRtMz+7XzjZhesRDgLmLITGl69tp224+jXVrYujV3QQGV+96GQO7rOUwUen3N+rTxtgHTtXuEOuTpd8MAMZjWAMAAACTtHPoLAk/z9s4gD6ewsUCAOy4rizR6ZuNbiPo/9N4l9TJq2igBEzAgYvRX8Ta91Gjb2CfYo0p2ffdH6Ax0XklRaJdGNgAExW/u3eS8LO9jHiINQ8AmBrxkP0QD4EJOXAx+rNY0zQpAvYqGmuXxBoeD9SY6NeJDWrYem1gA0yTeEgx8RAAYJIqHAL9zefIOCu8Hu+SOnk2gWsEgngIsCCXhS/1Tdtu7sa6PTv7vCn2rHlhYANM086QmKnWp40trdG/x/4ZAPbOsAYAAAAmJRIQHDp3kw6g22gqBwBQvQic11h8efmlIViR3DRk0fftzsfDgN83+ckwL6hfNDyroRj9maENwJ6VNk48G7kxUVr7fh7r5+1JWsdPJ/4aYFGiGHyqTdEO6SjWvCtFSADAFIiH/Ek8BBYumpffVJAXeKRJEbBnpfGQi5EbEx3HejxlrzXrgGkRD+lMPAQAmJTIXatxCPTrb+RGXw24V73fiYfcD/Q9t16qHYb6iYcASxH7q5IhCB/adjPaMOZY924mOqhh68UMYjqwKLE2thNfew7lbeo3FvtpANibf7m1AAAATEUUANU2mTwViH/M+Lyaiup/TveybTeaawIA1YpE/FoHdKWE1OvYU33eIPi8x371QyRH3bXt5otJUpEIlvbGqYH7aSRVdXUV3wuoUCRf/VrZlW2HNqRrOx+zMQgwXx0S8X88QGOiIZv6PMYgnu2e76m933bP9zz+22fPtys16jixfkPd4rnvurLYwnbt+pbjipopvU7XE+veaAN+AABKiIeIhwB/awxeU3PebZOis9TgrG031xVcEzBx0TjidcGrSI2JRhs6sDOQa8j1+DbOFT/t/PdzJztxkaHORP9s1jFmYyegnHjIYMRDAIDqxTNxzc9ov8Zz5N/2gmmPtVqtXnX8nvex393GRL64V4ufs42JdP15SWq4ft22m5yaZ2Bk4iHAwpQMr049W8bufXI5YI3GKvZ+d9F75uMXetAcRzzkZMDzxRdpmKveMVC/GDZfW57gbcbnPK+oz1dat+/UxQGwT//4448/3GAAAACqN3ICwu1OUdBqp1nap6EOayO5bDut9/lnH2Ml7r8XdIP6xPpwFoH2JcsN2uUWRX3Lx1jvrxUqweFFEebHypJPn/K3/VSs4f9X+D0eI7Hrsuv6E3vl88KC/l1vFKdDfSod1PCUd227KUmgHV3TrC+igGDyrwXmqmnWHwsSN2/bdjPaM3PsTW8GSMR/iMLLqy5njHEdp/HRpxhzFYUAGnVApQZcd3LcRzxkGwf5q1na15rmlthpsLvaabi2O5BmjMR96x5UKNaHs52GjEv1XcGan1MU9S2fduIhGnTAgYmHlBEPgXmqtDHRU9KgmbOany2jodvvGZ866hkr8F+pWU7BXibtn56Pue4UXt+XPEY85LprY7cYaLb96PP34THOBTXqgAqJh+yFeAhUKnIBT3bqyJYqdzjP/ReGfJXaxkPsB6ECTbO+qWxI11Me2nbzt7W6MLdx631qTtw1HrtTW3je8blY3TBUSDxkOOIhUL8ONXHfD3VOl2PAmr0POzGR4nUz/jacRTyk7/mhnBio2EBx2BwPkY+4jYPsDo/56hDBErEf2zrZ+W9JTnQf4sAA7I1hDQAAAFQvkovu9pSAcBvJDXdxsFxFQ4qdZP3tx8meEvQlXkFFKp2GvjQCc1CBgZIO7iPRaZtQ8FcSwc7grOexz+qz1/orEazDdf8SSfhDJTekfeNVh0SG/ykqAA4rmk/8NqG34T4S8qvcQxnWAHUrKJjZasZcbwrWkC95iD3fYInvAxRjJr+07eZ8qGsChtM067s9JajffxYPqWbvFn8Lnu/EQ/b1+jUogkpEsePlBArQ506BJhyYeEg34iEwH3vOC9yHx4iHdGo+vm+aE0HdOgzq+rFtN5djvagO8ZrP9R7O9cQ1bQdZX/TYx9637eY44/OAkYmHiIfAEsQ51vVIA1v4MrVzcGADNcN92ImH/NlsclsLvFOL+91OPKTrXuuvXOIO130b54eD1CjH60rxkFcdvvzfhvdDPcRDhiUeAvUrHNT1oW03p2O9qA7xmqf0Gs71hes6jfqQrgPO0tp9bA8I9dljD5mHz+Ihow29+ZY4F92Nh+xjeKO+MADshWENAAAAVC2CXTcDJqI/7Ewnr+agOUckY5xE4VGXBKsvkXQKFWiadQqg/+y9qEIKzD1XqASH0bP4e1v4fVWaVBQ/97zDPuvPxM0OSVp7a4TWsbmTxmxQiQkm4u8atWFILsMaoG6Fe5dRz7FiTf6/jl/+GAn4e1sX4/oue5wVfj+1M1KYu4Ga9W49buMhKc4ypbOueMbexkNOB9wba1AEFYgCnNZ7UQ17QjgQ8ZD+xENg+vbYoHffUvON89qeLzUngroVNngcfchU06w/9mgiPOhwrs/FHvS8x3BtcWCojHjIf4iHwLzF7/idQQ3VsCeEAxmgGe77GAxY1HwxcusuOuyz/qopK2wyvLfcxo7DLtQMQ0XEQ4YlHgJ161CDMeqQqZ5nk4MO53pK7P0uO+6frXtQmYGGF+76sBMPmdRwltjDbeMhQ52ZGtgAwOAMawAAAKBqTbO+HmAwQTpcvYoi9VkcsEaSWjqAPhtogrBidDigARJPGV6VjYZhCQoT2ncNUvgdwf7LwiTY71NCfkHCxN73Xh2SxkYv9Aee1mMdrMWHSDytJiHfsAaoV4fn4bET8bueTabmF6djXWuPhHzJ+FCRAYe5vo+B1ddzeX+bZr1Nyh+icZNidDiwGTz3zs2Htt2cLv0mwCGIhwxDPASmq+Dsvlb3EQ+pJh9RcyKoW+H+b9Sc3h5nk48RDxllCGAMgLzu0Lzjr0abe7o0oIB4yJeJh8C8zOC5d24e23bz3dJvAhxCj/VwkEa40Sz4sjAP8F3UI+c2Gd773qtjg89R8y2Bp4mHDE88BOpWuO6NeoYVcYa245eP1ncg6myuO+YVfT9W3Ab4up5rzq7beEa9nku8M+7NWXz07bFjgDUAg/qn2wkAAECtItm8z6CGhyhY+q5tN+dzmoSbDolTIVYkCfw7ig36uIzEM+Awjg1qqI7GRHAAkSxZmkD0GAlE50ME0lMiUttujgv3VymB7Dzzc0cpqI8ktZLX8CySG4ADioL0qTesTM/xd9YUINNJwfPwh5EHNRx3PJt8H0meo11r7C9PYm9c4mUUcQIHFufzfYZGPUah+P9Lz4Nzaky0+s86dx3Puf8vXmfperfrdcSfgMMxqKEufeLxQEfiIcMRD4Fpit/DqTesTMNubpyvATmiqU7u/u9xzEENocvZZGp6cTxmw5/IAz+On13iKBpzAgcmHvJ14iEwO5rC1uUozmWBEcXzcG5cYVdqhDtIDl76HjG8/k3Bl50X7FtHaTAcZwUlr2GlNg4OTzwEWKiSPcjYZ/ddzia3+TqjXWv0kjnp2ENm7BgT8GV9fx/fxxC+k+gvNZthBCnuG3mQ38Wz7kOPb/eiZ+wJAP7GsAYAAACqFIlYXQ+eHyMh6/kBCpZGFwljZzG04bbjzz8SeIODkvQN8B+liZuP0Qh38MLv2F/lJrO/jGD+t3wYeX96Xlig3qUQAhhIPAcPkRSU1sYPUbT9Q0oI/cLHj/E5XZ8jv+aZhHwgU0ki/thnV132Ru+jKcjoCbDRoKjLwAZ7QKjDVY9hrr+sVqsUD7mYUwL+U6L4KO2Zn8fr7uoq9t/AyDTBAfiLeMiwxENgeoZqZHEbsY43X4mHvInP+dCz2e1T0rP8r02z1gAc+JZq4yER0y09m7wfe3D1VpyBnnQY2PDamSBUQTwkg3gIzIbh1QD/eR4u3f+92Ucj3IhbNJlnhOmaX2d83sOYMYd4DSUNe8VD4PDEQ4BFiWGtOXklyX3UQIwiru1V4c/aW75OjsjpKR3Y8MwQVzi8pllfFKyHn7uNIQ1nh4jHji0GUTyPeueu+9i3ctQBGMq/3EkAAAAqddkxET8dOi/iwPlz8ZpPInjWpZDhZSq6WsKAC6jQrIuGAHJEUWBOQvvWNtFpbwlZaV8USVg/DfDtHjs0X+olFW02zTol2P+e+X0kYcFhnfcoSF/F8/Bl226uMz//b4mikYx0Gh/PBrgT24T851FADvCU3P3HY8H61luHvekqGlEedEhN2hvHen5T8DflRfqaQxUQAH81Q+vSqOMh4iGL+/2NJkznTbO+inhIaSHDUcShDBeD8YmHAIsnHjI88RCYlji/6tOw8iGGX193adLbNOvjaPJ91qMw/nNvYx09yCBXYBLmNLz6IfanB1vvYv+3jYeUrOXn8TcEOADxkHLiITB5jz3zAQHmoPSZ880+a1sjv+60IJ7wLYc4DzwvGIKRGvUej9kEGfgv8RBgoeYUD1ntO18nR6pRaZr1qjDXKL3W0epvgL/rkYeXzhMv9jHAcArS696Jh5QO11nF1z1f3p0DYGj/dEcBAACoTRw8lzZDS9617eZkiYMadkXjunQP7zt8+WU0BgDGJekRoLwxzvkYiU7RYPzDAN/q8hCJqFGk+j7z048iGRcYWTyHdUn6XMWz3/fxPNw5kTKtF227SWtrep78vmDt+JafIkkK4G9i35FblD52onjp3vShlgYXsUcu/ZuiOQccVpfmYOk59Xjpg1bSmte2m+OOe9fXURALjEgTCIA/iYfsgXgITErXJtmP0awtDYm+6rrWxLPkZTxP/nu1Wv0S37uvVCh+I/cO+ILcc6iHMZ+dI1+7tFHbaQ2N2OIazgrXcPEQOCzxkI7EQ2CyxESARevwzPl+n4MatmJv+eMA3+r2EPvU7UCvgi+xF4TDEQ8Blqhk71F7jciPFeU7nhf2jnkZ+3HgMLrsA+9jQMwiBzVspb1v227Sev2mw5engYUG9wPQm2ENAAAA1KjL4eebKBznv0lXJx0S8o8UI8H4IjlziEQnhrPowT9wICXJTh/GSMTfUVrc/bn0tYdMkCjZJ5cmnQHDOC1oWL4rFSYNXpQegxvOIil/iKENqfD7TkI+8JmSpohjFzWW7onOamhMtBV75ZIGm/aAcCBNs057rmeFPz3tAatoiFaL2Lt2KaTvOjAN6GeIRuAM58G9hNGJh+yPeAhULhpCvOxwlako/fnQa2Lbbj6mQdbpe69Wq3cD5O6k5nMfDYQBdsXalxsLrj0e8q6mQYxxLSV7wGfWaDgM8ZBhiIfA5IzddJJvUyMC4yp55nwYc88SzS9ve36bg9UyxzlpbpxXPAQOQDwEWLDcdSENrx7tGS3Wq5LzyduaGqbvDLAuYR8IBxD7wNeFP3k7qMHw1xD74e877FvFQwDozbAGAAAAqhKNG0sPnt+MXJw+CTEx+KxDY02Hz3AYi55yXiF/V2BEsQd8lfkTH8fer0QyU5+feXXIotFIXMstJjjZ8+UAT+uyxryLZ769iaT87dCGvkVJKSH/xsAGYEfNwxpy96araBIy9vXlKGmwedQ0a8n4cBil+8D3+94DTlUURb0pvPxXURABjEs8pC7iITAi8ZD9Eg+BSeiyxnyIovS9rS+RZ3cRTYp+6fntjiIeokERsDWX4dUPsVZWpUODTeercBjiIQMRD4FJuRqgCS7DuR2zESjwp5L93PkB4gt99pv3FeQM5sZ5uzSLB/oTDwEWJ3Jicgci1D68urqzyWji/q7gS5yvwmGU7gPv970HnKp47j4pPGM9igHiANCZYQ0AAADUpvTQ871BDd90Hgf0uZ5pzgbjiySnvg1wGUatjTZhzkoa4lwdolgm9pwPHb+8hv2qZHyoVBRDvyi8uvdjNsKIoQ1prf6hx1q4MrAB+Exucc7DmPu/plmXNmusrjHR6r8NNksaIWtSCSOLIsWSfeC9YctfF8/uBlhD5eL8vaRokP25NzwDRicesn/iIVC30py0tF85G6soPZoUpefEpmcOjwZFwK6ahzWU7ImqjIeEkmsTD4GRiYcMTzwEpiGeZdVm1WH0wbiwdJEnnLsHTIMPrse+ZRGDKd1TbU0pHtIlJxLoTzwEWKKa4yEl+6H3FQ/7uyxoWv5C/R4cREnPrMcx94BTFINqSs/1nAMC0IthDQAAANSm5OD5wSHpt+0k+JZMC5YQDIeRfvc+uPcHk5La3rTtxrR0GF9JItYhm4d1KTx/iGSAQ8suYJAkC6MrLYA52LNwFEOlNeKXHt8mFV99tNYABXvAsRPdS9anmhPxV4Y1QPVKz6Ak4meIs72SAdbiIXAAMYDQwIbDeYj7f+JvC4xOPGT/xEOgUjG8+lnh1R3kWTitZzHE+sfCnLtdqUFR2zRrOShA9p5j5OHVJXuhh2gMXqUYDJl7Jqg5EYxPPGQPxENgGmKf8kOPZ0v6eYxG7MeVnF3Cksw5HrIqiUXsS5wh5O4HxUNgROIhwIKV7DlqrhGpdnh1/K0oideoEYERNc36NPZGuS6cWX1bxKlL6plfxJ4cADr5l9sGAABALeKw80XB5UjEz5SSr5pmnRLXfsr8Esn4cADb4SpNsz6PYH5JMO5zv9SQ/NlDSs56nfHl9wM0K/4kkAkHl5v08+GQzXBTQD/2VCXr880eLylb+hvTNOv7zP122pdbF2E8pc9fB30Wjp993jTrm0jw7LJnTV9z0zTrE/swWLTc9WPs/VRJQuYhC0W/KfaAaSjkq4xPLzmXBYZRsg98Z99UJJ0X/p75Bc9SYzr3F8aXBjbsPFuWFqnvuq25QDJDKgT9OfNzv+/7w6IxFHA44iF7Jh4CVSuNhxz8WbhtN5c7e9au52e/Ns16VXOTc2DvcgcD3I78VswmHhKuCp6vj2vZv8JCiIfsj3gITEDbbq5jUFbar7zsccUP8Xs/5Tq63DXrxwHO7e7UHMJB5cZDHg95bhY1t7n5dVsPh4zhfOamIB4CjEc8BFiq7EHJY+awxQDn3PyXg+brZErr7NvMzz2eeK8JmJp0ptWnAAAgAElEQVSSfeBt2oN5h7NdRP+Z3PX8dCIxbgAqZFgDAAAANSmZzH2rkUSZaHhyltns5CiaZrrHcACR3HQdAfCuyU1vI5lykoNt0hqU+amfrFUwC8eZL6KGxKDrzGEyWzWtUbnJ+JKwYFy5a+CqpmfhnSLSrntWAxtgwSLhvVa56/LDRNav69xiUueBMJ4YXp3bmPxRoniZtJY1zfp9wfP7qSa9cBjx+3oc61zJmduul/H1Z1N8vkyF6rns1WAWxEPGIR4CdSqJh1TzLJz2mJHD0mfPqkERLFutMZGSdXkKe6brgmENJ4Y1wDjEQ/ZLPASmIxo9njTN+rxgz/K5Z9GQMcVDJnmmVRATuRMTgcmbWjykZFhDbfGQnEa9JWcAQH/iIeIhsFTiISOI9foh89y1pH8P0F/J79yF+50v9cuJs9VfM7/IsAYAOvunWwcAAEBFSg6eHYp2U3LfBN/ggFJCfttuUgLAux5XkZJF7woGHwCMLhr1HmX+3BoS20sTrmoqbsy9Fsn4MJLCovRVbc/CO3vW9x2/xXZgg3UHlqfk9/5jpXdnKkXhJddZ8xANmJuS87qrKQ5jrYB4CExEWuPadpMGzv8QRehdvIjny3PvO1Ar8ZBRiYdAnSb7LLyzZ33T49ukBkVnA14WMB25g+9rjYc8RHPhqsU1PmReo3gIjEc8ZP/EQ2BC2naTfmeb1Wp13/Gq0/nib02zvozzRoBaPc+8LvGQfsRDoE7iIeIhsFS5e47cs/xDmFuNiLMDGElhnfC9QaXlYiBYbp75y5quHYBpMawBAACAmuQmYT227ab6qeSVuiq4LMn4UIG23Vz0TMhPQb3fJeQDFctOwqqk+LsoAaJtNzUl4+feP38vYDy5z8Grmp+FeybkpwLSVkI+8BVj7wFzEzJr2ud9UWFzIkWZMJ6SfWDJuT4hnsdzz1Ql40MF4pk3rY8fOl5Ner78uWnWN1H0BFAb8ZDxiIdAnUqGV1f5LByF302PIWOpQZHnfOBLxt4D5uYITyIeEnL3sOIhMB7xkD0TD4HpSb+3bbtJ+5F3PS7+bdqnNc1a3RdQq9zBhQdvThlN0ktq9qp5Ti6IJ+UOEweGIR4iHgJ8Xa3xkMcpDK8Oufvo3H050J94yDiy752zUwC6MqwBAACAmuQmfxvU0FEkj+U2OFGMBJXYScj/pccVbRPy/W4DtclNQKgiqT32U7nNbnM/bxRtu8lNwtLMDsZTkvBT9bNwJOR/3zMh38AGYEqm1JxoKkUDsCS5+8CHypreTk1JMr5zU6hAOntr281pDATs+nz5MuIhnjGB2oiHjEQ8BOpTWABd9bNwXNtxYQO3Xa81KAImRjwE6EM8ZBziITBBbbu5iAa4Xc/WUhPg35tmfen9B2pSMFi/pma4JXvR2p49b3M+qeB9AXoQD/kb8RBgasRDgD5mUydcuZL9pXgIAJ0Y1gAAAEAVCpN9couq6Xf/jtw/qEvbbs6jAW6fhPy2adYX3lqgIpNqThRyk5mmmvT0rIJrAP5X9c/C0QTtxMAGYCGmtNfT2ATqk/ssLB7ST8n9+67GFwBLFQMBj3MbSzzhKJ4xr5tm7fcbqIV4SH3EQ6BOU4iHfIx4iAZFwBKIhwB9iIeMQzwEJmqnAe4vPV7B26ZZ3xnGAlRkzvGQVUUDJkoZ1gD1EQ8BqIt4CNBH7jPXw4SfKw8uzlNza5fFQwDoxLAGAAAAalGS7CN41E/2/Wuadcn0ZmAE0QC3b0L+TxLygQmqKflgysWhXRvcAftR8sw1iWfhSHjqk5BvYAMsw6eCV1nls+vEkmNz77dzAhhPblNY8ZAeYm+aSzwEKpP2W227Sb+bP/YYCvgqnSs2zfrU+wtMiHjIMMRDoC5zjId8itf1oeO30KAIliP3mbbWM3rxEKAP8ZARiIfAtKXny7bdnK9Wq+9Ts7aOL+ZF+lZNs77wzwGYEPGQYRh8BnURD/lf4iGwHFM/o59MPCTW5ix6ScBopji4cKpy76F4CACdGNYAAADA5BQmk/O/3D+YuJ2E/B96NCiSkA/U4rvM65hS8feWxHdgMFN6Fh5oYIOEfJixwjUtd79If+411Md5fn9d96RAJdp2c9nzGfNotVr91jTr66ZZ2+8AhyQeApBnSvGQlL+TBoO97/gtUoOiO/tUmL3cdc1aMJ6jpbxQmBDxkP7EQ2Di2nZzEw0ruzbBTX6K50yNGIFDmnM8xKBoYEjiIcDc5K5rzujHZe2FuoiH9OceArBXhjUAAABQi9xE0K5NyQklk9KBurXt5jqmrPdNyL9pmnXutHaAoU2xIMh+Chjb5Aqq49mzTzPN1wY2AGHs5PCHBd94+1wYQWFjDL+X/bmHMANp2FfbbtL6+a7Hq3mVCnSaZn3i3wRwIOIhAHkmV1TdtpuzHg2KXqShNxoUAQeIh0yxKeZQ5KLDCMRDRucewgzsNMH9oceeZfucee7fBHAg4iEAecRDgMUaeS1YcjxkZa8Lo8l9FvY72Z97CMBeGdYAAABALXIDaibcDiO36Zzm7VC5gRLyX0aDIgn5AHlmvyctLJYFupt1EpaBDcA35D7Djr0vWXIyvrNXGEd2gVFqTu496S13XRcPgQlo281FOrrq8Zz5bLVa/d4060vF3wBZxEOAoWT/rkVsYXI0KAK+InddezHyTRQPAfZNPGRc4iEwI227uY7f1w8dX9XRarX6uWnW6VnT7z3ANyxkPyoeAuMQD/k68RCYt5J1bcy9yaKHNTh7hdEcZf4gv5P9iYcAsFeGNQAAAMAyOXyGmdlJyL/t+Mok5ANVa9vNjXdoVBJfYRy5SViTFcPFjnsk5BvYAPOVm2A6dpHgJIufAPgi8RCYmVQ8GM+Zv/R4ZW9jiPWJfx9AbcRDRiceAuNYxO9aNCh60/HLNSiC+cpuuDHyICnxEIB5EQ+BmYm8u9N4znzs+OpeRjzk3L8PoELiIeNy7gjjEA/5NvEQmK+SBuTiIQB0lRsPeeYOA9CFYQ0AAAAAMBORkJ8aC/04QEL+qX8XQE0kYQILN/mCpEjI7zOw4c7fApid3OTIo5GbE2UVCUysse/YAy8AAPaubTepsdD3q9XqoePPSkU4vzfN+sK7BdTEGRiwcLdTf/ltu7nq2aDo48jnocD+5cZDkjFjD7lNk8RDAAAOKJ4zj3s8Mx+tVqufm2Z97ewRqIw1CVgy8RDxEJijKuMhbbuZXTzE+gkAAPtjWAMAAAAsU24ArmSCPVCJtt1cDpCQ/5uEfKAyEojGVZIcB5Cl58CGlJB/Y38Ks1Jy7lRjc6IprUfPMz/PHhCYI/EQmLG23dzE7/kvPV7lTzEg0PkjUAvr0bg8CwOD69mg6CjiIf4ewHyIh4xHPARYMvEQmLG23Xxs203aK/64Wq0eO77SV9EQ99S/FaASzr/G5VkYGJx4CLArPbsWPLOOPRjhPuNz5hgPedjzdQAcQu7+MWftB4D/YVgDAAAAtchN+n7pHRvEUeY3+VT56wC+YCch/12PeyQhHxjDFPcbYyeDjS6S4wAGFwMbuu5RDWyAeZl6c6Ip7QlfZH6ePSCMI3v9a5r17J8/R5C7dxQPgYlq282ntt2cr1arH3o0KEr7pbZp1hf+HQB7JB5SIfEQYF+iQVHXPaoGRTAjbbupMh6Snqczm/RMaU+Yu27aA8I4xEPGJR4CC9C2m8vYn3VtNJaeN39rmvW1HDxgjya331jIftSzMLAX4iHAZ3LPBI9G/t3Pua4XE3pWFg+B+uSe14mH9CceAsBeGdYAAABALRxyjqRp1rmT0oEZaNtNaizUDJCQfyUhH9iTkqL0qbFuAt/StYnkpMUe9U3H12BgA8xE225uCl7Jq7HOtKJJ42yaExUWks55bw7ViCZojEdMBBaibTfX8Tv/occr/qlp1nfiqcCeiIcAS7bIZ+HYo55oUASsVqvbzJuQmhOdjXjDcmI1U2pO9DLz88RDYATiIaNzpgkLkYaBte0mPSu+6/GKX6WGjYblAHsiHgIsmXhIOfEQmJeSGpHzEV957nVN5Tk59zrFQ2A8YiLjEQ8BYK8MawAAAGByJIP2VpKwICAAMzBQQv7rFJS3BgMHVFPSZW6SfY2JopIQoC65SY+z24O17eaq58CGjxLyYRZymxMlYzYnus74nBcTaeJ7mvl5jxqmQJWcxfUQTeSeZX4HayDMQNrPtO0m7X9+6DEg8UXEQ8YsBgXYJR4yDPEQqEtuPCS3yfZkpJydng2K2pEbtwP7UdKcqLZ4yKog1nAwTbMuucaPtb8eWCDxkB7EQ2CZ2nZzkZaA1Wp13/EGpGfO35tmfTmh4VzAvEwxHvJiz9fRhXgI1EU8RDwElq4kHnI64vPonOIh3xX8HREPgfqIh/SXe54gHgJAJ4Y1AAAAUIW23ZQE3jRj7Cf78D6SI4CZiIT871er1UPHV/RMQj5wQDWtO1Pej+YWZQLsXc+BDSkh/8bABpi83KT35HzEZ9GrzM+rPhm/oKmTc0AYV+6wGnudfkqKGayDMCNtu7mONbRkONiu9Mz5c9OsbyYyoAuYF/GQYYiHANXo2aAo+VWDIpi8knjIy6ZZj9KkI56fc9amOcVD5EbDuMRDxiEeAgu187z5S4878DaGWGsUB4xNPGQY4tlANcRDgOgZk7sGpBy98zFuWttuUsPuDxmfOqt4iLNAGFVuzyzxkB6irjB3kKI1EIBODGsAAACgJrmBtykEuWqWm0DbtZk7ULFIdDgeKCFfMBAYQm4CQk1FQLnrX1XrZEFz465N7IBynzK/YraDsmJgQ9MxId/ABpi+kuZEYybjp4TM+4xPHeV6uoqCpaPMLy8Zpgv0l7sPfOVe91JylvCxwusHemjbzce23aR14MceReAvIx6iEBwYgnjISMRDoEq5z8Elv8OTEmeOzzPPHZ+iQRFMWKwBJTm5FyO+2pwB1q9qHmYY15Z7lmoPCOMSDxmHeAgsWGo42bablL/yfY86sDT49PemWV/6twT0FXVrOV5WdLOz4xwV5ixnnacWvC9AP+Ih4iFAWY3I+YjrYU485GgCa1B2DYs9IIwqdx94ZGhqL+IhAOydYQ0AAADUJHcq7cuai35qFvfNlGBYuM8S8rs2KEoJ+W3TrMcsDAWWrYqk9thP5Ta8PaoseVYzc6hP7nNX7nPcJEVC/omBDbA8qYFuYTHO+YjngjkF6M8qT8YveWYvKYoA+ss+f1d42Evu8O/H+JsEzFDbbi7jXKxrEfhRFIJfz7VQHqiOeEh/zgqhPiV5aLP9HU75OhEP0aAIlqnkHD7lSeeebfWV25C35jxB8RCol3jIOMRDgG0DxvRM/b7H3XjbNOs7uXjAWCpab0quo7a65lnnmMMEiYeIhwBl5/BHY8Uf2nZznTnksNp4SKyNzzI//cOeLwf4u5J9oH1OdyUxdD2zAOjEsAYAAABqUjKZ2+FzNyXBQZPSYeYiIf95z4D7TxLygT5iLcpxVMlaU1oMX9P6mHstEhBgPNkF0HMfWjjAwIZWQj5MVm4ToFX8vl+N8ULbdnOVmYx/WWPT3qZZnxck4j/EOgyMRzxkzwoLksRDYOZSA7K23aSzsXc9Xumr9Bw/YrNMYGbEQ0YlHgL1KWkIO/d4yBANikY5IwUGVxIPSa7GiD9E0+6chr6vm2Z9su/rKRV759cFX2ZYA4xLPGTPxEOAXemZs203aV34oWMe3iqafqdcvJqHdQH1u828woM/Z8ZzZe5+alVTPKQgntT1LJL/z97dHsdxJAkDnr24/9RrAbkWkD0OELKAkAWkLBBkgSALBFkg0IIFLRDgwDRgwRIWnGDBvtHaHKkJ4qOrP6qrp58nAqE9HQE0BppkVWVWJqSTDwnyIbBeCUMR9n7ImH/ostd9WeKeOHJGhldDoRJqAxvHJd5DK13cr+6aF75zTw6AvgxrAAAAoCQph88nDp/TJB48bxTjwzpEQf6xgnxgZl2Lr0q49J36DEtsTvTHxM8B/C2lGP/gh2O1BjYMKch3eR8WJoYipOxH32bcf3b5PtkGSHQV54AK8aFgicX4b0tsgrYAhlcDX6nrXRMbqgH7zmbt96+q2l7IVQM9yYfkIR8ChYlG4F2tIR+yb1D0qeeXeK9BESxPxMKU9/2LjOf3Xc/SsgyQSJQSD28S/04CBpIPyUI+BPhKNMZ8NWDf2fipqrbXhQyWBZan695LPmQY+RAojHzIl+RDYNVSB1hnqceLuytdand+KnA/fJo4ZMwdEciv6+DCJg984veTTD4EgCwMawAAAKAYUYzftTGbw+d0KUnNW1OCYV1aBfldk4APaYoPLqMpJECKruuOWdd/Ed/eJX5aSRdIuz6LIgTIJPFS+ioupBvYAKuVWoz/U473ehTjd9knvysl9sQlhYs4P+3KRSaYR8oFRENSE1TV9sSFJOAxzb6zrnfNRcpfB7xIzRnhteZxQA/yIXnIh0CZutajrCUf8kdd7443m83Hnl9CgyJYptR8yNsc7/VoIvdzhz/6ssfPMJl4bV4nfH1xE+YhHzIR+RDgKa195/cJd/Xua9ZalxFvAFJ0zYe8K+AOWmqMkw8BniMf0iIfAqt1nrgXfRH7zxwDo7ve+yhmgHXcVfkh4VM+xcAcIK+UM/iTAofkFysG6LxPeD75EAB6M6wBAACA0qQceJY4kbxIVbU9TrxI7+AZVigKn5oirx8HFOS/jQZFCvKBFF2L8V/O3ACtTwPeIopnY93c9WLm54kfB/iSYvx7oiDUwAZYl7Me+9Bc7/UPHZ+tlNhzltiY6MrQVphNyjn8W+dt3cQl/pRmTjfRjA5YmbreNXH122aIfc+fvDlr+72qtmcuTAEJ5EMmJh8CRevaEOz1mtZXdb37oEERrEcM8++aH97L8l6v691px/xsEbEncjIpDTnuDGuA2ciHTEA+BOiqrnfNGuhNj3XoXtMw85eq2l4W0FAdWI6UerTZau4iF5My/KrxoqA7zccd/5x1IOQlH/IA+RBYl7gXljr8+XWOgQ2Rq/m1lOd5Tqw9U1/LYgZvw8qk5ENeyF0mSX2t9MwCoDfDGgAAAChN6oHnheYXT4sEXOrBs0N9WLG63p0pyAcyS1kDplwwHE2sOftcBH0Rg7Pm1vUZ7lzKhOy6Xkh6vaa11UgDG+xtYSHiPd9nnTf5gIRYG3VdB846sCHiXkpjos1c62vgT6n5kF8MsH5a7N0v4nyyK2tGWLG4ePmm4+XLx/wQQ6xXM2QRGEQ+ZHryIVCulAZtJcSTbEZoUHSthhIWpc9aK1czsq4DrGdtjha5mN8SP+0s8lFAfvIhI5MPAVI152B1vWvyGD92XO895G3kQwzVAZ4Vediu8eZkxrOtvrmY2WoE9yI/3XU9mHI2CwwnH/II+RBYnaZXwW3iD51rQELXAdazDmyIc9LLxHPAq1iPA5lFLVrKXdh3ztqeF3np1wmf8kleGIAhDGsAAACgKHW9u0hMur0sYSJ5qXoW4t/U9U4BFqxcqyD/5wGvxL4gf1VFY0C6WHt0LcZ/O1Pjs9PENVVbCXGw64UAhViQX8r7bm3F+H/U9e7NwIJ8l81hIWJwYJ8BLc2AhLMpf8q63p0nxKLfchfLNmeAzQWkHoMaFOLDjKIAPHWdc6lB0ZNSC/E3mhMBsfds1m/fDWhQ1OSsf6+qrUFYwJPkQ7KQD4FyyYc8IRoUfd/z01/H66uGEhYg1oR9hgY2uc9J66Xj2brmOP7Mxeau3478b+qghrtoCgXMQD5kEvIhQC9Rm3PUsz5nE+eGzVCdC/f4gA66nge+6DnYcJC46/a259dYUj7kzl1hyE4+5AnyIbAecS7YZ533OnoTTHY+GM/WdYD1fmDDq6me5yExuLruUcOjhhHmlZqT/CXe7zwg7uel3pWTDwFgEMMaAAAAKFFqAmjWieSligTk52gOksKFJOAvdb1rYnI1sCD/XwrygQ4uEl6krJe9Y131w4Av8T53MVZbXCTouibUnAgyi6GFXa2y8CoK8nsPbJjjEhfQW98490M0KJpszZUYi36Z+nn2Yq33uUczjo1CfChC6vvwhQZFX2sNrXmX+Kkf48IVwH5/3qzfPg14NX5q4pE4DTxDPmQi8iFQtth/XXV8yHdrrDGJobFDGhS5cA7L0ZwL3vZ42rfRoGiyoV6Jsej91M+z16xVew6ubpw5B4TZyYeMQD4EGEPTsLuud018/XnAl2vi0Oc4jwN4TEo+5Keca784exxyh/blnM004/m77o/lQyAz+ZDnyYfAekRNXp96vJdxPjjZfbAYaHWUMLDhesrn2YszwIseg6sbV3W9s/6DGcU6JzUP/JuBDV+LIf6/JH7abeJ9bQD4imENAAAAFKfn4fPkE9KXJApeL3tMSr+N1x/gLwrygUxSkt8vcw2YiqLXMRLzczbCTfneihBgHl0LT1/P2exsTgMHNqTujYGZRMH7jz2/+75B0WTrrsRY9NfzTHGRqvn7oBkI0QxI7BnnflWID/Or693nHmucfYMiBfl/NxS+NLQGGENzYb6ud00e47uOlzAf0sSjesp1KbB48iHTkQ+B8qW891ZZXzKwQZF8CCxENGzrG+eaNeLvTXOKqRq5Jcai9vOMnsuOpkTNmrjueQZ4U9c7e3SYmXzIcPIhwNhijVQ166WeX7qJ0/9qGkiuscEw0EnqOXzOAdbnCcOfHyMfAjxFPuQZ8iGwKh96DrBu3uu/NHcmpuohkziwof08kwyxjmEQn3sMa93Ez+AsFcrQZ7/4W+REV681tKbPEH/5EAAGM6wBAACAUvU5AH259sYXrUPnvk3aJOCAR0VB/rc9iyI2rYL8MwX5wH11vbtIbID2PoqPJhOx6nKEQvz982YfLBavUdcLmjdxMRbIL6UYf7V73miSPmSAGLAAdb07Sxhic1+z7/ypqrafp2rakTiw4c/nieGFZ2OsB5shiDGk4d8xEKKPWwWoUJQ+78cXUZC/6sYXkQ/q26TtZ3tg4DFxVtms3a4GvEg/xcXMVQ5dBB4nHzIN+RBYDPmQDqJB0ZABYsACDBxgvYnmFJ+nGhrdo1la8zz/jqENgxvMNWvK5mttNpv/22w2Pwz4UuqioRzyIT3JhwBTaTWl/HXAt2gaSF5P1agSWK4YVJhSB/g6hihMKvaafZrf3vdy6vzNQyIHk7JPNqwB5iEf0oF8CKzDwAHWm7gzUU81NDpxYMP+eX6P2sAPQ88tm58pcj3N6/TLgIE0p84BoQyxxunTj+WHqtpez1F7V4rIM/cdWnMVrz0ADPKP//znP15BAAAAihRNx4Y0HPtQ17vLtfx2owj/ZEAC7lNd7wZfkAIOXxQOnA68BPlknI6Y9lOHr9MkzRT2w4FIeO+3/RzDZEbVakzU5YLjvhDruXVY0/wnW5FEFJ9dJ6wPf4zmyEBmEXM+J7xf/18Uq65SNGD/bYKffZK/U4B0iWuxp+yHElyMHTcjFp31OIu7jZ+t+fj81PllrOdeRfH/m/hn37O/L750XCoACtFzP7x3FxdsVrOfiyL8swHNhJtY/GbNa2qgu2iwcTpgHfZknI7mRb93+UJ1vfuHXx0cBvmQccmHwLIk1gR+F0NuViku4F+OdCbYptYGChJNIt8PfKK7OC87H7sRT8Siix5ncXetfEizVrt+7Dwu1qRvWh9HIw0Ss+6DwsiHpJEPAXKKfMX5wHXYrxGrH1v3dW1u8+2a7gPCIUvJhbZ8ivtmo69hEvfgtx1i4l2st7I1xW0adybUVbovDDOSD+lOPgTWYcS7YB+bM7Ox70NEruKiZ3+bq3t3RB5dH8Ya+VXrfsjQOzMb6z4oT8/9cNuT52yHJtaDZwN6jG3clQNgLIY1AAAAUKwel6kfchWXjw5y+m0k/U4GDmnYRGHYK4X4QIopC/INa4B1irXN//X44UctyO8R336OAqkuhfsf63r3YeAjPqtng+N/5rwoAHwp8QLQ6ocKTDSwYfWvK5RkxIENmzj7uoihDaNdZorzy/OBxaBtzQXPbya4bNT2/aGelcLSJV6mfshtqyHbQZ71xxrwdIRGbZp7AElGWvddxRnmF+dvhjXAOsmHjEc+BJYn8Xx/9TUhEzUoWv3rCqUZaWDD3qdWTmSsdeM3cS73wyhP+N+8zR8jDWR4TJb1KJBOPuR58iHAXEZa993GGeZX8cewBlinnuu/m4glozRZ7JHvvYo/3+Ucs3nWoxxr0x7nB2oFYUbyIWnkQ2AdRr4LdhNrtosxa0CqansSe+Ox4tHNSHdinvr6WdajQJqq2p4NPGe7izh3dqi1blG/eDrCvTz3ggEYjWENAAAAFK2qts0E73+N8Iz7Q+jzQ5iEG69Lk4x8N9aXNCEY6CMK8s8HxqOvimgNa4D1GlB80Kz3ToYUk0cR/mliAftdNCZ607Wp2tQXwns2JvpU17vjqZ4JeF5Kc8aw+oZiEwxsUJQFhRl5YMPeXXzNplHR9RhnYiM2y5jar3W9Oyn8GWG1Rhpgvfdx7AE1c4lLmE3sOh7ptfmxrndny3w1gLkl5C4ecxf5kL/is2ENsF7yIcPJh8AyxXv3c8Ieb/UNxSZoUKTWBgo08sCGvatWPmRws9sRm2VM7aaud28Kf0ZYLfmQh8mHACWJO2vnA+PRV7V4hjXAOg28H/xzNKXs1Xg2ziJP4iMlpn0ba9au55iTN8jtcW5wV9e7b6Z6HuB58iHp5ENgHSa4C7aJ9Vj7jsigdVnPupo5NLU8b9Z+vxBKNsIA672r1oCaRQ9niRj7IT7GuIenHhCAURnWAAAAQPFGaHpx320r2Xa5hIPoKDA4io+xBjTsrb6AAxhu7IJ8wxpgvXoUo953G+u8TkO64vsdDRiE1Y5dnxMKAz5GM6VR16KxbjzvUbzhYhMUILH4ShHR+AX5hjVAgSYa2NB2FxcrL2Md+rnvuiguDpxM+KxDTNogExhHjwFez7m7lw8p/jJOFN/v8yFjNSTaEwuBwQacv+sKW2wAACAASURBVLV9iqENfxjWAOslHzKMfAgsW+LAmttoMLHoy+ZDjXxOqtYGCjXRwIa2q1azyeu+DYtiL3syQT3zGCZvkAkMJx8iHwKUL/ah5wPXfDeRD/nz/NKwBlivqtpeDhj8dxfrvM5DumK9+aHnOuuvs7PEfXoT847HXosOiMdqoqEA8iHp5ENgHSYa2NB208qHXMYdkeR1Wmtow9jnd2O4i3zIszVDwHxGqBF8yFUrH1J8DGjVLe7zIWMMaNiTGwZgdIY1AAAAsAgTX0C63V86GpJsG0sUg72Kj+Z/v5kweWdQAzCaMQvyI9FmWAOsVFVtmwvdv4z001/tm+7e+/dN7PhmYPFmU9D0ap/E71EkdhuXkEa5UBSDbk6GXCgA5tUjjriUOO7ABheToFCx37wYcGGzr6v4vD/i7PC+x2Lwm9jbljK04de63p0U8BxABxNfQGoPqLmOfMhsBfqxjnsVcXP/MWbxfZvGRMCoEoZOP+Yu1ox/GNYA6yUf0o98CCxfNLX4d8IP4vx+3AZF4iEULLGB21huYn+6eST3cd36/7e9ijq/UoY2XEVjTM04YAHkQ+RDgGWoqu1x3BEZUpv3577esAZYr1gP1SO9ADetIYRtbyIfMrTG8K8Y1OMcs1mHntb17mzgM2w2f8fgsx5rxy/yOsB85EP6kQ+BdYjzwbPMQxBuW3U1D+U+Hqq72cQ687igoQ23kQ8xqAEWYMS7r4+5avXM+jznuVqsf/e9svZ5kanu1hnUAMAkDGsAAABgMSYe2PCQfbKt3YztscZs1w8d4Mah+TcP/PmjB/73lEMZHmJQAzCJaCpyOjCm3XRMvCmYggNVVdvLGZrxpvqurncX7c+pqu3nHsXwV3GR6SK1KCAKFz7ER98LnC41QUES40izb32joGi0ojWXG6BwMzUoWjpngLBAEzcoeshdK/fR3h8+tFd8cOB1q7D+vnaeZP+/X03YhOghGhMBk4gh/OcDY1rXfIhhDXCg5EO6kQ+Bw9OjFrDSbGK0BkVqbaBwMzUoWjpngLBA8iGjEwuBSUTsOx94jtk5H+IcDw7TCMPwc/i1rncn7e/T807zbezrLx5aUz4lzv+OY2h13zNA9dBQEPmQfuRDYB3iLthF5jO0pdOcHBYow8CGh1zFv2sPp3loUM0fD60/Yz325oGv286T7P/3NxMOZXiIWAjAZAxrAAAAYFE0ZBuNJm3ApEYqyO9CwRQcqIgj1wVfPP+qEH/zd4O23wd83asouPir4KG5cHTvkueb+N9HIxQvuKAJhelxEf1TXe+O/R7/Klo7dzkJDlusty40KHpWc+Hz2IUtWC4N2UZj3wtMKi4jnebIYRvWAIdJPkQ+BNYq3u//TvjxDbAOsQZt8iHven4JtTawABEnLzI3tViipvH6iZpoWC75kNHY9wKTq6rtSeREpo7ZhjXAgaqq7XXB+9ybut591YQyzuI+D4h9N618yH5ww76mb//9XrXyIUPv4d3W9e6h4WLATORD+pMPgXWI9/pZjwFZa/RgDQ+wDAbUjMagBgAmZVgDAAAAi6Mgf5C7OHTWpA3IIgryf5nweymYggNWVdum+fi/CvwJHyzE36uq7cWAQtCcmrXhKwUJUJ4el5EM5AtRpHvZ8zKXYQ2wEAryn/Vps9l8sM6D5VOQP5h1MpBNjqFihjXA4ZIPmZx8CBSqqrZniUOvNKBtqartec8zUrU2sCBVtW3ylydqph90E/kQNdGwcPIhg8mHANlkGipmWAMcqIIHWN9FY/TPD/0/M9yNG5MYCgWSDxlGPgTWIWpnzpwRPugu8iEXBT4bkCDuw12MMKhvrayTAZjc/3iJAQAAWJooJD+KSzZ09ykun7uUBGRT17umMKISs4E+onjo+8JevJtYiz6lSfTfzvuYnRxrTATFOkl8sLO4wLR6EdecGcCBa97rUVz5rff7F5o16Hd1vbPOgwMR5/lv4nyf7pq/GyqNiYCcouHFKzEb6EM+ZHL2yVCu02gs0dX7aNLBf//+aOLwR68FHLYYNu+M8Et3MYj/jZpoOAzyIb3JhwDZNY3MY8Drz159IFUMQzhKPBOcWvMsR48Natj8fTduCWvVnw1qgGLJhwwgHwLrELUz9ptf+xg9YgxqgAMQ9+GOxLpkd3FfzqAGACZnWAMAAACL1BTkK+7srDl0/l6TNmAuYjYwRFwkLKVB0U0U4j+5por//3Fhlwju+1EhPpQr3p8pxeQvooCfLwc2XCW+Hhp5wMI08TL2m98vpDnkVO5iz/1GET4cnijIb/aY3xW+zyzFz7F3t7YDshOzgSHkQyYjHwIFiziSPMDa7/RvcRH918RPs2eGhYmGuMcxxDo1B3poPkY+RH4cDoyztWTyIcCsYj1WxVkiQGexfillYMNdwprqQ+Ex75O9MpRLPmQ4+RBYhzgjbNY0/zSk5c980LdN/NMjBg6Ps7Ukn9yXAyCnf/znP//xggMAALBoVbV9FUUH7/wmv9IUHpxKwAGlqKpt00SzSYS9HOmRrmJ6PHDgqmr7IdZ8L2b6SZvirpOUdVVVbZvLo/+a9rF6+RhFqkDBqmr7zWaz+ZwQ926iYTktVbVtmty97/CaNBeuXtk/w7LFmrG5zPR6Jb/Ku1gjn4lfsA6xRmzi3E9+5V9pLiU1F5I+F/ZcwEpFzG7yIW/HegXqevcP/z3B4ZMPGZV8CCxEVW0vE9dN/8952Jfi74/fOv7xbw2ygWWrqu1RnBOuqW76Y9RDO/+DFZAPeZJ8CFCcqto255k/jPhc9q2wAhPcL0vVNMQ8TllXxT3m6xlzOI/pNIQbmJ98yHDyIbAusf5qGpofF7gGm8pV5EPEL1iJAuoFS3Ub+RDxEICsDGsAAADgYMTlo9MxG14smEtJQLHiEtXpSAX5hjXAikRB/nnm5rt3sa466/PJiUWgOWhMBAsS+9zfOz6xYQ2PqKrtSaw/nypY+66udxezPigwmlg3nhxwUf5tFOKeu4QF69S6fNRlKNWhcykJKFrHPWknhjXAesiHjEI+BBakxwBrzYkeEHml82ca3P1a17uT2R4SGFWcE36Ij7maW07pLuLamXpoWCf5kC/IhwBF67gn7UpTXViJOBc8n2EY4a+xtko+Y4wczmVBdYkGNcCCyIeMQz4E1ifi53HcEclZS5PTx7gfYj8MK9QaYn1iaMOfd+aaPft5Ac8CwAoZ1gAAAMDBaTVjW1tR/l2rSZtLSUDxRirIN6wBVqiqtqeZCg4+Nd9n6NqqoIJ8haawQBHzfurw5JqPPSEu8O8bt+/Xn80++iKae1wX+eDAYNEssnnvHy28YFXMAr7Sasa2xqL8j2IisBQRr5t8yNshj2xYA6yPfEhv8iGwQAkDrG/revfK7/hhcYF/37i93ajkU9QVGlwNByri6IfIhyx9cIOYBXxBPkQ+BFiG2JM2Z5o/DHxgwxpgZapqexz3Yqfez95EPmRQjIl4d1lAo+BmoNexRu6wLPIh45APgfVq3Q87OoDBDTexDr6wpgM2Xw6nOT3QYf1PuYp8iHUcALMyrAEAAICDtZIJ6RuFA8CSRaxuGhS96/ljaEoMKxVFVaex3hv7AuanSOiPdtEnnvdipnXpXVwqOJ/hewMjqKrtxTPrpeZ9/sbgPoCnxQWn4wUV5t/Epc5zzTeA58TF9Q8DztmWwKUkYNESBjI+xCV8WCn5kCTyIbBwVbVt6vx+eean+E6dHMDTYojWPicyaHBgJreRD7kQ44HnyIcAlC9i9fmA88x/qoWE9Yn7ZSex1hu7IeVN5ENGyx/E8zZrtvdjfc1EBlfDgsmHAIwjalTad0RKH/R6t8+HOPsDnhM535OJ6gZLcRvniOfOAwEohWENAAAArEIk2vZJtqUX5t9FAu5SEg44FAMK8n+s692Z/xBgvVoDuo4HrvNuIg5dTJnQj4ZsJxkLI66aCwuKFGDZnhlw1RQkHWviDZAuhjc0H00B66uZBzg0Z37Xceb35z+d+wF9tPbJRwdSmP+plQ+xtwUWLy5PnfdYe36q692x/wJgveRDniUfAgfiiQFXBrIA9NQa3rDPh8w9wOEqciH7fIg1HJBMPgSgbM/UPD7lrq533/j1wrrFHbPjgeu827iDez5ljXU869kEAyYecxv5kNEGcQPzkA8BGF9reMOb1sec54Y39/Ih7v4BvcTec58PybX/nMpNa2iNuAhAcQxrAAAAYJVajdj2ybaSi/NvW43aJOGAg9WzIP+fLiUBbbHOa9Z338Ra7zGf4yN7I9wo+mqKat9P+G2ai+2nivDhsEQTjXZjxkvvc4BxRaxtryX3//dm4Dnibaw/N7EG/aO9JjWYAZhKqxHbfr9ccnH+3b18iLUucLCeuHT/mO9dxAfa5EP+Ih8CByjix3HrXM5wU4CRRax91VpT7v/vTfyz7zni/oxv01qL/hH/7rNaP2Aq8iEAZYpGcucJ9TYf63r3wa8T2It13pt7e9iH/LX3zD0YMO7DnUw8xPo28iFyxnBA5EMAphdrtTetPMj+/97E/3494CGu4p9/tHIjzVnfH3rCAFNpDabZ50OGxLEcru7lRKx1ASiaYQ0AAADw5aWjo1aiLfcQh9vWBfn9PzVqA1YnCvLPOlyU+rWudyf+CwGWKtagH+JjjMuhzSXOi+ZSkwucAAD5tAr4NxoNAaVrxaz2RfYhzdf6uGvlQj5H4b34CaxONBZp8iFvn/nZb+p692aFLxFwIORDAAAORwwN22g0BJROPgSgHBGTzzoMdW3i5htxEliqiHfHMbRhrGaZn5qciCENAAB5RW3fn8N01KYApYscbrtv1tBhNH1ctYbX7Af5yycDsDiGNQAAAMAzWoMcNq3D6baH/l3bdRwoP/bvDGQAeEBVbZtmHaePXIz62BSvip/AoYjiraP4eNPxUuht6xLnpaIvAAAAhrg3fKb9vzdP/Lu2fbOhx/6dBkQAD4hLUqePDG24aRp6iJ/AoZAPAQAAYG7yIQDziPt5p48MbbiLfIizP+AgRMxr50O6NMm8azW13OdE3JsDAACgt9Yw/k3sUe976N/t7YcvPPbvDPgH4OAY1gAAAAAAFC0adhy3nvFC0g5Yg3tDw9pc5gQAAACAAxPngcfRDG4TQ/8v/J6BQycfAgAAAADrEUNzjltngp/jjoiG5MBBuzc0rE1zSwAAAACAAhjWAAAAAAAAAAAAAAAAAAAAAAAAAAAAAAAArMr/+HUDAAAAAAAAAAAAAAAAAAAAAAAAAAAAAAB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vyv37dAAAAAAAAAAAAwByqavvNZrN5s9lsXsXHQz7Hx3Vd7/7wiwIORVVt97GviYPfPPJjXW82mz/qenfpFw8ckqra7mPf0RM/1mXEwGu/fAAAAAAAAAAAAAAApvCP//znP15YAAAAFieaVhy3GlZcLO1idlw6P2o132j++fKZT7uLZhz7pkSXmnLA+kT8OI4f/I+IgZ+X9EJU1faoFQP3cfDFM592u2/I1oqBmnLAyoiBYiAAAADLFsMZjmNvfNQhN3LfXTTtvVziuQCwbq089z4GPncueN/tvRhogA2wGK0cTxP/3vZ47pt9DKzr3YXfPAAAACmibm9zb3Dq/QGCXWr5Nq17HW37ex1/tAawqvEDiiAGAmsVNSpv4sffx732v9vrmrfY3+vY+6MVE/d3fj+rZQEAAIBpRC32afRo2Gv24af24wAMZVgDAAAAi1NV27PNZvPDA899tdlsTkot5mw1Hzru2XjjKc3PfqEpERy2iCMXjxSAfowYWGRTnlbzoeOejTces2/MdqEpERw2MfBBYiAcmHsXgjYuLAJrEmumL4oknXMBpGs12bhv9rgazXlPYn88Zo7k02azOdewF9btgT112/XcZ2dVtW1i34fNZvNuxC97F2eDZ84PYN0e2FP/pa53l3O+OK1amWYd+HrEL900QzqPdaDzA2CQR9aSj+2vN/casO3NvuYE6OOBteRT++tNq/HkX+ZecwLcF7mSNxHf3iQ0H5/Kvqn5Xx/O84CpiIHAWrXO+I4iBr4a+e5GH/vBDpetGCinAQAAAD1FPfa/nvjs7+t6d+71BaAvwxoAAABYlKraNgei75945qaI801JRUutibxjNx96zKdoyOHyExyQKBq9fKaBxU1d7566KJldFPufjNx86DH7pkQmnsOBEQM7EQNh4apqexox4/6+cf/+PrfPAw5RrPXOHjnzu201n7XGAbgnCs33zTa6XjC/iQvgl7kG/0We5DzDJfjbGOZoaAMcuFbj730M7Nr8+2ofA3PFijgjbGLgy4m/1VXEQA2O4MC1BkTvY2CX+HJ3bw2YJVZU1fYk6mWmrpUpeqg3UIZYl71qNav8ZsJ96lX88zoGO1waTgvMpdWsch/7juKfYw7S2rtrDbO5bA23MdAGmFSs9Y4T8yUluIp4eakmCOhLDATWKva77Rg4xT53Cnf7+BcxUH4XAAAAOqqq7ednaiabffcr+WkA+jKsAQAAgMWoqm3TtO2HDs/7sa53H+b+uVpDGp4aLjElTYnggFTV9rpj4WgRk76j6P90xoJ/TYnggIiBycRAWJiE/e5tDGWZPdYBjCVhrXcVMdAFbWDVYs/5YcQB0Z+iYe8ka8wYSvbTFF/7Cc3P9EGBPRyeqtru498Yw1EnHY4YzUHOMw1ybfu5rnenmb8nMLGIKR/iY4xmQ5MOR6yq7ZuIgTkbI93FGlCNDLCv2zvqMdwrh6vWAJ1Le1dgbLEWO0oc7pXD3b34J98D9NYa5jrWWWEJ9k17L3IN2waWSQwE1qw10HqsfEkJblvDtuU4ABLE2vi0Naz2c3xMVg8JUAoxEFijuEvze4cfvYh+EwAsk2ENAAAALEI03vit47Pe1fXum7l+rlZiq0ujzRw064WFq6rtecLgl091vTue6yeOwtfzGRuU3/cxYqCCfVgoMXAQMRAWIGLHvxOf9Cbe3xpYAIuWeOa39yli4OjNJAFKlmEw4KiDwWKdezHj5fimocexNTMchlg3nk7YYHLUwWARsy9GGqrTx03EQGtmWLioPzmJj6liyseIgaPEjKraNs/6yxhfqye5EVipaE6+H+5VSmPyLm5azdjsYYFeqmp73GrYO9detI+r2D9fqnEGuoh49+GAmpM/5aOGvUCbGAisVWtIzckBDWh4zF3cRzm3TwZ4WtQnXj9xHvqxrncfvIzAIRIDgbVKqE38ua53p/5DAaAPwxoAAAAoXlykvEy4QDTbsIZovHFe6IVPh8mwQD0aV87WqDySW6cFXvhsilU/KNaH5REDRyEGQuEGNi8btZkkQG5Vtb0YcIl81GaSAKWaYUD04AHQPfI6U/p+rAEUQH4zDEcd3OC750CyKTTngkeaeMByZa4/aWLG2dCaksQB3FO6iRhoYAMcuFgvnixwQMNj7qJpuYaUwLNivfhhgQMaHnMbMVBDSuALkSf5EOu+Q1jzpWri41nER/tcWBkxUAyENWud/X04kH1vqquIf2peAB7QsQb9O/kW4BCJgXD4Ihfc3Mn4pvXPhzR51ebcrLlb9/nQ7xlX1bapb/ypwx/VXwuA3gxrAAAAoHhVtW0Oh18nPOcsTXoTDnXn1BRpHStShWWIwtLrxKLSH+t6d5bzB4xLAOcDGmzm8mtd704Kf0YgiIGjEwOhUCM1MDO0AVikqtp+HuEyuaENwMGKoQcXMzXe6LXHLmxQw56BDbBAMfTgbIZ4chf51OQ9dkGDGvYMbICFqqrtWcZhXW03EQOT99gFDWrYM7ABDlisuz5kHOo1h9vIQ5+JZcDeipr13kT8c6YHKxYx7yQ+1tic9767OC+1PoQVEAO/IgbCisQ9ktPCcg5zuo36SHtkgJaq2nZpnDhLvwmAqYmBcHjiDkaTBz5K7K/1kKu4z3FxaPXDhjUAkINhDQAAABSt5wCEKveBcYGXzp9yG5frNeWAwlXV9jLxYnnz/n6TswA9LgJcjpD0y8XQGlgIMXASYiAUqEe8e4qhDcCidCwS78rQBuCgzNikvK2JrSdd95GFDmrYM7ABFmTGJuVtSUNrChzUsGdgAyxI5B0uZm4+njy0puCaGQMb4MDEmuv0wBuUP8TZJ6zcipv1asoLK7XidV8XmvXCgRMDnyQGwgEzqOZZasQBQlVtmybGv3d4Pa7qenfkdQMOiRgIhyXDWeBd1COeHUIdsWENAOTwP15lAAAASlVV21dRXJXix5wHxE0RWDTWXMqghk0c0l9G0ySgUFW1Pe7RhCNrA+6II9cLalK+idf0Mop4gUKJgZMRA+HwNe/z35t9ahRfAqxJcz7376ZBZJwrAixWq+H33JfP33fdR7YGGpZ6Yf43eRFYhmj4PfeghsYv8SzPij14iYMaNhGXL5wJQvla66k5BzVsIm78HmvSZ8UFyFJrZpocjsZtcACa9VZVba9jzbXGZpXOPmHFYl32OZpOrK1Z5Yv4uT836057Wzh8zVon7masdd3XxcvIeVxaG8JhEQM7EQPhQEW+9Xqle9+u9jXiZ/bHAAAAy9bkgKtq+znDWeCLqDmpm7qbrjWBALBmhjUAAABQstPE4qqPdb07y/zznBdwUb6PFwY2QPFS49n3uYfVxBT1JV4EeK1ZORRPDJyOGAjr0B7a4FIisDb7xmUuJQKLVGDD7677yIsFXJi3H4bCFdjw+/1zAxtaZ4Ule7mAZwT++z4taUD0b89dzoy160/5HqmXd/H3C7BAzVqrqrZNfPx9YUP0p9Ksla81LId1aOp7W4Nq1t6ocj+0QQMROGDx/r5e6N2MObwVF+FwiIHJxEA4IE2dX5z/GVTTzQ8RA90LBgAAWJiZB7a+jprAz87VAOBxhjUAAABQpGgmmdKI43az2Zzk/FmiMce7nN9zZPuBDRp3QmEiuZWSXPtU17snmwWNKS58Xy68EPZ1/AxAYcTALMRAWI+30bD83N4PWKHmUuJnjcuAJYk1W4nNtF8/NVixqrYnIzYOafI9V62PMb2IIdxAgapqe1xow+/3z1xKOh+xaeZNK/7djPQ1995GvAYKFI2ISmzEdvZYs5/Ya4+5tmqvAW9H/LqNnzQtguWJ9eHnhdfnTaHdsPzo8H48YPP3MMPaoJqvvIwGImqf4cDEvQzDadK9iLh4LicOyyUG9iYGwsLFoNbrqPMjTbM/ruV/AQAAliNqPEoY2PrS0AYAeNw//vOf/3h5AAAAKE4Um6YMa6jqened6+eIA+ffRvySt3Go3nz8Ef+871V8vImPsRoEN40+jup698dIXw8YqElsJbzHm/jxJud7uEeMfs5NxL3PrY/7mrjXFNEfxf8e6zLCx7reSSJCQcRAMRDWpmkkkbHA6uNmszmt691DsQYgu6ra5ipauYsm42fOwICSxSX0khuw/VjXuy+GNkTji88996q3MZyiWRNfP7VOjea6b2JvfDxwb/xdXe9KHIoBqxUNFq8Lb0T0VT46Lk793vPr3dyLgY+uU+P77GPgkGbFd3Ge6lwAChLNyP9V8O/kwVxMNBDuO2TnUyv+PTpcOtaa7TXgkLXyTV3vDGyAhYghNpq0dfNrXe80ZYMDEeufi0IHeZWm2eOe1PXOcFZYsELj3t0jdznuG7OObwzuhMDCiIGjEgNhYaIG5GLE+7FjuH3kLsd9pe3Z3QkBViehXueqrncGXwMHRQyEZZqgR9WYriLvmq1nV18JNYs/1/XutMyfAoDSGdYAAABAcaIZx78TnivrIWkUg12OUFjaFIM2l4Qu+jTEiNepuYz+YYTmTYqyoBA9Em3fPtXAYmwjJgI/RWHtRZ+i+IjFHyIODi3O/d6lTSiDGNj5OcRAOCCZhzXsGdoAFCHjsIY9QxuAYg1sdpvTP9vryJ5DDa9iPdprTx+NS5o98WnPffFtXe9e9fnewDRm2hun+ip2JA6e3Ru0J48ccXM2eNIzXy0vDAUZOPgqpy9iR4+6ns0Ye/LIj5wMGKotJwKF06S8N00p4QAU2qhyCexzYaFi7XeZaYh1s176I77fJhqR/7l2Gqv+sDVwsLH/3/t/vsoU360LYSHEwEmIgbAQI97N7eIqYt6+4eQ+7v0xVhPKyJns88iv7n3kGm5jbwysikblwJqJgbA8hQ9qaCt+wIFhDQDkYFgDAAAAxUlsSHTbFC3lLKYcoVnIoCZEjzzT0Avpje/qencx1jMB/STGmE91vTvO9VKP1Cxk9MbAVbU9jhjYNzbfxd8lmhXDzMTAXs8lBsLCzdyQ0tAGYFYzDGvYM7QBKErPZrf33UUzt+t9g432xfK4nNM4io++a9C/Lu/0eO4mp/Nh5PxI3yEXGvVCIUa6hHTbioHNHvfzfq/bahD0TSsG9m1+9NflnR7PfRUxcJQ9ePxcTRx71+PT/+ksAMrQc/DVfTetGPhnw6H9XrfVIOhVKwb2bYz21wDtHs/9a5xDjrIHjxqZ8x7x3NAuKFjmRpVd3ESsOX8sft1rRrlpNaLc3GtMmaMh2100pRylyRyQV+ZGlV18ataYT52f3WtGuWmtOzex7txkzINrzAsLVFXb64nWfjcRU69jj1zM+ihyNfumvUPOKZ8iJsICiIFiIKxV7CWvJ9r/Xt2LgUXkQ1tniG9aMXCK1kmCigAAIABJREFUITYGNgCroVE5sGZiICxL9AD414Ie+iZqnYusPTGsAYAcDGsAAACgOFW1/ZxQcJS1mc7AZiGjNyG6L5JrZz2LVpsLm68UpcJ8ejQ3y9pMZ2CzkFGbED0kYvRZz6JdRQcwMzFwGDEQlmvmYQ17ozZLA+hqxmENe3cR/8780oA5DVwTXsXwmaRhzHEZvBn+96HHJfA/G/UmDkqYrDFGz2Z2GvVCAUYYkPoxYmDSpaA4i2xi2HHi9/4rn5oYuydrjNEzf61RBxQg4fL0Q/ZDCM9Tcw/xfU96DHv5M5fQI3ZPVtfTM3djaBcUqMBBDfcNGn6dsSGbgQ2wQAUOamgbPPy6NdThqBUDp/hZNeaFBRlpeOHefph183G5pDgQ68SjOKdMPat8ipgIBRMD/0sMhPWZ4AxwP9D/Ysr7ulOIvfI+BvYZzv8YeWBgFTQqB9ZMDITlmHhg4dR+LPGunWENAORgWAMAAABFSbyMnrWRThSEXfe8KNlc2DzJVexZVdvm0PuHHp/qwBlmlNjcLGsBZVwKrXt+erZkXMTqi57N7b5dWoEuHBIxcDgxEJYpobnjVTSxmKJ5z2aMRhsAqRKGNXyasHnPJi5unmrWCMxhQJPeUQZEt4Y2dN2Tb1qNersO3568IUbPpnYa9cLMEs8E20YZjhoXoc4SG2D83DRHTxg8O/lZZs+BDVmH4QJfGzCwa5TBq7EOPUtsivRtnFF2jTmTr7d6NLcztAsKs4BBDW2j1QBO2JDNwAZYkMIHNbTdRR55lPri+LmPYpDsmPFfY15YgKraNjmJX0Z40o/RmDdpmHXJqmq7b1g+RhN3jXqhQGLg48RAOHxVtb0Y4RzsLnK154dy/hXno8exR+6TN7pPLQxw8DQqB9ZMDITlGFAfWIpPUatdTO7VsAYAcjCsAQAAgKIkDhnIOol3QFHsLBODezbl2GjMAfOpqu11wuXDKmdhac+i2KYI9niO5t89mnJsNOaAeYmB4xEDYVkSiq7+LBCKgqKTCRt2GNoAZJMwrOHbGKJ6NtKl7McY2gBk17MIf/QB0T0aw/3aMZ+TrUFaj5/hU13vjid+LOAR0XTic4/97ei518S86l0MTO2yLs3WDKhHbniWHDbwXz0Hdk2Sd0jMKTTDcr7pmM/J1gyoR14ka54JeNpITdramlj1R5wnPuRVfPS9EH8Xe/LRYtwEDdkMbIAFiPf+9YjD+u/i632Oj4e8iRjYd0DCbaxJR4svMbzmOHLgY7wWBjZAweI9fz2g5mUVNS2tQdtD64O+O6RG7rB0YmA3YiAcphjI8q8BP9wq6vri74rTgTWSzd8Xb9wPBg6ZRuXAmomBsAwjDm2d2+j54SEMawAgB8MaAAAAKEpVbT8nXLb5fzkLTBOfbS/b5fOH9BzY8Gtd707yPCGwFwWV/+74gtzU9e5Nrhcv8dn2Zr/43bNZuaJ8mIEYOD4xEJYjdVjDZtwLiU8xtAGYXMqwhn0zypEuJD7H0AYgi557zskaf8c683JAs7YHv2zmgYupeREDrGEmPfOYk+Veewx8ec5tNMHImc9OORM0vBVm1OMMf9K8Q8+Y/JSsQ7F6rGOzDdMBnpZwifoptzFM6yJ1oE2sAY9iSELqXnj0QYqbcc8/NWWDwvUc4npfM5igWVtepq4Vo5nPcXyk1kZPMgAwnul0jNclZ20R0N3A2Pdr5HBXU8MS+93TjsOzH9KsCV+p+4EyiIFpxEA4HAOG+G/ivXy6tiH0cUZ4PuDvDY15gYOmUTmwZmIglG/gPrjtLmriruPjsXOuJi/6TdS/DM2zPvYcJyXcsTOsAYAc/serDAAAQCni8mPXCz+fMje26HsZadbD5vj+3yd+2oc4/AfySmlWkTu29BngMmuT8s1/Y+CHuByfwrAamIcYODIxEA5bsx+OYqHmMs7PUfA0thdRuPS5KWKyTwRK0TQXi7XOP3usd7pqzgF/a4a3RsNKgKmk7sMmbSobeZejEdeXP+feH0de5CrhU7I1EQa+khoDJx2SH/FqzJjwYYYGQCcJMfxl5OeBzOKcrZhBDZu/11A/j/Tl7qLpeTYRb1P+XrEGhALEWmTIoIarGPLaNF48SR3UsIk1YNPoLRp6p543NrH8cuz8yYjnn02e50J+B8pUVduTgY0yPsYQ0jcRx5LXik3cjPjZ5Jy/TTxT+yUGkI0qnumox/Pc93qK5wOGibxrn9h3G+u+0QdllS7qg5q/M6oY0JOqWROuqrExlEoMTCcGwkE569mg8iqGka7uvRxnhM3++LueNTxv1T0CAADM5mTgoIZmP/xdXe++qevdcXOPuK53F5FLfejjLP5MU2P4j8i1/hpni2N4EXfsDD8AYBUMawAAAKAkKZO5LzI/d+pF7U+lFILFpfqUi5svXEyHWRxSDPxx7iblLSeJxflNQeqryZ8KuE8MnIYYCAdujqEN/psCSjHD0AbnZcAUUmLLTY4he62BDUPdzdj8IuXC+Rg/K5AozqBeJ3zWxxxD8qPB748jfKmrPs2Ch+rRrFwMhHmk7i9PcuQd4pzx0whf6myOxnERd7ueD7wwsAaK0Hd9dxONKo/GXHPdO2/sGg9fTzGw4d7z9G1KuYnn05gSChN74r55108xpKEZEPh5rJ/s3pCErjHn/VQDEVrP07cp5SaeT2NKKEuf2PcpGvRmP2srSQwZe9MzL97EQ+eAMD8xsCcxEJYt9sApA6z3fo7zv9H2vkvUNOOMGvE+54NnBrkCAADkFfuwvnc+2vUwvXspPDC0f6w7dz8ZmA/AGhjWAAAAQElSLkLnLjZNuSx/l9gIKIeTxKnHms9Bfl1j4G3OYtNoUvEy4VOuShlWs/m7MVFqTBYDIT8xcAJiIKzHvaENUzUsfxEFVZ81tQBKcq9p2dVEj9asCf9VVdtLl7iBsfTYc37I1fQ2mgH/PPDLzNKkdxN/NySsi99N/DjAw1LOoG5zDKvZi/O9oevK2YYdxlCLrnlhZ4Ewj5T33qccw2paPgwcCDvnwK5NYvwVA2FGVbU9SRzetdc0aZu0UWWcNzYx4vuOMXGygQ2bL5tS9t2nvzeIFopzFrnXFE08+q6JT1PWzUTjjibm/NrxUyYb2LD5sill36FiZ9EYFJhZ1Jmk5EQ2McD1eK5cQ4kiL95n2Gy281Xga2LgOMRAWKw+edPvoyaav++EHPWoD39R4B1nAACAQ3fcIxe8ifPA0ethIv/b7A3/OdK94yY/fG04IACHzLAGAAAASlJqk96jxMPwk9IKYns06n3ncBzyifdb1wL8kofVbEos5OzRXE4xKmQkBk5LDIR1iaENYxZPPaSJ2b8Z2gCUJpqWNed43044tOHtZrP53dAGYCQpa6lfY3+XTVx8TxkCfd/cwww7N4kT02EWKTFwjtzrkP3uzZTNgzvqGgPfzvycsDqRE+k6LOoudyOxiLdDvuf5nPUyUUvU9UzAGhBmErEwtdnaXe4mbTEs56jj3vj11Lns+Nm/6zlU51wtIJQhzqFSh4c2cegoBhdkUde7k4ShNU1DjsnOAiMHftxzaM2LlHNCYFKpe82PUf/CPTFs9vvE1+Wd4TUwKzFwJGIgLEucR71PfOjvMw+xXoRWfXhqbbiBNQAAAHn12Yf9PPV5YFNX17p3PPTO3Z81MupQADhUhjUAAABQktcdnyV3c4uUC9q3pRaERVOQlENzF9Mhn67DajaFx8CPOYfpJDpLuLD+WnIQshIDpycGwsrcK54ytAFYleYMzNAGYCFS4ke2ZpQjfd9Pcw+1jpxI12ETYjlkFGdPXfPCNzmbUe7FOV/f/XQJuWIDa6BcKe+58znyDlHz0ndo15JioIE1MJ+TaJ7d1V00Kc8eY2JwYpPPvunwx19P2aw8nuci/i5JHdjwQmM2KEbqeVsTf97kHuS6+XJoTZeY80NVbY8nfp7THo15G2/tfWFeVbV9k3AeuInYZ+3yhIjRGvXCAoiB4xMDYVFSa4s/GtTwrJOOZ5V7L6ferwMAAPBfMTA05SxwE3vhbHdF4t5xkzv9bkCN4MbABgAOmWENAAAAFCEKULvKfRk95dnmapjUVcqFUJeTIB8xcGLRHC6laFcMhHzEwImJgbBehjYAa2ZoA7AAXQvxP841+GBAo97sjdUf0fU5Uvb/wHAp77lJm90+o+953+wxMJq7d23SIQZCXoccA2/naCL8gM5xOLFWCRhPaoPE4znjS+zJU5qVT3pOGK9Fn4ENP0VjAGAmsfZIGRi1H1Yz21DUiDldmzqeT92MI84r+wxs0OwT5pVaS/Jh7oHQSxD1QCmNejXphXmIgRMQA2ExUmLgrcEqz4u/I44TzwbFQAAAgDxS60Vm2wvX9e4iahl/HfBlmvswn9XgAXBoDGsAAACgFCkXdC4zP3PXS4p3cRGoWHFg3rUYy4E45NM5BjbNJnM9VVyefNHxj3+K5j8lS4nRYiDkIwbmIQbCirWGNlQTNiw3tAEoUmtow3c9G453YWgDkCQxVszZpLfv98+dx3lM1+fQrBLy6hoDZ829xnnfp8RPuy3onFAMhDJ1jYGz5h0i/qY2AS9iDRiNiro2ahMDIbPIH3TNwTZ+zJkjfkxrYEMXOZqV9x3Y0HcgGTCO1EYbsw5q2Is4/GOHP/oix1CEngMbXsphw6xSmsP+XMggwKVI+bvlpYZJMAsxcDpiIBQshoa+TnhCw2o6ivxRSi2PYQ0AAAB5pO6/Zt0LN9+7rncncd8utf5kr8kRXzp7A+CQ/K/fJgAAAIWY9ILiQF0Lwy6K/Qm+1Dzn+w5/7m3Oh4KVKzUGpiTFio+BzeWFqtreRiPh52iuCfmIgRmIgcCm1bwnmgOfTrTv2w9taJpdnJbQRAlg8/cQ04t9fOq4Lkq1H9rwMWJg6QO9gPl03XPeFtCQo4mfvyT8+SU2Kk9pEAAM1zUGlnDm1jzDu4Q/X9IeuHmWHzr8ORekIK+lxcAutSV7pcXALmu8Nwuq9YFDkXIxvRlcM/cAw79EvvXnzWbz0zN/9GU0jJx0MEI8T/N9fkv4tONmkITGdzCblBj4Y0mNept4XFXb4w755XdNLnrqHHEzsCFy3inr1Q85hkkAX4omvV3zsncFDLBelCbeRm66azxsYrlG8JCJGDgtMRCKl3If4UqtcZq63p1GHWSXv2de5NirA1+Koc4fIh9pgPz4Su5JAasnBk5ODIRypdTjFrMXbu7bxbCFi573KvYDG44MowXgEBjWAAAAQClSDp1LbXK2lIKly67FqC5nQjadm7MV/Cs5tBioWAHyEQPzEQOBP0Uh19RDG/YNy68MbQBK0jTwaZrxTDy0oVlzvTe0AXhC18tHs6+hmhhWVdubhML7kprI/dF1cGFzwcDlAMhmMTEwLh6lNL8tKY50fRbDGiCTuIz+ouN3KyUGpjS/FQOBJ0Uc7DoI6y4GHhQlmqAdd9gjn1TV9mzqursezcpfRGMUDUAhs4gdXdeCNyUNq2n5EOus536O08SmnH2dxHqu67nlW2eAMIuUeHDu3kIvZwnrwRzxGej3nhMD+xEDoVwp7zlnVf00r9svHT/zaEF3XmDxotHtZcJ5IMDBEAOBtUoc3LopbS8c997eVNX2PLFmcM/ABgAOxv/4VQIAALA0OZubxWXGrpZyYJxSWOViOpQld3PHrjHwbkGNJ7vGwD5T34FpiYHDiYHAF5oBCnW9a+Ldt5vN5mqiV2c/tOEycY8NMKmmkVld75pi2O8nHAzWFKj+uylWjcJbgL2uZ++lXJROeY7SciVd9+wGF0I+Xc+eShhY0zRGukn4lJIG1nSNfy7GQj6dh1cXkndIisOFXbK0BoQyJTVoKzgH22WIxIuMwyZOYrhFyp8H8kuJgUW+TyMud2ka8jZHXjj27KmvlRgI+aXkSM/9ftLFfrzrGebbkp4dVkAMnJgYCEXrGgObuxgXfpW9pPzdoX4b8jpXiwGsmBgIrFXKWWCxe+G63n2Ie3Z9NPG/rqrth3l/CgAYxrAGAAAAGMlSpvsuqJkwsBxLmm4uBgJjEwOBxWsNbfhuwoblhjYARWoNbfg5salZCkMbgPu6xoJS9pwpz1Ha3rNrk2HxGTJIWAuVNCB1yTGw02BGa1TIZlFrwGh+2/WscKozxV6a886Onyf+QV7HCd+tSzPwWUSM6dIIMsvl8x7Nyl9W1bbrACFgPF1j4E3CWmYOXeNzrhjYvFYfEz4l5e8iYBxd60Nul3IXo1CdG/VaC0JWYmAeYiCUqeuAFIMaeopzwU8dP1v8g0xivfHa6w2skRgIrFzKfdmi98LNPbvNZvPtgDt2vxnYAMCSGdYAAAAA4yjq4nkHXS6MAnS1pObfLjIAYxMDgYNR17uLaFj+vaENwNrU9e40mjQa2gDk8LLL9yioKUfK3nepgwLFZchjacNqNilxbcFD88VAyOOQY+BS41+ndTkwmq4NwT5Go7GSdWlW3gxFyNIUPC7Kp+R1NCuHjKpq+03CuqPYYTWbvxtBdhmO8D5+7hxOE77HCzlqyK7rXrjkQTVLkPL65YrPgBiYixgIhUmsixMDh+n6+r0o9QeAA+TsCVgzMRCgm+L3wjE0/8jABgDWyLAGAAAAStH5gmVMVS/N0i6ed329S3yt4RAt/T25mBiYcqG/0L9v4BCJgZmIgUBXTVOfjEMbNCwHitGslzIObbiuqu1pxmZFwPIUMyQ6iu2XysV+WKaSztzEQCA3MXAcVwt+djhUrzv+XBcL+Pm7PmPOoQgpDd41SoG8UuovxMBEMTjxU8JniYGQV9dhNSUNLlycxOHf4iDkIwZmIAZCkVJqgsXAYTq/foYXQjZqgoE1EwOBNUvZcy1iLxznbs3PddPzSxjYAMAiGdYAAABAKVIOkyXq8vFaQx5dY+ALv4+sxEDIQwwskxgI5Bra0DQs/7ehDUBJMg1taNa3PzVNOA1tgHVJeL8vbUj0nxY+2AGY3iHHQE3Bgecccgy0BgSelNIIrK53xTcqjyH5XdZ/ORugnSf82bcTPgfwta6x4CriS9ES4nSpMVBzSiiTJr3D9W2WBMxPDBxODISFShy4wte8flAeeVNgzcRAgA6WtBceaWBDSi4XAGZnWAMAAABLlLNx2SKbIY2o+ItfsDaZmzeKgUBRxMCsxEDgL62hDVM1LN8Y2gCU6N7Qho8TPaKhDbA+bxb6E0+1DgTWZYkx0DkZMBYxEFizrmdeSxqA1aXZyMtcOY9o8P6p659PGaABDNY1Bi6piVFRA2tigETX80sDayCTqtqm7IPtP4fzGkJBxMDsvIZQlq4xUB3KQEsY+ggrZIgKsGZiIMDzFjd0NPaeQwY2vDewAYAlMawBAACAUqQUBmW7wF7Xu7U36ZUUhTyKjIFrb1S+pKn0sHBiYIHEQOAhrYblhjYAqxJDGz5sNpt/GtoArNih7xOXOkQDmNhKzsnEQOAxBx8DExvnAf11fa8tKe50fdacceYi4c+Kf5DPWmPgy8y5js4x0BoQsukcA9SqjaJrvaNaHMhDDMxLDISydI2B4t84bjt+FTEQMohGtksaTA0wGjEQWLmu+cdFDt0zsAGANTGsAQAAgCIkFpfmviQzVQNKgL1SY+Aik33A4oiBAAsSDcsNbQBWqRnsamgDkNGlFzsr8RbKIgbmJQZCQep6JwbmJQZCWZaUo+36rDlz3Cl/h2hUDuURA4cRA4G106gcWDMxEFgzMRDKc+p3AqyYGAis1YtD/7njXvGbAffpDGwAYBEMawAAAKAktx2f5SjzM3dpIPw2w3OMyUUjKEvXwshNzhiYMEgnd1zuraq24h+URwzMRAwExjTD0AYNy4FizDC04YPfPqyStQ+wZmIgsFrOwIAD1bUR2JIG1nTNJ2fL0Tbnlgn5Gs3ZIJ9O77eFDe0qLgYmPNNGDAQAAABgKnHOd+UFBtZIDAR41pJywg+K+3RDBjZcq5EEoGSGNQAAAFCSrhdlXmRuNNvpuZZyGBzP2XUqc0rzZKCnxMvSuZuC33T4M0tKhnW9aNl1gBAwkBiYlRgIjO7e0IapGpZvWg3LDW0AitEa2lBNeKmgOcf7raq2hjbA+hi4l5d8CJRFDMxLDISyiIF5iYGQx8E1xW7yIx3/aO6cRtcaTI3KIZ+XB/haFxcD63pnWAOwdl3PE1LiJcBSiIHAmomBUKZTvxdgxcRAgAM3cGDD62ZohTvCAJTqf/1mAAAAKEhT8POu4+McZSwQ6vp9mme6mPhZxtD5Yn80TwbyaGLN2w7f6c+BNYmXC4e4joTXU143ybCEi+hz6hoDxT/ISwzMQwwEJhNx8EMzTCEKa99P8L1exNCGk6ranm02m7OFxF/gwMX69KiqtkcRA7usbVO9jKENf8bZut6d++8KFmup65cpYltJ7IUhj8XFwFjjHToxEPJY4jrw4GOguhjgAHXNvR9i83iAmw51PhvDGiCbzjV+zRlcXe8u/WoG6drUSJ0N5CEG5iUGQlm6xsBDr0PJ5UXH7yMGQkbN+q6qtr9uNpsfEr7rVV3v1lCjMljU8vy+8B8DDpYYOC0xEChFM7Chqraf475vqv3AhiP3gwEozf/4jQAAAFCQlOLSk4yP3fW5lpIA7PqcNxM/B/AlMTCPrs+ZqxE88F9iYB5iIDC5prlZU2i12Wz+udlsPk70/fZDGz43TcuboTl+s0AJmosFcUng2+bCwESPtB/a0MTAD37xsDwZBxDOwtoMeMYhx0DxD3iOGAiwTrmbzrnEDpQkdz2NGAgF0VwnO4NooCBiYHZiIJRFDMykqrbiH5TtdLPZ3CY84duq2ua8MwcwJTEQWJu7Nf7G63rXxPvve376fmCD2kMAimJYAwAAAMVompklPMvLmPo9uabRZMfBBccL+a+p63N+nvg5gC+lxMDjjEmni45/rvgYGK9Z10vwYiDkJQZOTAwEcjO0AVgzQxuAkbwp5YVMXGcV89zBxXRYppJiSdcY+Hri5+hDDIRlWmIMLG0NuBEDganJSQArJwYCY8s93OWgxNr0ZcefSfNkKI8YOIAYCMuW637wAUvJz4iBkFkM8Eqt7z01iAU4BGIgsELXHX/kg9sH1/XufODAhuZeXIn1hwCslGENAAAAlOZTwvOcZnz28w5/5mXpB8DxfF0bhXRNBgAjiIE1XSemN01pT3K87lEQ0SU2L2FgTUphhxgIGYmBWYiBwCxaQxuqCRuWt4c2aFgOFKM1tOG7zWZzO9Fz7Yc2XLu8CgfnRUE/0JKL313cgmUqqemjGAjkJgaOo2uDNiCPro3AlnS+VWqM7Nx0zWV3yKZTPczCzviXHgPFP8ina52I9+UwKX+HqA2EfMTAPMRAKEzcDelKDBymcwys650YCDOImJjSN+FFx34GAMUTAwHWY+DAhib+X6phAaAUhjUAAABQmouE53mb8XJS18RelsbBA6Q8X0phHDCOlBh4UlXbXI06usTAFwtojNs5BiYWBwPjEAOnJQYCs2ou+UTD8m8nHtrQNCw3tAEoSl3vLup69yoKT6ca2tAMaP29qraXhjbAInRaDxX0fk4pfC+tSL7r+YG9MGSQcO70tqDfR+e4VuBFoU4x0HkgZNP1vVbSnq5rXCsq/iXkkKY6pwS+1rURWEkDa55T6rOmNF1b0usNSyYG5tP1tS5pUC4cuq5DVN75L2GQlLOEzwU+PxwqMTAPMRDK1Glw4WazOfb7G6RrDJyqZhHo5kNCXNxE74TSexUAdCUGAmvR9SzwYOs0YmBDlRj39wxsAKAYhjUAAABQmpQmvY2zHM9f17vmYPxjhz/6vqq2rzI8UrJ4rvcdP+9OUw6YRUoMbBJOpzkesmkq2bEwM8vz9BHNel92/NRPZT09rIYYOBExEChJs9fMMLThpaENQImawtMMQxveGtoAB6WUYvOU5ygtR6JgHxaqoAs3S46Brwt4BiBdEfEvaky6NrF9kXHIdhfWgLBcS3r/dn3W3INhUs4EuzYLAPI4xBiYuw65awzs0yAE6KfzICn1HYN0bXLc3BHRqBzyEQPzEAOhTF1j4NtS7+KWLl63rvnglAGvwMiiP0Hqeu9UfAQOgRgIrEjXfddB1/XW9e46crYGNgCwWIY1AAAAUJSEoQh7r6tqm6sxbtfvcz7xc/SVMtgidWgGMIKEhuB7P2RsvNglBr7MGJM7i8YgKc8lBsIMxMBpiIFAqQxtANbM0AYgoUlZKe/frg0uNgU2lev6PC6mQz5d94Czx8C48NN1COqmpBiYcFnpZuJHAUJzHtbxtXhRyIXDlDXgprB1oDUglKdzc7YF/e5S42Rx4pI8ML2u77VFnOVHHcqS4vVDxD/IJ2Voi7qOHqIepusZZu4hOrB2YuDExEAomhg4vZQ7ImIgzCzuzH1KeIoXBfcqAEgiBgIr0XlI6KEPpBlhYEPtLjAAczKsAQAAgBKlDBVo/JSj4Vhd7z53HCTxtqq2J1M/T4qq2jaXQ98lfIomvTCf1Bh4ERcgJ9U0kuzYQPKnAqeVnyY2UxIDYT5i4PjEQKBoraEN303YsNzQBqBIraENP/csQu3C0AYoU9di/FIalb9I+JSSGpW/6vrsMUwcyGMxMbDHMyyxUbn4B3l1Pf8SA4cRA6E8nd9vUedWtMhRv+74jGIN0DUOvM1RAzOClHWiGAgrlzC4cBNxUD4znSa9UCgxMAsxEMqV8p47Wch+uBhRD/M+4XnEQCjDh8Ra4eJ6FQAMIAYCh67zsIbC6uwm0RrYcNPz6//mHjAAczGsAQAAgOLEoetV4nNdZGqMe9IxEXhaSqPeeI6U6fF3MaEemMd5YsFB02zsMlNhateE1nkphbKRhPsh4VM+acwGsxIDRyQGAkvS7EOjYfn3mYY2uNwKFKOud83l8ZxDG1757cPsrjs+wIsCisxTLzu9KGiQYdc1X2pOChimawx8V8C6JTUGlrTX7PosGnNAXl1j4KwXziP+vkv8NDEQeFRig8rihzUkPmMGoynQAAAgAElEQVTX2D+Wg7/UDwskBuYjBkKZPiU8VUrT7dWLhnUvE14Hd0QgPzFwImIglC3OA7vWwb2YOy+yQGcJj3wb97WBmcV9rdRawFM1v8AhEAOBQ5dYF7OKe60GNgCwVIY1AAAAUKrUItN9o95JL9okJAKzPM9zolHweTxPVynFWsDIIs6kvg9f52hWHknCX0t5nudEDE59LcVAmJEYOB4xEFiqut6dZxrasG9YbmgDUIRmLZxxaMO/q2p77vICzCfxEvRsBeaxt+3TIK6UNVbXZ/888XMAX1pKDDxKbPKzKWxgjRgIZeoaA1/OfG7VJ/4WsQaMONw1fouBkFfXy9fvF3BulVLbmLsRWtfXzuBCyCclDhTdoDfi8/uET8kWA+Mss2uttKFdkFdKc+y30XybZ0RMTvl746aud/bBkJ8YOAExEBYjJQb+VFCetWhVtT1OHLhtWA0UpK53F4kDvV5EjwCAxRMDgRXoWoexmvus0TfCwAYAFsWwBgAAAIoUzXBTkm2bjAMbmkTgx1Ke5zFx8egyGgZ3dadJLxThrEdj2lzNwU87JsNmbVYesfcycVjNVeLUemAaYuBAYiBwCDINbXjbGtow65AdgL2MQxvex9AGZ4Ewn645kLczNuo9Sdxb7s1eEB/ru66vW+7GmbBqcQbVdY1zMuN+rW+DzBJi4FFC/BYDIa+UhjizNOqNuNunKdyLaBA0t67PcKdBG2SXkoss9qJ1XAJPGeqVe73VtVbwj4mfAwjRgKJr84m5h3Y9J2WNehs/ey4ptdpiIOSV2hz2F416nxZ794vEHI7GdjAPMXBkYiAsSmoMvFDL+7T4OyI1pomBUJ4PibXBhnoBh0QMBA5Z1/qQ1zGMdBVGGthgbwtANoY1AAAAULKTHs3I9gMSpr6wedLxIHj/PFkvT0Xh1efEQQ2Ns8yXo4AHxPuwT/FA856/nrJAP56tazHEvll51mRh/B1Q92gkN0vDE+BLYuAwYiBwaFpDG6ZsWP52ziE7AA+5N7Shy+DYvn5QtAqzSWlSmX3PFvvZvhecSrhAcJywNza8EPLr+r57MSAW9RbNxt/2/PwSGpV3zZU3jcoNa4CM4j3X9YxrrqFdpz0Hdm0WFgOtASG/lOZsPxV8MT21UXm2wTCJf29YB0JeKTGwyDP7iMvvEz4l93pLDIRCRc1dar7zUrPyJ533uCciJwwzEAMnIQbCQtT1rtkL3yY87Uu1vI/rOazmRj4YytO6m5bidE0NfYHDJQYCBy4lP1pCnV02cUfuzYD7ce/dfQMgF8MaAAAAKFZcVOzTgOhFTMY9m6o4K3Fyb/M8v0/5PG1VtT3t2aC3aQhwNu3TAV1FUeqnHi/Yvjh1suZFUah5lNCs/HrK59lrYmxVbZvX7bcen35V1zsNOaAQYmA6MRA4dK2G5VMNbXjtUiZQoihIbS4k/HPCoQ3vc6xZga+kNGh7O8P79GxAk95NAUMBu75eGpXDPFIb9WZrShT53CE505cxUHUW8fxdm2c6E4R5JDXqzdmUKOLtDwO+xPs5L8jHsJ2XHf+4GAiZRT4y5Xy/uDP7qMvrGmc2iTF/DCmX+cVByCslHryMeFOa1LhcbAxUIwOzSI1rLzQr/1rUCDY5jXeJn/ox7r8A8xADRyAGwmKlxsDXBjZ8Lf5O+Jx4NrlxVxjK1ePe3At3HYBDIQYChyriW1ez1RnPKe7H9R7YkHBHBAB6M6wBAACAotX17qxno95NXCC/jsvYo0sc2NB+nkkOzatqe1RV26bo6qeeX+KDAlQoThMvbns8VFN48EtVbScr0k9sVt5+nqMpniea1X3uUXy/iZ9hlQlNKJwY2JEYCKxFNCyfcmjDuzmbyQE8pRlsO/HQBgWrkFkMrO6aX2ic5mrIEfvMPnvMttka9UZe6HXHP567aRzwX6nvvZzNys97NLm4b86mminfWwyEeSQ16s3VSCfi7BhxQQwEnpLSRONtSc3KI9ebWpeXu2lISj7a4ELIKOpMUs4Cf5qqxqSPiMdvEz71LrEZydDn+ybhPDDl9wCMJHIiqTnOfbNytW1/N+i9TIh3bSUOAYLVEAOHEwNhuep6d97jTsjruINraM3fNTCX8XdDitt4/YFyfUi8D/E26voADoEYCByqrv2xXq/1HuvAgQ2pe2MASGZYAwAAAEvQt1HvJi6u/2uq5rg9BjY0z/NbM1ShSQgOPTxvLhg1xbcxpOH3AY1DPuW8GAV0EzFmyMCZ5oJkXVXb8ymSdYnNyvfP83vE5A9DGys1P1NzEbSqts3r9MuA5NppXIIACiIGPk0MBNZs4qENkwx8BBjLhEMbXrrgCrNIuRTd7Psupm5WHg0/fhnpy2VpLNwWr0/K95UbgRnE2V/KwP7XORrdNmeJIwyr2cTaKvvl0FjP/ZDwKWIgzCBqM1LOs95PHVNiDXU5wrCaTTxv9v1lvEadG/TKjcBsUveJP5XQmDLiWura6TZyyllETjwlDv6R69mAv6TGwIsSzu0jDqcOq8m930zJ8V5O+BzA0/o0y34Rdy8mz4+ULIbm1D2blP9sDwxFEAN7EgPhIPSJgS/jLshqB67EveFmf/2vnndFDPyBwsU5fWoe+HStTX2BwyIGAgcsJU+62j1v3Iv7uYBHAYCvGNYAAABA8VqNeoc0X2w3xx218WI0iWwuRP2a8Gkvo9nRv6tqe11V27PmuZ67WNX8/+PPNcnE5sLQ/zXFtwMvzN8qvoJyxcXt7wc+4PuIN+djX+CM52uKG64SPu1txK7/i7jcxLSj54ok4s98iJjZfN9/x0XQIRPQm2E12ZvGAd2IgX8TAwG+dm9ow1gNy1d7sRVYltbQhipxPfoUMRDyO0/MfTS5gMupmrRF47XfOv7xLkO2342dk+ngNCFncmeQNcwq9Vzq3ZQNiWJQw/uOf7xLDJzjcmjKQItPGvTCrFJj4C9TNSRqDWro0uzsruP6dfIBO20Rb1Nen6zPB/x/9u7/Ko4r2x92z6z3f/kbgeUITHUCwhEYR2AcgZkILEVgHIFRBEYRDCTQBREMRHBFBH5X2bvtMgJRp371OVXPsxbLvh6Qiub2h6qzz9n7b9EgMXUt69dDDmyIZ/CrHnXZueuwKc1MPAvDYaQO7Xo15VpgF4nrhW0yEPhE3Av2bbzTDFi9O8SA1EOKcyN3PYbm7N0fYrA28CkZmE4GwnLU9e5iwP62Zphrk4HHa/p/iagJ3cXvgD6aWrBhhVCAHhn5qkdzc4AsyUBgoVJqwt+veUhrnAse2kMCAEb3r99//92rCgAAQBEGHHx8yn0scl9Ek91RxMavi4HDE9puOx6I76tZ5D8e8zUApjHg4ONTbiOrLmPj/yjiAMDbkXJ6M0MG3kYGakYEmZOBk5CBkIkYxPemw9W8iw1IPKPVlK1rc02vMxxYVW27blr5xuHBz4t1ybcdf6c8x+sMB9AM5dtsNj8m/s3N2v7pWIMGYpP/24Tr+KO20OyR7/q5c9QheqwfvI/BN8CBxFDS1DWw28jAUXIlniUvEu6jruPzu+TNbGtwicMmGj/EgVfgAOL+6/96/M0fIgNHyZUee1zexeDULnkzy71W4rCJva/GrBEBaSJ7/tvjZZv9/mXAfsXmWfj1XLXYyMK7hOus7BeEw4hmi6nNZg+yz3fAXp3rut7N1kQz8fdKM7zV4Go4sJ5rgm375tsXS937FhmcMpz6Oeq/kBkZ+DIZCMsUNdmbgWctriP/FlnjjDW+s/gY8jrNujYJDNcjI2ddf8tRwprg6l8ryJ0MTCcDIX+J+3lXf5Z15B4Se6t/XQHo799eOwAAAEoRB42OE6YIf86X0XSorqrtXbPYXVXbkyjo9RYbOY/igPoY1zllg97NmI1MgGnFZtKxJoM32fLzZrP5X7Phv2kI1xTnh05er+vdeWTg+xGvcypNRp/YfAplkIGjk4HAIjUN1qIB3Fcj5jFAEZp1ydhM/00cTAXKcd6jntAcSvqtqraXQ+sasbn9JnFgxHnUFrrkTXOtV9HgcjI9N+mfT3lNQCd9DsJ8HTXet0PW9JqvjSaZN4kDr5qvueyY3V9HBk7aCLLHoIYHgxrgsGJ9/pceF/Ft04w77n16a+4hIzv+m9D07GHfCK7j538ff8dkeg5q+GBQAxxW7K/70OMifo09frM02Y57xbpnY7TzmWuxKQ3c7u0XhIM6jwa7KV7Fc/DZHBcez8uXAxpizN30IuXvG2X4LTDYycBzFl/G/r//258BWcKPpKmjxPfzMTJ4aJPy/2hSDlmSgU+QgbB8sS4/dMDzm1gj/BhnQCbdhzKXONN8GUO+fxo4qGETAx+dE4GCREZqJAuskgwEFiplz9xPQ8+DlG7kHhIAMNi/fv/9d68iAAAARYmNVFcjbDx6zn005dh/3PU5oBgHQ89iI9nQjaJT+EETDijPRJPB22732RdZe9enWUUUBd/GgYKp8rqvh9h86vA5FEYGjkIGQmaqanvVsSnku7re2YCaoJXHKQ0rv6vrnSYdMJOq2nbdtPKNQ9RpmoFkkYEpjYf/n4OacBjRAPKnAX/5h2g0dtnlfRx1lpOe9YvmufJ18/ckPqfvBweOnuc9X7/rGHIDHFjCc/FTHlr51+lZLu6TTnuu3f2VHYkDEm4jA0dtDh716Ito3p7CGgNkIN7DdwPqCPeRgRdd1vzj79tnYGpubNrZUVXbu4T7yGao6tnYz5txT3vRY/i1NQbIQKzf3/TMwCb/3k617y3uF88HDNdvru9ornW2Hr9PmoaVhhfCAUVD3d96XsF1ZOAk9zOx3nc+4B61GYw1W8PgyOz/pnyJ/TKQhx7v35c8xH6/5jn5qoQhfXFPfBwfY+8zfF/Xu6HNkIGJyEAZCGs2wv6Yx+4fZWD2e9+ivrHPwD71ms9xXhgKlrB/ZvX3Own31Ld1vVvEcB9YOhnYnQyEMlTV9iZh38msNdZcjdxLzD5pAHozrAEAAIAixSLr5cxDEB7ikOgmDjg+3sD6sfW/P3YSHzkMbXiIg/A2XkGhRjgU2cd9K/duIvPansrFxhetDMyhYfl9NERy6BIKJQMHkYGQIcMaphdrCOcdXuf7ut69XsL3DKUwrGF60fTpvMO65OoPLsAhRWPFm5FqCPetIYRtr+PjaOAz6j/uSxMb9TZ+iYZygw/IJ9znPcXvFshEvJfrka7mNjLw8frXUazV9R0KsfdXdkQjof8lfO1D5N8ojXET7vOeuo7XhnRBHqpqe7bZbH4e6WKun6lXHEcG9m06vnmcHT2Gazf3qKdj3X9FM6ezIUN3gMMbIQObe7/zsfbA9Rx++pRZnzd7NLj7qoTGnbB0VbW9HNiQ8UNk4Fj3V6eRgUPWJ2d/3kwcAKkWDJnp8WyZYn/u4yr+eXfIPXOxBrqv0ew/pjpXou4LBZCBMhDWLHEofqr7yL59Dt4dci0s1hz3+3WOR9iz8zkGNUDhEgZdr37fW8JeI/VhKIQM7E4GQhl6rP+tPt824w5scBYbgN4MawAAAKBY0bzocoQDkmvSbLo91qAXynegoTWlu40M1IAICicDe5GBkCnDGubzQqMlz8twAIY1zOeFRkvuFSEDca/y38x/Frd1vTtq/4eejUSae6/mgPhFn/uvaFB+OqChnQNIkJkeDWYP4Ze63p21/96ejUTuY8jCZWpjkKiPn0SD8r5N160vQGYSG8weynd1vbts/909hnZtYqDERWRg0jNoHMw/jY++9SHrC5CZEZqVb+IZ8zI+brreY8W91XF8nIxUe/7knnFKPQafaVoJmRhxeOv9owzsdI8V91btDByjUeQn94xT6jH0R9NKyNDEzcqf8tAa9Np+PnzqWfHJxr6RoU8Nf9kPjG3/++uZ9zi634OCyMDRyUAoyMQDG55yH8OuP7aysP3vbU8+X8da3BdPfP7xE/8+5VCGp3jmhYWIfXG/fea7+U9d7879vP94rT52yFr3iFAQGdidDIQyJO6va55bj5zrGm1gg73SAPRmWAMAAADF63HgZq2aQ+8nFudhOeLQ5vnMG1RLNeuBeGB6MjCJDISMGdYwv9iwdRqHoTZx2Oqt52WYn2EN84tDDCetw/OXDi1APqpq27wff8z0R/IQBwCeasoxpMHwfWymv2kdgv+j+UcMsNjEYfej+Dge4UD7V6kN0oHpVdX2ZsAAgql9Mqxm8/ca5d2AXLptZeA+l/ZZuP/79o2Pjkdo5n5f17unmigBBxQNzm5mbtqT4skawwjDxq5bGfjHulzz7P+o4dtRKwOH/o5wCB0yNGKz8raHVrY8brY2ZcPI2Qei9riH9jwMGekxcKWLffPJu9Zz5t6UDSNnvdfqcQ/teRgyFs3KzzN+Li6F514okAwcjQyEAmW+R6YkBjXAwsS64fmjPSLNut/ZnMNSc9dx8I/951AYGdiNDIQy9BjW+qGudyd+vH/9PrgYsGfQWWwAejOsAQAAgEV4pvDG3ywkw4JFo8XzCQ6SL0FzCP/UJgxYLhn4WTIQCmBYA7BmhjUAfCrjZuXfPfd8OVFjuam4r4ZMZdys/NlhNZs/r7tpYP7z/JfVi/tqyFTUOn7L8OqeHFazV1Xb5v7w29mvKl2T5a8Na4U8xTPlVeGNKT97zziFHs3sNK6EDPVo0JGjz94zTqHHGqrGlZC5uCe8tAewNzkHBZOBg8lAKJihNYM8xPDYxwNrgYWIgdfNveKNOuen4vW5+sw6oftEKJgM/DwZCOVQ1+yvQ9Z9jjMjAPT2by8dAAAAS9BsKqrr3XGz8BwbjfjTdbMGbREZli2apDWbDt75Uf/D+2i6oUk5LJgMfJYMBAAAKFNT67jN7Mp/+NzzZRz8/s+8l9TLtXoJ5Csa2x5nVuvdN7h4tuluXe+a5iEf5r2sXt4Z1AD5inutHzK7wNvI5c9pmijdH/YyOzlxeB/yFc+Uud0HpnjxnnFs0cQuZVBDw/MwZCgabeR2H5iiyz3jqKpqe5HYkONeQxPIX9wTHhWyzpaT2zgrIuegYDKwNxkICxDv4Rz3yeTuQ5wVMagBFqypbzb7PNQ5nxavz1Gsr76Pfgof4nzhV+4ToWwy8PNkIBTlLPFiz6tq+9qP+M+ss2YAwCH86/fff/fCAwAAsCgxHfcsPl6t9KfbHIZ/q5AG6xPFt+aA9fcr/vFfRwZqOgQrIwP/IAOhMFW1bd6vbzpc9TuNZYGlqapt100r37i/AdYk6hxXiU3HpvJD11pDNErL9Zm8qZscObgF+auq7VFk4KHrvPumuy82uMgst5/yoa53J/ldFvBYNN/+NYMX5jYy8MV7p4xy+zn/icE6QOYKyJOndL5nHEvP10mNCTKX0X1gis73jGPp+TqpMUFhqmrbrGNdrPgcSFdN47VzdQ9YFhnYmQyEBaqqbbN+9ZOf7Wc165FnzgwDAACUo8cZi/d1vTv1I/5T7NG+7HgGe++7ut5dTnxpACzUv/1gAQAAWJqYBN5sznodGzDvV/RDvo/GSa9tuoJ1quvdXRTfvmoKcbERcy2u43DlsQOWsE4yUAYCAAAsQTSVOI5nvUN5iOfMzrWGeCa/zfBH0HwvJ5p1QBmi0e3xgWu8tzHgpVPT3ciXk0zXI5vvxaEtKETce/1w4Dx5n9J0N7Iy15x5b1ADlKN1H5jjc+VT7uce1BDOE5t23sfXABmL+8DvCtrncn2AQQ1f9MizD/bQQHmiec7+HAifajL4q+a8jLoHLI8MfJEMhAWL88DNOZAPfs5P+qX5HeHMMAAAQHHOEuvAR37Ef4seYsexr7GL5rVWIwagt3/9/vvvXj0AAAAWr6q2J3E4/NuFfq/NhtMLm62Ax+KQ4kkU8b5e6Av0PjJQ0Qz4BxkIlKCqts37902HS30XB5EAFqOqtl03rXzjfgdYq6raNveAP8387Tc1h9NmKGLqF8az+FVGz+EPB2qeCQwUeXJxgPpu0+SiV5OfqtoeRQamNM+d0u3czTOBcUSeXMx8T/UQ+deroXdVbZs9Ob+Of1m9vY9hYkBhDngfmOL6EEMBq2rbNOz8X+KXWVuFghzoPjDVL3W9O5v7L+1xv/kQTSw9E0PB4v6nqZN87+f4xz3oW/d2sB4y8B9kIKxMVW2PIwO77K9euveRgcl7eAAAAMhDPOf+t+PF3Nb1zsCGJ1TV9izWCz63T/u7GIoLAL0Y1gAAAMCqxGHO02jaW/pmrfs4lHVhsxXQRWzYbwpQxwtoWt40GGoahVw6UAl0IQOBXFXV9qLjgUrDGoDFqapts6b1ZYfvS0MxYNWiSdv5DHWNpoHZ2RiDoRPuc6d0H80zDWqAgsVQ/vOO941D3EYGDrrvzGhozUEaCAPjisFdZzMMgfkQGTho70lGQ2sO0kAYGFfHA9ZzGzTYZqjEw/sbtSUoUzxXNu/dHzP7Bu5jwOtB6jU9htqqLcGCxN6/05mekXPTNOc9V+uA9ZKBMhDWLOoOZyscXPMQNXLnhgEAABYiod75vq53p37uT2v1izhp7S1vnqMvrSUCMAbDGgAAAFitONB0HAuwxzM0+BjDdSwQX9poBQwRRah2Bua+cf8hGntcak4ODCUDgZxEs6GfO1zSd3W9u/TDA5akqrZNrn3b4Vv6f+6BAP7IzX0TjrEbgO+HQ5+PmbcJ97pT0KQcFiTqumfRjGjsmu5t5N/gQTV7cb3nB2waokk5LEjUNN5GTWPsesaHyMDRmtjG9V4eaGjNaMPHgDxkcF/VNspgmyGiOV3d8Y+4ruvd8aGuFRhuxgGuXbwbe+0wVeJao2E1sGAx3PW0Y525VLfxO8BeQeAfZCCwVrFOeDLRnpmcfIgBDfaLAwAALFCHc3TN/rcj/aQA4HAMawAAAIDQGt5wFP98feABDk1zpJv4uBrzcDzAY63G5Uetj0M2L799lIEmmAOTkYHAIcWz6N0LuXNf17vXflDA0lTVtrkH++8L39b7ut6d+uED/C0atZ3GQfS+dYyH1lDAyQ55H6CpXPN9va3r3flMfx8ws2hEdDKwafl9ZODFlGtvca3nM9acm+/rVF0ZlqnViOhkYDO22xjUdTnloc6q2r6Npklz1VuuIwMdVIUFag2uOcTQhut4zsziHquqtjcdGtI1WX+sqSUsQ9RS3h5oaMP7yMCD32PF74KbDveX6kqwEq3n5OOJBhzOrWnMezX18zqwDDIQWLN4PtxnYOnDa/Z7d64MqQEAAFi+WNe7eOZ5ttkDfKKnAAAclmENAAAA8II46PRFNO3dxEauvSGHn5pDkfsNVPvDnM2i+UcNNIAcRLHvKIbXvH6UhV90OPz9Odfxv32M7NtEFn5UQARyIAOBOVXV9jSaNz51aPIhGurIB2CRqmrb5N+Pz3xvmooBvCAOoR89eoZ9zlU8i84+GDDued9O2LD8Ie6pz/3egPWIgTD7/DuKdbun7Nfh7iIDZ2v0E+uMZxM3LL+P5pkXE/35QIZiL8s++44/c4V38bEfED3bvdJMzdWzaqIOTCty5Wzg8MIu9k3SznOrz8Q98NVn7i2ba3/t2RiWJ+7/TmdoxnsfDUIucmuUG2uMv37mU67reve5e2NgweI+6Tg+jmYcoNrHw/45PZ7VPdMCg8hAYM3iebmdgTkPsLl/lIH2hgMAAKxQrOedtL5z62QAkAnDGgAAAGACcTB03xDpxuFHYE2iOPhHQyRFQWBtZCDQVzxHnsRhoS9aDdQuPFMCS9faZLpvoHMTa2qazQIsTFVtT6Kp3LcjfWe3reZx7puBbMXQhpNoLjxkEGzbh6aJsPtmIHex9nkaH2M0its3Ub9Qi4H1ijXF01hTHOP+6rbVJO0y5xc2cvX8iWfrZoDNiedjWL5YY9vXVca4v7qODLzMvVFkNOE8fyL7f6nr3dmBLgvIUKzHPR72+nrmBuYPrSGyd5G1d7kNwwGWRwYCa9Y613sc/3x9gCEO96194Het/ZDW7QAAAAAAMmZYAwAAAAAAAAAAADCbaBByHB/Nofg3Hf/u61YzjyvNPIASRYOQdgZ2aS68b2p008pAzTyA4kRz9XYGdmkQd//oHtCABuAT0bz79aOP53yM+6qPJTdKazXf3Gj2Buv1qBHvF61/Pueu/VHqvVWr+ebG/SGQ6tF9VPvfN5/5b237LH3uv2lGDmRLBgJr1n6WbK0jtj3139r2a4rP/TdrdAAAAAAABTOsAQAAAAAAAAAAADi4aK75CQ3XgKV71Byp7WNd7278PwCwZI+aI7Vp7AYAAAAAAAAAAAAAwOQMawAAAAAAAAAAAAAAAAAAAAAAAAAAAAAAAFbl337cAAAAAAAAAAAAAAAAAAAAAAAAAAAAAADAmhjWAAAAAAAAAAAAAAAAAAAAAAAAAAAAAAAArIphDQAAAAAAAAAAAAAAAAAAAAAAAAAAAAAAwKoY1gAAAAAAAAAAAAAAAAAAAAAAAAAAAAAAAKyKYQ0AAAAAAAAAAAAAAAAAAAAAAAAAAAAAAMCqGNYAAAAAAAAAAAAAAAAAAAAAAAAAAAAAAACsimENAAAAAAAAAAAAAAAAAAAAAAAAAAAAAADAqhjWAAAAAAAAAAAAAAAAAAAAAAAAAAAAAAAArIphDQAAAAAAAAAAAAAAAAAAAAAAAAAAAAAAwKoY1gAAAAAAAAAAAAAAAAAAAAAAAAAAAAAAAKyKYQ0AAAAAAAAAAAAAAAAAAAAAAAAAAAAAAMCqGNYAAAAAAAAAAAAAAAAAAAAAAAAAAAAAAACsimENAAAAAAAAAAAAAAAAAAAAAAAAAAAAAADAqvx/ftwAAAAAAAAAAAAAAAAAAADAElXV9ji+raPNZvNF/Pvxo2+1+d9edfj2Hzabzc2j/3YV//wY/9vHut49/hyAg5CBwFpV1faLyLdNK/fa/23vTceX6H6z2dy1/u+PrUy823/U9e7uma8HmE1VbV9vNpvXj3Jv/9/2mv/t647XdBu5t3fXysSbfSbW9e7j838EwDxkILBmVbXdrwG2c1xCFccAACAASURBVK+9LriJ//5lx5fp+tH/fdPKxD/WBet6d/XplwFAef71+++/+7EBAABAB62NqXuPF6Ife7yQbJMVUKRHG1P3Hmdi28cnNt/bYAAUSQYCa9bamLr3VCa23T06gGSTFVCs1sbUvceZ+NjNo833Dp0DxZKBwJqpCQNrpR4CrJkMBNZMTRhYoljjO4p8O0poPj6VfVPzvz7UUYCpyEBgrVprfMetfS5dBzBMZT/Y4aqVgWrJwOhije+o9fE6ofn4VG4jA2/2OaiOAkxBBgJrFuc+9tl3nDiAYSrXrQy8UUsGoDSGNQAAAECIRejXrYXo1xNuSt1PTr9rLTLf2XAKHEpsym9n3xcTbkrdT07fN3G70rwIOCQZCKxV62DSPvuO459TbEp9aDUuumo1MrLhFDiIVvOh41bjoak2pe4PXe6z7y7uAW04BQ5CBgJrpiYMrJl6CLBmMhBYKzVhYA3iXu8ksu7QDXlTXEdeXqmbAH3JQGCt4nm3nYGHbsjb1cM+/yID1Y6BZLH/r52Bh27I29X9owxUNwGSyUBgzWIPdDsDDzmkNcXtowxUOwYgW4Y1AAAAsEqtzVjHGW5IvW1NSVdoA0bX2ohwnOGG1OtHGajQBoxKBgJr1tqMdZzZhtSHR/nn8CUwujic3s7AXDak3j/KQIcvgdHJQGCt1ISBNVMPAdZMBgJrpiYMrEGs+53Ex7cL+Zb3TXsvmw/3icBzZCCwZrHu1+TfaUHDGV6yb9rb5N9l3pcKHFKs+51GDpbSmPwl+6a9F/YOAp8jA4E1q6rtSWs9sJThDC+5bq0F2j8NQFYMawAAAGA1Ct6Mdd/adOqAJtBLwRsRblubTh3QBHqRgcCaFbwZ67r1HGzTKZCs4MPpD4/WAm06BZLJQGDN1ISBNVMPAdZMBgJrpiYMrEXk3emCmpN/znsNe4E2GQisVWsPzNmCBjQ8p9k3c6FhL7AXe2BO42Mpzcmf0+ybOdewF9iTgcCaxR6Ys4UNaHjOdTwLG+IKQBYMawAAAGDRYjPWaYHNOD7nQ2tCsIVm4FmxEeGswIPoz3lo5Z+N98BnyUBgzapqe9xqSLSEzVj3kYEOHwEvqqrtaYHNyT/ntrXp1MZ74LNkILBWasLAmqmHAGsmA4E1UxMG1qK19ne2gqZsT9k3aruwTgjrIwNlIKxZa+3vdAWNKZ9yHfl3kd+lAVNrrf19v9IX+31koCHXsEIyUAbCmsV5kObjzQpfhv0Aw3NnRwA4JMMaAAAAWKSVFOH2hzPfWmgG2lZShLtvFdtsvAf+IgOBtVrRwczbyD+Hj4C/rOhg5ofIQBvvgb/IQGDN1ISBNVMPAdZMBgJrpSYMrElk3ll8rLE572MP0bDc/SGsgAz8hAyEFYl9MG9X3Jz3sfuoFXtGhhWIfTBvV9qc9ynXkYH2DMIKyMBPyEBYkdgH83alA1uf8t6+aQAOxbAGAAAAFmXFRTjFNmDNRTjFNkAGykBYrRUfzHQAE1jzwUwHMAEZKANh1dSE1YRhzdRD1ENgzWSgDIS1UhNWE4a10ZTos9RJYOFk4GfJQFgwg2pepFYMC2ZQzYvUSWDBZOCLZCAsmEE1n6VWDMBBGNYAAADAIkQRrllk/XblP1GbrmCFogjXZODXK//523AAKyQD/yIDYYXiYOb5yg8l2XQFK9Q6mPnTyn/+DqHDCsnAv8hAWCE14b+oCcMKqYf8RT0EVkgG/kUGwgqpCf9BTRhWItb/LjQl6qRZIzx1bwjLIQOTyEBYmFj/uzCoppNfYo3Q8zEsRFVtz6JBr0E1n/cQ+Xee80UCaWRgZzIQFibOhDT596Of7YvuYy3QnmkAZmFYAwAAAMWrqu1bTYk+4WAmrEAU4S40JfoHBzNhJWTgk2QgrERVbY8iA9felKhNs15YiarankQG2pD/N816YSVk4JNkIKyEmvCT1IRhBdRDnqQeAishA58kA2El1ISfpCYMC2Y4TS/NveGZXITyycBeZCAsRFVtzzWnTNY8H5/U9e6msOsGWqIGcmlYV7LryEA1EiiYDOxNBsICRB340sDCZL/U9e6ssGsGoECGNQAAAFAsB5FeZEI6LJjGbC8yIR0WTAa+SAbCgmlO+aLryECNKmFhNGbr5JdYD7T5HhZGBnYiA2Gh1IRfpCYMC6Ye8iL1EFgwGfgiGQgLpib8IjVhWJiq2jb3fd/7ufb2PhqWq5FAgWTgYDIQChV7Ya7UgQf5jzoxlCn2wlypgfT2EM3K1UigQDJwMBkIBYuhrb/6GfZ2GxmoTgzAZAxrAAAAoEixAH2uCNeJCemwMFW1bfLvRz/XTkxIh4WRgUlkICxIHEq63Gw2b/xcX/QQBzAvMr9OoKPYkN9k4Jdesxfdx1rgTebXCXQkA5PIQFgYNeEkasKwMOohSdRDYGFkYBIZCAuiJpxETRgWINPca/KlS53hKLN1y6ZB0bH1QSiHDByVDITCZLoXptlz0qXZY27P7O/reneawXUAHWW6F6a5n3rpXuqLDAfs/GB9EMoiA0clA6Ewme6Fue7wOa8ze35/iLVAZ0YAmIRhDQAAABTHYcxeLDbDAjiM2ZvN97AAMrA3GQgLoEFvbw4gwQJo0NubzfewADKwNxkIC6Am3IuaMCyAekhv6iGwADKwNxkIC6Am3JuaMBQq7v2uZmpytm+4dhX/982+AVtd764+/6XdxPdzFJ+8//f9P+dqZOS+EAohAychA6EQ8fx7NdNemOvIvH39dJ97H8eqqVbV9nVk3Sb+2f6Ya7iNZ2MoROwH/HWGq90P4bqLj3YW3tX1rstwmhdFpn8Rn3f06F5wrlqPvYJQCBk4CRkIhaiqbfNe/X6Gq90PItyvAd61BhPejLV2VlXb49b/edz651zDbeyXBmAyhjUAAABQlBkXoLu4j4NR558ryj1aZN60FprbG6/mOlyl4AaFmnlDfhfNZvYmTy6eK8o92nS/aW002DzaeDDHxlMFNyiYDBxMBkLBZj6U1MWH5ln4c8+Wjw4ebVrPvpvWM/FcG08dwoSCzbghv4uHWAu8+Nxh9Ueb7jete7/25vu57msdwoSCycDBZCAUTE14MDVhKJR6yGDqIVAwGTiYDISCqQkPpiYMBaqq7c1E9363kak30Xgom/ujWEPcN+09nvD7l4mQORkoA2Gt4lnyZqLn3+tHGThKE96hWmuIR60MnKJubJ8MZK6qtiebzea3Ca7yoZV/V2M24R2qtYZ43MrAKX4H2CcDmZOBMhDWrKq255vN5scJXoL7R8/BowxmHUPUv9trgVPUje2TAWAShjUAAABQjMyacjzWbOZ6O2TxeqaNpxsFNyhPhgfSH3sfGdhrI+uMG08V3KBAMnA0MhAKlGFTjrYmV86jWWWvjawzbjx1CBMKlFmT8sfu4x6w9xrbTBtPNw5hQplk4GhkIBRITXg0asJQGPWQ0aiHQIFk4GhkIBRITXg0asJQkJHXAPcDp5uPq5JyIO4Tm1w8iY+x8lEmQsZk4J9kIKzPBGuA+6H7lzk1pOwinpX3GfjtiH+0fTKQqQnWAPcDp69KqwnEa9Fk4OnIdSH7ZCBTMvBvMhDWZ4JzIR9aa4FZDCnsKvZP79cCx9ozY58MAKMzrAEAAIAiZN6Uo61p0HE2xkLuhBtPNwpuUI4CDqS3vY8MHLyxfcKNpwpuUBAZKANhzTJvytH2EM053o7xh0248dQhTChI5k3K2+7jHvByjD9soo2nG4cwoSwyUAbCmqkJqwnDWqmHqIfAmslAGQhrpiasJgxrVFXbs81m8/MI3/r7aMw7Sp0iB1W13a8RjrFGqj4CGZKBz5OBsHxVtb0cYR3sIRrzXixl/SvWR0/iGfnNCH+kGjFkJt7nNyPsibuPwaqXpTXmfU7USpoMPBvh9VEfgQzJwOfJQFi+qInWI3yj1/EsfLmUOmi8NqfxMbRWrkYMwKgMawAAACB7I25G3WsWWj/GAaenNEW/o/jou6j7S13vzsZ8bUfeeLqx8QrKMNJm1LbryMDnCu6v46PvBs+HOJg+Wr5MsPHUpgMohAyUgbBWI25G3XuIP+8uPp5yFBnYtxlGs/H1ZMx8GXnj6cbGKyjDiJtR9+4j+27iXvApx5GBfbPmOjJwtHwZeePpxkF0KIMM/JMMhHVSE/6TmjCsk3qIegismQyUgbBWasJ/UhOGdYn3/M2A9biHaMp2vuT3efyOOIuPIXWS75bUyB1KJwO7kYGwTFED/W3AN9c8j75det0zfle8HVgrbn5fHC2liTEsQVVtm3u4Hwd8K9eRgc/tf1nK63QcGTikTnJb17ujES8LGEgGdiMDYZmqanszcHD9+8jART/fVdX2NDJwSK149P3cAKyXYQ0AAABkLQpL/x14jc0Go8v4uErZlBobnI7jIFDqodDbOJQ06sL3iBtPNzafQt6qatsUlX4aeJH3+wxM3YwQTdGO4zB4aiHwfRxOH/UgwEgbTzc2n0L+ZOCT1yQDYSWqans1QjOe5pn0Ip6Dk5plxLP4vjlk6ian/9T17jzxa7pe09CNpxubTyFvse51N8Ka14fWWmDne574+9sZmHIdD7EWOPpBgJE2nm5sPoW8ycBnr0sGwgqoCT95TWrCsBLqIU9ek3oIrIQMfPKaZCCshJrws9ekJgwLNjD7fommRKsZxhJrhG8HNLRr7glfG2ADeZCBaWQgLMfA/TAPkX+jP4PmLNYILwb83riu693xOl4tyNvA/TBN/eN06Q3KH4vX7GLAfsF3db17O90VAl3JwHQyEJZj4H6Y68jAVe33qKrtWawH9t0z/c3afm8AMA3DGgAAAMhWbMS6GVBMuo/NWBdjfI89G2I0G8KOUw9BTXg9j012fcAwcSC8HvCHXEcGjlJQ6nkY/DYyZvQN7iMdTp/s+oBhZOAk1/OYDIRMxaainwdc3fvIwFE2Y/VsiPG+rnenY/z9I13PY5NdHzBMVW0vezTH3WvWuZpDmedj3eP0bBD+w1jrkSNdz2OTXR8wjAyc5Hoek4GQITXhSa7nMTVhyJR6yCTX85h6CGRKBk5yPY/JQMiUmvAk1/OYmjBkJtb5f+1xVatszNYW984XPQaMbeQh5EEG9icDoXxVtb3ouca1yuaUbVW1PYkM7FMntkcGMlBV27ue+2FWN6zrsYENjr8yzBoOTwb2JwOhbLHf4389volVDixsiz3TFz3P1dzX9e71dFcHwFoY1gAAAEC2qmrbLCD/2OP6mgXoswkbAu0bYnQtcE3a/GLgYvPGoUzIU1Vtb3puKL+NDJxkQ34UB88TMmfSjBm4+X5jAz7kSQZ2vh4ZCAsTOXPT81DNh8jASTZURkOM84TMmTRjBh5A2jiEBPmJ9/VvPS/s3ZgNyh+LQ/PnCZkzacYM3HyvUS9kSAYmXY8MhIVRE066HjVhWBj1kM7Xox4CCyQDO1+PDISFURNOuh41YViQns3ZPkSDXmtawxodf7PmRu+QAxk4nAyEMg1oUPmurndv/dj/qhNf9VgfbOrXr/0egcPpObDrIe4BL/3o/qqRXPVYH7yu693xRJcFdCADh5OBUK6e61i3kYHOOQwbfms9AYDBDGsAAAAgS1E8qntc22ybUeMaLztumJ28AdDAQ0m/1PXubILLAnqoqm3zfvy5x5fOVjxKbNI2eQOggU3avrN5A/IhA3tdjwyEhaiq7WWPpouzbkZNbKI5dXOOIY0qm9ftaKpGJkCaeD/f9DiYPttm1LjGJmvfdPySqZuVD2nSdlvXu6MJLgvoQQb2uh4ZCAuhJtzretSEYSHUQ3pdj3oILIQM7HU9MhAWQk04+VrUhGEBejbVMXTqCT3vpT/U9e5klgsEPiEDxyMDoTw9G1QavPdIPBuf93gt/1PXu/PJLxB4Uo+BXZPvOSlRDP657LFXsPJawuHIwHHIQChPz6GFk+85KVFVbY8jA1P2Sz/U9e6Ltb92AAzzb68fAAAAmeqzCahpLnEy1wJ0FKia5hzXHT69Wfy9ioX1qa6nWWQ+joX4VD/GQjVwYLGBMvVg+UNsRp1tyndsfG1y477DpzebAK4mvp7me/8uXotUF/G6AwcmA3tfjwyEBYhnstQGE/exEWu2BjvR1PGHjpnzfTTymOpaPsZBync9vvxVNPUA8nDWo0n59Zwb8iNzmqz+peOX/BqNdKe6npu4J/3Q48u/juZuQB5kYPr1yEBYDjXh9OtRE4YFUA/pfT3qIbAAMrD39chAWAA14V7XoiYMy5A6QFST8mdEs90fEr/s2ynXLIEXycCRyEAoS6xHGdQwgng2bn43vE/80wzyhwOJvXOalI8gBrH22ScjA+FAZOB4ZCAUKfX9Z1DDM+p6dxUZmLJP5lUMzwWA3gxrAAAAIDtxGOlN4nX9EIeDZtVqUNRlo9OrmNo7mVaDoj7NOTQngjycpU73jgLc7JtRWw2KumTO11Meytz8s0FR6sH0VzYeQDZkYP/rkYFQvtRnsiZ/jg6xGbXVoKhL5vw4ZaPezd8NilIPYTbeaFIJhxeHMvscTD/IZtRWg6IuLiZu1LtvUJR6CLNxpkEbHJ4MHHQtMhAKpyY86HrUhKF86iH9r0c9BMonA/tfjwyE8qkJ978eNWEoVFVtj2K4VVe37l0+LzJao14ogAwcnwyEoqQ2R3xvUMOLzhJrxF9O/bwOPCs1A880KX9e7JU8TayPfG+PIByMDByRDITipGRg874+NajhefH7IXVtz1ogAIMY1gAAAECOUhc+3x16I1Zd75oF8+sOn9ocypy0AUYsxPdpzvHGhGDIQmoGnhxyE0Irc7oeypz04GOrQVHqwfSfpmweB3QmA4ddjwyEQsWhzJQGlfvGRAfbiBWZ0/UAz8XUmzxjXaBPcw4Hu+DwThObs13HWtzBROa86/D3v5ojZ+L1SD2I3lzbpM3jgE5k4PDrkYFQLjXhYdeiJgxlUw8Zdj3qIVA2GTjsemQgFEpNeJTrUROGMqWuRWlM1EGsVaasDWrSC4chAycgA6EYKRl4r5niy+J3xEni2qAMhJnFGtm3CX/rB8NqXhZrlan31zIQZiYDpyEDoQwxLC/lbMhbw2peFr8nfkn4kq/tjwFgCMMaAAAAyEoseKYW4CZtdJHgJDaGveSnOHQ1mQHNOXJ5LWGVojlOSgHuP3W9uzr0a9XKnC7mOJTZ92C6DIQDkoGjXY8MhDKlHjA6aFOOvcjh/3T41Lka9fZpzvGlJpVwcCkZeJ/LpvFYk/zQ4VObZriTHyTt2az8extQ4eBk4DjXIwOhMGrC41AThjKph4x2PeohUCAZONr1yEAok5rwONejJgzlSaltvNOYKEnK75Yvp16vBJ4kA6cjAyFjUQ/+OuEKDavpqK53d5vN5jzhSzTphfmlvO8eejTfXq263l1uNpvrhO9fBsL8ZOBEZCAUIeV9d13Xu5Rnu7V7a3AhAHMxrAEAAIDcpCx43udUgIsNYV2vZ/JF89b1pCw4NxtQux4sBcaXkoEfcirAxcGAdx0+9cseB0/7Xk/q33My9YF54LNk4LjXIwOhLCkZ+J+cDmVGHnfZ7PntHM+b0ZwjtVGvzb1wIHEQ+suEv/0ks0OZXdfe3s50r3XWo1GvDIQDkYGjk4FQFjXhkagJQ5HUQ8a9HvUQKIsMHPd6ZCCURU14vOtRE4ZCRJPerrWQhznW05YkBuqk5KHmRDAjGTgtGQjZS3k2vM5hYGtJ6nr3NuroXbxSG4bZpbznzg2rSZayzvdtJtcMayIDpyUDIW8pGfjWz7K7+H2RskfGWiAAvRnWAAAAQG5SCkRnuRXgYmPYLx0+9c1MB5L6HMqc/LAo8Kk4DN218P2Q43s1Nnt2aYh2Nsfh7x6HMl85lAmHIQMnuR4ZCIWoqu1JvAe7uM2pMVFL50a9M11PaqPeN9EsGZhfyv3HLzk1JtqkNep9NVODtj6Neq0FwuHIwGmuRwZCGdSEx70eNWEohHrIJNejHgKFkIGTXI8MhEKoCU9CTRjKkLI2dqE5Wy8pvzM06YV5ycDpyUDIV1KTXj/HXmQg5EsGTqiud3fNwO+uf4OBNTA7GTghGQj5ShzcemtoYbrYI9P1rMibnK4dgLIY1gAAAEA24oDi1x2v57qud5eZ/vTe5nQgKRacrxO+5NsoBADzStqAEAX1HHU5LD9Lg7ZwpkEbFEEGTkMGQhlSMjDL92nkcpdNsnM1qfyoSSUUo2smPMzY3CdJrFF2WXubq0HbTeLBhVdVtdWgDQ5DBo5/PTIQCqAmPA01YSiGesg01EOgDDJwGjIQyqAmPP71qAlDGVLWny78TNNFbaTr8BrNiWBeMnBiMhCy1jUDHzKuB+cu5XeHJr0wr65Nej8Y2NWbDIR8ycDpyUDIk7XAeXR+7QysAaAvwxoAAADIyUnCtWQ7KT0Kg10WeN/M2AAjtdlQys8CGMdSMvCq44b3WZqg9TiU+WVVbY8mvCTgaTJwAjIQitE1A28jZ3LVNZ/nysDmtXqf8CWeg2FmsS7WtUnvReab8btk4Ku5sqaud01D4PuEL5GBMDMZOB0ZCEVQE56OmjDkTz1kAuohUAwZOAEZCMVQE56AmjAUoWsjnPtouE0/Kc2J3AvCfGTgPGQg5KnrgBSDGnqKdcEPHb9a/sFMEhvCysCeYtBP10HWMhBmIgPnIQMhWzJwHimDLmQgAL0Y1gAAAEBOui503kcRKWddDySlHJTsra53dw4kQfa6ZuD7zJuzbTpmYHP4e64GbRcatEH2ZOBEZCDkraq2XzSZ0PEis21MtPn70E+X587v4/uew9uEv+NV4sZgYLiUTY+5Z+Blx3uuWdYCQ0oGfjvplQBPkYHTkoGQNzXhiagJQxHUQyaiHgJFkIETkYGQNzXhyakJQ966DjHNeVBNCVJev7nyGZCBc5GBkJnEQfYycJiur9+rXL8BWCAZOJ+ur597QJiPDJyPDIT8dM3A+9jrSw8x9LbrwBoZCEAvhjUAAACQk64HMrOfEhyL47cdPnXOg48ph7jeTHgdwNO+7vi6lDApves15pqBDmTC/GTgtGQg5CulSa8MTBTP5h8SvkoGwry6ZuBtIRtRu2Tg14mHUXuLBm1dN6BuNCeC2cnACclAyJ6a8LTUhCFv6iHTUg+BvMnAaclAyJea8ITUhCF7XYfV3PhR9hfNibqSgzAfGTgDGQhZStkbIgOH6fz62RsDs+magQ+a9A7WNQPtjYH5yMD5yEDIT9cM9Bw8XNfX0HMwAL0Y1gAAAEBOuhZ7SjiMtOl4nV/O2JzopmOzkD/YgAXzSXm/1fWuhOZEHzebzXWHT50zZy4SPtfmA5iRDJyFDIR8dc2C68iXrCXkdK4Z6DkY5tX1PbektcCNDAQS33MysD8ZCPlSE56QmjDkSz1kFuohkCkZOAsZCPlSE56etUAon+ZEw3VeEwSyIwOHk4FQqMSBK3zK6wfl8v4dzmsI5fL+Hc5rCOXy/h3OawjApAxrAAAAIAtVtf2i63XU9e6qkJ9a1+t0IAnomoFdDnrnoksGztmcqDnI+qHr52tOBLOSgROTgZC1rhlYynPwJrfmRNEs5KHjp2tOBPNaVAYmrFlaCwQ2MnAWMhAypCY8GxkIeVIPmZh6CGRNBk5MBkLW1IQnpiYMeaqq7VHChWU/rKYAXkPIiAycndcQ8tI1A7s+x/GMEoY+wgp1zUDv3+G8hpAfGTgfryHkRwbOx2sIwKQMawAAACAXXReebwv6iXWdxpuyCXeoy4Svn/O6YO26vt9KmvItA4Gx328ycBgZCHlaawZ+mdKgcwSdMzDxoCwwzNcdv7qkDOyydjlbztT1rnnt7jt+uvyDecnAiclAyJaa8DysBUKe1EPmIQMhTzJwHjIQ8qQmPA81YchPyuDWkjIwV3cdr2uWYWKADJyZDIS8dM1A+TeOrntjZCDMQwbOp+s94GauwdqADJyRDIT8vOp4RTJwOGuBAEzKsAYAAABKU8yE27redb3WOZsT3WlOBEUracp3dhm42WyuEj5XBkJ+ZOAwMhDKJgOHkYFQsIQ1thx0udauDdrH0jUDX9mID/mRgYPJQCiXmvAAasJQPGuBw1gLhLLJwGFkIJRNBg4jA4G105wIWDMZCKyZDARWKfbGdCUDgUWRgcDKdc3AL9f+QgHQj2ENAAAA5KJrkSflME0Objtcw9yHfrpOWrbwDPNZYgZ2zZq5mxM9dPx0mw9gPjJwBjIQstXp/VbXOxk4TNdr2shAmEdCQ+zrwn4knfKmqrYyEFZMBspAWDk14fmoCUN+1ENmoB4C2ZKBM5CBkC014XlYCwQAAAAAAAAAAHozrAEAAIBcLPXgy8cOn/Nqhuto63wgKaFpFDDM4t5rdb3rkn+NLya+lMe6ZqD8g/nIwPnIQMjPEhsiZpeBdb3TmAPys+a1wM3M94EyEPIjA+cjAyE/asLzUROG/KiHzEc9BPIjA+cjAyE/asIzUBMG6DwgJyUvAUohA4E1k4HAKlXVNmVQrAwEFkUGAivXNQNv1/5CAdCPYQ0AAACwPg4kAWvWNQOXeEgWQAYCa9Z1c5XnYGBprAUCayYDgTWTgcCaqYcAayYDgTVTE4a8pAwTPfazG6zrgJyuA3eAYWTgvGQg5KVrBr7xcxvFq45/iAyEeXTNQPeAw3UeFJswgBsYRgbORwZCfrrWKWXgcNYCAZiUYQ0AAACQgZk311pQBnIy9+ZaGQjkRAYCazb3xjIZCORktgy0uR7IkAwEVktNGFgx9RBgzWQgsGZqwrBi1uhnZxANZEQGzk4GQl5k4Eyqaiv/ID8ycD4yEPIjA+cjAyE/MnA+MhCASRnWAAAAANPqPJUcYEmqaiv/gNWSgcDKyUBgzWQgsGYyEFgzGQisknoIsGYyEFg5GQiMbe7hLosS96ZfdvyeNIyC/MjAAWQglG3mYfdLdJTwPclAyMvcg56XqGsGPqz9hYIMycDhZCCUy3PwcF0z0HMwAL0YMXyXswAAIABJREFU1gAAAEAuui5ylrbw/HUG1/BYyoJyyoYtoL8lZmCu+dE5A6tqKwNhHjJwPjIQ8tNp02Nhh5FKz0D5B/Po+p4sbSN+rhnSdZO9DIR5yMB5yUDIi5rwfNSEIT/qIfNRD4H8yMD5yEDIj5rwfNSEIT/XHa/I+3KYlN8hNzl+A7BQMnAeMhAyU9e7q4QrkoHDdM7Aut7JQJhH5wy0Rj9Y1wyUfzAfGTgfGQj56ZqB8m+AGNzadc+2DASgF8MaAAAAyEXXRc4vSvmJxSJvdhI3VhXzekPhFpeBGV+rDIT8yMD5yEDIjwycT9fX+lWm1w+LkrI+lesa2zNKz0D3gDADGTg7GQh5UROeiZowZMla4HxkIORHBs5HBkJ+ZOB81IQhP12HqHzrZzdISqPyuwyvH5ZKBs5DBkKeOg0u3Gw2J35+g3TNwPtMrx+WqPNAZRnYX2KTXveAMB8ZOAMZCNnqmoGvChvinxtrgQBMzrAGAAAAStO1cJSDzhON63rXeVL8UIkL9ylFUWB6JU1K73qt1xNfx2MyEMolA4eTgVCuJWbgbM/BoWsGdj0gBsynpAzsunY5dwa+6fh57gEhPzJwOBkIZVITHkhNGIqmHjKcDIRyycDhZCCUS014ODVhyE/KAOtTP7/euja3e6jrneZEMB8ZOA8ZCHnqmoFvqmr72s8wXbxuXevqKQNegQHqepfyfnMP2F9Kk3cZCDORgbORgZAnGTgPGQjA5AxrAAAAIBcpm1BLmRK8hInuFp9hHp03oRb08yg+AxM3hgD9ycAMyUCYTdf3WhHPwVW1/aKwvH6K/IP53Hb8m0rJQGuBQAoZmB8ZCPNQE86TDIR5qIdkSD0EZiMDMyQDYTZqwvmRfzCflKEtmhP1EA3ev+z4lXMP0YG1k4ETk4GQNRk4vbcJf4MMhHl1HeL8ZUF7Y3IjAyFfMnB6MhAyVNe7lPfbSdRcSRBDC7/v+BUP9sQA0JdhDQAAAGShrncfE66jlIOOXQuEDxNfB5C/zhlYQuOzKA5+3fHTU/IfWCYZCKxZ1xx4U8gGrJSNsjIQ6JoDS1sL3MhAQAYCa6UmDKycegiwZjIQWDM1YWC1EpsTvdGgrRfN2SBTMnAWMhDylfKeO9OkMk1ig8qNDITZpbznUu5nSB/YpUkvzE8GTkgGQva6Dqx51TwL+3EmsxYIwCwMawAAACAnXReeSziQ+TrhQObcRa6jmf8+4AWpk9ILeD1TrlEGwsrJwFnJQMiPDJyPDIT8dM3Ar2OtLXedM3DOTe9VtZV/kCcZOAMZCNlSE56HDITMqIfMSgZCZmTgrGQg5EcGzkcGQp4+JFyVBm0Jqmp7ltCcrXF58IuG9ZGBE5GBkLdYD+w6zF6TynTnCV9xr0kvzC7lvsPQrgQx3Cflvtk9IMxPBk5EBkIRUt53BhcmiHMhKUMLZSAAvRnWAAAAQE66bvr5MqZ+5yyl0DX3ZqfOjZ0SD8oCw9x2/OrvC2jQtoQM7NosChiHDJyHDIT8pORA1ocxI59TNjzN2aT3izjM1YXnYJjPkjLwNOEAeNd737Gk3D/LQJiPDJyHDIQ8qQnPQ00Y8qQeMg/1EMiTDJyHDIT8qAnPQE0YspbaoE2j3g4ik1N+b9zW9e7uYBcM6yUDJyADoRgpGfhTNF7kBVW1bYYofpvwOmlQCTOLASn3CX/rhUa9nb01sAvyJgMnJQMhfynvu6aueeFn2lnqayUDAejNsAYAAAByknL4JdvGHDkfRgpdN649TH4lQNtSMjClOdvmABn4dcfP+zjxdQD/JAPnIQMhM3W9+5jQnKhpUnmc8c8w5fDjfXzvc0k5wCUDYT4p94AnmW/Cz7k5mwyEPMnAechAyJOa8DzUhCFP6iHzUA+BPMnAechAyIya8GysBUK+Uhvi/KxR7+dF3egyYUjNRtMnOBgZODIZCEVJzcBLjXo/L35HpGaaDITDSMnAL71XXxb1mR8TvuShrnea9MJhyMCRyUAoQwwL7VoXbnxreOvLqmp7kbAXpvFh5jo1AAtjWAMAAADZSCz4vImiUo5SDiNtEg+ijuFNxz9j7oOisHYpGfhTNAHKUeqBzLu5vofEg6wyEOYlAycmAyFrKRmY5QbUHg0q534OloGQodj4eN3xypoD1uc5fh89mrNlm4F1vZOBMBMZOBsZCBlSE56NmjDkST1kYuohkDUZODEZCFlTE56eDIRMRU3kfeLVXWlW/lmpjYk2mt7BYcjASchAKETUhe8TrvbLyEADG57Qc1jNrf0wcDCp+/2+jSa0PCHuj39NfG28nnA4MnBEMhCKk5qBP2e8T/rgYphFSo16IwMBGMqwBgAAAHLzIeF6znPbfBUHHlMWem9nPpB5kvDpcx+UglWr613znntIeA2yKxJV1fZtYnO2lEOoY5CBkCkZOAsZCPlKyYMvI29yk5rL2WZg/E4C5pOSB98nNhubXKxNpm6knS0D4/q6Nunt2jQeGI8MnJAMhOypCU9ITRjypR4yCxkImZKBs5CBkC814empCUPeUnPtlWbln2rWSatq2zTb/TbxS99Hw3jgMGTgCGQgFCs1A782sOFT8TvhLnFtctNjXw8wktgjkjq063vNyj8VzYvrHl8qA+FAZOB4ZCCUp653F4mDCxu/Gtjwqfi98HPil93H8EgA6M2wBgAAAHKTUkR7dYDDPM+KTWCp1zN30TClmdPNhNcBPC0lE97kdCgzGhP9lPhlMhBok4HTkoGQqbreNe+524Sr+ymnRr2Rx12b4DYe5tzwFM/qX3f89JSfAzCO5MY+mR3EvIw1yq4+zHwA3D0g5E0GTksGQt7UhKclAyFv6iHTkoGQNxk4LRkImVITnpaaMOSvZ4O2fbNyDYr+btB7lZB3bTkOAYLVkIHDyUAoV88mlc17/cbQmj/FoP6rxD06m2hQqeExHFaf+5CmWbmhNSHWJX/t8aXv4z4cOBwZOJAMhKL1ycBmYINBK38PbW1qzd/3+HJrgQAMZlgDAAAAWYnDOSkbsN7kMCU9in59Nj3N3VjkJOFzrya8DuBpqQW0n3LYgB8bYFPz7D4Ooc6iqravUw5kztw4DviTDJyIDIQipGbgZQ6HkCKHUxsTeQ4G/hL3HSkH0veH0Q++AT/WJFMaE21kINAmAycnAyFjasKTk4GQN/WQiaiHQBFk4ERkIBRBTXg6noOhDH0a5LyKBkW5DbSeVTRmq3s2KX+nORtkQQb2JANhEfpk4JfNez+nYa5zazWn/K1Hfbph4A8cWM+hXZvYl3cXw1pWqVkXrartTY91ycbDZrM58///cFgysD8ZCOXrObiw8WPz/l/z8MLI/+Z3yLc9vvza0EIAxmBYAwAAADlKXfz8/pDNOVpNOVI3fn6Yc9NnLEp/2fHTrx3IhPlFJlwn/sW/HvJgehT7+jQmmnuye8rmgrkPiwIycGoyEPJ3GRsiu9o36j3YxqvI3197fKkMBB5LXdf7+tDNymMt8vvEL3uYc9NnvD6drzEaJgPzk4ETkIFQDDXhCagJQ/7UQyZlLRAyJwMnJQMhf2rC05GBUIC4F3zX80q/jSZtq2o01qz1VdX2rmdjtk00g5o7k4EnyMB0MhCWI/aLpK4J7jXDXJsMPF7T/0vEkIq+zSk3UaM2rBDycJa4JrjXrA3+VlXbqxjWvAoxqOZiwLCuxlt7YSAbMjCBDITF6bvP5esYXni+pgGuMajmasDAwo1hNQCMxbAGAAAAcnTeo/B2kOYcA5pybBxGAp7xtscLc5CD6QMOpD/0aMLUW2R1yusjA+FwZODIZCCUITZCpj4jHqw5x4CmHE0TyJsJLulJcTir6/P6g4NJcBjx3ks9jHmwZuU9m5RvMl8L/DDhdQCfIQMnIwOhDGrC01AThjKoh4xMPQSKIgNHJgOhDGrC01AThrLU9a65F7ztedFNJv4czXrPltykqMngaFD+W8Jg1qecas4G+ZCB3chAWKzTno16N5EF/41mvQcb6jq1aM77tqq2H2NQTd/mlA8DmoICI4v7kSHvyTebzeZ/zV6ZJQ+uaZqxx36g/+u5P3GvWZs0sAsyIQO7kYGwTFGT/GXAN/djDHA9X/LgmibfY0hDHbnf17s5a9QALNu/fv/9dz9iAAAAstNsHm02kva4rmbj6kld7+6m/p6qansShyr7bHxqil2zFQWjAPnfhC/5ao7XEHhaVW2bQ9Hf9nh53jdNeObYVN5sAI3Nn328i8MGs0i81vu63i22YAklkIHjkoFQjjhAedPzgOF/5thQGdd40TOnG9/M2fwiNmp13aT1vq53DifBgUSTobrH3/4Qa4GTZ0tc40XPBr3Ndb6e6xB45PVdwrrlD3W9m73pMfAnGTguGQhlURMel5owlEU9ZFzqIVAWGTguGQjlUBMen5owlCeaCt0MaD7b1twfXtb1rvhhVFGLadZLT0Z6bWb5vQGkkYFPk4GwDlF3/W2Eb3Y/KPViCY0Y43U5HfAc/skfqUEl5KdpshsNd4e6j4Gwl6Xv94h1yJO4D+yzL/Gx5rU5MrAL8iMDPyUDYT2qansz0vv8Op6FL0t/r8ca6Wl8DBnWuvehrncn41wdABjWAAAAQMYGLDo/RKHtfIpF5lj4PR+4AWrWTU+Jh5EsRMOBDdyE3xTU307VYCwa/ZwPKArOWvDv0ZzNxnw4MBk4HhkI5Rl4EOk6MnCSxhdVtT2NDOx7GHLWZ80eDSodToIDG7gJ/31k4Oib7uOe6mxAY7bN3PdZic3ZHup698XElwS8QAaORwZCedSEx6MmDGVRDxmPegiURwaORwZCedSEx6MmDOXq8f59SbNW2GRj07D8qoRmbXFPfBwfYzUn3zOcBjImA2UgrNnAAalPuX+Ugdk3rIwBNfsMHGtAw94PU62bAsMl7uno4nafgXMOTx0i7oX394BjNC3ea+6Jj639Qb5koAyEteqxp6OL69ZzcPbv/XgN2hk4xoCGvdvIQMNqABiNYQ0AAABkKzYe1QOu7z4mA4/SoCM2gzYbwr4f+Ee9q+vd26HX01WPjbw2ZUEGqmrbNEH7ecCV3Eb+jfJ+jix5O8JmiG/m3PjQYyPvVyUcUIClk4HjkIFQpqraXg48fPMhMnCUvImGHG8HboJqNn6+nnPTU+JG3vu63r2e+JKAF8Tmy5sBefMQm01HaVjealB+NnBT7HVd746HXk9XPTbyOqQOGZCB45CBUCY14XGoCUOZ1EPGoR4CZZKB45CBUCY14XGoCUPZInt+neibeIi6y1X88+6QDYtiDbTJoKPWx5jNiNrUPqAAMlAGwppV1fZihFrsc+4j+/Y5eHfItbBYc3wdH8eRgWM26GxT/4XMxd62q5EbdLfdtjLwj49DNa2N73V/77e/FxyzSXubJuVQABkoA2HNYn3sasLnwetW/t0dcohN7MHePwPvM3DK7DeoAYDRGdYAAABA1kY4lLn3IRoV3aQUmyaYUH5b17ujEf6cTno0eHIYCTIywqHMTatR2z4DO20ynWhC+S91vTsb4c/ppEeDJ5vzISMycBgZCOUaoVHv3v2jDOy06Sg2RLUzcIxNYN/V9e5yhD+nkx5rCQ4oQSZGaNS7dxsNe29SNpnG37/PwKH3opu4Hz2a88Bnj/tozdkgEzJwOBkI5VITHkZNGMqmHjKMegiUTQYOIwOhXGrCw6kJwzJM3Kz8KfsG5ptojLR54t/3nmzs22o09Fhzb/ZF/Lf9v7+esCH5U9zvQUFk4OhkIBRk4oENT2men5tc+9jKwva/tz35fB1rcV888fnHT/z7lEMZnuKZFwoxQ7Pyp9xG5t3Fx+bRv//luf2Gsa/msX0z8s2jf5+qIflTNCmHgsjA0clAKMgMAxuech3/7Say8PG/7318Kktaw2cea68R7v/9iwPku0ENAEzCsAYAAACyN9KhzMf2i8qPi2ZTLgTPXvCqqu35ZrP5MeFLbMyCjIx4KLPtoVVEe5xHU26Mn73gVVXbm8Qs15wNMiIDh5GBULYRG/W23bc2lD5+v095OGjWQ5BxIPQm4fvQoBIyM2Kj3rbb1j1g+55s6o3xs661VdW2aaj0W8KXOKgOmZGB/clAKJ+acH9qwlA29ZBh1EOgbDJwGBkIZVMT7k9NGJYlmpWfz9ygaInUPaBAMnA0MhAK1KPGydPUfqEwURu5nLmh9xJpUg4FkoGjkYFQoKgPX8484HSJDGoAYFKGNQAAAJC9A01Jn8J3db27nOsv69GYyGEkyNCBpqSPrSn6H8154LvHpl0b9CFDMrAfGQjLEAcxfy38m7mt691Rh88bTY/GRA4pQYaqatu8L78v/GfzS13vzub6y3o0JtpozgZ5koHpZCAsg5pwP2rCsAzqIf2oh8AyyMB+ZCAsg5pwP2rCsDwaFA0m56BgMnAwGQgFM7RmEA16oXCG1gyiQS8UTgYOIgOhYIbWDGbvCwCT+7eXGAAAgNxFoeg4Ckel+mHmphzNZt3UzaZvJ7ocYIDYNHkcmyhLtN/8OeeB9NMemzRkIGRIBqaTgbAccYDwh4K/odvI8NlEY+OUphz3DmpCnmLj5PuCfzzvZ25Svt+sm3Jo9b0m5ZAnGZhGBsJyqAmnUxOG5VAPSaceAsshA9PJQFgONeF0asKwTHFP2Kx1ffAjTtLkcCXnoGwysDcZCAsQ7+HSa8SH0PzOeG1QA5Qt9th9V3B95FDeNcNjNSmHssnA3mQgFK55/9b1rnkOfudnmaT5ffGdQQ0AzMGwBgAAAIpQeHOOH+bc/BmNiS4SGxNd26AK+Sr4YPr+QPpsmz+jMdF54pe905wN8iUDu5OBsDwFN+e4jQycbfNnNCb6PvHLbM6CjBXcrPz9ATZ/nic2JmruVWdrpA6kk4FJZCAsiJpwd2rCsDzqId2ph8DyyMDuZCAsj5pwd2rCsGzRoOhEk7bO3s19LwpMRwYmk4GwIM17uWk4q1FlJw9Rlz7RoBeWoa53l83wFYO7OmnWI7+p653h1LAQMjCJDISFifdzZXhhJ83viaP4vQEAkzOsAQAAgGK0mnOUUnB7mLspRzhLbEy00ZgI8tc6mF5Kwe3+QBvgzxMbE933OMQOzEwGdiYDYYHimbKkQ5jXB2jK8UWPPPtQ17uriS4JGEk0/C7pEOYvczcpr6rtcY/GRG8d1oT8ycCXyUBYJjXhztSEYYHUQzpTD4EFkoGdyUBYIDXhl6kJw3q0mrRp1vu0JoO/aho5qXfA8sjAF8lAWLBoVPmVZr3P+qX5HWE4PyxPa3DXN5r1PqlZM/1PM9jHWh8sjwx8kQyEBWsNL/zBANcn3cegmmZg4V2G1wfAQv3r999/97MFAACgOFW1bTZf/ZTxdTeLvicHOIzZvDbNIvOXCV/yzhR1KEccOmw2Vn6b8UVfRwbOugG+qrbNwYT/JX7ZNzYoQDlk4PNkICxfVW2PIgNTGzHOqWnQO3vjx6raNk2Bf034koc4sOTAJhSiqrYnkYEpTcjm1OTK2SEOQlbV9iKxUfl1Xe+OJ7wkYGQy8HkyEJZPTfh5asKwbOohz1MPgeWTgc+TgbB8asLPUxOGdYr7n7c9Bjcv0XUMpHZvByshA/9BBsLKVNX2ODLwjZ/95n1koMaUsBKxDvY2cU/IEj3E8NZza3ywHjLwLzIQVib2ypzFR67nRuZyH8/BhhUCcBCGNQAAAFCs2HR1kWGx7ZdY+D1I4auqtikP+xoTQaGqansWGw5yKrY9RP6dH+Ivj98L/034Eo2JoFAy8FMyENYhNl01790fM/uGmw1Qp4c6DNmjeafGRFCgOIR+keEBzOvIwIMchqyq7VXCa6IxERRKBj5NBsI6qAk/TU0Y1kE95FPqIbAeMvBTMhDWQU34aWrCsG5RJzldaZOi99GUbfaBsUAeZKAMhDWLoYZnKxxcs2/Oe2FIA6xXVW1PIgPXNrjmPtZHL+31g/WSgTIQ1ipqxScrHVxzHWuBlxlcCwArZlgDAAAAxYsDODlsOr1truPQh3uqavux42uhMREULopt55lsOv0QGXiwTaCxCbfu+OkaE0HhZOA/yUBYl3jPn2ey6fRdbII62LNlNGz6ueOna0wEhYuN9+cZbDp9iHvAi0NeRFVtm02o33b8dI2JoHAy8J9kIKyLmvA/qQnDeqiH/JN6CKyLDPwnGQjroib8T2rCwF7USk4T6gMluo3fAZqyAf8gA4G1ajWrbJ4Nv17wy/AhBjRoTAn8pTW863TBDXubvS2XBnUBj8lAYM1aAwxPFjzEtRlSc2FYIQA5MawBAACARYgNV2cHatDxx4TyQzcl2quqbbMp9ccXPq0p2h0r2MEyxGaDtwc6nH4dGZhFo7Oq2t502Hh7Gxlo8z4sgAz8mwyE9amq7XFk4CEadLyPDDz4Jqj4XXDTYT3gfV3vTme6LGBiVbU9jQyce9P9QxwKP2hTor04iP9bh0/9IZf1S2A4GfgnGQjroyb8NzVhWB/1kL+ph8D6yMC/yUBYHzXhP6kJA4+1GvYeL6RRUdOY9yqak2tIBHyWDATWLJ4P9xlY+vCafWPeK0NqgC6iYe9JfJQ+vOZ+n4GG1ABdyEBgzeLcxH4tsPThNbeRgZf2NwOQI8MaAAAAWJTYcLqfjj51ke1DTOfNqgAWr8HVC9//N7kcIAXGExtOz2Yosu03g57nVgCLzRZXnzlw0Fz7axtYYXlkoAyENYsGHaczHLxsNoNexLNwVocio2Hxr5/5lOu63h3PeEnATOL9fzLDwcvbaFCe3aHIqtpevNCo7l1d797OeEnATGSgDIS1UhNWE4Y1Uw9RD4E1k4EyENZMTVhNGPi8uE86jo+jzJsVPcQAmqtoyGYNDxhEBgJrFs/L7QzMeYDN/aMM1JQS6C32jbTz7xDDXlPcPspAQ7qA3mQgsGaxd6adgbkPsLl+lIH2swCQNcMaAAAAWKxYYN5PRx+jwHa/X/zNsSFRWxQY38bBrPYGs+Z7OLGRC5YvNtyfRpFtjALbbasAllVDosci/8+faFJ3HRmogAcLJwNlIKxZVW33z8HHIx26vG49B2f9LBkHrs6fyP5f6np3dqDLAmYS62HtDBx66PLh0Vpg1hviq2p7Fo3q2tnffA9ndb27OOCl/f/s3f91FMeaBuC2j/+HjQBtBKg6AeQIkCNARIBuBIgILCJARGARgaUEukQEKzKACNhTlxp7LOvH9MxI6q7vec7R8a4vjKe7xcuoq/p7gQcgA2UgRGZN2JowRGY9xHoIRCYDZSBEZk3YmjBwt3rvbLd+7Sz98yEHmC8Gkl/Wr5K1l4axAfdNBgKR1Xtni8GVO0s5+JAlDl9q9l0s/fPCfTvgvtW1k52lz4JPH2GAeVlv+br4/Fc/AyroAu6dDAQiq2uoyz8PP32EEofzmoEXi5+H7WMGYI6UNQAAABDGlQW2xcbT2ywWvma9IbTeVO9saoXYriywLb5uslgE+zrnDaFLDxl0NrVCbDJQBkJUVx66fLr0z5tcLn/NdUPo0oNWnU2tENeVhy67pX/eZPkz4Gw3hNZ7oCXrv9rUCnHJQBkIkVkTtiYMkVkPsR4CkclAGQhRWRO2JgyMd+Vz1HX3EO+6r7jI0Zv+nXt0wGTJQCCy5Z8lb7iHeNd9xcU9xZv+nXt0wGQt7a3rbriHeNd9xevuwf3179yjA6ZMBgKRLe0v7m54ruS2Z00W+2pu+nee2wCgOcoaAAAAAAAAAAAAAAAAAAAAAAAAAAAAAACAUH52uQEAAAAAAAAAAAAAAAAAAAAAAAAAAAAAgEiUNQAAAAAAAAAAAAAAAAAAAAAAAAAAAAAAAKEoawAAAAAAAAAAAAAAAAAAAAAAAAAAAAAAAEJR1gAAAAAAAAAAAAAAAAAAAAAAAAAAAAAAAISirAEAAAAAAAAAAAAAAAAAAAAAAAAAAAAAAAhFWQMAAAAAAAAAAAAAAAAAAAAAAAAAAAAAABCKsgYAAAAAAAAAAAAAAAAAAAAAAAAAAAAAACAUZQ0AAAAAAAAAAAAAAAAAAAAAAAAAAAAAAEAoyhoAAAAAAAAAAAAAAAAAAAAAAAAAAAAAAIBQlDUAAAAAAAAAAAAAAAAAAAAAAAAAAAAAAAChKGsAAAAAAAAAAAAAAAAAAAAAAAAAAAAAAABCUdYAAAAAAAAAAAAAAAAAAAAAAAAAAAAAAACEoqwBAAAAAAAAAAAAAAAAAAAAAAAAAAAAAAAI5ReXGwAAAAAAAAAAAAAAAAAAAGB+Uur3uq477Lru6dKbP+u67jjn4atLCrRMBgKRpdQfdF13cOUUnOQ8nPjGAFqWUv+0fgbcWzrMr/Uz4JmLD7RMBgKRpdTvdF131HXdztJpuCz/Lufh0jcHAJv46fv3704gAAAAAAAAAAAAAAAAAAAAwIyk1B93Xffmhnf8rQxty3m4cE2BFslAILKU+pJvz284BZ9rBiqtAZpTB/SWDHxyw7F9zHm4WmQD0AQZCESWUr/fdd0ft5yC18oLAdjEz84eAAAAAAAAAAAAAAAAAAAAwHzU4Ww3DSnv6tC2Y5cUaJEMBCJLqT+4paihq//boW8SoFFHtwwpL16l1O+5+ECjZCAQ2V33+o5T6p/6DgFgXb84cwAAABBTSn3ZaFUag3fqCbjsuu6067qTnIevvi2AVtXFtbIRYbd+XS4yUEs60DoZCESWUr9bHzoqPwe/6LruvGZg+Tn4zDcH0LKU+nIf8KBmYPm6qF/HOQ+XLj7QMhkIRGZNGIjKeggQmQwEIrMmDAR1sMJhvygDza2LAA2SgUBkq2TgQb1XCNCaVytmoHuCQItkIBBSLaJ5dsexP6n7pu2PAWAtP33//t2ZAwAAgGBS6ssQouc3HPXnruv2DOcAWlQ22ddBbE9uOLyPOQ+rbFYFmB0ZCERWB/T+ccspeG1AEdCqlPrjruve3HB43+q9wAvfAECLZCAQmTVhICrrIUBkMhCIzJowEFVKfSlnfbnC4f+quAalbfVzAAAgAElEQVRojQwEIkup/3rLfcC/5Dz85BsFaEktbM0rHNJ5zsOeiw+0RAYCkaXUl9L+31c4Be9yHhQXArCWX5w2AAAAiKXefL5pKEdX/7dy0/nQtwbQoOM7NqK+Khv2cx5OXXygQTIQiOyuoRvHKfVnOQ+XvkuAltTN+DcNKe/q58OSkbsuPNAaGQhEZk0YCM56CBCZDAQisyYMDUupf1rv5y8GjN02aGwxjLuUWF0GKG1+OoH3ANwjGXgrGQiNq+Wku/Xr6S17PL7W7OtqFl4G+PnvzqIGYN7q/rfytbP0dZ3L+rXIwouch68NX36fASEAGXgjGQgBpNTvXfk5+KY/+xc1/y7rz8Gtl5XKQADunbIGAAAAiGd/hSM+MJgDaNTLFQ6rZKCH0oEWyUAgpLo57a4Hkp7Un5ePfZcAjVnlXuDz8jBDgAf0gXhkIBCZNWEgMushQGQyEAjJmjC0KaV+v/65LX/Gn404yBfL/09K/bc6sLd8nSptAeZABgJR1YKa5QwcU0iwuDf2tvvxWl+uZGDLQ3uBBtSCmkUGvhhxRP/6tSn1nxcZqMAZmAMZCERWC2oO6s/Bz0eciqv3Ass/zpd+DvaMBACMpKwBAAAA4lllcXLMJjaAWagPZK5CozrQHBkIBCcDgchkIBCZDAQisyYMhGQ9BIhMBgLByUBoRB3Oe1i/tnX/6kkd3Fu+fq9De0/Kl6HlwJTIQCCyOpz3qOu6V1s8Dc/q65WvD3Vo77HiBmBq6v39o5HDye/yvH69qUN7P9XPgIaWA5MiA4HIUuoPagaOKWu9y4v69bYWuZbsO1bcAACrUdYAAAAAAAAAAAAAAAAAAAAAPLh7GlB+kzL06G0dVPSpDik6c9WBxyIDgcjuqaThJmVg74eSfSn1ZVjlkeIa4DHd04Dym/y3wGupvOtYcQ3wmGQgENk9lTRc58mixHBRYJjzcOKbDwBu9rNzAwAAAAAAAAAAAAAAAAAAADykOpjtog4Pv+8h5VeVQW1/ptSf1fcBIAMBHkhK/WHNwIcoali2GFb5fyn1J7UwAuAh8+9pSv1x+Sz2QEPKly3Kuy5T6o9qcRjAg5GBQGTl589yL64WCd53UcNV/y0wTKm/rGURAMA1lDUAAAAAAAAAAAAAAAAAAAAAD6YO6P3zEYYSXfXCwHLgoclAIKo6oPek67rfH6Go5iqlDcCDqllTBvS+eeQz/8TAcuChyUAgsqXS1ocuqrnqmdIGALiZsgYAAAAAAAAAAAAAAAAAAADgQSwN6J2SxcDyE0PagPskA4Goar6c1ZKEKSnv56IM6/XNCdyXlPrdOqD3+YRO8mJgecnA/Qm8H6BRMhCIrJYi/DmBwsJli9KGs5rRABBep6wBAAAAAAAAAAAAAAAAAAAAeAh1SPnUBvQuK+/t0pA24D7IQCCqpaKGKQ3oXfbfYb0p9RcGVQLbVnPlbGIDepeVYb1/pNSfKu4Ctk0GApHVooYPEz4FpcA1Ky8EgB+UNQAAAAAAAAAAAAAAAAAAAAD3KqX+eOJDyheeGNIGbJsMBIKbclHDsucGVQLblFK/M/Eh5cteKu4CtkkGApHVPJlyUcMy5YUAhNcpawAAAAAAAAAAAAAAAAAAAADuUx1M9GZmJ3kxpG1vAu8FmDEZCERWy2rmUNSwbDGocmc6bwmYqdOZDClfWBR3nSjuArZABgIh1Z8lT2Z27IvywsMJvBcAeBTKGgAAAAAAAAAAAAAAAAAAAIB7UYebzW0w0UIZ0vZnSv3RNN4OMDcyEIisFr7MraxmoQyqvKiFOwCj1c9QcyurWXjVdd1ZSv3uNN4OMDcyEAjuZGZlNct+T6k/VVoDQETKGgAAAAAAAAAAAAAAAAAAAID7MufBRAtvU+rPDCgC1iADgZBmXlazUPL7j5T642m8HWAu6oDvtzO/YM/rsPKDCbwXYEZkIBBZSv1h13UvZn4KXtbyQqU1AITyi8sNAAAAAAAAAAAAAAAAAAAAbFtK/V4d7LOpL2VAWtd1l/WfNyn/vaf1n8+3fDgv6oCi/ZyHC98swF1kIBBcGVD5bAun4PNSBt6UPyX7yhDJnZqB2/jvLntTh1SWDPy65dcG2rStkpfzpQy8vOHX7NSv3ZqB2ywKK6/1oWRgzsPhFl8XaJsMBEKqpYVHWzj2bzX/LurXTT+H7i7dC9x2QcSzWlpzmPMw9yJGAFiJsgYAAAAAAAAAAAAAAAAAAADgPmw6mOhjGfA2YjD4X0PM62CkMqRov35tY1jbYkDRQc7D6RZeD2ibDARCqhm0yUDbb3XI70nOw02Dea/6K5dS6neWMnAbpTldHXy5yEClNcCNamHXJsNyv9TPkafrFMTUcpnyHg62WOD1pmbrgdIa4DYyEAjucMN7cOf1XuCq993+UepaM3hxL3AbJYaL0pqdnIdtlFAAwKQpawAAAAAAAAAAAAAAAAAAAAC2asPhbJ/KYKMRw3n/pQ5PO10M7i2Ddeugtk0GxnV1QNEfKfWvcx5ONnwtoFEyEAhukwGV7+pwyrUH4db8LBl1UosjDup72nRY5fNa2LCnsAG4xbqDbL/Vz4Abfcaq+VS+jutw8cOag5uWd71cykDDyoGbyEAgpA1LCz/XDDxb4dfeqP7+8nVY702W/Hu1hevxthY2HGzhtQBgsn52aQAAAAAAAAAAAAAAAAAAAIAtW3dwTxkAvr/JkPLrlGFvOQ9lQNGvXdedb+ElP6TUG1QO3EQGApGtk4FlQG/KeTja5gDc8lo5D6X8oQzrfd113ZcNX7IM+s21BAfgH+pg8HXKscqA3p1tl2GVz5Q5D2Vo8E4tw/m24UuW0prLlPrdLb1FoCEyEAhuf81imI85D7ubFjVcVV6vliv8b/lvbOElX6XUX9RSCgBokrIGAAAAAAAAAAAAAAAAAAAAYGvqwJ5Xa7zer9sezHZVHVK0GFi+6bDeV4aVA1fJQCCylPoyoPLZyFNQ8qgMp7y4z1NXi2vKsN7/bGFY7weFDcA1Dtc4KZ+6rtvbZlHNVbW45qgOLH+/4cuVIcRnhpUD15CBQGTrZOC7Wqhwb2pxzaK0YdMC1+c1AxU2ANAkZQ0AAAAAAAAAAAAAAAAAAADANu2v8VqvyxDxh7oKdWB5GdL2bsNhvYaVA1fJQCCysRlYMmi/DJB8qHOW83Bch/V+3PClFDYAV43NwM9d1x3c55DyZXVgeRkknDYc1mtYOXAdGQiElFK/U4sMxvhYi2QeRC1tKAWuv21Y4KqwAYBmKWsAAAAAAAAAAAAAAAAAAAAAtmlv5Gt9ynl4lGHfdSDS7oZD2sqw8gsDioBKBgKRjc3Ao5yHi4c+X3VYbyla+HXDQZUflNYA3d9Dep+NPBkPNqR8WcndOqz3PxsUd5Vh5VlpDdDJQICxPweXn0EPH+Os5Tyc1nuB7zd4mVLYcKm0BoDWKGsAAAAAAAAAAAAAAAAAAAAAtml/xGuVoWiPOtgs5+GyDml7t8HLlAFFZ4aVAzIQiKoOahwzpPc85+H4MU9XzsNZHVT5aYOXeaWwARj5GbB49xhlNctqBpfPgZ83eJkPhpUDMhAIbmwGPkpZzUItLyxlEb9tWFpzprABgJb84moCAAAwNXUhard+AYRRN6QvMnDHld86G/5hwmTgvZOBMGEp9TtLGejP6/b5ewUmLKV+r25u33Od7oV7rDBhMvDeyUCYMGvCQFTWQ+6d+6swYTLw3slAmDBrwvfO3yswQTX7nox4Z8ePOZhoWc7DUUp9Gdh7OvIYFhbDyvemckzAw5KBMhCCG7sGfDSF01Uzaz+lvgyr/H3NlymFDeW1DOuFuMZkYBmK+6hlNQtlWHrdz1jez6s1X+ZDzUDFNRCXDJSBENmYDDyvpYGPLufhtJYtnNb7emM9WboX+KgFPACwDcoaAAAAmIz6MObZmjdvAWatLmCdrbmZHUAGAsxUHU75wfUDIkqpP9lgMzvArMlAICprwkBk1kOAyGQgEJk1YSCwsWXVkxjOtlAGJdVh6+vezzSsHGKTgTIQIhuTgZ+nMqByIefhuJbWrHs/U2EDxDYmA0+m9FmpvpeDmoHr3s80rBxik4EyEEKq99GejTj2qd0LvCxlExs846KwAYBm/OxSAgAAMCFHhnIAgZ14IB0ITAYCIdVNWJPaWAXwUFLq9w0pB6KSgUBw1oSByKyHAJHJQCAka8JAcDsjDv/TFId5l/eU81CKxz6u+RLlXuhlLS8DYpGBMhAiG5OBkxxkW4dLluP4vOZLlMKGi5T6p1t+a8D0jRnSO9UMLO8rdV33bc2X+FAH/QLxyEAZCFGN+Tn4W87D6RTPUy0dfL3mby97gnJKveJCAGZNWQMAAABT4oYrEFLdfG4wERCSDASC2zeYCAjMvUAgMhkIRCYDgZCshwCRyUAgOGvCQGR7I459koOJFuqAov+s+dvL3wNnhpVDODLwBxkIMb0YcdSTzcBapLO3YWnNmcIGiCOlfsxnwC+1GGaS6nvb3bC0xrByCEQG/oMMhHhauhdY8uvXDUtr7BUHYLaUNQAAADAJddOlh5GAqMYsvgG0RgYCkclAIDIZCEQmA4GQrAkDwfkMCEQmA4HIZCDAas6mfp5yHo67rnu95m83rBy4jQwEoipDei+nfOylsKGW1ihsALZtDp8BL+v9TcPKgW2TgUBkc8jAs5qBChsACEdZAwAAAFNhsxEQmQwEIpOBQGQyEIjMkF4gMhkIROXnYCAyGQhEJgOByGQgENmLFY/929SH9C7kPJQBa7+tOaDIsHKIRQb+kwyEIFLqx5QWXszlrNTChndr/naFDRBHcxlYSmvqcX1a8yUMK4c4ZOC/yUCIo8UMvNiwtEZhAwCzpKwBAACASaitugBRyUAgMhkIRCYDgcjOXX0gMBkIhGRNGAhOBgKRyUAgMhkIcLfZDOntftznPK0DitYdVp4NKAKWyEAgsrll4FHXda/X/O2lsOFSaQ2wZE6FNV9zHva7rvu45kuUYeUXSmuAJTIQCKuWIMzClgoblNYAMCvKGgAAAJiSdW/OAszdrDaXAmyZDAQik4FAZDIQiEwGApFZEwai8hkQiEwGApHJQIC7zS4rlwYUrTOsvKsDigwrBzoZCAQ3xww82aCwoZTWnClsAKo5ZuDBBsPKn9cMNKwc6GQgENjs9lCX0poNCxteKWwAYE6UNQAAADAlp64GEFFdoDp38YGIZCAQ3NkGDywCzJ17gUBkMhCITAYCIVkPASKTgUBw1oSBkEYOoP06x3NkWDlwExm4EhkI7YqQgQobgJus/Ge7rp3MjmHlwC1k4O1kILRt1Qyca/4pbAAgDGUNAAAATMmxB5KAwI5cfCAwGQiEVDcpHbv6QEQ5D2cGtAFRyUAgOGvCQGTWQ4DIZCAQkjVhILAQQ8fqsPKdDQYUGVYObZKBq5GB0KYoGViGTKY1174VNkC7omTgwQalNYaVQ7tk4N1kILTrSevXtqx75zzsblBao7ABgFlQ1gAAAMBkeCAJiMyANiAyGQgEZ0glEJkBbUBkMhAIyZowEJn1ECAyGQgEZ00Y4HZncz4/9Z7n3obDyg0ogrhkoAyEsOo9w9mqpTV7GxQ2ZKU1ENbs10tqac0mw8ovldZAWDJQBkJks/45uPu7tGaTwoYLpTUATJmyBgAAAKbGA0lAZAa0AZHJQCAkQyqByAxoAyKTgUBw1oSByKyHAJHJQCAka8IA7dvCsPJXhpUDcyUDgcg2LGzoammNwgZgljYcVl5Ka84MKwfmSgYCkW1Y2PC8ZqDCBgAm6ReXBQAAgCkpGzTr5qI/RrytspFpp27u5A4p9d+dI5imMqAtpf5913VvRrzB85yHPZf0bin15Tz9OfX3CVHJwPslA2Hach6OUur360ajVb0rv8+lvVtKfTlPb6f+PiGwci/wom44X9Wvdcg5d0ipL+fphfMEkyUD75EMhOmyJnz/rAnDdFkPuV/WQ2DaZOD9koEwbdaE75c1YWAK6n3P8pmsDGp7ucZbKsPKF0OOAGZFBgKRlcKGpQwc83P/woeagYprgNkp2ZVS/7Vm4Jh9kN3SsPK9Wn4DMCsyEIis3MdLqb9cc432+VIG2hcOwKT87HIAAAAwNTkPp13XfRrxtp7UBSyAFpSHBr+MOI4XKfWHrjzQCBkIRDb2IcO3KfW7vmOAuct5uKyfA8com9qfuvjA3MlAIDJrwkBw1kOAyGQgEJk1YSCSkMN1ylChnIdSzvNxzZcow8rdB4X5k4HrkYHQhqgZWAbslsKGz2u+RClsUFgD8xc1A09rBn5b47cvhpW7DwrzJwPHk4HQjnUyYPZyHsoeoNdrHseisMGzMQBMirIGAAAApupg5M3olyn1+64mMHe1+Xvs5sqjlPodFx+YOxkIRFYf0nk38hR4MBFoQs7Dcdd15yOO5dkaw80BJkkGAsFZEwZCsh4CRCYDgcisCQOR1Mxb1V5rpybn4WDDYeUXBhTBfMlAGQjBrZyBKfVNZWC997lpYYP7ADBvq2bgi9au81JpzbrDyrPSGpg9GSgDIbJVM7DFe4EnGxY2XCqtAWBKlDUAAAAwSXVj0thhQyc2YwItyHk467ru04hDeeKhTKAVMhAIrgzq/TLiFDxPqTeoF2jF4cjjeNPaw5pAaDIQCMmaMBCZ9RAgMhkIBGdNGCCIDYeVlwFFZ+6FAnMlA4GotlDY8EphAzBXGw4r72ppjWHlwCzJQCCyDQsbntR7gQobAJgEZQ0AAABMVs5DeSDpfMT781Am0JKDkQvyL1Lqxw51A5gqGQiEVB/QGbux8q2NSEAL6ub0dyMPxaBeoAkyEIjMmjAQnPUQIDIZCIRkTRgIZtXPe82ud9Rh5esOKDKsHOZNBspAiOrriONu8s94+dk/52F3g9IahQ0wXytnYKufc+peyJ0NSmsMK4f5koEyECJbNQNbvhdYfo5Na5bWKGwAYDKUNQAAADB1Yx/KfJlSv++qAnO35kOZRyn1Oy4+MHcyEIgs5+Gs67r3I0+BB3KAJuQ8HI3cmP6sfA509YEWyEAgOGvCQEjWQ4DIZCAQmTVhIJCLFQ+16eE7dUCRYeUQjwyUgRBSHVC7qtYz8EBhA4QjA/9eA9ozrBzCkYEyECJbNQOft3yO6j2BPYUNAMyZsgYAAAAmLefhco1hQyc2YgItyHk47bru04hDeeKhTKAVMhAIrvwc/GXEKXieUm9QL9CKsRvL36TU77n6QCNkIBCSNWEgMushQGQyEAjOmjAQweWKx9h8IdcWhpVfGlAEsyMDKxkIIa36826EDNy0sOHCujjMyqqfAbvWM3BLw8qtCcG8yMBKBkJIK2dgSn3rGbhpYUNWWgPAY1LWAAAAwOTlPBx3XXc+4n16KBNoycHIhagXKfWHvgOARshAIKS6KXPshqK3HkgEWlA3Zb4beSgG9QJNkIFAZNaEgeCshwCRyUAgJGvCQBCrDid6FmGtow4r/22DAUVn/h6AWZGBS2QghLNqBob4c10LG8buB1p4XjPQ3iCYgZyHMYPKm8/ApWHlY4q7l70yrBzmQwb+kwyEcGTgkqXChk1KaxQ2APAolDUAAAAwF2MfynyZUr/v6gJzt+ZDmUetN6oDMchAILKch7Ou696PPAU2YQJNyHk4Grkh81n5HOjqAy2QgUBw1oSBkKyHAJHJQCAya8JAAGcjDnEvwgnJeTitx2pYObRPBl4hAyGUVTPweZQSgrof6PWav11hA8zL+YrvNspnwK85D2Vvz8c1X8KwcpgXGbhEBkIcdd13VVEyUGEDALOkrAEAAIBZqE3qY4cNndiABLSgbkr/NOJQnngoE2iFDASCKz8HfxlxCspDSwb1Aq0Yu6HyTUp9iA2rQAgyEAjJmjAQmfUQIDIZCARnTRholuFE11saUGRYOTRMBl5PBkIYMvAaOQ8nChsgBIU118h5ODCsHEKQgdeQgRCGwporSmmNwgYA5kZZAwAAALOR83A84uZ056FMoDEHIzekv0ipP/RNADRCBgIh1c1IYzcTvfUwItCC+nD2u5GHYlAv0AQZCERmTRgIznoIEJkMBEKyJgwEsOoAnv1I3wxbGFaeDSiCWZCB15CBEMLFiIOMloGbFjZcuicAkycDb7CFYeUX9kjC5MnAG8hACGHVDCyFNTtRTsqWChvsEwfgwShrAAAAYG7GPpT5MqU+1EId0KY1H8o8irRQB7RLBgKR5TycdV33fuQpsPkIaELOw9HIzZjPyudAVx9ogQwEgrMmDIRkPQSITAYCkVkTBhp3tuLhPYs2dLYOK9/ZcECRYeUwbTLwBjIQ2lbv9SmsuUEtbEgblNacKWyASVv1M2AXNAMPNiytKefXsHKYLhl4CxkIzZOBNyj3CXIedjcsrbE+DsCDUNYAAADArOQ8XK4xbOhESzjQgpyH067rPo04lCceygRaIQOB4MrPwV9GnILnKfUG9QKtGPtg9ZuU+j1XH2iEDARCsiYMRGY9BIhMBgLBWRMGWnU64rjCDd2ug4z3NhlW3nWdQb0wXTLwFjIQmrdqBj6JWMxfS2v2NilsuIe3BWxB/YxzvuIrvYy416WW1mwyrNzaEEyUDLybDIR21T0vqwpZQlpLa9YubOi67nDLbwkA/kVZAwAAALOT83A8YpGu81Am0JiDkRsxX6TUW3QCWiEDgZDqZtWxG7DeptR7EBGYvfpQ4ruRx2FQL9AEGQhEZk0YCM56CBCZDARCsiYMtCrn4WzE57twQ3q77Qwrf7LltwRsiQy8mwyEpo0ZUhk1AzctbACmSwbeYcNh5TIQpk0G3kEGQtM+rXhwpZh/J+K3woaFDTIQgHunrAEAAIC5GvtAUmlWD7lYB7SlbkYf+5D5UdTFOqAtMhCIrD64OXYTkiGVQBNyHo66rvsy4lielc+Brj7QAhkIBGdNGAjJeggQmQwEIrMmDDRs1QFtz1Lqx94TbMLSsPJVBzkB8yED7yADoU21iGDV/S6vAg+pvNiwtAaYpjGDysPu9avDyn9bs7QGmC4ZuAIZCM2SgSuohQ3vJv9GAQhJWQMAAACzlPNwucaNV8OJgCbUBfjzEcfyZI0H2QEmSQYCwR2O3IT53JBKoCFjH0h/k1L/1DcA0AgZCIRkTRiIzHoIEJkMBIKzJgy0aEyxTNjPdWVYec7D/hrFPcC0ycAVyEBolgxcgcIGaE/d77LqOsezyPf3ch5OawYaVg6NkIGrk4HQpNMRf6ZfRX7mI+eh7Pd+PYG3AgD/oKwBAACA2ao3XsdsQHruagMNORi5+L7r4gMNkYFASOWBxDUG9cpAoAk5D2dd170feSwyEGiCDAQisyYMBGc9BIhMBgIhWRMGWlTXOb6seGilhGYv8jdCzsOBYeXQDhk4jgyE5owpazgIPqTyq8IGaI7CmhUtldYYVg7tkIErkoHQlvqz3emIg4qegScKGwCYGmUNAAAAzN3YB5IAmpDzcNl13ZGrCUQkA4HIch7KZq1PvgmAoI5GPMAO0BoZCERmTRgIyXoIEJkMBCKzJgw0asyAtjG/tkmGlUNzZOAIMhDaUe/xna94QE+6rjuOfPkVNkBzTkcM3n6RUh96b4xh5dAcGTiCDITmjLm/9zalfifyt4DCBgCmRlkDAAAAs1YXnt6teAyGGI2QUv90Nm8Wgsp5OB6xafXS98nK5B/MgAy8NzIQ5uFgxAZMGbg6GQgTVx9GHLMRXwauTgbCxMnAeyUDYeKsCd8fa8IwfdZD7o38gxmQgfdGBsI8WBO+HzIQHs+YwbvPUuoPo1+rOqzcgCJogwwcSQZCU8Zk4KuU+t3Il7/sD8p52FVaA/NX9/uNGdR7FH0PR90ftKO0BuZPBo4nA6EdOQ9nI/8shy4u7P4ubEhKawCYAmUNAAAAzF7Ow9GKN6rHLOi1bKWb03URFJi+VR/KlIFdt2quyT+YDxm4OhkIDRkxqLdk5KlrLwOhJXXT6vsVDuk858FwIhkITZGBo8lAaIg14dGsCUNbrIeszmdAaI8MXJ0MhIZYEx5NBsLE1VwbM3A2/IC27u8BRYaVw8zJwPXIQGhDzsPpyML98EMqu79LaxQ2wPyNKu3quk5p14/PznuGlUMTZOBIMhCaMiYDX6bU70W//LW0Zk9hAwCPTVkDAAAArdi/44brpzrAg647W+EcjNkABzyiOnTtrocy/1MHuYVWF+hWWZwzyA5mQgauTgZCe+rDS7cN6i1/5vcNXfyvVf8ekIEwEzkPh3dsQP9S7xciA6E5MnAUGQjtsSa8OmvC0BDrIauzHgLtkYGrk4HQHmvCo7gXCPMw5t7dE4VcPxhWDs2QgWuQgdCMMRn4IqU+/KDeTmEDNKGucYz5c/w2pX43+tU3rBzaIAPXIwOhDfWe1pg9uifKWxU2ADANyhoAAABoQl2s27lmwa7cgH2X82Aw0d9OV/g1NvXCjNSHMlPXdedX3nVZwPst52FM83rrZCA0RgaOIgOhMXVQ72/XbNwqmbhnMNEPdZPWXZvbvq2Yk8BE5DyUjfjvrtmAWe4P7hpM9JdVsu283l8FZkIGrkwGQmOsCY/iXiA0xnrIKDIQGiMDR5GB0BhrwquxJgzzsMaAtpcG9f5QBzv9ZkARzJcMXJ8MhPlbY0jl7wb1/lALG95N4b0AaxtTWFOcGtT7j2HlnybwdoD1ycA1yEBoxpgMfGYvxw9LhQ1KawB4FD99//7dmQcAAKA5KfXlxuulATvXS6kvN+lf3fA/f6ybuIAZqpsQyobUC0PZ/q2en/KA6vMbfsnrugkYmCEZeDsZCG1LqS/DKncM47hefWirnJsn1/yCb3WQycUU3isw3uLBTH+Or5dSX+71fbjhf/5cM9DnZ5gpGXg7GQhtsyZ8O2vC0C7rIbezHgJtk4G3k4HQNmvCt7MmDPNQs+zihj+r1/Hnd8kdWXeXX/0dAo9LBm5GBsK8pdSX4v0/RhyEPR1L7tj/cquch58e+v0C/5RSX57P30oAACAASURBVEqn34w4LfZ0LLlj/8ttznMe9h76/QL/JAM3IwNh3lLqL27Zv3EdezqqFfa/3OZdzsPYwiAA+C9lDQAAABBUHV6yXx9e7epN6jObT4EI6ibVkoPlgYev9aGHEwOdgAhkIBBV3aC1yMDyf18uZaCHuYCm1Qf+FxnY1fy7sIkXiEAGApFZEwYisx4CRCYDgaisCcM8pNSXATlvR7zZzzkPuyv8uhA2GFZuUDlMgAzcjAyEeUupL38OX4w4iPc5D4cu+w/rFjYoa4DHV+9ZXY78DPNbzsOpy/fDmsPKDSqHCZCBm5OBMF91D++fIw6glLfu2tvxwwaFDcoaAFibsgYAAAAAAAAAAAAAAAAAAADg3qXUl0FDz0b8d14rYf5bHVZ+OvIc/o/iGpgGGbgZGQjzlVJfikX/b+QB/K8hlX+rhQ3HI4YdK/2BiVijcOVLzsOO6/e3lPqSf29G/BalPzARMnBzMhDma43ClY85Dwcu+Q+1sOF0ZPmj0h8A1vazUwcAAAAAAAAAAAAAAAAAAAA8gLGDhgyYXZLzcFHPyecVf8u5IeUwKTJwAzIQ5quWLrwbeQAycEkt79nruu7bir/FcEqYiPrn93zEu3lWB9NS1aHjr0ecDxkIEyEDNycDYdYOR/wM1/k5+J/Kfb2ch/Jz8McVf0s512cP9f4AaI+yBgAAAAAAAAAAAAAAAAAAAODe5TycrTGolyV18HgZUPT+jvPybY3B8MA9koGbk4EwXzkPRyMH9XLFUmnNXefxcz3fwHTsjxzUy78zsAx8/7Xrui93nJv39XM3IAObIQNhnup9rH2XbzM5D+Ue339W+LvkQHErAJtQ1gAAAAAAAAAAAAAAAAAAAAA8iJGDei9clX8rA4dyHg7rkLaPV4YUfalDzHdyHi6n8p6BH2Tg5mQgzNqYQb0y8Bol23IeSmnN667rPl35FZ/LAMuch91JvFngLyMH9X4xZPZ6dQD5bh3W+/nKLyqZ+Fv9nAhMiAzcDhkI8zSyvNXPwTfIeTiuGfj+SnHNt3p/MOU8nE7qTQMwOz99//7dVQMAAAAAAAAAAAAAAAAAAAAeREr90zp46Nkt/73PBs0CLZKBQGQp9SXb8h2n4L1Bs0CLUupLtv1+x6H9ZtAs0CIZCESWUl+y7eUtp6CUDuwqHwWAx/Ozcw8AAAAAAAAAAAAAAAAAAAA8lJyHr13X7Zdh5Df8J8+7rttzQYAWyUAgspyHUlbzWx1EeR1FDUCzch6Ou657d8PxlVx8bUg50CoZCAR30HXdpxtOwZdyL1BRAwA8rp++f//uEgAAAAAAAAAAAAAAAAAAAAAPLqW+DCzfrf/dMsD8rA7xBWieDASiSql/WotrduopuKwZaDgl0LyU+p2agU/rsV7UDPzq6gOtk4FAZCn1uzUDF0r+nfmmAIDHp6wBAAAAAAAAAAAAAAAAAAAAAAAAAAAAAAAI5WeXGwAAAAAAAAAAAAAAAAAAAAAAAAAAAAAAiERZAwAAAAAAAAAAAAAAAAAAAAAAAAAAAAAAEIqyBgAAAAAAAAAAAAAAAAAAAAAAAAAAAAAAIBRlDQAAAAAAAAAAAAAAAAAAAAAAAAAAAAAAQCjKGgAAAAAAAAAAAAAAAAAAAAAAAAAAAAAAgFCUNQAAAAAAAAAAAAAAAAAAAAAAAAAAAAAAAKEoawAAAAAAAAAAAAAAAAAAAAAAAAAAAAAAAEJR1gAAAAAAAAAAAAAAAAAAAAAAAAAAAAAAAISirAEAAAAAAAAAAAAAAAAAAAAAAAAAAAAAAAhFWQMAAAAAAAAAAAAAAAAAAAAAAAAAAAAAABCKsgYAAAAAAAAAAAAAAAAAAAAAAAAAAAAAACAUZQ0AAAAAAAAAAAAAAAAAAAAAAAAAAAAAAEAoyhoAAAAAAAAAAAAAAAAAAAAAAAAAAAAAAIBQlDUAAAAAAAAAAAAAAAAAAAAAAAAAAAAAAAChKGsAAAAAAAAAAAAAAAAAAAAAAAAAAAAAAABCUdYAAAAAAAAAAAAAAAAAAAAAAAAAAAAAAACEoqwBAAAAAAAAAAAAAAAAAAAAAAAAAAAAAAAIRVkDAAAAAAAAAAAAAAAAAAAAAAAAAAAAAAAQirIGAAAAAAAAAAAAAAAAAAAAAAAAAAAAAAAgFGUNAAAAAAAAAAAAAAAAAAAAAAAAAAAAAABAKMoaAAAAAAAAAAAAAAAAAAAAAAAAAAAAAACAUJQ1AAAAAAAAAAAAAAAAAAAAAAAAAAAAAAAAoShrAAAAAAAAAAAAAAAAAAAAAAAAAAAAAAAAQlHWAAAAAAAAAAAAAAAAAAAAAAAAAAAAAAAAhKKsAQAAAAAAAAAAAAAAAAAAAAAAAAAAAAAACEVZAwAAAAAAAAAAAAAAAAAAAAAAAAAAAAAAEIqyBgAAAAAAAAAAAAAAAAAAAAAAAAAAAAAAIBRlDQAAAAAAAAAAAAAAAAAAAAAAAAAAAAAAQCjKGgAAAAAAAAAAAAAAAAAAAAAAAAAAAAAAgFCUNQAAAAAAAAAAAAAAAAAAAAAAAAAAAAAAAKEoawAAAAAAAAAAAAAAAAAAAAAAAAAAAAAAAEJR1gAAAAAAAAAAAAAAAAAAAAAAAAAAAAAAAISirAEAAAAAAAAAAAAAAAAAAAAAAAAAAAAAAAhFWQMAAAAAAAAAAAAAAAAAAAAAAAAAAAAAABCKsgYAAAAAAAAAAAAAAAAAAAAAAAAAAAAAACAUZQ0AAAAAAAAAAAAAAAAAAAAAAAAAAAAAAEAoyhoAAAAAAAAAAAAAAAAAAAAAAAAAAAAAAIBQlDUAAAAAAAAAAAAAAAAAAAAAAAAAAAAAAAChKGsAAAAAAAAAAAAAAAAAAAAAAAAAAAAAAABCUdYAAAAAAAAAAAAAAAAAAAAAAAAAAAAAAACEoqwBAAAAAAAAAAAAAAAAAAAAAAAAAAAAAAAIRVkDAAAAAAAAAAAAAAAAAAAAAAAAAAAAAAAQirIGAAAAAAAAAAAAAAAAAAAAAAAAAAAAAAAgFGUNAAAAAAAAAAAAAAAAAAAAAAAAAAAAAABAKMoaAAAAAAAAAAAAAAAAAAAAAAAAAAAAAACAUJQ1AAAAAAAAAAAAAAAAAAAAAAAAAAAAAAAAoShrAAAAAAAAAAAAAAAAAAAAAAAAAAAAAAAAQlHWAAAAAAAAAAAAAAAAAAAAAAAAAAAAAAAAhKKsAQAAAAAAAAAAAAAAAAAAAAAAAAAAAAAACEVZAwAAAAAAAAAAAAAAAAAAAADw/+zd71EcRxrA4fdc/g4XATgC6ElAqwjERSAUgbkIDkVgLgKhCA5FYEhgGkVwKAMpAl+1PKqisOxjZ2dhdt7nqdqyZZnZnj/Mp+7+AQ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Qi1gAAAAAAAAAAAAAAAAAAAAAAAAAAAAAAAKTyo9sNAAAAAADAkpXSrSLicPgcR8T+8Dla87Q/RsTniLi7/6m1v17S5Ruu11lEtH/uPfjrm4i4rLW/fKbhPalSuv3hWpxGxMGD7/7UrkVEXNTaf174pfiqlO50uBYvHvzVl4i4Gq7F7TMNb6eU0h0Oz9bJg2erXcvr4Vou6t0CAAAAAAAAAAAAAAAAAAAAMDd/++2339wUAAAAAAAAFqGU7niIDKyGMMPDDfa3pYUcbodN1q9r7e928XoOm/G/e8T/+r7W/vQJhvRshmfp6hHPUIs2nCw5UjBEK66+E2n4njdZYh5jDb9nF9+JoTz0vgUdssRAAAAAAAAAAAAgu1K6NvexzS86ecT8orm7GcZ3N3zaHLvbXZ1fCQAAAAAAACyXWAMAAAAAAAA7a9hE/mSIM8xpceKnYXP7Fm64msF4/q9Sunb9/rPGj/y71v7smYa7daV0bWHo0SO/52Ot/fEOn+5fKqVrYYGf1/iRl7X2188w1NlbI4jyzaKfLQAAAAAAAAAA4Hcj5hbtqi9DuKHNMbuqtb/1CAAAAAAAAADPSawBAAAAAACAnTOEBdrn9Q6M/csQbric8wb2a8YJvvmp1v5ue6N6HiMXvb6ptb9cyjX4ppTuMCL+u+aP3dTar7Y3qt1USteuya8jBr/oMAoAAAAAAAAAAGQ3zIn8T9LL8G2OZQs3XM1gPAAAAAAAAEAyYg0AAAAAAADshFK6/YhoG5a3jfQPdvSufYqIiyHc8HkG4/lq5Ib8seBAQVvw+WrNH/tQa3+ypSE9m1K69jv3y4jv//ucnvE5KKW72+DdtcgwCgAAAAAAAAAAsPHcoiVpcyzbnMQL888AAAAAAACAp/KDKw0AAAAAAMCctZBAKV1bfNcWI/5rxxckHgwb39+1cxoiCXMwdhzHMxn/1Mac11zu5dTG3uOlPhujlNJtGpk5f8bhAwAAAAAAAAAAWzLMIxRq+N3BME+0zbE8L6Xbn8OgAAAAAAAAgGUTawAAAAAAAGCW2iK7ttguIm4j4nVE7C3oTu0N5/TfIdrw3AsKVyN/bqkb8o9Z+Hq0hXHMwVIjFE9t09jC6xnFXQAAAAAAAAAAgOmYF/RHe/ejDXMbHAAAAAAAALAsYg0AAAAAAADMTindaVtkNyy2W1Kk4XteW1AIy1VKdzIyAPLQqccEAAAAAAAAAAAWZ+WW/qmv0YZSuttSuuOZjhEAAAAAAADYcWINAAAAAAAAzEYp3WEp3XVEvEsQabjv24LCFm2w8BKW5Wyis5nqOAAAAAAAAAAAALvkKCJqKZ05VAAAAAAAAMDkxBoAAAAAAACYhVK604i4jYgXie/IQUT8Wkp3UUq3P4PxABsopTue8J22N7wnAQAAAAAAAAAAMvqllO7SnQcAAAAAAACmJNYAAAAAAADAs2pRgmHx3Lu2Gbm78dXPEXE9bPQO7K6ziUd+7lkAAAAAAAAAAAASe11K1+ZX7nsIAAAAAAAAgCmINQAAAAAAAPBsSukOW5SgLZ5zF/7gaAg2nM5sXMAjDIuBp363HZTSrVx/AAAAAAAAAAAgsRfD/ErBBgAAAAAAAGBjP7qEAAAAAAAAPIdSuuMh1LDnBvypdm3etWtVa3820zEC37et39mz4d0JAAAAAAAAAADk9XGLc5TGavNC94d/HkbE0Ra/qx37MiJOtntKAAAAAAAAwNKJNQAAAAAAAPDkSulOI+LiGUINnyLi7t5G57cR8fkRP/dt8WCzGhYRHmxxnA/9XEoXgg2wU7b1+/qqlO6w1v7O4wAAAAAAAAAAAGl9rrW/ntnJ/2E8pXSrYd7lyRbiDW0u1YW5lQAAAAAAAMAmxBoAAAAAAAB4UkOo4d0TfefNsPjveoJFiVcP/8O9RYQt5PBqw+P/Py3YcDXDxZXAA8N7bpsxmvOIOHXdAQAAAAAAAACAORvmPLbPeSnd4TDvqX0OJhp2m1vZ5oj+YY4nAAAAAAAAwGOINQAAAAAAAPBknijU8GEIK7SwwedtftG9RYRfldKdRMS3zzY2aj+7/33AbJ1teWAnpXT7237HAQAAAAAAAAAATKXW/q5FG4Zww+nw71NEGy5bCMJ8KgAAAAAAAGCMH1w1AAAAAAAAnkIp3XFEXGzpqz5FxD8j4u+19ie19pfPseiu1r4FIk5r7fcj4k1E3Ez8Fa8mPh4wsVK6VUQcbfm67j1BEAIAAAAAAAAAAGAr2jzPiGjzSt9OcPw2n+rSnQIAAAAAAADGEGsAAAAAAABg64ZQw/WwIG5KLdLwptb+sNb+4jkCDX9mCEa0TdtLRLz3lEEaYyIKH0b8zKlHCgAAAAAAAAAA2FVtzmet/XlEvIyILxuexqtSupWHAQAAAAAAAFiXWAMAAAAAAABbVUq3HxGXE4ca2qK8t0Ok4XLOd7DW/rbWvm2q/lNE3MxgSMCWlNIdtkW/I45+NuL9cFBKJ9gAAAAAAAAAAADstFr764hoc68+bnge554EAAAAAAAAYF1iDQAAAAAAAGxbiykcTfgdbUPz41r7nVpUV2t/V2u/ioiXEfFp5GG+TDwsYFpnI472ob0fhnflusQaAAAAAAAAAACAnVdr/zkiVhsGG16U0q08DQAAAAAAAMA6xBoAAAAAAADYmlK6tnH5qwmP/88WPBg2Nt9JtfbXtfaHEfF2xPivdvW8YelK6fZHxhMu4vd3w+WIkIvFxQAAAAAAAAAAwCIMwYY2B+vLBudz5mkAAAAAAAAA1iHWAAAAAAAAwFaU0h1HxC8THbstvHtZa3+xlLtVa3/ezmnNzdkXc/6wQG2R8N6ap/WpBVzu/flyxGUZE4gAAAAAAAAAAACYnVr72w3nRL0qpTt0ZwEAAAAAAIDHEmsAAAAAAABgW8ZsOv49LWawerCh+SIM59SiFjePOJ83wyJEYJ7ORozq/MGfxwRZXltcDAAAAAAAAAAALEWt/VVEfNjgdE48gCxIuQAAIABJREFUDAAAAAAAAMBjiTUAAAAAAAAwuVK6tmn50QTH/dhiBkuOFNTaf661X7UYwxCmeOhLRPyj1n6q+AUwsVK6trj3YM2jtt/tq/v/ob0PIuL9iNGduqcAAAAAAAAAAMCCnG1wKuZTAQAAAAAAAI8m1gAAAAAAAMCkSun2I+J8gmO2jcxXw+bli9diDLX2hxHxMiLeDp8Wadivtb/KcA1gh41ZGHz1J++3ixHHOhvevQAAAAAAAAAAADuv1v4uIt6PPI+jUrpDTwEAAAAAAADwGD+6SgAAAAAAAEysbTS+t+EhU4Ua7qu1v46I6/mMCPgrpXTHEfFixEX6btSm1v62lO5mzWO2d+5JRFy6WQAAAAAAAAAAwEK0OVavR57KynwqAAAAAAAA4DF+cJUAAAAAAACYSind4QYL4+47bRuWuzHADjgbMcSbWvu7v/j7MYuEvxt/AAAAAAAAAAAA2EXDHKuPI4e+ctMBAAAAAACAxxBrAAAAAAAAYEpjNhh/6G2t/ZW7AsxdKd3+yEDNxV/9Za19e5d+WvOYB6V0Jx4aAAAAAAAAAABgQcbOSz32EAAAAAAAAACPIdYAAAAAAMD/2LubpEiSNE3A2im5mRXcAGozW1DbzBLqBEGvehnEapZByhwgiBMkeYKE5cwmiRMkLGdjCicokDlAwQlqRDOVbioqftzVzNzt53lEkGrpCjNUP3O3iG75Pn0BehFjkwfbjjre6z6l9twTASbirGKZjysG0tQMGdesBwAAAAAAAAAAYKxuKtd14IkCAAAAAAAAqxDWAAAAAAAAQF/6OCT8xNMAJqTmvXex4p+rCWs4irHZr7gOAAAAAAAAAABgdFJq72rXFGNz6IkCAAAAAAAA3yOsAQAAAAAAgM7K4eBvO97nY0rtg6cBTEGMzWkIYWfNpT6vGsJQ3odXFaU4n0QBAQAAAAAAAAAAVnNbWadd9QUAAAAAAAC+R1gDAAAAAAAAfTjreI/HlFoHjANTUvPeu06pfVrjz68U7PCZtzE2howBAAAAAAAAAIC5uKvcx7FPAAAAAAAAAPA9whoAAAAAAADow2nHewhqACYjxiYP8R5UrHetd11K7U0I4b7i93QN0AEAAAAAAAAAABiLJ08CAAAAAAAAGIqwBgAAAAAAADqJsclBDTsd7vGYUnvpKQATUhOGcJtS+1Bx3UXFNV0DdAAAAAAAAAAAAMaipu8KAAAAAAAAYCXCGgAAAAAAAOjqpOP1554AMBUxNvshhDcVy60KpSlhNs9rXrZXgnQAAAAAAAAAAACmrjas4dCTBwAAAAAAAL5HWAMAAAAAAADVYmx2Kw8tf/FYDiIHmIqzLbzrLiquqVknAAAAAAAAAADAXOx6kgAAAAAAAMD3CGsAAAAAAACgi5OO1wtqACajBNScVqy367uu5vqDGJvjjr8XAAAAAAAAAAAAAAAAAAAAYLaENQAAAAAAANCFsAZgSXJQw07Ffi+61Cil9iGEcFVx6VmX3wsAAAAAAAAAAAAAAAAAAAAwZz96ugAAAAAAAHRw3OHaT+UAcoCpqAk/uEqpfephfznc5u2a17yJsdn3rgUAAAAAAAAAABifGJvch3sYQtgv/7kbQjhYcaH3IYTcm3YXQsg9YncptTce82pK7ffLz0s/dH4GOyvc4KX2N69qf7ftPW3SEuoXY7Nb+kZPQwh7n/3Xn0IIF3P5zsXYHJa9nnzhGebndZ5Se72l5QEAAAAAwOCENQAAAAAAAFClDNmsMlDzNQY2gMmIsTn5wrDdKi762GMe6IuxeaxYw1llyAQAAAAAAAAAAMAY7Fau4WlsT68ciH5aDrdfNZTha16uP3p1//wft6VH92ZpAQLfUmp/Ump/VH+nPyyu9kurXwlquPnG9/RN/omx+ZhSe77h5fUqxiav/8M37plr8FuMzVVK7emE9rVbAkSOy98j6wbibFoOALkUigEAAAAAsB3CGgAAAAAAAKh13LFyBgmAKakJPLjteWAwD8T9uuY1p3mQLqV2dIPHAAAAAAAAAAAAKzisLNIoDsuPsdkv/Wf5oPu9DfzKo5dD8GNsHvPh3+UA8IcN/O5ReRWOsa3a517pi6nWfuH1u17xUP8PMTY5XOJmA2vqXYxNfj+8XfG+b2NsrsccJhBjc/wqVGSsoQxf8xIAMqlQDAAAAACAufjBkwQAAAAAAKBSl7CGeweHA1NRBg6PKpZ72fMW84Db85rX7JRhSQAAAAAAAAAAgCnaneKi86Hh+RD3EMLfQgjvN3TY/efy7/yQ15APZS+9cLMXY3Naap+2XPv3pfY35RD5SVh6/Sp6Rs8GXM5gYmwu1ghqeDG6veZAnLyXGJsc6vF7+dxMLajhtbfl2QAAAAAAsEHCGgAAAAAAAKhVc3D5i2tVByakZrjsMaW217CGEnJTc89JDgICAAAAAAAAAACEECYVMPAqpOH3jr22fcuHsqcYm+t8uPmI1tWbGJuTcmD7ryOrfV7L72MPbVC//7Tu73gz4FoGkZ91CTVY12g+FyWk4XLLgThDeT/X9zQAAAAAwFgJawAAAAAAAGBtMTZdB99uVB2Yghib3TKkuq5egxpeuai4Zq8M1gEAAAAAAAAAAExNbc/qRntVc69ZOTh8bCENn8sHy/8txuai9MdNXu5rLgEZv438wPaX0IFRBWao379Y+3sxpe9SqV11j+sYAkdibM5LSENNf+9U6PsFAAAAANggYQ0AAAAAAADU6BTWkFIrrAGYirPKdQ4S1pBS+xBC+FRxae0+AAAAAAAAAAAAtiIfIh9C2Kn83U+bWnOMTT5U+2FiB4e/DyHcjeHg9S7Koe1p5AEZn3tTar/1vj71602n3voNu+7wXt2qEixyF0L4MMX1r2lKnykAAAAAgMkT1gAAAAAAAECN/Q5Vu1VxYEJqhvmuSqjCUC4q7ntUBpcBAAAAAAAAAACmojpIIKX2bhN7jLHJ/Vy/TfTw870Qwu/lwP5JibHZjbG5mfCh7fnz8nOMzXXey6Z/ufotU3lfHUxx86UH9maq66/QZV4DAAAAAIA1CWsAAAAAAACgRvXwWwhhI8NvAF3F2JxWDtBeDln8lNo8bPZYcWlN8AQAAAAAAAAAAMC2nFT+3vuh1/vqsPv3Q/+uDfgwpUPvy6HtDyGEoxEsp6s3ube67Gkj1G+ZYmxOpvq+Kv28aaKhOAAAAAAATICwBgAAAAAAAGrsd6jag4oDE1ETbnBfwhSGdl5x/7cxNl3e3wAAAAAAAAAAABtRep1qD5O/G3KNJdTgZiaH3b/Ih97fjD2woRzKfzOzQ9v3NlV79Vum8j69nOLmy2f2YgRLAQAAAABgxoQ1AAAAAAAAUGOvQ9UGHYAD6EOMzXEI4aDiVpsaCLsOITxXXHc6wFoAAAAAAAAAAAD6dtbhfjdDPY1XQQ01/WVjdzDmQ+9jbE5mGDTwYmfo/kP1W7TrKT73EjIx188sAAAAAAAj8qOHAQAAAAAAwDpibA47FkxYAzAFNYO+zym1l5vYW0rtU4xNHp57u+aleV/nAy0LAAAAAAAAAACgsxIWcNrhPtdDPIWBgxoeS4/ty8/TV/5cXsPhq5+9ntfxEthwnPvUer53tdK/fDngoe33IYSHUvuH8vM1xyGE/fIM+vwsHPd4r3+ifssVY3Mx4XCZIT6zr9+1X/qs3vX97ouxyX27H/q8JwAAAAAA/RLWAAAAAAAAwLp2u1RsTINbAF8SY5OHAN9UFOdiwwU9rwhr2ImxOd1UqAQAAAAAAAAAAECFiw4HdN8P0as6UFDDfTmM/Dql9luH23/uP8MoyiH8+ZD6sx6DGw7KXg97ul8nZY83AxzaflXue73mZ+bm5X8on4tc/5Py02WNfQdv/EH9livGJtf0/RQLEGOT32lHPd2u9l0LAAAAAMBCCGsAAABgK0qD30lp2Hw56DU3Od3NteGp7Pm07Pvzxr/b3Ow1x4MS8wGQZd+fN8Y9lsbgvO+7LS1vMCvs+2Jun/NymOnZVz7jc973Ur/b3mn/bO7vtP1Xf2/vl//106u/t2e3Z+C79juU6FZ5gQk4q1ziRv8NnP/vqxib24phtPNNrxUAAAAAABjO/7j53/9LeQFgMv7P/z3+j//ncQF8XYxNPrj9bYcSDdUbddFjUMNVmbHp3Itf7pF/Lkrtzns64PwgxibPSJz2cK9q5TD/yx6DBh7Ls7zsI9Sj3OP6JUCjzJ2cVX5WHruu53Pqt1xlFmiSvaLlc3vew61yj+15Su3NCn8WAAAAAIAFE9YAAADARsXYnJRmvM8P9g6lCTQ30v4cY/MpN9XN4VD30tSW9/zmG38s7/0oxiY3kJ3M4dDrcpD79VeedSj/+/f5Z2bPe519f0yp7aNpcOvKZ/fDN9Yxu30v+LvtnfZlc36nXXxjUCN/Dj6UA4I1L8OydAlrABi1MuBVM1x6taV/A37r32tfs5eHcv37DQAAAAAAZuO/e5QAMBn/zaMC+LrSv3XdsUS9H05eDpDvEiDx4r7MGwzSu1Xue1xCGy6/MQOxqrcxNtcptV2fSReXPYVkPJe5h4shF5tSm9d7WfkMhvhcqN9yXfcY0rFpZx3Xnj+vp1t+dwEAAAAAMCE/eFgAAABsSoxNbo77bcUGuXz4899KI+tklUOu775zqPlruTZpBvvO609rNEPm+tyVek1Wxb7zAec3pZF8kvLa8x6+E9Qwx30v9bvtnbaaubzTzsq+Vzn4N/+Z32NsBm26B2Zj8mE2wOydVg549T7gu4oySPZYcekswgMBAAAAAAAAAIB5KHMmNx0P6L5KqX3qsyAxNvshhD565T+m1B4OFdTwWvkdeabhqofbXZYabFyZ51h1huVbbnM9hg4aeC0/g5TaXLefysHxq+i1D1H9lqvM9/QR0rEtXWbR8uflWFADAAAAAADrENYAAADARpTD3N9W/K5fp3rIdzmkO1U2CE9533ndv1Zcmut0M9XDzTvs+6inhu1tuVzxIPfZ7HvB323vtPVM/Z2Wv58/V1z6voQzAfPXJXRJWAMwdmcV63vcxADtN9T831dH2xqgBQAAAAAAAAAAeO1VUEPXw8WH6Ge/7BggkQ8O/2tK7XmPa/quHFqRUptnIt51vNXONg7BL5+JvkIy8sHtW+lhLgEHhyXw4Fuu+uxDVL/lirE5yfM9Uy1AWf9e5eUvQQ13PS8LAAAAAICZE9YAAADA4MqBzzWHub/Ih3wfT+lJlcMOuzb3XUzt0MSy3i5NnC+Hmy9t32+neJB9WfObDreY3L4X/t32TlvfVN9pXZuy83d7o0MkwFZMMowG4Hs6DHht+98/l2XAbF3+3QYAAAAAAAAAAGxVjE3uS73rIajhtu/D2svcS5e5uJeDw7d2iHxKbe4v+/fKHrMXR6W/bpMuOoZkZO82HZLxJTnoIAce5OCDrzyHX0qwRp/Ub4HKDNPGw1V61uVdcyKoAQAAAACAGsIaAAAAGFQJWehy4POLqTWI9dHMuDPBfV/2tO8uh6NvQx/7nuIBmX2seWr7Xup32zut3qTeaTE2uz09pw9TC6kAACjOKgqRB/+ut1nAlNqnyjWclH8DAgAAAAAAAAAAbFyMTZ4rSSGEvR5+d03/11eV3qoucy8vQQ1bPzg8pTb3l3U9zH5jsxFlJvFtx9u8K0EVo1GCD/KsxbsSPJB//pJS2/dnV/2W67qHWahtO678/VfbDMYBAAAAAGDahDUAAAAwtL4a3fZibLo2hG5EjM1hCOFNT7/rqNxv9Mo6j3pa55sF7nsyn/Hw575Pe2qE990eOe+0XkzmnVb+3u6rKXuKITTAZjyoMzBGHf4NeFnCErat5t9fO30PKAMAAAAAAAAAAHxPniWJsck9pR96KtYvA4QinHWcnTkZQ1DDixLY8K7DLfIM0Kb6zbrOI/w0tqCBF7nfMK8tBw+UnyF6q9VvgWJscqDKwZR3HmOz3+G9a44JAAAAAIBqwhoAAAAYTIzNbo8HfIcJHR7Y98HzU9l33+ucSnBBn/s+6fFeQ+tzrVPZ91K/295p/ZjKO63PdU7pnQZsloEYYKxq/w14MYb9lIHD24pLJxMcCAAAAAAAAAAATFeeNcuH/ZeQhl87BiG89tj3Id1lLq7LXMHHlNqbHpfUi3IA/1WHew0+ExJjcxxCOOpwi08ptaPo69sG9VumGJs8w/O+YvPPIyvYfuV1nwR3AAAAAADQhbAGAAAAhnTc870PJvK0+j6cuu86DqXvdU7lkO8+9z2VZx0Wuu+lfre90/ox+ndaGSbpa9gl2ylN/gAAo1f+LfS2Yp1jG+66rLhmL8ZGYAMAAAAAAAAAANC73FNeAhpycMHfQwg/99y3np2m1D71fM88A7BTee1tSm2v4RE9OysBFzU20W/W5f7PHa+fA/VbmBib/cr+0fsQwtiCOWrnkK57XgcAAAAAAAvzowcOAADAgA77vnVu0E2pvRn5Q+u7Ybjv+w3FvrurbeLehj7XOpV9+4yP835DWeK+e/97u9xz7H9vAwCEMnxaY1RDaim1lzE25xX//jytHNQDAAAAAAAAAAAWKMYm94rvfrbzl//dfvk52kBlfhpo1qxL2EJtP9pG5GCLErjwe4f9DdJvVg6df9vhFmcDBHdMhvot1nXFfN5zCaWZSziH2SUAAAAAADoR1gAAAAA9irH5vMl4Eex7WUrj7tL27Lu9IEvd90DUEgCYiprh2MeRBkrmIdgPa15zNJGATAAAAAAAAAAA4E+55+cfC6/FVUrtRd83zb1UIYS9ysvzmu56XlLvcq9YjM1tZaDGQQ7rGGifJx2uvU2pHSREYkLUb2FibPI78KBi1ycptQ8xNrMoWN7LCJYBAAAAAMCE/eDhAQAAALCmJwUDAADmIsbmNISwU7Gd85GWoHb4+LTndQAAAAAAAAAAAAwlhyIM1fPU5b5j7Sv7ki5rPRtoTUup/VDUb0FibHI4x/uKHX/MgS0jrdRxxTX3A6wDAAAAAICFEdYAAADAkB4GuPfdmJ9YSu0iD7G372VZ4r4962VZ6r4HCmIZa/M2AMBrNUOjzyGE6zFWsfx79qri0rcxNvsDLAkAAAAAAAAAAKBPQwY1ZCeV1+V1DTFPN4hyWPtt5b1ra/RVpX/toPLyxxEfPr8R6rcs5XlfVmz6NqV2bsEcS50DAwAAAACgR8IaAAAAGFLfDXqPEzlAu7ZJdVP3G4p9d3e/rU1U6HOtU9m3z/g47zeUxe07pfauHDrcp1GHLAFbc6j0wFjE2BxXDidejvz/R3FReV1NcAUAAAAAAAAAAMCm/DJkUEOMTQ4h2Km8vObg9G2rXfNOjE3fPcFdAiDmdvh8DfVblsuKd9XzEEErPTOHBAAAAADAVghrAAAAYDAptQ89H8I+lYbVvtdp3+PW5zqvJ7Ln0PNap7Jvn/Fx3m8oS913n9/HTxMJWQI2b1fNgRGpDSeoDUPYiBLEVRMYdhpj4z0NAAAAAAAAAACMTT5k/F1KbW3P16qOK697TKm9mdqnJqX2stS2Rt+HvtfWPkxsJmso6rcQMTY5XOOoYrcnE5jzqVmfvlcAAAAAADoT1gAAAMDQ+jq88HkqB12XJtXHnm73WO43evbdi6kc5h56XqvP+IjZdy8ms+8QwnmP9xr1AcYAADE2+yGENxWFuC0BlWNX82/QnQEGaAEAAAAAAAAAALq4DSEcbqgvv/bA+ykfdl+79rGENXyawAH0m6B+CxBjk5/zh4qdfpxioMyKDiaxSgAAAAAARk1YAwAAAIMqTbC3PfyOi4kchPiir2bT057usyl9rXdqB0P2se+PU/qMl7V+7OFWk9r3gr/b3mndTOad1uN3+9OMm7iBP92pAzADZ5VbmEQoVYcAsj4DvAAAAAAAAAAAAGo9hxB+Sqk93sTsSYzNbodDv6fcP18b1tDbAekxNochhJ3Kyxc/u6B+y1DeUTXf19uU2qn0hla962Ns9vtfCgAAAAAASyKsAQAAgE04Kc2xta4m1Az2h5TafHjtu463eTe1g67LevvY96QO/+1h3/dT+4yHP/ed13zf4RaT2/eCv9veafWm+E7r/N2eYDAHsL6nDjU7VG9g28rAWs2/WR5TamsHU7fhsuJ37sXYTC1EEQAAAAAAAAAAmI88h/YxhLCfUnuxwV1V97hOrK/sc9WzHjE2xz2toUt/sbAB9VuK64pQjucy3zsVtcE8fb2LAAAAAABYKGENAAAADC6l9qk0/NUc/JyDGiZ54HNK7WU55LsmqOJduX5yXu17Xc8L3ff9xJsBjyu/25Pdt++2d9qKJv1OK9/PTxXX/fHdLn/3A3zNrsoAI3BaMbCWbXLwtw+16z0b1zYAAAAAAAAAAIAFeAwh/FRCGs630JdeO+dy2/M6NqrUuWY2KHQMCXhtv/K655Tau57WMGXqN3MxNuchhKOKXZ5MacYnpbY2PGRKgRQAAAAAAIyQsAYAAAA2IqX2oTSs/rLi73s55HqSQQ0vyiHdh2s03eam4r9O+HDvP5T1/7XsZxW5PocL3PcvUz/UvKx9ne92mMm+l/zd9k77vsm/0/L3M6X2pAy6rBLQkf/Mx5TaQ0ENsBgPHTYqrAEYg5owgvxvnkn9G6/82+yq4tKjGJva4U0AAAAAAAAAAIBVPZcepzx7kEMaLrbYk17bMzWHw+5r99BXn1ltUIaggT+p34zF2OTn+6Fihz91CD/YppoAnDf6XgEAAAAA6OJH1QMAAGBTSqPsWYzNRQjhpPwcvfr1j6XB73rqB3u/9hJUEWNzWA6DzM1xe5/9sdxAdjmzfedGvv0Ymxy4cfrZsw7leec/k5uoZ9PYueK+r8u+uxxyPBqffbfPynf788/4HPe91O+2d9qy3mkXMTaXr/7ezs97p/zXzy9/b5fnLaQBlqXL3+cHPivANsXYfOn/ZlnF9UT/zZP/Pfe24rrz8m9fAAAAAAAAAACAvrz0od+Unqwx9d/XHvQ9hzmZ2j0c9vT7a2s/xYPoh6B+MxVjs1vmdtb1Kc8ETbQq11+Y21qFvlcAAAAAAKoJawAAAGDjykHfF+VnMUrz8OKavcph7bM5sH1VS9x3+W6flZ/FWPB32zttIcqBxIt8lwPf1Omw8jw0IuQF2KLa/5vlfIoPLQePxdjcV4TlvI2xOfO+BgAAAACA8fu/x//xPz0mAABgZG7Lch7KT55BuCuzJ2NVGzwwpsCJWvnQ/g8V19aGBHxur/I6/W1/Ur/5ysEFO2vu7nHiM195zz9XXJf7XnMIUE24BQAAAAAACyesAQAAAAAAgLXk0J4Ymy5FOyxDXQAbFWOT3z9HFb/zduRDwt+TAzN/rbjubKohFQAAAAAAAAAAMHO5p+nYQ+7Vugeiv5hyb1lXtSEBfZlDUMY2qd+IxdicV/a8nqTUTjaII/frxth8CiG8qbj8MsbmOM87DLA0AAAAAABm7AcPFwAAAAAAgAqPHYp2qODAlpxV/tqLKT+wlNrLEMJzxaW19QIAAAAAAAAAAJiMGJv92rXmg8Wn/qRTam+29bvzwerb+t1zoH7zVJ7rh4rN/TSToILavt0cunMTY2NeAQAAAACAtQhrAAAAAAAAoEaXwbLqgTaAWjE2uyGEtxWXP6bUXs+g8DWDazsxNqcDrAUAAAAAAAAAAGBM9LZW2mZYwDZDJuZA/cap9LvW9K1+SqmtDTkYlfLZ/FS5ppfAhpM51AIAAAAAgM0Q1gAAAAAAAECNLsM5WxvKAhbtrHLzlzMpWu0+ausGAAAAAAAAAAAwd/eeMNCz6xI4sI7HEMLpzB5E7l99rrw21++3GJubbQbKAAAAAAAwHcIaAAAAAAAAqPHQoWoHKg5sQW3owMUcHlZKbX5vX1VcemBQDQAAAAAAAAAA4IueZlSW2xGsARYtxuY8hHBUUYOTlNo5vY9e+l5re39f5Fr+HmNzF2NzFmOz398KAQAAAACYkx89TQAAAAAAACrcdSlaPvg7pfZG4YFNiLE5DSHsVP6qv8fYLP055WE372wAAAAAAAAAAACAAeT++hDCh4o7v0up7dTbP1YptZcxNochhPcdl3gQQvg5/8TYPJZZiPzzUH5eu5tb8AUAAAAAAN8nrAEAAAAAAIC15YGOjoeXHzv4G9igM8Xu5E2MzX5K7ecDaQAAAAAAAAAAAAB0EGOzG0K4rrjDVQ40mHPtU2rPSn3e9nTLvfLz5mt/oOOcBAAAAAAAE/SDhwYAAAAAAECl2w6FO1F0YBNibHI4zIFidybwAgAAAAAAAAAAAKB/OahhZ8273i+ltzOl9jQHU4xgKQAAAAAAzJSwBgAAAAAAAGrddLj2IMZmV+WBDRAy0I9T720AAAAAAAAAAACA/sTYnIcQjta84XPu60ypfVrKoyiBDe/K3gEAAAAAoFfCGgAAAAAAAKjVJawhO1F5YEgxNvshhDeK3IudPNg3g30AAAAAAAAAAAAAbF2MzXEI4UPFOs5Sau+W9gRTai9DCIchhNsRLAcAAAAAgBkR1gAAAAAAAECVlNoc1vDcoXrCGoChnalwr9QTAAAAAAAAAADgv+zOqBZHI1gDLEaMTX5/XFfs96qEFixSSu1DSm0OuXgXQnj0jQEAAAAAoA/CGgAAAAAAAOjipsO1b2Js9lUfGEIZYjtV3F7txdioKQAAAAAAAAAAwJ8O1GF7YmwOl7r3Pqjf1uWghp01F3EfQjibYS3WlgMrUmr3S2jD7cSWDwAAAADAyAhrAAAAAAAAoIvrjtc79BsYymnFEBvf570NAAAAAAAAAADMzYMnWiel9maL1+9ub+fjoH7TFGNzHkI4WnPxz7mHM6X2aen1e62ENhyHEP4SQvhJcAMAAAAAADWENQAAAAAAANCFsAZgrM48mUEcxdgcznBfAAAAAAAAAADAQqXUVoc1xNjsT71qMTbHI1hGjcnXfsvUbwvK9+1DxW8+S6m9m3wBBpLf4ym1Fzm4IaX230IIfw0hfBRfqRfWAAAgAElEQVTeAAAAAADAKoQ1AAAAAAAAUC2l9imE8KnDLfZibAQ2AL2KsTnJ7xdVHYwgDAAAAAAAAAAAYG6eK/ez5APvH3u6z33ldcIG/qR+ExFjsxtCuK5Y7VVK7eUii9ZNDsY4mvIGAAAAAADYDGENAAAAAAAAdFUzMPLauScA9EyYwLDextgY0gQAAAAAAAAAAObkrnIvhzOowXHldQ89/f6nyuvmUPs+qN905L77nTVXe59Se7rkoq0jB2LE2ORgi98FNQAAAAAAsKofVQoAAAAAAIAuUmovY2wuKgZHXuzF2Jzm+3gQQFcxNoeGqzbiVNgOAAAAAAAAAAAwIw+VvWf7MyhB7aH9tQEXn7uprL2wgT+p3wTE2JxXPKfnEMLJIgtWIcbmuDIQ42uey/frrvzni6eU2pXff+XZfxhm1wAAAAAA9EFYAwAAAAAAAH3IQQvvO9znvNwDoKuzyut/SamtvXayclhOCOHXivWfCWsAAAAAAAAAAABm5KFyK8czKEHtof21NevrPnsxNvsptX2tY6rUb+RKiEDNYf2nns9qOvTDfslVnm1Iqb1Z/1IAAAAAAKboB08NAAAAAACAHlx0vEUe9nHoN9BJjM1uCOFt5T26vscmKaU2B+U8Vqx9pwy2AQAAAAAAAAAAzEHtodwHpXdtkvJh/bmPt3Ltdz3tuct95hCW0ZX6jVh5P1xXrPCXlNqa6xYnxuaip6CGHNLwl5TaU0ENAAAAAADLIqwBAAAAAACAzlJqH8pwQhcfysAXQK2zyutuy3tsqS4r9y1kBwAAAAAAAAAAmIulHnhfvfa+DjNPqc21f668fPFhA+o3ejlwYWfNRd6n1Nb2xC5KCWp433HP+fvz1xLSsOR+YgAAAACAxRLWAAAAAAAAQF8uerjPtacBdFA7mNbH+2vKasMa9mJsDGoCAAAAAAAAAACTl1L7lA9Ir9zHyYT3X7v22lp9TW3ww5Rr3yf1G6EYm9zXerTmyp49l9XE2Jz2ENSQ32X7fYXPAAAAAAAwTcIaAAAAAAAA6EVK7V0I4bbjvQ5ibM49EWBdZeBqp+LSx5TaRQfFpNQ+hBCuKi/3zgYAAAAAAAAAAOZiUQfex9jshhCOKy/vu++utvY7MTYOtle/0YmxOQwh/FyxrtPS18k3lPr+2rFGVym1hyWsBwAAAACABRPWAAAAAAAAQJ9Oe7jXB0M/QIWzyqJdKPYfLiuvO4qx2e95LQAAAAAAAAAAANuwtAPv85p3Kq/tO6yhy/1q+wfnRP1GpASh1DyTX1Jq+/5uzU6H+r6Wgxr6mH0AAAAAAGAGhDUAAAAAAADQm5Tahzy40MP9LmNsDj0ZYBUxNschhIOKYj13CCmYlZTaPGR8X7mn86XXDwAAAAAAAAAAmL5ySPpz5UameOh37SH9zym1d30upPQg1/awHcXY7Pe5nqlRv9HJval7ay7qPqVWcMZqzirq+9q9oAYAAAAAAF4T1gAAAAAAAEDfzjoMqr3YCSHcxNjsLu3p5JCKGJvzVz9CK+D7aofTrlNqn9T3P11UXneyxPc1AAAAAAAAAAAwS9eVm3ozpQPvY2yOQwgHlZfX1uh7Ljtcez7QmqZE/UYgxib3tL5ZcyW59/54lgXpWXnPfuhw10e1BgAAAADgc8IaAAAAAAAA6FU5+LyPgZ1FBTbE2OTDzh9yCcsAyctPirFZZHAFrKIMXa071PaiNpxgllJqLyvDdnY6BGYAAAAAAAAAAACMSZcD76fUk9al13eofXYJgXgbY3PY41qmSP22rNTw54pVnJQefL6vyztarQEAAAAA+CJhDQAAAAAAAPQupTYPYd33cN+DEMLdnId/cghDjE0eGvkthLD3lT92tKTgClhTbUjAbUrtnWL/i9oh2tMB1wQAAAAAAAAAALARKbU3IYTHyt/1JsbmeOxPKsbmpPSm1rgfqvcupfYhhPCpwy2mFJbRO/XbrtLnXROY8bG8d/iOju+ul1rrHQYAAAAA4F8IawAAAAAAAGAofR3cvVeCCkY/vLauEkKRh2vernBpDq44H9cOYLvKYFvtu+bS4/ui2rrsxdgIbAAAAAAAAAAAAOagS7/mqA+8L313Xfrnht5fl/sfxdic9biWKVK/7bksfe/ruE2p1R++ui6f70eBJAAAAAAAfI2wBgAAAAAAAAaRUnsXQvipp3vvhBB+n9MAUIxNHqxJJYRhVQ5Ch392Wt4P63pMqRXW8AUptQ8hhKvKy72jAAAAAAAAAACAObgOITxX7uMgxmbMB4JfVvbdhU303qXU3uQD7Dvc4jzG5rDHJU2K+m1N7nF/s+Yvz++YkxnVYFCl937dMIzXzlNqn6azYwAAAAAANklYAwAAAAAAAINJqc3DZp96vP/PMTY3MTb7U31qMTbHMTb5MPQPFZfv5OsHWBZMVW2Ai6CGb6utz5F3FAAAAAAAAAAAMHXlQO8ugQvvY2xOx1aGGJuaA+Vf21QIxXmHa3MQxWWMzW6P65ka9du8mu/VifCA1ZTZgdqe4ex26KAZAAAAAACmTVgDAAAAAAAAQ8vDZvc9/o6jEMJdjE2XQaKNy0MiMTbXIYTfQwh7U1o7jFGMzUmH75KBq29Iqb3p8N4e3YAxAAAAAAAAAABAhRxM8NihcBcxNodjKXwJj/i5wy0eU2o3EtZQethuO9ziIIRwM8bAgbym3P+Y+6BzeEY5hL5X6jcJH8tzYjUXJUik1qTmDgAAAAAA2DxhDQAAAAAAAAwqpfapHN793OPvycMWH2JsHsrw2GjlQbsYm3ww/N9CCG982qA3Z5U3ukqpffAYvqt2qPbthIcfAQAAAAAAAAAA/lD6X7sc8L1TDrzfemBD6bX9teNtanv2tvX7Rhc4kAMGQgi5f/G33AddwjPuBuqFVr/xuk2pFR6wohib4449+FeCMQAAAAAA+B5hDQAAAAAAAAwupfYuhHDcc2BDtpeHx0pow9nIBoJOY2zyYEfKh5f3eGuHzLN4ZXj1qLIOl0uv3ypSai87vLM3PZQLAAAAAAAAAADQu9JHddvhvi+BDVs7TD731/YQ1JAPl7/uaUkrKb3Hv3S8zSgCB2Js9ktP8YfymXhtp/RCn/T5O9VvtB5DCFNZ61h06ft97hi6AwAAAADAQghrAAAAAAAAYCPK0M9QB3jn0IafQwh/j7G5LkEJGx8MyoM+MTaXMTZPZbCt9jD5r8nDbsIaoP5dcp9Se6N+K7uovG4r72AAAAAAAAAAAIABnJYDv2u9HCZf249VJfdw5Z7W0l/bxXOpwTacl8Ptu8iBAw/bOsy/hGXcrdBTfDlA3536jc9JSu3TBNY5CjE252VOoNaF3nsAAAAAAFYhrAEAAAAAAICNSanNQ1/vBv59b0pQQg5uuMlDGjE2x0P8onzfcv/8e/4RQvgthPC2DNYN4Xyg+8JklGG6t5Xr3eiw6wxcVm4hvwO3MpgJAAAAAAAAAADQp3LQ91kPt3wfY3M3VE/ra+Vg/bsOvXavnW7rsPNyqH0fvWi5p+23GJvrGJv9Hu73XaXH+KGEZazSV5z/TK+fDfUbnZ9Sau9GvsbRKP3CXd69j/qGAQAAAABY1Y8qBQAAAAAAwCblwIYYm1CGH4YKNXhxVH4+lN+Zhy7y4M5N+e/zwMvTCvfJwx6H5X/Ogzx50Ghv0JX/q3cptTfrXgQzVDt49RxCuPaBWF0esI2xuaoc2D3vEPYAAAAAAAAAAAAwGqX39biH8IODEMLvMTa3uceq777Qssbz0jvbh6uU2q323eXD7WNsfiqH9nf1Jv+UvrjzIUIoYmxOS5/jQcXlh333OarfaHxKqRUcsJ6uswbnJbAEAAAAAAC+S1gDAAAAAAAAG1eG1u5KaMLQgQ2v7ZWfvobQNiUHNYzx0POjGJt/jGAdo6AWG1Mb1nBp6KrKZeWA8V6Mzcm2B3UBAAAAAAAAAAB6clYOg685RP5zRyW04b70aF3XHnwfY5PXdFzWt9fjw75PqT3t8X7V8iH3ZZ9dwzJe5Pu87an+u6X+J+Vnk33RK1G/rXsMIYziuzQVPYTj3I609x4AAAAAgJES1gAAAAAAAMBWpNTelUGKy54G1+boOQ8g5VotvRAQ/hy+Ou0wiHehiOtLqb0pA5U17+k8/CusAQAAAAAAAAAAmLyU2qfS93rTY99rvs/P+SfGJh/ofvfq5+kr1+yW0IiXnz4DGl7clwP0RyMHR8TYhB4DB8I36v9Qfr4m12a/x/COwanfVp3k98cC9tmnrj2/5+PaDgAAAAAAYyesAQAAAAAAgK15Fdhw0fPwzxzcGs6Bf3FWWZJPKbXfGvzj2/I7+teKGh3F2OyrPQAAAAAAAAAAMAcDBTa82Cs/b7Zcqj+CGkbav3pWDvk/GuDeY6j/9cD3V7/N+yn3y49wXaMVY3Pa8f16lVJ7M/MyAQAAAADQsx8UFAAAAAAAgG3Kw1wptXmo4l0I4dnD+MPHlNqxDrrBVpQB19rhqwtPrV5K7WWH9/P5GPYAAAAAAAAAAADQh9LbeVxCDeZmzEENLz3HufZXI1hO366GPtRf/TbuU0qt/tX1nXW49lnfKgAAAAAANYQ1AAAAAAAAMArlMPDDEMLtgp9IHnKLKbWGROBfnVbW5DGl9kY9O6sdGHwbY7M7on0AAAAAAAAAAAB08iqwYU49r5/GHNTwWkpt7if8ZTwr6uyq4wH1a1G/jXjs0Pe6WDE2+yGEgw77v0ipfVh6HQEAAAAAWJ+wBgAAAAAAAEYjD0ek1ObhtXchhOcFPZm8159Sag9Tau+28PtHP1gHIYSTyiLUhgzwzy471ONYLQEAAAAAAAAAgDnJoQal53UOh95/TKk9mUJQw4uU2rOZ9Bvn/uHTTdde/QaVazqp79OI7HdYyqOeYQAAAAAAaglrAAAAAAAAYHRSai/LsMXHmYc2PJc97qfUbnM4ZBsBEbCyGJvDEMJORcWeO4YMUOQwnRDCVWU9DtURAAAAAAAAAACYo3Lo/b9PtN81H27+15Ta8xGsZW2l3zj3p91ObOnZfW6P3Gb/sPoN5iylVm92nS4BF+cCMgAAAAAAqCWsAQAAAAAAgFHKwxJl+OuwHBA+p9CG1yENYxgMMRBEr1Jqb3q+5W7lddcGr3pVG3whrAEAAAAAAAAAAL6sttdK39+IpNRe557Q0u86Fb/k3q4B+v02KqX2IaX2OITw04R6jT+m1B6O4UB/9evdVQnBmIpR9diWZ1rzObydWN1Xof8ZAAAAAGCDhDUAAAAAAAAwamUI6LQMseWAg8cJP7HHMsw0lpCGP5R1fBrBUpiHIYZNa74reVjrfIC1LFYZyr2t2P/D0msHAAAAAAAAAABfUdtbI6xhZHIvZul3/Wtln9Wm5H7Rv6TUno2lj7UPKbUXpdf4lxEv86rUfnS9jer3T2rfr/chhLOB1jSUmr0O3RN6UXHN2PuFa2rm73kAAAAAgA36t3/84x/qDQAAAAAAwKTE2JyEEPJA25sJrDsfGH8dQrgsB52PUozNfhnq2BnrGpmE/Hk/zCErfS82xuZpzc/nT2V4kH6fw2Gey1zzMs8CAAAAAAAAAAC+IsYm9+4drFmfvwzRp0V/YmyOywHiRyMpaz7o/iKldvYHgJee2LPSazyGvthc+/OpfGeXXr8Ym90Qwt/XvCz3zx5P7ftVsdfHlNr9AZf0sqZcx70VL/klh88Muaauynfqb2veJi7hfQ0AAAAAMBbCGgAAAAAAAJisMoyRgxuOy3+OJWjgMYSQgxmuU2qvR7CelZRD2G8ENlBp0EGzGJs8tPphxT9+lVJ76kEOI8YmD7X9vOLN8+diP6X2aWr7BAAAAAAAAACATYixyf2Pv63xq0Z/MDX/5dXB9ydrHD7el9zPepl/lhju8arP+KwiEKWr+1e1n2T/3JLrF2NzEUJ4v+Ifn2RQw4s19/oupfZyA2tataf9vtR+9N+xGJtct7cr/vHblNrjgZcEAAAAAMArwhoAAAAAAACYjTKYcVx+Djc41JYHPe7Kz/WUB9rKYNXLUOCmB6uYpvz5z6EkF0MPO604qCSoYQPWCGzYyGAeAAAAAAAAAABMWYxN7nn6dYUt6I+asNLnelr6XIfq0bwth5xfT/Xw+CGU0Izj0h97vMIh8Ot6LnW/mXov8ZcsrX6ln/pmhe9pDkQ5mfJ3bY29bvTvn7Kui2/0Df8SQjifShjKGnWeTAAFAAAAAMCcCGsAAAAAAABg1mJs8kDQfvnJQ2675WfdIbc8+PBUfvJATR4CekipvfEJgs0pQ8lnX/gO35bAiGuPYzPK4PBLuMvng5efyhCcYV8AAAAAAAAAAFhB6Xc8+8pB6Lk/6jKl9lIt56M888PPelxX7W+9/6yn9U5P6+pK+MDhq5/d8j+vEkLwUvubV7VfVK/cUuoXY3NeAlb2Pvuv8h6uS9/qLA7V/85eL7b198+roJD98r96mnIgSozNWanz5+/6rdYZAAAAAGDphDUAAAAAAAAAAAAAAAAAAAAAAAAAAAAAAACL8oPHDQAAAAAAAAAAAAAAAAAAAAAAAAAAAAAALImwBgAAAAAAAAAAAAAAAAAAAAAAAAAAAAAAYFGENQAAAAAAAAAAAAAAAAAAAAAAAAAAAAAAAIsirAEAAAAAAAAAAAAAAAAAAAAAAAAAAAAAAFgUYQ0AAAAAAAAAAAAAAAAAAAAAAAAAAAAAAMCiCGsAAAAAAAAAAAAAAAAAAAAAAAAAAAAAAAAWRVgDAAAAAAAAAAAAAAAAAAAAAAAAAAAAAACwKMIaAAAAAAAAAAAAAAAAAAAAAAAAAAAAAACARRHWAAAAAAAAAAAAAAAAAAAAAAAAAAAAAAAALIqwBgAAAAAAAAAAAAAAAAAAAAAAAAAAAAAAYFGENQAAAAAAAAAAAAAAAAAAAAAAAAAAAAAAAIsirAEAAAAAAAAAAAAAAAAAAAAAAAAAAAAAAFgUYQ0AAAAAAAAAAAAAAAAAAAAAAAAAAAAAAMCiCGsAAAAAAAAAAAAAAAAAAAAAAAAAAAAAAAAWRVgDAAAAAAAAAAAAAAAAAAAAAAAAAAAAAACwKMIaAAAAAAAAAAAAAAAAAAAAAAAAAAAAAACARRHWAAAAAAAAAAAAAAAAAAAAAAAAAAAAAAAALIqwBgAAAAAAAAAAAAAAAAAAAAAAAAAAAAAAYFGENQAAAAAAAAAAAAAAAAAAAAAAAAAAAAAAAIsirAEAAAAAAAAAAAAAAAAAAAAAAAAAAAAAAFgUYQ0AAAAAAAAAAAAAAAAAAAAAAAAAAAAAAMCiCGsA+P/s3T92HUfaH+CSjpIvIidyZANKnBLVXgAxKyAmsFNCgWNhvAFBG7Cg2AGB1A4GXIHABfg2uYIPsCNHQ6yAPiUV9EEQ/+BWd9+u6n6ec3BmNOK9qP57+w5/7/sC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oY1AAAAAAAAAAAAAAAAAAAAAAAAAAAAAAAAq2JYAwAAAAAAAAAAAAAAAAAAAAAAAAAAAAAAsCqGNQAAAAAAAAAAAAAAAAAAAAAAAAAAAAAAAKtiWAMAAAAAAAAAAAAAAAAAAAAAAAAAAAAAALAqhjUAAAAAAAAAAAAAAAAAAAAAAAAAAAAAAACrYlgDAAAAAAAAAAAAAAAAAAAAAAAAAAAAAACwKt843AAAAAAAAKxFjN1+COEkhHAUQti7t9m3IYSrEMJZ32+unBAAAAAAAAAAAADA2sXYHYYQ9vPPQQjhaf55tuWueRdCeB9CuL7/I7MJAABAq9QqAgAALMdXHz58cDgBAAAAAABYvBi74xRwDCE8+cK2XqSQZN9v3jsrAAAAAAAAAAAAgDWIsUvDGA7zz8GDRpNTSoMc3uZGlld9v7l2wgEAAFAztYoAAADLYlgDAAAAAAAAi5fDj6+22M53fb85cGYAAAAAAAAAAAAASxRj9zSEcJSHMxw9osHkrtyEEC7z4IZLJx8AAAA1UasIAACwPIY1AAAAAAAAsGgxdqmI8JeCbfy57zcnzg4AAAAAAAAAAABgKWLsjvJwhpcNbNJtHtxw3vebqwrWAwAAwIqpVQQAAFgmwxoAAAAAAABYtBi76xDCXuE2ftv3m2tnCAAAAAAAAAAAANCqGLunIYTUFPJ4QKZybjchhLM8uOG9kxEAAIBdU6sIAACwTF87rgAAAAAAACxVjN3QosJTJwcAAAAAAAAAAADQohi7/Ri78xBCagb5Q8ODGkJe+09pW9I2pW2rYE0AAACshFpFAACA5frqw4cPDi8AAAAAAACLFGN3PUJh4bd9v7l2hgAAAAAAAAAAAAAtiLF7GkI4yT9PFnzQLtI29v3mfQVrAQAAYMHUKgIAACzX144tAAAAAAAASxRjdzRC+DE5doIAAAAAAAAAAAAALYixS7nH1Pjxh4UPakhepm2NsTutYC0AAAAslFpFAACAZTOsAQAAAAAAgKU6GWm7xnofAAAAAAAAAAAAgEnE2O3H2F2FEF6tYEjDfWlbf4ixS0MbDutZFgAAAAuiVhEAAGDBDGsAAAAAAABgcWLsDkIIz0faricxdsfOEgAAAAAAAAAAAKBGOef4dsTsZIv2Qgi/xNidxdg9daICAAAwBrWKAAAAy2dYAwAAAAAAAEt0MvI2nTpLAAAAAAAAAAAAgJqkoQQxduchhFep4aOD86vvQwhXuZkmAAAADKVWEQAAYOG++vDhg2MMAAAAAADAYqTCwxDCPyfYnr/2/ebKmQIAAAAAAAAAAADMLcZuP4RwGUJ45mB81G1qqNn3m/MK1wYAAEAD1CoCAACsw9eOMwAAAAAAAAtzMtHmTPW+AAAAAAAAAAAAAI8WY3cQQnhrUMNnPQkhvIqxO6t4jeR0nosAACAASURBVAAAANRNrSIAAMAKfPXhwwfHGQAAAAAAgMWIsXufC+ym8G3fb66dLQAAAAAAAAAAAMAcYuyOQwhnE2YlP+UmhJAylFf536dhEe8f8bqnIYSD/N8PQwj7IYS93S49/Nz3G40wAQAA2IpaRQAAgHX4xnEGAAAAAABgKXIB4pTFh6chhGMnDAAAAAAAAAAAALBrOSf5ake/9k0ezHDV95urR/z5z7l8+O9i7A7z8IY0yOHF6Kv/o+9j7C5H2A4AAABWQq0iAADAenz14cMHhxsAAAAAAIBFiLF7G0J4NuG23IYQ9vt+894ZAwAAAAAAAAAAAOzKjgY1vM6DFS53nZWMsTsKIdz9TNEM83Xfb44meF8AAAAWSK0iAADAenzjWAMAAAAAALAEMXaHE4cfQy7+OwkhnDppAAAAAAAAAAAAgF2IsTsIIZxN9Ktu8nufz9kgsu83l3lQxN1givTzfMRf8WLE9wIAAGDB1CoCAACsy9eONwAAAAAAAAtxUrAZrwtec+yEAQAAAAAAAAAAAHYhD2q4yk0cx5SGNHzX95v9vt+czTmo4aG+36TBEakxZgwhXNSyLgAAAFZDrSIAAMCKfPXhwwfHGwAAAAAAgKbF2O2HEP61YBu+DSGchxCeb/m6VJx47qwBAAAAAAAAAAAAphJj9zQPang24q+4DSGk4QynrRy4nBMtyXv+Qd9vvhp/dQAAACyJWkUAAID1+doxBwAAAAAAYAFOCjbhdd9vrnMAclvHThoAAAAAAAAAAABgYucjD2p4E0I4aGlQQ/htyMJ1328OQwh/DSHcFL7N7cjLAgAAYJnUKgIAAKyMYQ0AAAAAAAA0LcbuaWEg8Sz8VsB3XlC49zzG7tCZAwAAAAAAAAAAAEwhxi41h3wx4lv/PQ08yM0jm9T3m6u+3+yHEH4sWP9lq9sNAADAbqhVBAAAWCfDGgAAAAAAAGhdCj8+2XIbblLB3r1/Pi/YByWhSwAAAAAAAAAAAIDPirE7CCH8NNJeug0h/LXvN2dL2et9vzlN27RlA8zFbD8AAACTUasIAACwQoY1AAAAAAAA0LqTgvWfPvjnkgK8lzF2+84eAAAAAAAAAAAAYGQljR0/Jg0zOHzQNHIR8jaloRZvHrE93/X95q2TFAAAgC9QqwgAALBChjUAAAAAAADQrBi7oxDC3pbrvw0hXN7/H/p+8z6EcFGwH46dPQAAAAAAAAAAAMBYYuxSY8hnI7zduzTMYMlDClL+s+83h2kYQx5M8VDKjP6t7zdjDb8AAABgodQqAgAArNdXHz58cPgBAAAAAABoUozdVQjh+ZZrv+j7zZ+CizF2BykLueV7pTDlfg5QAgAAAAAAAAAAABSLsXsaQrgOITwZuBdXmW+MsUuDGw7zP77t+83lF14CAAAAd98p1SoCAACs1DcOPAAAAAAAAC3KgcVtw4/J6cf+x77fvI2xe7Ple6ZiyKMQwrmTCAAAAAAAAAAAABjobKRBDYdrbO7Y95vUWPOqgqUAAADQELWKAAAA6/b12ncAAAAAAAAAzTopWPibvt9cf+bflwQZPxqoBAAAAAAAAAAAAHisGLv9EMLLEXbYcWoKaccDAADAo6lVBAAAWDHDGgAAAAAAAGhOjN3TwoLEs8/9y77fpADkzZbvuRdjd+QsAgAAAAAAAAAAAAYoaeL40I99v7l0EAAAAOBx1CoCAABgWAMAAAAAAAAtOilY880jCxBLih1L1gMAAAAAAAAAAACQGkMehBCeD9wT7/p+c2pvAgAAwFbUKgIAAKycYQ0AAAAAAAC0qCRwePbIP1cSgHweY7df8DoAAAAAAAAAAACAMRoxHq1+LwIAAMD21CoCAACsnGENAAAAAAAANCXG7jiE8GTLNd8+NtjY95vrEMJFwT45bWtPAgAAAAAAAAAAAHPLDRhfDlzGjzn/CAAAADySWkUAAACCYQ0AAAAAAAA06KRgyZd9v3m/xZ9/VFjygZcxdk8b3J8AAAAAAAAAAADAfEpykffd9P1GE0cAAADYnlpFAAAADGsAAAAAAACgHTF2hyGEZwUL3qoIse83VyGEdwW/Z2jBJAAAAAAAAAAAALAuxwO31qAGAAAA2JJaRQAAAO4Y1gAAAAAAAEBLSgKGb/p+c13wurOC1wwtmAQAAAAAAAAAAABWIsYu5Q6fDNjam77fnDtfAAAAYGtqFQEAAPiVYQ0AAAAAAAA0IcZuP4TwomCtRUWIuXjxdsuX7eXCSQAAAAAAAAAAAIAvORq4h07tYQAAANiOWkUAAADuM6wBAAAAAACAVpwUrPMmBxlLnRW8rmSdAAAAAAAAAAAAwIrE2D0tbAx5Z2hGEgAAANZKrSIAAAC/M6wBAAAAAACA6uWCxOOCdQ4tQix5/bMYu8OBvxcAAAAAAAAAAABYtqOBW2dQAwAAAGxJrSIAAAAPGdYAAAAAAABAC1L48UnBOs+GbFvfb65DCBcFLz0Z8nsBAAAAAAAAAACAxTOsAQAAHkhN1FNj8vzz1P4BJqBWEQAAgD/4xu4AAAAAAACgASWBwou+37wfYdNSMePLLV/zIsZuPwcooUqpcCGEsJ9/DvMaDx4ZNn4XQkjX11UIIZ3nb/t+89aRbls+J9L99sVHNuR1CpX3/eZq7I1M98t87h3kczEV1Dx7xEvvzsO3dz/Ow097cM0f5P2c/vveI9/iJl/vdz9XeZ+P8VnLSuUCupNc7PLwXJzsvjOHGLuDvK1HH/msTfez077fXLoWAAAAAAAAAFblcMDGvpZRXK61Zn1yluQ4/zzMkL3LWZLFDynJmbrTT+RMXueciawcW8v3loMH95bH5DXDg8zmXXZ4EdkulklWvk05a5kaoT+/vwExdm/y51/T9x15bqiKWsWKqGdaNp9/1EIN0+/UMAHAJ3z14cMH+wYAAAAAAIBqxdilMMg/CtYXxwq5xdhdbxH+uvNz329KgpvV+0IAsjZ3Ybz7AcjrNQYgc8DqKIdHnz/iJSVSEUQKaV2NuY+/UHi4Zrd5f58ODVzH2KX9+8Mj/ugo97Z8Ph7n8/GxhX6PcZtDt2m/XK41eJuvmcP8czDyPn7o5t51v+iQZozdXSH4VPfQXbo7bmdzFWzkkPPVI87PH/t+c7qjZU1ii3tsKuA5bmzbnj4oTtm2iHvXUoD+XKgcAAAAAAAAmFvO4f0yYBnfraFp/RrI+vxmiyxJaih3uNRsWM5Nn38hK5lyckdzNRC8lyM+bDzT+S7v6/MFn09TZTXvmyQ7PBc5+Xa1nJUv9YVca3PNZvP2vPrCH2vmGdgz3vRkWCmlVrEu6pmWxeffdnz/2B01TB/VVA2TZz8AdsGwBgAAAAAAAKoWY3dVEJZ/0/ebw7G265Gh74dSwG5/acG6GLsUbH9ZwVKGugtAXuUA5CyNqqd2L0B6VBDiHWqURuCF19/a3Obi06JwY0HQ/G+lIbF8PE92GIK7yKG2ZgqNSuXjeDjT9X7nNhevzjYAYAr5XnpecXhziHTMTuYoXNvyGe+vrV7HBc9OxffYXckFAUcTF3FPrbnBGAAAAAAAAMCybNE061P+stbGf0sg6/NnMXZvt8ghvOv7zcEu17cLuanl20cOQJglp7ygHPF9gzKYtcnn0cmM2eG7ARjNZQjl5NuzhKx8qS3O1yYae29ZM1BtztIz3vRkWBmDWsV6qGdaBp9/ZXz/2C01TJ9UdQ2TZz8Ads2wBgAAAAAAAKqVw/N9wfq+G7PpcIzd0xDC9SOLn+77e99vzsZax9xGKA6t2ZscgNx5s+op5ADpcUF4eCpp/55uG1IbcO2t0U3fb/ZLtrsgaL7178rn5OmModuic7B2OXB4V2RW23Vykfd500U++T70dsZzd1d2GiQueMZ73febowmXNIkYu/Qc+P2W7z1qIc9YZi7inkoTRagAAAAAAADAMhU2h7yzyEb1Syfr82kFDTqTH/t+c7rLdU6t4L4wal76SwqzMK1IzSUPWs675XvMaUXZ4YvcKLWJIRhy8m1ZSla+VMH9uPYGrAe5ue9jn4+Kc/NT8Iw3PRlWxqRWsS7qmdrl828Y3z92Sw3TZ1VXw+TZD4A5GdYAAAAAAABAtWLsUiDn5ZbrmyR4XRhUqSoEPsSKmubf5DBek8UouWDxrOIQ0lYB0xi7FED6afplLcbWhTT52v5nwQ6Ijymgy+Hb84rOyXQOnrRS/Pcx+Zid5FBzC4HDn/N1/76CtWxt4QHo+3b6zFJyf+/7zVfTrWh8hU0EflXTtuaQ82nBM3krvm29CBEAAAAAAABoU4zdkGYfi2tSv1SyPo9TmBdOzfX3W80lPZSzdr9s+bKLvt8cT7+63zMk/7qL3zWjne3PMVU4pOGh1zm3WXOjVDn5RiwtK1+iMPtd7aCvvD1pfz3b9qVz5sE94+2GDCtTUKtYD/VM7fH5Nw7fP3ZPDdPn1bKtnv0AqMHXjgIAAAAAAAA1yqGjklDFVOGds4LX7OWQyxIcriAAFnJQ8FWM3VUO9zQhxu4grTkHqmoOO6ZCsF9i7C4fuX+f7mBNS1JSRFNaePPZ16V7eA6O/1LZOZnOwT6vrSnpmsmFAf/MwwNaCDaHXDzwNt2nKlhLieaKbwvt7fgYbX1/z8+GTcifccXPpLkwZHZ5WMm/LjjonCzlWR0AAAAAAABoyAh/Rz9ZA2DGIeuztZK85pOFZXtKBrDsMud6ssPfNZemMjI5p3mec5q1DmpIXqQMUsptVpwBk5Ov3IKz8iVKMm/PKj7m5wWDGsJcdQae8XZHhpUpqFWsjnqmRvj8G53vH7unhunzr5+9hsmzHwC1MKwBAAAAAACAWpUW9UwSgOz7zXUI4XXBS5dSnNRqk+1Sz3MYr/oATA4i9ZUXWj30Iu/fNRTvLdUnQ5I5xHqVQ621+j7GromCkxR4zAVmLQcO93KovKni6BxWbSVEPoYqBgR8RkvPIpcth+dzYevbXEixdGt7xgUAAAAAAADqMOjvKvt+Y1hDpWR9dm4RGcScU6o9A7qKjEUNDQofI+ebrxu7z9w1Sq1xH8vJV0xW/k9KG91WN6wh758XFSzlizzj7Y4MKxNTq7gM6pl2xOffZHz/aIMaph3w7AdAbQxrAAAAAAAAoFYlwcGLHFScylnB+z5vITzHR6WA0j9qDaPH2D3NgcdWg0hp//4UY3eZtqWC9TCCe8HmZw3sz7TGq1rDnvkaT2HJXxorMPucV40NbKiuMG1i7sUjiLE7a+Qe+FGN3cfHsLbrHAAAAAAAAKjDkL+rfOMY1kfWZ7DS7O9eK831v6C02erbna1wPQ3lqs+S5HzSPxptxJgapf6Sm+8zr6pz8kFWfvHy5/dPA7ZzJ5+BnvF2S4aVHVCruGDqmcbj848JVP/9o1Ut1zB59gOgRoY1AAAAAAAAUJ0cuikpIDmfclv6fpOCHzcFLy0toqIO1YXxchDpeiGBxxepWOITQeEpA81LdDXnNuXrpG+sALDKsGeM3X4+/19UsJyxCTizWLlY4vtWt6/R+zgAAAAAAABAi4Y0l99lc3YeQdZnFEOyb0vIIpVuwy4zg2vJk1TbOO9e4/pm80n3/KCBfTWqzHSuKCu/Svnavxyw7alx+vup951nvN2SYWVqahWXTT3TeHz+4Ri0o+UaJs9+ANTKsAYAAAAAAABqVBIYfJcDilM7LXj/lzmoRrte1VIgkddxtbAg0l7apo8UXaUijNuZ1tSamx3dAz8qn5evGt5/tYU9zxceNqzmngpjyc96kxbjTClfk2dOCAAAAAAAAICdGJInvHaIqiPrM9yQrODLlhu+D2gae9v3myGNrmlIPsevFtK4/s6LT2SH2b2qMp0ry8qv1ZDje1tY01PCM96OyLCyI2oVF0o90+h8/uEYNKDlGibPfgDU7BtHBwAAAAAAgJrE2B2GEJ4VLGlX4YzL/Lu2DZ0d7zAUXos3fb85nHotuWjhfkDr7p/Tz+GIAcHLFATq+837kd5vazF2RwsOPT7J19bvAdO0r3PgdOlBz6FS0cnRXL/8XlFU61LYM513swYV8/5cUkHlp8x+T4WRXbb6WZVD2ksrbgUAAAAAAACo2d6Atb11ZOsh6zOOnBVM2YuXhW943HCTt5KmsUFTu/W4N6ihJF9fu2e5gf1hg1lCOfkJrC0rv0YxdmcD72cnfb+ZfHiZZ7zdkWFlF9QqLpd6pnH5/Kua7x/8aR+2+Pzk2Q+A2hnWAAAAAAAAQG1Kio5udxVGG1AQdrL2AORUcijrYbDy8u6/5KKNowFFfHf25jyOOfA4ZfHJuxDCdS7mvc4/n5LCdfs5aDdm8defQoN9v7nM236aj6Mg1r+5zef66S6KTj4mhzCHnpdv7p13nysmP7h33k0V/k0B5/fpvJvo/R9j6vDsbd7P6ef9vf/8lPvB2oOBzQLu28vXdWmxMVRjhOLBuU3xfHFz717zseeKt2MH62Ps0j3lhzHfEwAAAAAAAGBsOQs1hGENdZH1Gc/pgJznSYvDC/L9oDRzMmsTT3Zj4kEN9/M9n7u3THVfudPywIbJrSUnH1aclV+TGLvUVPz7AZt8scMm1p7xdkeGlV1Qq7hA6pkm4fNv5db0/aNljdcwefYDoGqGNQAAAAAAAFCNGLsUWntRsJ5dF1iVFIQ9SeHyHYbDyXJI8TIHYM4Kz7E7JynMtOtioFx8cjVBEOkiv+/lltv0e+guh1sPc9Bu6DCFj4Ym8yCC43u/8yAHLqd0XBgcvNhBEWQK39ZSdH1aGO67yGHNqy3OvT+EPe8FPMce4nGei/7m2sdjn9vv8r672nJ/33c/WLuf9/nJCEHn72Pszis6n8fwroLAdrpH/jTzGlYj34uGFA/OKsbuZMSCkXf5M/ByriFCAAAAAAAAAA0YlA3RyLo6sj4jSVmDGLs3hTmGvZThmLmpZYnSnNFFA9mMXWQpv6Tl5oVTDWoozffcv68c5NzwGPeVO8/ytg4daLQ6S8jJB1n5VcjHeEjdz7u+3xw/4s+NxTPeDsiwsgtqFRdNPdP4fP7xWUv5/tGylmuYPPsB0ALDGgAAAAAAAKhJadHRTkOFAwrCTisoPFqtHLo5SkHUEMKrwv3wJDfx31noNhd4nI8Y3rzJ6z8fI8yW3+PyLvyY9+9JYeD15pG/c/IgZAq3Fr70uu83V4/4c83L+2ibcN9tPvdGCVLeC3g+zefcyUjXyZN7AedWA5+v767Lsbch30t/PY75ej8buN/PchHbUryf+x4QY7eg3Vm3HPZv9tku3z9PR3ir9Fx8upbPPwAAAAAAAICB9ge8/I2dv0iyPn98/9Kmbcf3mzjWLuc2jgqX2UJeZfYsZYxd6w0fxxw2cZGzm4Pzt/k93ub7ymHOH43RbPFZbpa6y2bsi9FqTj7Iyq/CCMf4dsBn5pw8432GDCs7pFZxgdQzVc3n3wq0/P2jZS3XMHn2A6AVXztSAAAAAAAA1CCHLUqKKy5yuGfXSkJAewMawDOSvt+kQFIc8G6lQd1S5yMVW6Vg6d/7frPf95tRwqUfk/Zv328OQgh/LSgoEZJqyzb3wZ9ToXnfb04nCNum5vinuZD955He9tlIAcASpZ9p70II34UQ/tL3m6N8LU4azs730/0cpi71PIdFoUWXIxaIzmFoUUh6tvhb328OBZ0BAAAAAAAAHk1OYllkfUaUG16WNrJ+0VgO6agwt/FOTmP5csPLlyNsaLrX/DUNQBhjUMND6VxM2aHCzPDHvIyxa7EhezUazMkHWflVGHqMj2eoGfKMNz0ZVianVnHR1DNNw+cfJcehte8fLWu5hsmzHwBN+MZhAgAAYG7/7b/+738fQvgvDgQANON//vf/8Z/+r8MFTOC4MGxxPsfBSAVhMXYpXL+35UtTWM7AhpmlgqMYuxQCfFWwkhRkPZiiaOmhXGz1YoS3erPrIoUcetqPsTvJ5/1jru9ZrmeKHD/y/peCcEe7CMHlIO9JjN15Dh9ue39+6PsYu8sZAnyXOTj+2M/Ei3TtzBU0zPv9KO/30uLQ08IiCJhNjN3ZSAWicxpy3aX7++EunocAAAAA+LL/95//g2J0AGjHyb/7X//H37EApeZoFsnnyfqML+3Pnwrf9XjGppbbKm1IWNLAlYbkZqFjHOcfc+PYyaV7WspW53UPHTJxnnPaPvMKtZKTD7Lyq5D3z5Bj/GMe5rRrnvGmJ8PKLqhVXCb1TNPx+UfJcWjm+0fLFlDD5NkPgCYY1gAAAEAN/iWE8B8dCQBoxr84VMBESoqObuYKc2UlBWHPUxGNApL59f3mPBd4PC9YTAqxThruibF72lqx1cf0/eYsBURzWPlz+/pi5uuZ7TwmOPwuB+He73Lf5pDnQQ4Jl1zf96Vr8GDcFX5e2l8xdqeP+HxJoebTWj5P+n5znItES/b50QRLgsnE2KVz9vuW93DehtIiEEFnAAAAgPoM/f/DAYDdeWpfw+oNuQ/IHVZG1mcS51s0vX6oiWENMXaHhQ32blP2dYIlUZfzwvP/zs6a0t6Xs6Lp3nJV2KTzzpO8D9bUcHh0tefkg6z8KuTPu9IBTMmbuY6tZ7xpybCyQ2oVl0k900R8/jHgGFT//aNlrdcwefYDoCVfO1oAAAAAAADMbUDYYu6CqvMc9thW9YVgK1ISvA07CjueDSy2Sr6bs/jkTgpf9v0mBed+/MQ183MKRs6zOiYyS7D5Tvq9+Zy7GPhWz3JYdKdS4Va+Xj4mbdO36ZqpMEx/XPi5+CQ/C0D1coh/CUXvQ665I0FnAAAAAAAAgGI7bbTH9GR9xpUzZ5eFb7rXSA6pNJM2RlNzKjagueWduyaGszUYzgNF/lZ4f7nzXKZwFDXn5IOs/LLlYRyln+fJzdzNkz3jTUqGlcmpVVw19UwD+PxjgNq/fzRpITVMnv0AaIZhDQAAAAAAANSgJIhzOzC8PdiAgrCjHD5nZjmo865gFftTrjzGLoUyXw58m+9ywVM1cjFM2nff5eDmjzmkWRrGo06zBpvvy4VNQwPOs4TW8/XybQjh7/laSdfNXyoNNf8qr6u0IFi4mVZcjlAgWoPDwjVczFnMDQAAAAAAAAA1kvUZ3ZDMVtXNsHN+uDQf2npzPj4jnxtDzv27QQ2zNzHs+83lCNei4SQD1ZqTD7Lya3E1MGt5VEkW3TPeNGRY2QW1iuuknmkEPv8oPAbVfv9o3BJqmDz7AdCMbxwqAAAAAAAA5hRjdxBCeF6whPMagnM59LZtocCTHPqcJTDHn6TA0rMtd0vJObuNoefG32srPrmTr1sFg8tVTbD5nnS/PSi4zu/sxdgdz3FNDQwLz+Us7/Ntg6ClwUvYmRi7swH3kmrE2KUw+17hejy/AgAAAAAAAMynyoZ4/EbWZzxpX8bYvSnMar5I2YhaG0gOaGB/UfE2MY6TAZmekBubzz6o4U4a2BBjl5q6vip8i5TdPOn7jaENw9SYkw+y8ss2Qtbyu8ruZ57xRiTDyi6oVVwt9Uwj8vlHoVq/fzRpCTVMnv0AaM3XjhgAAAAAAAAzOyn89VWEvXLw7E3BS0uLrRjfVU37NMbucGDI7LXCJGZym+5tlQWb74qejvL6Sgn3PVLe35cFL93LAUyoUoxduo98X7C2IfeeqZRea68V/QMAAAAAAADMyt/ZMqrKsz5DmlHWnNFtOjfNNGLsng44N5If+35TVR46/HaPSdfxxYC3GLJP+E1154Ws/LKlhtKFWcs7F7UO4mhJ5c94MqzsglrF9VHPhHqmOlT3/aNVC6ph8uwHQFMMawAAAAAAAGA2ubDkZcHvry1oURIG38tBdOb3trJjMOS8uDUIhBmd9v2mtuvpV/kzY8i1sZdDjjxOSbg5ObB/qVEO3pc8772rtFD+sPB1pdc2AAAAAAAAAFCvKrM+uVHzTeHLq2zwnhuU7xW89E2t2TxGk/KJTwrfLJ0fNTdwPRlwLcvbD1fjvUNWfqFi7A4GZibfGdIyqlrz3DKsTEqt4mqfndQzcUc907z8fxcjWFgNk2c/AJpiWAMAAAAAAABzKg1SVxUYGVAQplCgAn2/eV/LWnKQqiQUfOekpu1hVVKxX40NyX/X95sU0nsz4C3csx/vqvB1ws3U6rKgGPo2F1EvSem1DQAAAAAAAADUq+asT0ljuuRJpU1KS3PTpfuBdgwZtlB1Y/Ocax5yPWrcPkBtuXJZ+eXKzdHPBwye+TVz6fiOaml5bhlWHkut4vqoZ+I+9Uwz8iw3GjVMnv0AmIlhDQAAAAAAAMypJAB50/ebGoMWJYVQz2PsDidYC+0aEoh6k8O4MIchhYK7NCSg/CIXEvEFOVz7rmA/CTdTnRi7VLjxrGBdqWjweklHdGnbAwAAAAAAAABUn/UZ0nCzqmaWuUH5i4KX3siGLlvOku8VbuRF32/e1r6Dcva/tDntsxg72cLlkJVfrvPCrOWdYxnFcS0tz+38YAtqFddXq6ieid+pZ6J1aph+49kPgLkY1gAAAAAAAMAsYuxSwOxJwe+uNUBXWhBWVTEYsxtyPrQSLmV53lQaTP+THNS7GPAWQ4rE1qYkFCk8TlVi7NI1/33Bmn6s/L5YUoBTUrAAAAAAAAAAALShyqxPbrJYmvd6ngck1KI0H6ox+fKtJTs8ZK0lTZepk6z8AsXYnRQOJLqTMpeXa9+PE6nxGU+GlcmoVfzdmmoV1TPxMeqZaNJCa5g8+wHQFMMaAAAAAAAAmEtJ0cRtCKHKEPaAgrCXlRWDrU6M3UEN25zPg2eFL79pJVzKIrVW/DRkvcLNj/e24DVV3I8h/Nvnckmxeyr4WGJR6PsK1gAAAAAAAAAATKPmrE9pg9JQWYP30oapQ7afNpTmEi9yw9cm5Jzzm8K1ym4WqiUnH2TlFyvGLjVf/WnA9i01c1mLpeS5ZVh5LLWKv1lTraJ6Jj5GPdNMavr+0Ro1TH/g2Q+A2RjWAAAAAAAAwM7lQHZJ0P48Bw1rVVoQVVMx2BqVBFBLo3gkuQAAIABJREFUi4U+Z0hoUoECc2mu+CkXJ5Zewy9GXs6SlXxeP1n7TqMq5wXn5G0jRRAlxQcAAAAAAAAAzE/DM6ZSbdan7zdvB+S9SgckjCrGLuVJ9gre86Ly3DQD5XOj9FoqaeI4t9I1P9H0s1gtOfkgK788MXZPBzY4v9F4enI1PuPJsDIJtYp/soZaRfVMfIp6pvnU9P2jNUutYfLsB0BTDGsAAAAAAABgDqWBv9KA4U4MKAg7zkF15nFY8FunCAmVrOPOkCIHGKLq+/JnFBcp5hA/XyZMSbNi7FJh5/OC9R81UiBfskbPqgAAAAAAAADz83e3TKX2rM+QBu81DGwoXUOr+TwerzSP2Fxj2vBb1v48N5MsoaF7mVpy8kFWfpGuBjY2biVz2bIan/FkWJmKWsU/WkOtonomPkU903xq+v7RjIXXMHn2A6AphjUAAAAAAACwUzF2+yGEFwW/803fb64bOFolgbknCkhmVbLvpyhwKg1MvlakwIxaLX4asm7h5glVVhCwX8Ea2LFcwPBDwW/9scUC6C08a2alAAAAAAAAAMBO7Crrkxu83xS+fNZhDQNz06tvWLgCpXnElhvXl65d1r5MLTn5ICu/LDF2ZwNzhd/5nKtXhQ3eZVj5LLWKH7WGWkX1TIxqBQNOdqGm7x9NUMP0UZ79AJiNYQ0AAAAAAADs2knh7ztr4UgNKAg7nWA5fEEOM+1tuZ9uxw6Bxdgd5CBsiVUH0pjVTSPB9D/JRVvvCl9+MOHSqGv/GtawMjlcX1L8kAp1WnqWK7p350ImAAAAAAAAAIbRlJYl2WXWp6RBafJ85szDonPTlMtZpdIGhC1nh0ub02rWuKVacvJBVn5xYuzSIKTvB2zXRa67oV5TPuPJsDIFtYoft+RaRfVMTMH+HaCm7x+tWEkNk2c/AJpiWAMAAAAAAAA7k8MjxwW/LwXoSgsz5lASHN+LsTtqaBuXoiRYe5mDkf+fvbvJqiNJ0ATqmSfnUo16CLkCYd4LELECkSsQMephECsQsYEONO5BwLgHiVYQsIHnMO1JQ2+gxAqij0UYWYRSoOfm7s/N3O89R6cqs/TA/91e6fvMxjQkzKeAwlxqei5/Te72C9/Ccl1mFEJjOLy2MVxuMeVw5O0AAAAAAAAAWKMh2TO5FdZsyESqc05gt4bcNHmyn+mVXx/Zuec0+SfbKyUn38jKL0daeGPIO/l2wKTqLIMMK6PSVXzRkruK+kxQnpK+f9RiDR0mYz8AqmKxBgAAAAAAAHbpOCM80gwMc88hd3uFzncohDaW795k/MYpSnv7mZ976LrNzcjbAtuq/drLLW/tpUA/fM2aQ8JVS+OCtxn7cFRbOLzrNrnPPwuLAQAAAAAAAMxLZoXVSvmMi8z9P5oj8xVCu5bcNHlyJx68rvl4p3v5NvPjJqfdUmE5+UZWfhnSu/Q8893WPE4su/IJeVdPhpUJ6Cq+bKldRX0mKEiB3z+Kt5YOk7EfALWxWAMAAAAAAAC7lBPwe0iB7moMKIS9DaHNLSLQQyrAfcg4Zh+7bnM3wbHOLVwpnzCn2q+/Iduv8MdzPJcrFEJ7mDku+HFAcHhuOaXtd8aqAAAAAAAAAIMNyZ+ZkI+1y52g9NVMk7wdZ3ymutz0M+Sovi03h7OEY5u7D7JLWygwJ9/Iyi/GeeYkvI+OJ7zGqIsMK2PSVXzZUruK+kxQiEK/fxRthR0mYz8AqmGxBgAAAAAAAHYihDaWnPYyftdlChTWJje0eeqKnFYIbQzi/pLxS+4nPD+5waFaJ4hmAbpuU3W4Ob1b7jM/LuwHCxFCGyeyuMzYm09dt8mdAKAEOfvcGKsCAAAAAAAADDZkErIhk+NC9VJmLWeCtyZzEtdsaUK5txmfLy43nSYR7KvG7Peu5eYQlzCZZe4+mJj2GwrNyTey8vULoY3Xx7sBO/JT121yc4ssjwwro9BV3Nri7h19JihDwd8/irXSDpOxHwDV+JtTBQAAAAAAwI7klpyqDFR03eYqhPY2oxz5PoaUKg19Fi0V384zy28PTdMcTXhecsLBjTIbM8otvJbmLvP+E26G5Yih31c99yYGw48rPwJxv3/O+Fwcq14qTQIAAAAAAABkG5T5ihN6yReycrk50DchtAc7nNQzN/9sIrr1yF14oOqJaZM4Af+HjM/Jbj6j8Jx8IytfhIMQ2tzt2M+8Zx9dd93G+42nZFgZi67idpbWVdRngplV8P2jZGvsMBn7AVANizUAAAAAAAAwuVhuygzexFD2XcVn6Kxpml8yPneibDWeENqjGOCK4ZwBP/RkhwW9PpZQuII53WS+n6qV3smvU0D7MaT9+ovi5+uMAP8SHa79ACxdCO1p5jOg+mB4HGOH0H5qmuZdxsfPQ2gPCx0bAQAAAAAAABQt/lvrgIlym5TxuHKW10HW59913eY8ZT5yJrU82cXkdnFRlZRb7av23DT99J2c8dGar5HcCf8Xa+E5+UZWflQ5k6OO4T7znbhoax/jybAyBl3F3nQVy6PP9Ad9poqs4PvHpNbaYTL2A6AmFmsAAABgdv/zf/33/9M0zf9wJgAAYNFOMnfurOaDkgphZxllGgHIHlKp7ctQ3kGaZPtgQJnp0ffxXE64/SYDp0ZLKXznBhWLvm9DaPfT8+/xz+u1hbhnVPUE/muS3r8fMnb5xwWFfM8yw85xbHUl8AwAAABQjv/2v//fX5wOAACoyv2ACact1rAwsj5ZzjNzH0cxc7qDCe6OMrOrVeemvyBH9YJ032dZwoIeXbe5Grhw0WrUnpNvZOWpfGLZIYzxvkmGlaF0FftZUldRn6lg3n91W8L3j1LpMBn7AVAHizUAAAAAAAAwqRTQeZ/xO+67bnO5gLNzlhGieRVCe7yA4NHbENrfCtiOXA+pHFBsiLPkbQN2JwU2D0cMv5JP8LMCaXyaM8781HWbxZTiU+n508DA8/FCxuwAAAAAAAAAu3Q3YLGG7Am+KYOszyhysrlNOtZHabGHKeVMHFtybrr3ZKAm0Psmz/JMaYLGEvLTcvI7ICtfvZ/W9D4wxutHhpUhdBVX3VWkMN5/O+P7R8V0mIz9AKiHxRoAAAAAAACYWk7hqNlBEWpXzjMLYScLOgY1uk4BsM9rPxCwcFeZz+hZpZDmUfpzKMw8mdcL3S/+CDn3vW/um6Y5XuCxOxnwHImf+WcIbRw3nSrGAgAAAAAAAGwt/vvq28zD1XvSdOYl6zO+mO0Mob3InKB10nxuCG2cnPJNxkcXMfkek7t1iBmBnDy78iFN4LzIfKEx3ihkWMmlq6iruAT6TKyF7x86TI+M/QAo3l+dIgAAAAAAACaWG4BcROmo6zZ3TdNcZHz0TQqms1sxxPSPrtscKqDAi24cnt0Lod0PoY3h+Phu+aVpmneCzZPKKU1TuBDa08wJLxYZDk9j1dzx+qN4PH8Nob0JoT2Jz6rxthAAAAAAAABgke4G7JQ8QyVkfSaXmzOeOp+bk8N4WNikqfcFbMNSLSm/dF3ANqyNnDxzeMwXXi4lW2iMNx4ZVgbQVVx3V1GfaQbef2Tw/UOH6U+M/QCowd+cJQAAAAAAAKYSQns8IHT1nyG0az83MXhyVcB2rEEs/Jx33WZJZTeYkpLWDqXgYAxnvl/NTleq6zbe2wVL5ZIPGVv4fddtFlvqiOOfENqDpml+GPij4oQgP8c/IbT3qQhzkwoZX040cqPwCwAAAAAAAKzYoH+Djv/+LaNQLlmf3YhZjhDa68wJ746nyOeG0L6Ok+llfPS88BxF3wldhyxIA4xPTp4SxAmdD2PHqOs2lzWeEWO8aciw0peu4mBL6Cq6f3fI+48Mvn8kOkz/ztgPgNJZrAEAAAAAAIApnTi6g7yLgbau2ygtTW8/hf/vlFiBUqTy7ukIAUR6SoFyFiTdTzkFv4s1hMS7bnOSjtFYJYq99Ofdc39B2QkAAAAAAABYqzTJ/JC9P1zA5IqLI+szi/PMxRreh9CeTDBRW+7EsWcjbwfAU3LylCK+I/8ZQvt9TblMY7zpybDSk67iMLqKbMX7jwF8/9BhepGxHwAl+6uzAwAAAAAAwBRCaGMZ8I2DO5gQ6W7spXDPrzEIFkJ7nAI/ALMIoT1IpXrB5nnkLNbwsIQdX7DLjDL87ZrGYl23iRMGXBSwKQAAAAAAAABrcD1gH49cIWWR9ZlHmrzuPvOXH0+w0Tk5k08VTJR60PPvmwweyiInT2l+iddhDWfFGG93ZFjZhq7iaHQVeZH3HwP5/vEHHaYXGPsBUCqLNQAAAAAAADAVwb1xKEPsXgyE/dI0zU0tJQBgWZ4EmxUJ5pPz7r1Zys4vTQjtadM0b3vuVlx847jrNp/XdKxS4Pl7i48AAAAAAAAATG7IZOZv5ArLIeszu/PMDRg155wmjt3L+OjZmNsxkb6TC64qbwOVkZOnFMUv2GCMt3syrGxBV3Ecuoo8y/uPka3y+4cO03aM/QAo0d+cFQAAAAAAAMYWQrvfNM07B3YUseB0XEkZa2n2npQAjtY2WTN8g2D2RJ4Em/sWXHPdPinHPp0E4HOPxQc+d93mT383lY9/3eGhG9tBxdvOE+la/JBxTE6+vK7Xous25yG0V2kyg74BcQAAAAAAAAC2c5X579mPjgZMUs9IZH2KcJZ5L+3F/e66zZCFU57KmXTwfsTfP4l0jfe1yswNVEZOnhLEazCOSy5LOxvGePORYeU5uoqjqr2rqM80Ee8/JrSa7x86TP0Y+wFQGos1AAAAAAAAMIUTR3VUJxZrmFUM+dylUp4CGfwhBnCLK8bULhUIpgg2P6Sg8lX6n59LL/kWICfA75gWJoT2deaz6iIGfhd9cL6h6zZ3TdMcpjD8aQrHAwAAAAAAADCSmN0IoX0YkBOxWMPMZH3KECf4C6G9aJrmfcYGHY+R+UkZlZzffzr0d+9ATo7qroL9qtWSJqY1CWMZ5OSZW5yc9SBlFotgjDc/GVaeoas4rpq7ivpME/D+Y0cW/f1DhymPsR8AJbFYAwAAAAAAAKNKgZJjR3VUezFoUmHg5rrrNoe7+mUxpP9FCWk//TlMQcwhYcH42avSgmCpmKAYA/l29oza0vmIwebb9POuPCeyHFS4zfy7y4x76laZ57+k8ed5Cj0fK0kDAAAAAAAAjCpOTvcu8we+ixPplTSx7QrJ+pTjLHOxhPchtCdxwYeBe5KTm36oZILR3hk7z6VJvVnwvtVGTn4HZOVH9V3fiZHjNfHFf3WYrruDEZ9Hr9L7sKTcrjFeIWRYeaSrOIlau4pLos9EH75/1EGHaQBjPwBKYLEGAAAAAAAAxnY8YjCL/3KcQmo841vhrFQWiMfxKPManSQIFksPIbS5H3+9xd8BKpCChGOECC+apjlVeB1sP+MH9CqxMa0Q2tOMeyqW4I9HKOAvzpPQ834aSx0JPgMAAAAAAAAMdjlgsYYm5eFOnYbdk/UpS8x0htBeZ56T47TYwxA5k+qdV5JR6Zujup1oO5bGPZ+p72TzS1FrTr6Rla/aV+63f/3nJ1nC+A7cG7ifb0Joz7puM/sktcZ4ZZJhRVdxMrqK/M77jy/V/P1jLjpM4zH2A2BOf3X0AQAAAAAAGNnsAemFehtCe7D2gzBELAt03eY4Fcc+Zv6oGAS7DKEtpfiRM5k4jOFwIUcx9x6aouw3tDgfy8Z/j885weZR5BTHhGMLkYLfHzK25mQpQe+pxOdL121iKTKG4v/SNM13TdP8lJ5BAAAAAAAAAPRzOfB4HTves5H1KU/uJKODcs8htEeZWaOhC0TsSt+MnezNFobc92mywqqlfBfjXlNLzMk3svLlepIljOfoxzTR7BA/FPJsMMYrmAzrqukqTqPWrqI+0/i8/+hlwd8/sugwTcPYD4A5WKwBAAAAAACA0QwoHLEd4dIRdN3mc9dt4rEMmaWAvQGlvufcZn5OAYW5VB+ETIq4h0Jojwe+Py9S8FCoeQS5ZS8B2TKkoHbOZBbxPhr7/b4W8Z55u/aDAAAAAAAAANBXzLI1TfNpwIHbS7kTdkjWp0wp93GfsXF7Kf+cK+cevKjo/PfNhLiut5c7sfmas8M59/iqFJqTb2Tlly1OoNo0zcGA8/zofM7Jeo3xqiXDunC6ipOrsauozzQi7z+GKPj7x87oMO2csR8Ak7JYAwAAAAAAAGOymMC03ofQKhyMJE2qvZ9ZCniXO5n3Mz5nfu5gxG2APt4s5Gjl3kNjT8o/pOwbw5lK9+PKuS6GFswYTww5v+p7/txH/cRAeQhtDIb/KugMAAAAAAAAMEjOZF5PnTr8OyfrU67cSe6yzknK9L7L+GgVk/GF0ObkqK4m2JSlys0hLiE7nJvBNgHslgrLyTey8suXJmg+HJin3Zt5bGuMVwkZ1tXRVZxWjV1FfaZxef8xWIHfP3ZJh2lixn4A7NLfHG0AAAAAAADGkAo5gg7TO1auHE/XbT6H0B6ncljfUNR5CpGN4Srz/lFAYTbxuZ/ClFWKQb2M+/5Rbmns36TtyCnsRvfKB5PIebZWey8sSQjtacb79GFgwWB1UhA+J1D+nIc0Frr5orD/uc97Jp3/D2s/PwAAAAAAAEBdum5zHkJ7NuDfYPdiBi7+HKd+erI+xTvPzA7EiQH300TTfeRMrBcn5KtlQQM5qmndZWaHa5tM92tKmZh20QrKyTey8uuQrrnDdL5zJ9L+IYT2ctfvSmO8esiwrouu4s5U11XUZxp1O7z/GEVh3z92QodpesZ+AOyaxRoAAAAAAAAYS2646mPXbVYXzErBo18yPnpisYZxxRBNCO1JxvmIJdejrttcjrBBfQt+T7chpyAIYziovPh2mPvBkQtA2dsR3wcxzDritoxpyH7VuO2ewzNLAdycoOux9+j2Boxhv+YihuormoAAAAAAAAAAYCpxQrIfBvzs0/QzmJ6sT8FiBiSENuYR3mdsZc4EpTmLNZxlfGYufa+L24Kv8RLlZpaWcL/mTsAv59VTITn5RlZ+PZ4s2BAz5nuZO342w0IdxngVkGFdJV3FHlbWVdRnmnk7vP/4moK+f0xOh2l6xn4AzOGvjjoAAAAAAABDhdC+ziw2NZWVjkbTdZtYjLzP+HmvUsiEMs7HWOdiSEBUgJC51H7t5W5/zrPiJbllovv07GJEsdSXWQ4T1pxRGovmhLI/1hTmnlsI7dlIQecYcv57122OBZ0BAAAAAAAAfjc0RxknNKttYsVayfqUL/c498qDpixv35zRQ2XXQd+MXc2Tpc4hNzfzJuWlqjQgo9e4xvIUkJNvZOXXJU3cfBTfe5k7/maGsa0xXuFkWNdHV7G/lXUV9ZnG4f3H6Ar5/jEpHabpGfsBMBeLNQAAAAAAADCGk8yfcd11m7sVn4HcUJpS5TRyjuu7Mbak6zY3A8oICijMZa3h5rHLfrnbUXo4s9br4yjzc0qg84r3w6ueW3DbdZvcMezqpKDzDwP3O451vksh5zV/BwAAAAAAAAD4k/RvqBcDj8qHNAE205L1KVyaeO02Yyvjoid9skM5kwhWM2ls5oT6Jr3rZ62T12dvu4kVB5ktJ9/Iyq9SOudDMponOx7bGuMVTIZ1tXQV86ylq6jPNO92eP/xLbN+/9gBHaYJGfsBMCeLNQAAAAAAADCG3JBINaWjieQGIGMhTGhsfFlBwRHPRW6BKHdicRgqPosOajyKqbzzJvPjpZT9Sl8coMprIzOUHQOznyfYFrYQQhvHoW97HqsH78/thdAejxB0jpMg7CtMAwAAAAAAADxrjDxl6ZPlrZmsz27l3k9bLcCQ8md98yrNgNzwHHJyVHIhPaTMWc7CIk3l2afcbc89Vvxh7px8Iyu/Pl23ie+9T5k7/qqSvpEx3sRkWFdNVzHPWrqK+kzz8v7jW0r4/jEJHaZpGfsBMDeLNQAAAAAAADBICj+8yvgZ9123WXUxsOs2d03TXGR+/HTkzVm9AaWnuRdreBVCK6zFXLYqpxZoyD0zdlAvp7Qb3Y28HaNJ4fGcscHc2/26aZp3GR8V3pxJKlj8nPHbj9M4jG9Ix/iXgcfpous2BxY1AQAAAAAAAHhe123iRHfXAw/RmxBa2cJpyfpUIE0O/ZCxpe/S8fiWnIljLyrLq/TN2N3L42RZ1eT1KaOXm7u2INEABeTkG1n51TrOfCc36b28qwl7jfEKJMO6XrqK+VbWVdRnGs77j0kU8v1jdDpM0zL2A6AEFmsAAAAAAABgqJzCUXTmyP/uPPNzb7cshNHPTcbxGus8DAkE596HMFSt5afcUPZDKsaXoOSQZq3XRe52W6xhBqm4m/Pu/Lj2Es62Bhzjp2LQudYiDAAAAAAAAMCujfHvqx9MaFwkWZ/dy80pb3Mf5tyruXnhubzr+XvlcfKsbfL6owETp7rGhpszJ9/Iyq9TmiR1yBi39PenMd5EZFhXT1dxmLV0FfWZ5uP9xzbm/v4xKh2maRn7AVAKizUAAAAAAACQLYT2sGmaNxmff6iwdDSJrtvEks1t5s8+LXz3apQTFhwlBNZ1m7sB14LFO5jLXm2FvwHvrqaksl96ZpTqsOBte0luqcNiDfOIY8m9nr/5tus2SpvbO8k4xk/dCjoDAAAAAAAAbC/lQS5GOGTnIbQHDn05ZH1mkZtTfjFbEkJ7nDHZ/G3KC1chMxMoQ5UhTdj4kPnxGnM5udmtkiamrdlsOflGVn7V0rPuOvMYxKx6sb0ZY7xJybCulK7icCvqKuozzcT7jy3N+v1jAjpM0zL2A6AIFmsAAAAAAABgiNygyGXXbT478v9ylvm5oxDa1xNsD/MZEgy2eAdzqS00OGR7iymUppB2cVIZ7l2J2/aSNEFBTuj92phm90JoTzKuswfB++2le/nDgB9x73gDAAAAAAAAZDkZMHH3oziR/NUa84UxAxIn9H3yp4hFK2R9dm/A4iev0oIMz8mZ+C03JzyXvvv4kCbiJk/usXtX0+T1S5mYlsFk5ddryMSpJ6U+74zxpiHDunq6iuNYS1dRn2kG3n+sjQ7TtIz9ACiJxRoAAAAAAADIMjC8VFvpaFJdtznPLFe+qjBUyMuGlInel1IsZXXelhq0/VLaztx314PC31aGlKnmlF3qqHR/q5XedT9nbP+RAk4vQ0qxjeMNAAAAAAAAkCf9W+sYkxGvasGGENo4oWScnL9Lk3s9/ulCaFe5cMWWas36bCs3//DV45JyK297/qz7lBOuQrpX+mbsipk0tFJDro+aMvlD3m26B8shK79SaRGlnzL3/pXnQG+1j/FkWFdKV3E8K+oq6jPx1NL/fxzMQIdpJ4z9ACiGxRoAAAAAAADIlRu8u+66zY2j/m9yQ6FCZAuSSgifBuyRcDFzqaVMOqTsdzlRcO8+83PFFc5SUbe6RYRSqeN95scF3ncoXWM5x/ynrtsohW8pTmCRMbHAUz8Z7wMAAAAAAADk67pNzIHdjnAI3zRNc7PkiY1jliCENmaX/tk0zd4zf+3tiAtXyPpUJOVFcu6ltylT9KWc41XNQg1JTi5ZhmqAdJ3mPlve1TA57cA80q0s0nLIyq/eWebE4c0OnnfGeIWQYV09XcVxraWrqM+Uz/sPvn1d6TBNyNgPgNJYrAEAAAAAAIDeUsgkN3hXW+loV3KPy14IrQUbxlNCWHBIiSQWBAULmUN8Fg0JDk8u3RtDwntTvb/uMj9XYok+HuNXBWxHX7nn9joVB9ntuXpuYoXnxPNU9POpQEPGIvcKsQAAAAAAAACjGCsXuJcWKih+Mu++0iIUceKz91t89M3AiREfyfrUJzfH8KcsZspOH2X8nNpyFH0zqA9dt5ENH27I86noayzdO0OuEVmk8ZTyLpKVX6k0yfSQ83c+0uJbX2OMVw4Z1pXSVZzEWrqK+kz5vP+Y0hIWj9Vhmp6xHwBFsVgDAAAAAAAAOY4zw0v3CjlflyZ7vsj8uMUaxrOf8ZM+j7kBXbeJ5dHrAT/iNJVQYdc+lHrtpe0aEnS8TffmFG4yf2ZO8XcyIbTx+fmhpG3aRgjt0YDQuzHNbsXw/Luev/GhtHuldKmo0jdM/tRpKlQCAAAAAAAAMEDXbWKm5MeRjmHMe/66pMmN079vd2kRhm2NkbWU9alMyi0/ZGz1l9fLUUZ2+qKmHEVa1KVvbuRyos1Zm8vM6zR6E0Jb8uSE5wMmTdU9GNfsOflGVn710j2de/73Bi728BJjvALIsK6eruLIVtZV1GfK4/3HlIr4/jGADtPEjP0AKJHFGgAAAAAAAMiRG3AWfnxZ7vF5mwpSDBBC+7pncfNRbjDxJUNCmDGcfJ72B3btsrRrL23PkLJfNGWRMfcZ8iqEtqQAfHXv+CfXRo4HpY6d6xtyjo4Eb7eXSgpDiozX7gsAAAAAAACA8XTdJmZWPo34I38Oob1K/z5cpZiVDKG9y5yE79UIWUtZnzrl5L++PGc5mYqSJ9D/mpzsam37WKSUcRpyLH8o7Bnzu7RIUE7u65HraySF5eQbWfnVG5JT/DDRWNYYb2YyrOgqTmZNXUV9pv68/5hEgd8/cugwTcjYD4BSWawBAAAAAACAXkJoj5qm2cs8asIPL+i6zVXTNLeZHy+uYFOho8xNHj0Elq6F6wE/IobZrkosocRtis+RENrTWMKqufjLV+2VdO2l7bjKDHg+up84vHc14LNDymqjCaGN4e+3JWxLT0NC70qg5fspvU/Z3tnAIkgRzyQAAAAAAACAhTkekCv8mpjxuIn5rZoOU8yZhdBeNk3z64AM6xhkfeqUm/86TsfsMCODFieNK2mSwRelLGff6+K2pn2sQLw37wds5lkI7UEpu5kmb/15wI+4T4sWMY5icvKNrPzqpXfHxwHHYYpctzHe/GRYV0xXcTor6yrqM/Xn/cdUivr+sSM6TP0Y+wFQJIs1AAAAAAAA0NdJ5hG76LrNnaP9TbmlkveC/IPlBnSmCoHl3muPiiuhpIJvfA78s2maD6lx1rq3AAAgAElEQVSEdZMKWSxHEdde+v3nA4PNzQj34ovSuzE3/L4Xi1xTbt+3pPv3hzm3IUcKZL8b8COUOsoWy+6Ctz2kSQWG3BMXguUAAAAAAAAA4+u6zec0QeLDiD88ToT1IYT2rvTsVpx4PIQ25jT+78B/1x6FrE+d0nm7yNj4tymbm3Of1JYvysnamEh/ROl5PyTz9CplN2dfsCE9a34Z+GNmfV4uUGk5+UZWfvVOB4xv36aJ3UdjjDcvGVZ0FSe3pq6iPlMP3n9MqMTvH1PSYerB2A+AklmsAQAAAAAAgK2l8sbbzCNmUuMtdN3mfEDoXCklUwrn7WV8+naqYG/XbWK47OPAH1NKyHQ/hPYqlU5effF/jv/5l7ELE8zu8dqbJZidrvmrEQraMSx5OdJmvWRIafV0rnLlSIXKnRshkK3UUbb7pmm8U/obMlZ/GFgUBwAAAAAAAOAFKUt2OPKCDU3KzP2SFm04KWyy4+OUOeviBJEj/ugxMh+yPnXKzUacZlyD9ykPXIU0Sd6i97EW6ZheD9jcxwUbZpsYPk3YOvRZs6vs5iqUmJNvZOVXLy1QM6T/cjbBeTfGm48M64rpKk5vhV1FfaZ+vP8YVanfPyakw9SfsR8AxbJYAwAAAAAAAH3kBuxiUObKkd5absjtuKSyZC1SKDD3mE8d7D1Nga0hYsj0bq6CRypd3WwRnj53/S5OvPZudn3tpeLoXfr9Q+2qsHg5IPz+ao77p/KFGoZst1Bn+Y5SiY8thdCeZobhH51ZwAQAAAAAAABgWmlC46kmSYz/Zvxz0zT/GUJ7mRZK2HmWK+aMQmhjDuZzynfkTtj5nOuR/n1b1qdCKcd8m7HlOYuF1DZpbE4easiEnrzseODiPI8Tw+/0HMXnWnyGp/fJEA87zG4uXuE5+UZWft0GLlCzN8HY2BhvBjKs6CruzNq6ivpM2/P+YzQVfP+Ygg5TD8Z+AJTOYg0AAAAAAABsJYWmcgpHjUJOb7nBohhwm6VkUKt0XZ+nY5fjcspdT0GtMc5p3L9/piLt/gg/75tiwDSE9i6VrrY5vvHvHO5i2xjF7ZZh3Mdrb/LwbSr6xffNrwPu6ad+2lV4L93rQ96VMch9tcP7+2yLYPOQsugkttzubxHqLNuPaXIKtpSezUMKi/fG+gAAAAAAAAC7kSa0/X7iX/Yu5Sviwg0xj3KaJhscXcqYnabf81vMGaWc6hjZn6/JmZD+38j6VG0XGYeHmrIUafLSvguj3Fc8iWLxUj5tjAnIfwihvZnqGf5Uuo5uBnQNnjqW0RtH6Tn5RlaePwx53n0Y83wb4+2eDCu6iju1pK6iPtOIvP8YSw3fPyagw9SDsR8ANfibswQAAAAAAMCWckMQD5UGZWYTw3QhtBeZgdNTBajthNAexDDggADYxS6CjzGwFUL7YypyDBWLtO/S9XU6xfaH0B6n58WbjI8feF5U43N63mx7Xcbn2VEKxZ6lMO8ongT1TkYsal933WaUcnYPZwP3Id5z8Xlx1HWbqyk2MD03z7e8v+P+fJhiO/pK18hlRqn4S0KdZfvUdRvnp7+zgc/O0zGf6QAAAAAAAAC8LC7YEELbjPDvvdt4m/58SL8zZifuUu6uSRNzb/Nvxq9TNqxJkxTHCfz2dnyqvx85UyPrU6F0/0x971zWkqVIuaqcvI28yMTStXo4wuIH8f7/NYT2Op23UZ83aRtPR8jmPYrZbDniEdSSk29k5Vcvnf+PcYGZzGNxPvIiGMZ4uyXDiq7ijiysq6jPND7vPwap6fvHiHSY+jP2A6B4FmsAAAAAAABgW7kByHMBiCznmQHIvRRsEzp9RgpCng4I9Dcp2Jt7T/QWg1sptDa0dPUo/pz3IbS36Vq7zA20peMZCw5H6c/UBWAKka7L4x5lo1cp7BrL25/StXeV+46Iz7p0zY11Xzx6SD93p+JxSMfznwN+76tUrBy1ZBZCu5+em9se6/tSws3pOjkf6dl0bExTrHjNHa/9IPQ1QqE7FkEsEgYAAAAAAACwY2kS75uBk6Dl2Et/xpqUe1e+H/vft2V9qjb1vu56Us1e0vWxnz5znLFwSszX3aXcSeleZ2zf/gv7drPj/NhJmtg9Z0L4L71Nz5sxcsMHKTd8MvLCO7ddt5EBG6jGnHwjK88f1+xx5rF9O2Z/xhhvd2RYSXQVd2sxXUV9pnF5/5Gr1u8fI9Bh6snYD4BaWKwBAAAAAACAb0phq9xQ+Zkj3F/Xba5SOSCnYBPDSRZr+EIK9ByPVJI43XWwNxaQQmibkYOc8fr6Of4JoY0hsZv05y79ec5hKuuNVQKjXseZpe936U+TnnVX6Zq7eeEzB0+uu6kK3zHgeThXcD+G11Mweeh9/lgyu0gFs6x3QgqQHz+eqx6OU1h74G7kS4Hs8xGvlY/x3TzHvrCVI4WbLEPH6UVPLgAAAAAAAACwZF23uUmZuHMZrmc9ZoFeyiRlk/Wp1vmEkzZejzUh5ZhSDvxkpGfF7xNwlrN3o3v/0j2d7pPrNEHwpJMEpvvyMOUrx3rOP5cbjn+ey1+9TrnNxz9jLtDw6DZlk8lUe06+kZVftfS8i++pXzKPQ1zIbH+s69YYb2dkWFdOV3H3FthV1GcakfcffSzh+8dAOkz9GfsBUAWLNQAAAAAAALCNk8yj9KnE0lFFzjID529T2HxVxz5NzL3/5L96/M+HKQw5NPj1KF7XcwV7T9I+TRHs3Et/+oYYx2SRkcqk0veQckyTgt6lFJlOpipn99mGEctdjyHnhxQg/1ap8ulzM/c5M/uiBiG0B5mh++fcCnUW7ccC7tvqpILTkOfMhQVMAAAAAAAAAOb1ZMGGs5EnNl6C6x1NnCbrU5mYrR1pAsqvKWrS2BDa1yNP9M8f3qasdpxI9XjKYzLRgg2PSsgNN48LNZjo8mUryck3svLrFRfASbnGnHP/KuV8c3tPX2OMNyEZVhJdxXkspquozzTNNnj/0azr+0cOHaaejP0AqInFGgAAAAAAAHhRKnjkBiFqC8oUJQXOzzLDSzFsPmkBaAsxiPnbzNswtts5j2sqIh2G0J4vsFx7IahWp/SsiqXOnyvfle/jvsy9EalceZRCyGOFV1+lctnUBbPbrtuMWXTqbYKFGh52VNwnT43B7FIMuVcfLGACAAAAAAAAUIaUaTgOob1Kmc2xMhM1+6nrNjv5d21Zn2pNkcG877pNaZNwn1qoYVJx4tG7qZ83Ey/YMLeaF2qQk5+ArPzqxXFJl3kQfojdm7EmETfGm5wM68rpKs5nAV3FP9FnGpf3X9F8/yiDDlMeYz8AqvFXpwoAAAAAAIBvyA28xNLRlYM7WG54530KGzKeYgpBXbeJ9+XHubdjRBcDQ1fMLAUNLyo9Dw+lBJsfpaLQYdq2WtymbZ7bmJMOPKTn/ijFLUZ3X2EwuwghtPsDi9ujFRoBAAAAAAAAGEfKvhw0TXO94kMa8ythVws1PJL1qU/KN9+OvOFFTdaX8iE/FLApS7eT7OvjBPYLe8Z/qnihhiUqauEMWfl1SotZDDnvo44BjfGmIcNKoqs4r0V1FfWZxuX9x47UuHCfDlMGYz8AamOxBgAAAAAAAL7lKPMIFVU6qtiQsJ2Q2XiKKwR13SYWNr6vLPz4NT/GQo2yVf1SMer7ynbkcTL+YoLNj1Lh6DCFOUtXREg2Bf/fjvgjj9N5oDzx3j3y7si2P+Cz98b5AAAAAAAAAGWKE1d13eZwIbmyPh5SDu1grqyHrE+Vxsw/PAzM+05Bhng3XoXQ7uRYx3s2PeOXMIH9T123kf8qR5ELZ8jKr9bpgHOe2316ljHeJGRYaXQVZ7e4rqI+07i8/5hYjQv36TDlM/YDoCoWawAAAAAAAOBZIbQHsUSScYRKLB1VKZYnm6a5yNz2g5UfvrEUWwhKgcx4nq8L2Jy+YhgydN1GYGpB0jX5j0qKUfG+2S95Mv60bQfpfilVScHmsd578fr9rus2lyP9PMZ3YiGNQYbcr6cC5gAAAAAAAABlSxmeOBHWTwtftOEh7eN+CTk0WZ+6pPtkrPvjssBjOmQyPPrZaV47TWBfS07zS/cpm3da1matWtELZ8jKr0+6Fk8ydzyn+/RNxnijk2FdOV3F+S21q6jPNC7vPyZS68J9Okz5jP0AqIrFGgAAAAAAAHjJ68yjU2LpqGa5YdIxA5BrDBNdp4JE0YWgGJLtus1h0zQ/VlS8isG6g4WG1K4K2IZZpQnuSy5Gxfvkx3jf1PCuitsY75dULC/NxTeCzTnXwN3M+/iQ9mn193LBLlKRohYlLvZ0kzlmuK7s2G/DdxYAAAAAAABgkVLm5DTleC4WtmjD00Uaipq0S9anOmNNoG3i+XXLzdtnSznN/QGT7M7hY3wnFZrNk5MvmKz8+qScYlE5dGO88ciw/slaM6y6imUooas4On2mcXn/Tcb3j7roMA1g7PcnxjEAFbBYAwAAAAAAAC/J+cf/B6WjcaVSytwBsauFlTVfct80zfcp+FhN+K3rNmepePWxgM15TgxC/r2SYF1uGUxoquxi1HUq+41Vst2ZdN+EQkLj8Zz+o+s2x98IiPe+H+K1M2C7hj6zb9P1UXvwOXf7d1mez93GeI5ORt6WqeXs6y7ORc5zsPT3d85xU4YFAAAAAAAAFi3leI5TtuynlI+r1X3KIxW3SMOXZH2qMcakb9cLOA5UKE2cGp/v3xU8GW30KWWHTwp+bsvJV0BW/l9y3zm1ZeVysqKTj3ON8UYjw/qHtWZYdRULUEhXcRL6TOPz/hud7x+7p8P0MmO//oz9ABbKYg0AAAAAAAA8KwVg+gZ/TpWOJpET6hntPKTwWnVhwJ4+pbBeLHKOUcDbuVS8itfK31MRpZTg3mPx5LiW50MKHvc9fvcLmOR9VE+KUT/NfD3GQPB3KdxZ7TsqXl8pNP79jMX5j6nwfrnF393m7zz1aciGpXdVbvj7Y9dtDpYwhknH4Tbjo33P1xA5C+LEZ8i3AvUl6vteuN/RdXjW8znyMb0bS5azfbu87gEAAAAAAABmk7JlMd8Zszz/GJrT2KGHlD/7LmX7zmrJDsj6lC9lNIbuh0ljmVXM9KRnTWmLNsRnd+i6zVHpuTw5+XrIyv8uJ/N2XVv2MmXy+y7MsZNr2xhvFDKsf1hlhlVXsSizdhWnps80Lu+/8fj+MQsdpuftosNk7PcH/SWAClisAQAAAAAAgG/pE/y5SEE2RpbCqD/2+KkPY4fNY1EzFQmW4rHEGUOC/5HKQIsIvMSAVCqi7Kf9y5m0e6jbdM3+R02LNHyh7/MsJ6i8eI9F73Q9/rjDUO7Dk7LfYQUhva3FoGoqzn+/o3Llw5Mi2cm2QdMUqO1zvscYQ/QtP9+n4PvS7t+++/PTLgPE6Xf1KdHFa/CwxgVxMvZ1JwX+tF1HWxZPbmuYWCCNNfqMVa8tsgQAAAAAAACsUczJxbxczHal/MlFQZMdNynPcZEmdXud8mfVZn9kfYo3ZD/ul5RLo25PFm14nMR+jglU79NkuI+T1leTzZGTr8uas/IZmcSm4oWFTnuc29tdj02M8fLJsP5u7RlWXcUClNBVnJo+0/i8/8bh+8du6TC9aPJxlrHf79Y+9gOoxl9+++03ZwsAAAAAAIAXhdDGcNL7b/y1GH48diSnFUIbSwU/b/FLvk+hstGF0B6mSaDfVXLYYrAuhl9iqOfm8U+liwdkC6GNQcjDFGyK//PVyL8ihqWu0p/LpRzfLZ9/Ta3PwHQ//5rx0etU6sv9vQdN0xyn63Ev9+d8RbwOL59chzubfH5O6f4+Ssf0zYib8ikdz+xjmc711RbPnNHeWyG08Tj88o2/Fq+VsxRwXqQtj0Mz1/MrhPZ1uja+dc3G9/hRzaHUHvu683ORtu3shXddDGmf1vI87XGsb1N4fhXvCQAAAAAAAIBtpJzHYfpzMHKu5yW3T7J9i8mePUfWpzwhtLmT7xR7HEJoYy7qQwGbsgY/lZpDe5LVPBz5efPU9ZPMZvUTD8rJ12ttWfkQ2sstr9Oq39npOXb+jWdYEXlAY7z+ZFjXnWHVVSzHXF1FfaZl8P4bxveP3dFh+qqdvmeN/fSXAGpgsQYAAAAAAAC2kib8PflKcOA6TXZ86UjuRgqKnaQg25dhsU8pkFJ92YVppTDkwZM/r9P/vk0x5TaF6q5SwO5myddcCO1jaPRrwcdP6Rl4NcOmDTZXuPmpL67Fw3QtbhPQXdV1uK0U9Dt4UpqP//ntFh+/fhKWvRrzmk7bdPpMmH2Seyhd22dfuZYe0n9/toaQ45Pg9teKh59ScH3WEl4qhh9/5dq4TeH6xZyrb+zr2Zzn4klRdT/9V59rngAjlYa+VviY/VgDAAAAAAAA1CRlD/bTn8csyrb5nqcesz6P+ZT479F3teauxiLrM7+Uj/4lY0NiDmm/1FxLxmIN3639fnwUQnu15X34qNjFGr6UnukHXzzTt32e337xDL9xzVCyNWTl0zvs+Jln1mLe2WlscvKV/GWxeUBjvN7bJsO6UrqK5Zijq6jPtDzef9RAh+l3s45JjP0AKJnFGgAAAAAAAABgpUoIN8OUUoDzX+FNAXgAAAAAAAAAAOBRxsT8jz523eak1ANpsYZ8S16sAQAASqHPBAAAlOZvzggAAAAAAAAAAEvUdZu7pmnunFwAAAAAAAAAAOCpNDlozkIN0ZmDCQAAAAAAsAx/dR4BAAAAAAAAAAAAAAAAAAAAAFiR48xd/dR1mzsXCgAAAAAAwDJYrAEAAAAAAAAAAAAAAAAAAAAAgFUIod1vmuZ95r6euUoAAAAAAACWw2INAAAAAAAAAAAAAAAAAAAAAACsxUnmft533ebKVQIAAAAAALAcFmsAAAAAAAAAAAAAAAAAAAAAAGDxQmhfN01znLmfp64QAAAAAACAZbFYAwAAAAAAAAAAAAAAAAAAAAAAaxAXaniVsZ8PXbc5d4UAAAAAAAAsi8UaAAAAAAAAAAAAAAAAAAAAAABYg5PMfTxzdQAAAAAAACyPxRoAAAAAAAAAAAAAAAAAAAAAAFi0ENrjpmn2Mvfx3NUBAAAAAACwPBZrAAAAAAAAAAAAAAAAAAAAAABg6U4y9++i6zZ3rg4AAAAAAIDlsVgDAAAAAAAAAAAAAAAAAAAAAACLFUJ72DTNm8z9O3dlAAAAAAAALJPFGgAAAAAAAAAAAAAAAAAAAAAAWLKTzH277brNlSsDAAAAAABgmSzWAAAAAAAAAAAAAAAAAAAAAADAIoXQ7jdN8y5z385cFQAAAAAAAMtlsQYAAAAAAAAAAAAAAAAAAAAAAJbqNHO/Hrpuc+6qAAAAAAAAWC6LNQAAAAAAAAAAAAAAAAAAAAAAsDghtK+bpjnK3K8zVwQAAAAAAMCyWawBAAAAAAAAAAAAAAAAAAAAAIAlOmma5lXmfp27IgAAAAAAAJbNYg0AAAAAAAAAAAAAAAAAAAAAACzRceY+XXTd5s4VsTo3az8AAAAAAACwNhZrAAAAAAAAAAAAAAAAAAAAAABgUUJo40INe5n7dFbxsfhcwDbUqu+xu1r7AQMAAAAAgNpZrAEAAAAAAAAAAAAAAAAAAAAAgKU5ydyf667b3FR8LPosIPDQdRsLDvyXvue95usEAAAAAABWr7FYAwAAAAAAAAAAAAAAAAAAAAAASxJCe9g0zZvMXTqv+VCkhSaut/zrlxNvTlW6bhOPx/2W23zRdZvPaz9mAAAAAABQO4s1AAAAAAAAAAAAAAAAAAAAAACwJKeZ+3LfdZuqF2tITpqmefjG37lNf48/O3LsAAAAAABgPSzWAAAAAAAAAAAAAAAAAAAAAADAIoTQ7jdN8zZzX5awUEPTdZubpmnicbj4ysID903T/NQ0zWHXbT7PtInFSsfuwLEDAAAAAIB1+JvzDAAAAAAAAAAAAAAAAAAAAADAQhwP2I2zpRyEtJjAkGOxWl23uXPsAAAAAABgHf7qPAMAAAAAAAAAAAAAAAAAAAAAsBCHmbtxkRY4AAAAAAAAYCUs1gAAAAAAAAAAAAAAAAAAAAAAwFIcZO7HmSsAAAAAAABgXSzWAAAAAAAAAAD0deWIAQAAAAAAAAAAUKhXGZt13XWbGycUAACgWPpMAADAJCzWAAAAAAAAAADrlVss/eyaAQAAAAAAAAAAoFDXGZt16mQCAADshD4TAABQFIs1AAAAAAAAAMBKdd3mc2Yp9dI1AwAAAAAAAAAAQKH6Tvx53XWbKycTAABgevpMAABAaSzWAAAAAAAAAADrdtpz7z923eZu7QcNAAAAAAAAAACAYp312LCHpmmOnUoAAICd0mcCAACKYbEGAAAAAAAAAFixrttcNU3z/ZZH4DojDA0AAAAAAAAAAAA7kybw3CYXFxdqODThJwAAwG7pMwEAACX5y2+//eaEAAAAAAAAAMDKhdAeNk1zEounTdO8+uJoxFDzeddtztd+nAAAAAAAAAAAAKjDk1zcuy82+L5pmjgx6KmFGgAAAOajzwQAAJTAYg0AAAAAAAAAAAAAAAAAAAAAAAAAAAAAAMCq/NXpBgAAAAAAAAAAAAAAAAAAAAAAAAAAAAAA1sRiDQAAAAAAAAAAAAAAAAAAAAAAAAAAAAAAwKpYrAEAAAAAAAAAAAAAAAAAAAAAAAAAAAAAAFgVizUAAAAAAAAAAAAAAAAAAAAAAAAAAAAAAACrYrEGAAAAAAAAAAAAAAAAAAAAAAAAAAAAAABgVSzWAAAAAAAAAAAAAAAAAAAAAAAAAAAAAAAArIrFGgAAAAAAAAAAAAAAAAAAAAAAAAAAAAAAgFWxWAMAAAAAAAAAAAAAAAAAAAAAAAAAAAAAALAqFmsAAAAAAAAAAAAAAAAAAAAAAAAAAAAAAABWxWINAAAAAAAAAAAAAAAAAAAAAAAAAAAAAADAqlisAQAAAAAAAAAAAAAAAAAAAAAAAAAAAAAAWBWLNQAAAAAAAAAAAAAAAAAAAAAAAAAAAAAAAKtisQYAAAAAAAAAAAAAAAAAAAAAAAAAAAAAAGBVLNYAAAAAAAAAAAAAAAAAAAAAAAAAAAAAAACsisUaAAAAAAAAAAAAAAAAAAAAAAAAAAAAAACAVbFYAwAAAAAAAAAAAAAAAAAAAAAAAAAAAAAAsCoWawAAAAAAAAAAAAAAAAAAAAAAAAAAAAAAAFbFYg0AAAAAAAAAAAAAAAAAAAAAAAAAAAAAAMCqWKwBAAAAAAAAAAAAAAAAAAAAAAAAAAAAAABYFYs1AAAAAAAAAAAAAAAAAAAAAAAAAAAAAAAAq2KxBgAAAAAAAAAAAAAAAAAAAAAAAAAAAAAAYFUs1gAAAAAAAAAAAAAAAAAAAAAAAAAAAAAAAKyKxRoAAAAAAAAAAAAAAAAAAAAAAAAAAAAAAIBVsVgDAAAAAAAAAAAAAAAAAAAAAAAAAAAAAACwKhZrAAAAAAAAAAAAAAAAAAAAAAAAAAAAAAAAVsViDQAAAAAAAAAAAAAAAAAAAAAAAAAAAAAAwKpYrAEAAAAAAAAAAAAAAAAAAAAAAAAAAAAAAFgVizUAAAAAAAAAAAAAAAAAAAAAAAAAAAAAAACrYrEGAAAAAAAAAAAAAAAAAAAAAAAAAAAAAABgVSzWAAAAAAAAAAAAAAAAAAAAAAAAAAAAAAAArIrFGgAAAAAAAAAAAAAAAAAAAAAAAAAAAAAAgFWxWAMAAAAAAAAAAAAAAAAAAAAAAAAAAAAAALAqFmsAAAAAAAAAAAAAAAAAAAAAAAAAAAAAAABWxWINAAAAAAAAAAAAAAAAAAAAAAAAAAAAAADAqlisAQAAAAAAAAAAAAAAAAAAAAAAAAAAAAAAWBWLNQAAAAAAAAAAAAAAAAD/n727x64jSdMDHFOnHFmkrPEEjCMXiJwFAL0CYgzZRBs6MomWFsBbG5i6tMco0NUYDa6ggAUoA1hBETOWLAErKJ3oCvSg2Py5GZn33vx5nnNw2NWFzBsZGZlAN78vXgAAAAAAAAAAAACARRHWAAAAAAAAAAAAAAAAAAAAAAAAAAAAAAAALIqwBgAAAAAAAAAAAAAAAAAAAAAAAAAAAAAAYFGENQAAAAAAAAAAAAAAAAAAAAAAAAAAAAAAAIsirAEAAAAAAAAAAAAAAAAAAAAAAAAAAAAAAFgUYQ0AAAAAAAAAAAAAAAAAAAAAAAAAAAAAAMCiCGsAAAAAAAAAAAAAAAAAAAAAAAAAAAAAAAAWRVgDAAAAAAAAAAAAAAAAAAAAAAAAAAAAAACwKMIaAAAAAAAAAAAAAAAAAAAAAAAAAAAAAACARRHWAAAAAAAAAAAAAAAAAAAAAAAAAAAAAAAALIqwBgAAAAAAAAAAAAAAAAAAAAAAAAAAAAAAYFGENQAAAAAAAAAAAAAAAAAAAAAAAAAAAAAAAIsirAEAAAAAAAAAAAAAAAAAAAAAAAAAAAAAAFgUYQ0AAAAAAAAAAAAAAAAAAAAAAAAAAAAAAMCiCGsAAAAAAAAAAAAAAAAAAAAAAAAAAAAAAAAWRVgDAAAAAAAAAAAAAAAAAAAAAAAAAAAAAACwKMIaAAAAAAAAAAAAAAAAAAAAAAAAAAAAAACARRHWAAAAAAAAAAAAAAAAAAAAAAAAAAAAAAAALIqwBgAAAAAAAAAAAAAAAAAAAAAAAAAAAAAAYFG+d7sBAAAAAAAAAAAAAAAAAAAAYH9ibE5DCBchhPzni08GchNCuEypvVziLSpzE1Jqr/c/GgAAAAAAAGBO/u7XX391QwEAAAAAABhEjM1hCGFVGgUPzOpf3OcGyRDCOqX2YQTjAQAAAAAAAAAAAEYkxmYdQnizwYhyaMPZEuoRY2zOSk3q0Sf/6q7UZC4yuAIAAAAAAAAYlrAGAAAAAAAABhFjcx5C+MlsftF9aZC8Hen4AAAAAAAAAAAAgB0roQR/7vCp71JqL+Z8n2JschDD629822KCKwAAAAAAAANEwp0AACAASURBVIDt+c7cAgAAAAAA0FeMzamghm86CCGsRz5GAAAAAAAAAAAAYLe61ha+ibE5nOs9irFZbxDUkJ2EEC53MCQAAAAAAABgxoQ1AAAAAAAAMISVWdzISYzN8QTGCQAAAAAAAAAAAGxZqSk8qPiUsznemxib0xxG0eGQV+UYAAAAAAAAgCrCGgAAAAAAAOglxuYwhxCYxY1pCgQAAAAAAAAAAACyl5WzcDi32YuxyXNxWXHo+RaGAwAAAAAAACyEsAYAAAAAAAD6ml3D35bVNlYCAAAAAAAAAAAA83JaeTXHM1wHqxDCQcVx6lgBAAAAAACAasIaAAAAAAAA6Ku2URAAAAAAAAAAAACAhYuxybWob5Y+DwAAAAAAAMDuCWsAAAAAAAAAAAAAAAAAAAAAAHYuxuZlCOGyx+feumsAAAAAAABALWENAAAAAAAAsFtX5hsAAAAAAAAAAADgL1YhhIMeU9En6AEAAAAAAABYOGENAAAAAAAAsDt3KbW35hsAAAAAAAAAAABYuhib0xDCmx7TcKMuEwAAAAAAAOhDWAMAAAAAAADsxmMI4dxcAwAAAAAAAAAAAEsXY/MyhHDZYxrUZQIAAAAAAAC9CWsAAAAAAACA7boPIbwLIRym1N6aawAAAAAAAAAAAICwCiEc9JiGVUrtR9MIAAAAAAAA9PG92QMAAAAAAGBPblJqT00+AAAAAAAAAAAAwHLE2ByHEN70uOBcg7q2ZAAAAAAAAIC+vjODAAAAAAAAAAAAAAAAAAAAAMCOXPb4mMcQwrkbBQAAAAAAAAxBWAMAAAAAAAAAAAAAAAAAAAAAsHUxNqsQwlGPz1ml1H50pwAAAAAAAIAhCGsAAAAAAAAAAAAAAAAAAAAAALYqxuY4hPC2x2fcpNSu3SUAAAAAAABgKMIaAAAAAAAAAAAAAAAAAAAAAIBtu+xx/scQwrk7BAAAAAAAAAxJWAMAAAAAAAAAAAAAAAAAAAAAsDUxNqsQwlGP869Saj+6QwAAAAAAAMCQhDUAAAAAAAAAAAAAAAAAAAAAAFsRY3McQnjb49w3KbVrdwcAAAAAAAAYmrAGAAAAAAAAAAAAAAAAAAAAAGBbLnuc9zGEcO7OAAAAAAAAANsgrAEAAAAAAAAAAAAAAAAAAAAAGFyMzSqEcNTjvBcptR/dGQAAAAAAAGAbhDUAAAAAAAAAAAAAAAAAAAAAAIOKsTkOIbztcc4PKbWX7goAAAAAAACwLcIaAAAAAAAAAAAAAAAAAAAAAICh9QlaeAwhnLsjAAAAAAAAwDYJawAAAAAAAAAAAAAAAAAAAAAABhNjswohHPU433lK7YM7AgAAAAAAAGyTsAYAAAAAAAAAAAAAAAAAAAAAYBAxNschhLc9zvUhpfbK3QAAAAAAAAC2TVgDAAAAAAAAAAAAAAAAAAAAADCUyx7neQwhnLsTAAAAAAAAwC4IawAAAAAAAAAAAAAAAAAAAAAAeouxWYUQjnqc5zyl9sGdAAAAAAAAAHZBWAMAAAAAAAAAAAAAAAAAAAAA0EuMzXEI4W2Pc3xIqb1yFwAAAAAAAIBdEdYAAAAAAAAAAAAAAAAAAAAAAPR12eP4xxDCuTsAAAAAAAAA7JKwBgAAAAAAAAAAAAAAAAAAAACgWozNKoRw1OMU5ym1D+4AAAAAAAAAsEvCGgAAAAAAAAAAAAAAAAAAAACAKjE2xyGEtz1m70NK7ZXZBwAAAAAAAHZNWAMAAAAAAAAAAAAAAAAAAAAAUGvd49jHEMK5mQcAAAAAAAD2QVgDAAAAAAAAAAAAAAAAAAAAANBZjM1FCOGkx8ydp9Q+mHkAAAAAAABgH4Q1AAAAAAAAAAAAAAAAAAAAAACdxNgchhBWPWbtQ0rtlVkHAAAAAAAA9kVYAwAAAAAAAAAAAAAAAAAAAADQ1WUI4UXlrD2GEM7NOAAAAAAAALBPwhoAAAAAAAAAAAAAAAAAAAAAgI3F2FyEEE56zNh5Su2DGQcAAAAAAAD2SVgDAAAAAAAAAAAAAAAAAAAAALCRGJvDEMKqx2y9S6m9MtsAAAAAAADAvn3vDgAAAAAAAMA0lWbH42dfL8t/frHBBd2HED4++7pOqb2e+lKIsTkNIVyEEF595l9/CCGst3Gdn9yL03IvjjY49C6E8BBCuH36Sqm9HXp8+xBj87Lci/MQwsEnQ7gJIVym1F7O4VprPGtWPv3M/OS1uprLWgj/8Wwelq+n99XhZ679S/7mnVWel4fdX82wYmzOy3Ny8pkTb+29tWvP1vzZZ35O5XfhZXkv7OWefuOdNZv7EH671uNyrV+6FyubIQAAAAAAAAAA33C5Ya3i59z3DHqYHfVVX6a+6i/2Xl+1DdY9S2XtAwAAAACMz9/9+uuvbgsAAAAAAADVYmxyY9DbiuNvUmpPzfzmykbSp6UR63MbvA8hN3TlDZqvprZRfIe1+C6l9mKAzzsuDYCnGwYzbOqxNM083YfJNc6UtXq9wby8T6k939GwRqOsnesNmpX/aYobppem0dPydTzw8/Gp+/KsXE9trspzcvWFJuJPDfLe2pfSMP3TBh+ffwad7vq91+Gd9UNK7aQ3Cujws3Jy7+dyH5+HJh13CE/ahw+lgV4wBgAAAAAAAMCCTbEGM8Ym17H82OMUf5jD5vq11FdtRn3VZ+2lvmoI1v32lI3/L8rc1obojMFcQ0msfQAAAACACRDWAAAAAAAAQC/CGravNNHkRqzXO/7o3LCxnkLTS4xNDrD4c4dDqjfBL01xFzvc/Pl9uQeTaU6NsbnssF4XFdjQIaghlOCOwyk0nZVn8ClMZhtBMpt4LI1665Taj3saw8ZibPL79U2HQ6Yc3vFLh0N2/vtBjM31hk3dYcqbBXR8N4cprLnyO9LZFoKTdmmRwUUAAAAAAAAA/GZqNZilFuS2x4bgk95Uv5b6qu7UV33RZOqvrfvtq6gJm4LHEkpyO9ULsPYBAAAAAKZHWAMAAAAAAAC9CGvYnhIKsNpjk8ZzOTBgNdZmjY4bbWf3KbWHHT9j3/fjptyDUW8SXtE4mP0ppXa9pSGNSozNbccNxUc7N8+CZM56NF9vy9jfWTXPyV1K7fGWhrQ1lc2gO2ucLgEqqcMhH1Jqz7Y4pK2oaF4PY/1drTw/F3tuZB3aIjeiAAAAAAAAAGCSYQ1da/Weuw8hHKfUPmxndOOivqqe+qpvGm0whXW/O5U1YVPxWH5eTOZeWfsAAAAAANP2nfsHAAAAAAAA45JDAWJscjPETyPahDg3gv2SG0NjbF6OYDx/VcbTtfnzoGzQvcn5T0dyP/I1/pybXTcd+57UNACPbl1tQ2ms7hLUEErT1piu4WV5D+Rn4ufybhhbU1l49s5aj3Rt1TwnR6UJeWpq1vAuNxLo+lmvtjSOrYmxOatsyq3dWGEr8vovzem/lOuZS1BD9maizzcAAAAAAAAACxJjc9GznuB87kEN6qsGo77q63Ye1PI11v3ulbU+16CGUNbPagTj+CprHwAAAABgPoQ1AAAAAAAAwEjkDfjzRvwjC2n41NsQwm0OMBjRmGqDC756XGmgWZfmmTHdj9zsmsrYxqim2TE3Jo31egZRmpsuKs41iubRZ5uk/7/yHpjKJulvyjtrbAEntfd1is3ENY2Hu7xfnRsPp9SsWJpyL3scP4qf9yXs5pfSNDpXowrnAQAAAAAAAIDnSg1Cn42z36XUXs91UtVXDU591deN4n5Z93tVU486NaOtFbP2AQAAAADmR1gDAAAAAAAAjEDZhDiVjfjHLjeU/FzGPGVfbMorTSjXpSllrN7E2MypYeZ1aeidq3VlU+VeG7jyRu0lRGbKm6QflICT8xGMhXmY0nv3qvLdMwolyOq2NLTOnQZYAAAAAAAAAMbsskcNwn3PoIfRUl/FEln3o7CIWqO81kYwjL+y9gEAAAAA5ut79xYAAAAAAAD2J8bmZdlIeQohDZ96W5pgzlJqH8Y1tHrPghqmsLn1UR5rbphJqb0awXj6yg29o2qsGkJZU5Nqyirvpnw/Xo1gOEP5KcYmpNRezuNy4OtibNbl58QkTezn8RDmHFgEAAAAAAAAwITF2Fz0rHE8n1ONYVBfxUJZ96OyiLCGsdRUWfsAAAAAAPP3nXsMAAAAAAAA+1E2If440aCGJyclLODlOIbTTw49CCGkiW0Mncf65zL2qTspASBzs57S9cTYHJZ305yayp78NJNnBb4qxuYshPBmqrM00Z/HAAAAAAAAADA7pZZo1eO63qXUXs9pXtRXsUTW/egspa5q72EN1j4AAAAAwDIIawAAAAAAAIA9KI0N1zNpljmaQ2BDCc/4aQRDqTWXhpnLEYxhMCV8YmqBLJczb+T7qTzvMEulOXSy79LyfE4q5AYAAAAAAAAAZqxPLdF9z6CHsVJfxRJZ9yyVtQ8AAAAAsADCGgAAAAAAAGDHyob6Pw3cuJGbGj+EEH4IIfwxhPCHr3z9U/m+D+W4IUw6sKE0mVyPYCh9zSGw4WAmoRNPJrVhenkWphYuUeNq6gEz8BVXU20OLUETcwmzAgAAAAAAAIBJi7G56FlLdJ5S+zCnVaC+iiWy7lkqax8AAAAAYDm+d68BAAAAAABgd54FNQzhrmwEf5VS+7Hj+a6e/kNpJDkNIeTGyoMe4zoq4zmb0pIqzSWXPTeGvgkh3IYQPpY/vyTP9WH5c1vNOzmw4SGl9mqD7x2rdYzN1dQbdUuzcp9nah9Ot/yZj+UZyV8Pz/78kpfleXn6Gmo+83lW5b0HsxFjsy4/j6eq78/jz7l/9t75WL6eux36502MTX6/vB3ynAAAAAAAAACwSzE2h6W+pta7lNrrGd409VUskXXPUln7AAAAAAALIawBAAAAAAAAdqSEIgwR1PA+b2afUvu1UICNlfPclg3yT0uzRW2QwKu8QXFKbZ8mzV1bVW5s/b6EXlx32OT5d82nMTZnJdzibODNqS/zvRxqjezBi9LwM6V19DslBGSK43858Pnuyrq/7visPPc8XOawPC9DBGG8ibG5nPBzAr9Tfqa8meqslICboYKM+gRaAQAAAAAAAAC//b17bU3b/ZRrv75BfRVLZN1P3/vyXt+ndWW99j5Z+wAAAAAACyGsAQAAAAAAAHagNENc9/ykmxDC+TY3HU6pzWM8jbE5L00xNc2Wb2Nsrsu5Rq2EU3TZ2PqxzMu6skHmd1Jqc8PMVdnY/6J8DRHa8OJZYEPvce7J29L0M9VNtlcDB3BMyYfSDHY19Por62FdwmX6vKee5ONPpzS58Dnl94x9N9NWGzDgJv+utJrC7yAAAAAAAAAAMFalLuekx/DOJ1y3tgvqq1gi636/Pu67pirGZqk/F6x9AAAAAIAJ+M5NAgAAAAAAgJ246tH8kAMC/phSe7qrjetTavOGz3nj57vKU1yWjZfHbt1hfO/ynKTUrrbQLPOQz1vm/N1Apz0aaOPrfZrk+Mum6V1CQMak9h2T3xV/DCH855Tas/wO2XbD9bP31Icepzkp9wumrs/vGWPQN6wo/670T+V3JUENAAAAAAAAAFCp1P11qav71LuZ/929+iqWyLpnqax9AAAAAICFENYAAAAAAAAAWxZjsy4b59fIzRqnpYFip0qAwHEI4X3F5x6UjZfH7HzD+5I3gP5DSu3FDhpl8pzneYshhPsBTvkmxuZ0gPPsy+uJjr9Ps/K+XZU1v6n35fk43kUz2afKM3NW+Z56MvVQExau5+8ZY3HeYxyP5Xelq6WvBQAAAAAAAAAYQK5VfFF5mrtS/zZn6qtYIuuepbL2AQAAAAAWQlgDAAAAAAAAbFHZaP5N5Sc8BTXc7vMepdSeVzZtvI2xOdzCkIZysMF58j04TKm93uXAyj3PQRk3A5xuysEBYWpNP+WZfzWCoVQpjWGbzHl+J/xDfj/s+vn4nPKeqn1ezrY7OtieGJuzHr9njEK5hk1+Jn/O4xh+VwIAAAAAAACAOSh/h9+n9ul87gtBfRVLZN2zVNY+AAAAAMByfO9eAwAAsG//87//n+MZbBwJAEty8c//8o82wgTY3GXlXD0FNTyMYa5z00aMTf7fb0cdD11NuAFzr/egfO5pjE1eQ697nOooxiY3/9SuxX07mdj4J///caTUrmNsXubAlc/869xQtkqp/biHoX1Lftfk31NfdDzuRW40T6m92v2QoV4JRJrqu/25Ps2dZ4IaAAAAACCE//vf/sv/Mg0AMBn/++//9d/+3e0CBpDrqn4d0UT+sJS/w1dfxRJZ9yyVtQ8AAAAAsAzCGgAAABiDXKh04k4AwGS8dKsANhNjk4MKDiqm63FMQQ3PnIYQPnZs2nid52GkTShfM5qwjBKUEXoGNqwmvqH3KsbmaoTPxO/kUImKQJNRSqldlaCQs/L7X36GR30P8nsmxmb9hYa4b8nXqbGMqbmqaKQco9PKMb1Pqb22agEAAADgL/6raQCAyfhPbhUwQ3e53mhJN1Z9FUtk3bNU1j4AAAAAwPwJawAAAAAAAIAtiLHJjRgXlWceY1BDbtp4KJvR/7njoRc95mIfRhPU8Eyev+MeQQAH+d6l1E41sOGgzMFoG3rLMz+rhuMSsrIewVC6WJe10nUD+9rN4mEvShPl5MNhYmwOK4OtwtzeuQAAAAAAAAAwYS9LLcO61Bwtgvoqlsi6Z6msfQAAAACAefvO/QUAAAAAAICtqGlsyH5Iqb0d6y1Jqb0KIdx0POy8bGQ/BY95vGMLyyjjOSvjqzX1Ta0vRr6OLnpsOM5AyrNyVXG2g7JpPIxejE3+efCmYpx9foZsS+1z92FJmzsAAAAAAAAAwMgdlFqGX2JsrmNsbPI8UuqrWCLrnqWy9gEAAAAANiesAQAAAAAAAAZWNpS/qDjrXUrtFDbUP+/4/S9K0MAUrMYallE2pe46988dlA2+pyqvo/UYx14akmqeebajprEsO3Y/GLvyvrmsGObdSN+htZsz1D7nAAAAAAAAAMB2nYQQfi6hDepxxkl9FUtk3bNU1j4AAAAAwAaENQAAAAAAAMDwLsrG8l1NYrP3EhrwoeNhUwgJuEmpHWUYwJOU2twwc9PjFH3CHsbg9UgbeFeVzzzbcV15Vo1lTMFVxfvmcUKhSZuqfc4BAAAAAAAAgN3IoQ0pxmYdY/PSnI+K+iqWyLpnqax9AAAAAIANCGsAAAAAAACA4dWELuSggCltPNw11ODVBBouVyMYwyb6BC5M4T58y6gCNUp4xOsRDIUipfYhhHBXMR8ayxi1vHlBCOGoYoxnJWhpNuZ2PQAAAAAAAAAwY29CCLelzooRUF/FEln3LJW1DwAAAACwGWENAAAAAAAAMKAYm7yR/ouKM04lKOAvSrDEfcfDTrc0nCFMJiyjbFD9vscpzgYczhByA9Bjh/OcxNiMaS11DY/o+txQp2Yj96kHmTBjMTZnZfOCrn4Y+c+3mvd5TeMoAAAAAAAAALA/B7n0Lcbmwj0YDfVVLJF1z1JZ+wAAAAAA3yCsAQAAAAAAAIZVsxH+3VSCAj5x1fH7xxzWMKmwjJ7jHVtYw0PF9VxuaSydlM3TTzocczeWsS/AbcUlHi990hinGJvDyndHDiKa2s+3TTyMf4gAAAAAAAAAwGf8GGOjfmoc1FexRNY9S2XtAwAAAAB8g7AGAAAAAAAAGEiMzcsQwquKs60neg/mEtZwP7WwjJTaj3kT7srDa9boVqXU5mfgvsNnHMTYXIxg6F2f3TGMeSlqNnN/sfRJY7QuK9bn4wjDeT6npgkUAAAAAAAAAJiu1zE2V6Xekv1RX8USWfcslbUPAAAAAPANwhoAAAAAAABgOLWbIncNPRiFioCDo5FeylTDMi5rD4yxGWNwxnnH71/ts2G3hEUcdDjkw9RCQSbOBvDMQozNKoRwUnEtZym1NQ2Wu1YzRps1AAAAAAAAAMC0vQohXAts2Cv1VSyRdc9SWfsAAAAAAN8grAEAAAAAAACGU7MB/oeJbKb8JTddvnmkIQGTDMvoOe7R3YcSZNBlPb0IIVxscUhfVJqEVx0P28tY6UYDOGNSfma+rRjSDzMPhxlr+BMAAAAAAAAAsLn89/+X5mta1FexRNY9S2XtAwAAAABL8r27DQAAAAAAAIOp2QB/6psp34YQTjp8//HIrvk+pfbjCMbRWQ75iLG5q9y0+njPw/+S8xDCLx2+/22MzeUe7uGqhEVs6oeprrMFGts7ioUqTY41oTw3KbVdw2T2qerdGGNz6L0KAAAAAAAAwMLlGoGamsW/UeoUPq0py+d++u+71Ah28arUf50v/WZOiPoqlsi6Z6msfQAAAABgMYQ1AAAAAAAAwADypsEhhIOKM029gaHrRskvtzSOWjUbYY/J1ZzCGvLG2zE270IIbzoctg4hnG1xWL9TnvUu43ssYwTo4qpjKMzT+2Zn78OB1AYu5A0hLkd3NQAAAAAAAAAwQSm1D5+pZfzdP8fYnJW6hLOKmoaveR1jc5tSq8YKAAAAAAAA2IvvTDsAAAAAAAAMomrz+5Ta24lPf9fxn25pHLWmPv+1YR8HMTZjC854siobjm/qVYzNLtdV183BL0ozM8BGYmzye/CkYrbOpva+Samt/Tk2tVAKAAAAAAAAAJi0lNqrlNrzlNpcd/bHEML9gNfz445rwAAAAAAAAAD+SlgDAAAAAAAADKMmrOFmBnM/9U3olxaW8VxVwMi2lY3GVx0/puv3VykNwV02UL9Jqe0a7gAsWHnPvK2YgT/1CD7Yt5rfh3JQz+FErxcAAAAAAAAAJi3XRKXUHg4c2nAVY/PSygDYiqnXSwMAAAAAwFYJawAAAAAAAIBhnFac5ePU5z6ltmvzzqgCAirGPyol2KC22XW0m1yn1K47XtdJjM35Fof0ZN3x+3cSIgHMQ9lw4KriYj6U9+ZU1Vxz8I4FAAAAAAAAgP3KoQ2lJvDdAAN50aOGAGAxYmxqatYfrBAAAAAAAPiy780NAAAAAAAADOJlxUkmH9ZQ4cWIxnIzgjEMIa+jg4rzjDasocjhCz93+P5VjM1VCbAYXAmDOOpw3vcptdfbGAuLdhxjs/Q5mLOrip+T9+V9OWX5un+sGP/r8t63UQMAAAAAAAAA7Emp17qIscm1Upc9awRPYmwuUmrX7ieV1FcBAAAAAADQmbAGAAAAAAAAGEaXTdyfvI2xeWv+6ek2N6nObRJz0EGMzU2Ha8uBFRc5tGHoscTY5DCWLg3Aj9sYxxzE2ByXcJvDZ4Eh+Z+Pn13ey8p36hLUbGjPBMTYrCrf5WfbCqnZlZTajzE2H0IIryo+8jLG5jSl9naaVw8AAAAAAAAA85BSe5X/Dj+EcN0zsGEVY3OV6wmWuDTUV/WmvmqCrHuWytoHAAAAABgPYQ0AAAAAAADAUl3P5LprN+k+HXgc23AeQvilw3kvYmzWW9i4/KJjA/F6qc3C4bfmscPSKPb09XKOgSIwlLJRQU14059mFFKwrgxryO/ma4ENAAAAAAAAALB/+e/uBwhseFHqCM7mekvVV7FE1v3eDV1Xy4asfQAAAACAaRDWAAAAAAAAAD2V5kJgYDnwIMbmXQjhzYZnfmrUPR9qJKVJ6qLDIfdlDItR3oFPX8c9Gq1hcWJscuPlVcV1f0ipnc27JqU2By586BnYcJ5SWzOXAAAAAAAAAMBABgpseJXPkesJ5nBf1FexRNb9VnWuW8/v5mld4nRZ+wAAAAAA0ySsAQAAgL3753/5x1w4+3fuBAAAAFTJ/7v67YynblXCFzZtVnodY7MesLFs1bFRapVS+zDQZ49S2Vz+rHydaiSDXq4qnqH7IUNpRuSixzslH/PnGJub8h6exWYNAAAAALCpv//Xf/sfJgsAABiLEtiQa4t+7jGkyxDC4RRvqvoqlsi6Z6msfQAAAACAeRDWAAAAAAAAACzVUJv5s0U5+CDGJm/g/VOHT1mXhqdeYmzyOV53OMdNSu3lXNdDjM1hCa8400wG/cXY5OfppOJEZ3MMhUmp/Vjxvv9Uns+fY2zuyqYNV/m82xkxAAAAAAAAAPAlKbXXMTZ/CiH8WDlJBzE251Oqx1JfxRJZ95Nwv/QJ2AZrHwAAAABgXoQ1AAAAAAAAALv0OKLZnt1G13OVG27LBt5HG17iSQ5ayA2/PadkteXvn4RnDWVdgiuAryhhMG8r5uiPKbWzDRsq7/vjEMKbnqc6Kps9/Bhjc18CmvLXx/L13O0cwy8AAAAAAAAAYN9SatcxNnkT65PKoeTjr8b+9/rqq1gi636vTjt++Kf1UvRg7QMAAAAAzJOwBgAAAAAAAGCXrsw2lXJYw88dDr0MIRzWflhFk/D7AcIhRiXG5mVpKOu7aTrwTHm2an4e5vfM5dznMqX2oszRUM2sB+Xr1Ze+IcZmoI8CAAAAAAAAAD5xVjYKf1ExMS9K3dhqjJOqvoolsu5ZKmsfAAAAAGDevnN/AQAAAAAAgB25K42T0FkJQvjQ4biDGJs+623d4Xsfx9oQXCvG5jiEcK2pDLbiqmIDgkX9DE2pPc/hFCMYCgAAAAAAAADQQ0rtQ8+ah4uyQfaoqK9iiaz70TjuOJDrGc/FTlj7AAAAAADzJ6wBAAAAAAAA2Lb7EMK7EMJpabyEWl2bdlc1jboxNjl44aDDIeuU2o9dP2esnjWVHc3lmmAsyvvlpONwciDM+dJ+hpbAhj+W6wcAAAAAAAAAJiql9jKEcFM5+he5bmJMV66+iiWy7kflRcfBqN3uwdoHAAAAAFiG791nAAAAAAAA2Js/pNRem/696byJP/uVAxFibH4IIbzdcCC5IW3VJeShhDt0CYXIYSTruSyNZ01lXZv5at09awR8/j7M/93thud8SKn93ffG2JyGEH7e0TXARsq63PT99dzFp2t8KfJmDTE2+d1wWRFyAQAAAAAAAACMR67JSpWjuRhLjZb6KpbIuh+Pci+6WmTt2RCsfQAAAACA5RDW6rIAxgAAIABJREFUAAAAAAAAAPsjLGC/cgPN1ZInYKLWpfl208anNzE26xz0sOH3rzo2Va1Sah82+L7Ri7E53FJT2WNpErsufz4IqmFpShBMzc+c9zmwYMkLpry/T2Nszss7+mAEwwIAAAAAAAAAOsgbR8fYvA8hvK6Yt4NcN7DvGgr1VSyRdT86NbXnm9bP8oy1DwAAAACwLMIaAAAAAAAAYH+EBTCE0yXNYg5GiLHJYQ0/dTgsBzycfeubSmPVmw7nvZnZJuqXAzaV3ZXzXedG64HOSQh/mFpTXozNryMYxhhcVTxfdyWcht/e//mdcllCG/LXiXkBAAAAAAAAgElZVYY1hHLsvmu11FeNn/qq4Vn349K5ZjilVlhDHWsfAAAAAGBBhDUAAAAAAABAf5pYYIfyht0lsOFow099FWNzukETZtdm3tlsol42Px9i4/P3uTFacx/8hxibVcXz9ZgDCXJAjan8vWehDYcliOdMcAMAAAAAAAAAjF+uKYqxeV8Z2HCQa5xK3cDOqa9iiaz7UTrsOKi7hczLoKx9AAAAAIDlEdYAAAAAAAAAPZUGwpqTHJv7vTqdyXV0bbx68q3ggrHLQQk/dxjj+mvPXA5z6NhY9T6l9nays/e3Vj2Pvykby2sog2fKu+VtxZxczOwdM7jyvlmXr6e5fvoS3gAAAAAAAAAA47SqDGsI5di9hDWor2KhrPvx6VozrAatjrUPAAAAALAw37nhAAAAAAAAMIjHipPUbrLPMF7OZB4XuY5SanPYxIcOhxzF2Jx/5d93aeJ9LGERs1Dm5aDHteTgilNNZfB7MTb558xVxbTkZ2pfGwtMnaAGAAAAAAAAABixUmP0vnKEB9+oAdsK9VUskXU/Wl1ro8x/R9Y+AAAAAMAyCWsAAAAAAACAYdxWnOXI3O/VXOb/uPK4mjU7Nl0DE1Zl8/TfqWisWqfUPkxyxj7vrMexuals5w3QMBE5qOFFx6Heeaa6ye/1GJscbvGzoAYAAAAAAAAAmIRVj0H2ObaW+iqWyLofmRibmnrh61lPynZY+wAAAAAAC/S9mw4AAAAAAACD+FizQXBunEmpncOm+ZM09fkvwQNdNwJ/MvmwgZTajzE2P4QQ3m54yEEJePhrw26Zw3WHj71Pqd1Hw+9WlOt/VXnu+4rADFiEGJtVxe8Fjz0bPRcnxua0MhTjSx5Lg/LtJ43KD11+Xyj3f9OfTQAAAAAAAACwKKXu66am5jLXgMXYnKfUXu5iztRXsUTW/WjVhDWoUe/A2gcAAAAAWC5hDQAAAAAAADCMj5VnOdUIs1fHE5//09oDU2qvN/i2KViX5qZNN+q+iLG5zA2/T//ccZPvuTVSVa+hHHqRUjvW0I8+1wW9lACBmo36z5+9m/iGvPFCCOGngebpfQjhckY/GwEAAAAAAABg7FYhhJ8rx5iP3UlYg/oqFsq6H6eu478b8b0YK2sfAAAAAGChvnPjAQAAAAAAYBC1m/tqftivpTVePbkffij7URqbugQovCjNunmj78OOG6rfpNReTWBaujiuPO4+pXZXDc8wGTE2L0MINe+JdzN8v2xNjM16oKCGHNLwDym154IaAAAAAAAAAGB3yt/T31R+4EGMzfmOBqu+iiWy7sepa83w7VImZkDWPgAAAADAQglrAAAAAAAAgAH02OBXWMN+LTWsYVYNWKXBqUvj7usYm+On0IYOuoRCTEXtGhr7pvLerezLVQmF6eIupXaO75etKEENb3qe+zGE8IcS0vBxpJcKAAAAAAAAAHPXtX7ruT7HdqG+iiWy7kcmxuYwB9V0HFVtbfuSWfsAAAAAAAslrAEAAAAAAACGc1dxphcxNmfuwd4clE37J6c0Xh1VjnuODVhdm29zY9TrDt//PqV2ViEXPY19Lib5XDNtMTY5cOGk40Xk0AC/B2woxuZ8gKCG/PvaYY+gLQAAAAAAAABgAOXv7m8qz3RQ6gjGSn0VS2Tdb0/NZvvqo3bH2gcAAAAAmDhhDQAAAAAAADCc2qYWmzTv15gbNr+mz7qZXQNWadx93+GQgw7fmzdTv6gY1hR03Vj+ycexXlsJMnkxgqGwICX458eKKz5PqR3t8zQmZY5/6jmkHLxznFL7MK/ZAQAAAAAAAIDJuuwx8F3U/qmvYoms+/HpWjN8ry6tirUPAAAAALBQwhoAAAAAAABgOLVNg69LIwT7MdWwjNpG08eU2tuBxzIWqxKsMLS1jb3/xpib+ATgsFMxNi9DCFcVn/kupbbmuMXpMcfP5aCGqQY0AQAAAAAAAMAspdTmusv7yms7ibE5Hem8qK9iiaz77XnV8czq0nbL2gcAAAAAmDhhDQAAAAAAADCQsgF+bdOgzYP35yDGZlKNKKXB9Kjy8Nk2YKXU5man9cCnvU+pXQ18zskrcz1WY23AZr7ypgEHHa/uLqX2wprY2EXFHD93J6gBAAAAAAAAAEarT33WKGu71FexRNb9dlTWOF9P4drmwtoHAAAAAJg+YQ0AAAAAAAAwrNqN8C9ibF66F3sztQ2z+4x37g1Y6x6hKZ9jM/XPKIEhoxNjcxhCeDXGsTFPMTYXFWvuUQPk5spz/bbHKe7NNwAAAAAAAACMV0rtZY+ar5Mx1jKpr2KJrPutOe944seU2tp6dipY+wAAAAAA0yesAQAAAAAAAIa1rjzbixDCyr3Ym1E2bH5OGWdt48xjj0CRSUipfRjwWbrRsDY5XZsSoVqMzXEI4ceK48/Ku4rNXPacJ/MNAAAAAAAAAOPXp+ZL7eXm1FexRJNd9zE2Lytqhq+3NBymxzsfAAAAAGBDwhoAAAAAAABgQCm1H/MG75VnfFM2fmY/+m4GvSt9GkuvlrBhdUrtZY/n8LklNCndVx43undVaUq8GMFQWICy3mrCXH5IqdUMu6EYm7McqNTjFHm+b3c6aAAAAAAAAACgs1Lz9Vg5cycxNqdbmnX1VSyRdT8eNXWsNXVt/MbaBwAAAABYKGENAAAAAAAAMLx1jzNeluYIdu8gxqZPEMLWxdhc9Ny0eiqBFEPoey/flfCVuau9xjEGy+Tn48UIxsEy5PfpQccrvUmpHfXPmRHq8zvVfc/jAQAAAAAAAIDd6vP3/NuqyVBfxRJZ9+PRdbP9xxJ+Qx1rHwAAAABgoYQ1AAAAAAAAwMBSaq/KBsE1jmwsvFdvY2zG2DATyrj6NJTepdReDzikUSvX+r5yjI9bbN4dm9vK8ZyN6TpibA7z8zuCobAMuYnxVccrfRzbczN2JUCpayDGc6uU2odFTRoAAAAAAAAATNu61FjUOImxOd3C1auvYoms+xEo77Su9VNXU73ekbD2AQAAAAAWSlgDAAAAAAAAbMd5j7O+jrG5mOp9yaECuUFoS42Pu3AVY/NyTAMq47kMIbzocZolhoCsKpt3l7TBd21j2YsYmz7vuaFdjmgszF/XoIbsTHDA5kqzaJ/fhW5Sar0XAAAAAAAAAGBCSm1Fnzq31RauVn0VS2Tdj0PNO22JtcJDsvYBAAAAABZKWAMAAAAAAABsQUrtdd4ouMeZfxxZ08ZX5TCBGJtVjM3HfPkhhJ/zV4zNw5SuozgIIVyPJbChjCOvp6Mep7lf4qbVKbUfKxrP8lwtqVntusex22hu7izGJt+vkzGMBb7gh/J7AZtb9wwoGsX7CQAAAAAAAADoLNcMPFZO20mMzenAU66+iiWy7vcsxuawYvx3KbW1YQP8xtoHAAAAAFgoYQ0AAAAAAACwPX1DCn7KAQhjvz+luTE397wtQQfPvSjXMbXAhqMxBDaUz7/sGdSQXQw0pCnKTUf3HcY9tbXaSwm0uKs8x0GMzV7XVnm3vNnnGOAbblJqBQd0UH6veNXjFO+FYwAAAAAAAADANKXUPpSauVqD1mmor2KJrPtRqHmXrSd+zXtn7QMAAAAALJewBgAAAAAAANiS0rDxQ8+zv42xudp3aMDn5DHF2OSmyJ8/E9LwqRzYcLj3QXfzFNiwl3GXe37dc8PqUDYKvxpoWJNTmnc3bX5a6gbffRr0VjE2xwOOZWOlqeynfXw2bCgHxZyZrM76bLjwOPSmC/x/9u7+KI5j7RvwbZf/hxOBeCIQPQmIE4FwBEIRGEcgHIFRBIYIDo7AkMA0RGAUwSsi0Ft9TuODOfrY+djdmZ3rqtrCVWZne+7u6aVK3f0DAAAAAAAAgI0bsp7p1RrWM1lfxRIZ91uSUnMUEW86fvqHnNsh6674L2MfAAAAAGCBhDUAAAAAAADAGuXclgODbwZ+Qjms/7Zuvtm6GtJQ7uu+42agOR5Y/bLWfqNtr319Xz9/qJNNtn2KaljF22807a5DqMOuuaoHnPexVw5W33SgjE1lzMRxDYxhRfXvi28FQH3NeQ3LAgAAAAAAAABmqv7b/+WA1o+9Dsz6KpbIuN+esx6fPCRggL8z9gEAAAAAFkhYAwAAAAAAAKzf8YBNG4/KwcV/pNRcpdQcbKPPnoU0vKsbSrqYRNjEE3cr9ku5z3+l1Kx980ytcdkw9UeP+n7OLw6t/o+c24uIeP+F/13GwtFSD1Wv9z1ko14JFbne1NxUn5FvbSobOufCUD/n3N6q4urqd+yQwxI+2HQMAAAAAAAAADujz2Hlj96MuZbJ+iqWyLjfjpSasub8VccPL+umLqZ+b3Nh7AMAAAAALJOwBgAAAAAAAFizumljrKCC1xHxZw1tON5E35XPKUEFEfH/eoY0PFpr0EEPHztu6HxTgipKYMXYoQ3PgjB+GumyNzm3Qzas7pyc23IIeCohFk9eP+bcHi41qOGJ84GbscrmstuUmrWFsqTUHKbU3K74jDiwnW36PefWGOzufGBQ0Zm5HAAAAAAAAAB2Q85tWUt3OeBmxl47Z30VS2Tcb1Bdm9ynjdZNjc/YBwAAAABYmB90OAAAAAAAAKxfzm3ZcPE2In4b6cNKaMPrlJoPEXEVEdflNcZmm7ox5LAGTBwNPDj5qeuRrjOacph2Ss1J3RSzir0aWPEupeb3iLgYUvcauHFcgyDG9FCvyzPlWSwboNTl78oYrs/CvwZcpjwff6TUXNbNf/djtC2l5qBunl71OflQN5a9G+PzoaMy/k4UrZv6t8eQ78ISUHSxjbYDAAAAAAAAAGvTZc3Qc29SakZbw2R9FUtk3K9fvY+D+kGl1i86fmhZL3y/zlCAEe33uNTBV+7tdl0hFcY+AAAAAMDyCGsAAAAAAACADSmHCKfUxIiBDVE35fxUX2UDxl09iP7+yetrDuvml8O62WfV0II+pnqI8kkNkugaSvG6vh7rfl1r/rUggMc6l5+vhjX7i8rGq6N1bUBid+XcXtVNYUPDQ97Uzc7lWlflun0uUsNMTh6fsw5O6kY5o5VtODb/9nI+8P1nW2o3AAAAAAAAALAm5WDrlJqbAWvtzur6o1FYX8USGffjqyEApyOt2f53IMDWb2p93nxt7NX+LN8TF2Wd/pitMPYBAAAAAJZFWAMAAAAAAABs0JoCG556uebAhb7el42TE2xX6ZPblJrTgX0ypbqflnuaQDuYp9MaJjLGeH7cYPZQw0xu6+tLB9kf1NfRgA3WZa65HtBmGOJn8293dfPxkDnn0nMPAAAAAAAAADvrbMBB5GXt0tnIaxetr2KJjPsRpNTs13ue4jrvOSvj4lVKzVHO7WgBPZWxDwAAAACwEMIaAAAAAAAAYMOeBDacR8TeAupfDlE+nUA7vqj2SdkE9etEm7iqt+Ve5tFUpijn9mNKzXHdADbW/FSu87q+1ulu6nMNO+33nNtzXdzLkOf2oR7KAAAAAAAAAADsoHLIdErNzYCDqsu6gtEO77a+iiUy7kdzJqhhrUoQwn3O7WjryYx9AAAAAIDl+F5fAwAAAAAAwObVA/WPIuLDjpf/55zb0TY6rlM9ZPtyDm39jAdBDYwl5/a+zk8PMyrqXW0zbMOHMTf1L0lKzcHADcjndc4CAAAAAAAAAHbXkIO3y+Hd+2NWxvoqlsi4H6auk/ppCm3ZcaOHExj7AAAAAADLIKwBAAAAAAAAtiTn9jYiDiPi9x3sg7LJI9UAhNmowRJv59TmuvnnSFADY6rz01wCZe7qM/BxAm1hecocfGz89XYw4L1lfprV3xkAAAAAAAAAQHc5t9cRcTOgdMdjl936KpbIuB/EwfmbsZdSM3qtjX0AAAAAgN0nrAEAAAAAAAC2qGyEyLktGwF/rgc+z125h59zbg/rxpTZqaEHP86kP8oG1IO51pppexIoczfhhtpUxradmoMHGfLsnnn2AQAAAAAAAGAxLgbc6ME6imR9FUtk3Pe2lnmIzzpcR1mMfQAAAACA3SasAQAAAAAAgKGue77fwcZP5Nye1404l5NpVHe/1OCA87k1/Lmc26u6oeZmWi37y2Mohg018zOr/qqBMof1+Z6ay29sKuvz/N5P8D6Zrssa8DMXk5t/6gbWPuFINzOr/Sp8nwMAAAAAAAAskzWYK6jrBD5MsF3WV7E4xj0Tt7+u5hn7AAAAAAC7S1gDAAAAAAAAQ/VdhC+s4Zm6geMkIv5vRqEND3XDyT9ybs92KTgg5/a+hCGUUISeB0mvS9ksc7gLoRjV0g6n7jr3TSIwpDzfEZEm0p7yPP5Y5stvzDmdx1Z57oc1bWVL+u7ss0l+k/fZ97PuIuJ05LasW5973cQz0ef77GwN7RhTn7r52xgAAAAAAABgmfr+2/wSD1Duu15g7WvUrK8anfVVXzeJ+zTuWSpjHwAAAABg9whrAAAAAAAAYJC6CP+uxzWuVf7zakjA09CGKQUFPCqbS95GxMGuhTQ8V0MRDmooxTb7otT8nyVAYuKbX646/v7S5oKumyQns3k05/a2Bpi87blBdAzv67yzyjjrOhZ/3+B9dG1bcTPTubbPvfZ5T1995qDyXfCtjY1T1HU++bCh75vzjnPK+5zbqX939GnfJsc9AAAAAAAAABMxYA3m4v6dOef2Ysq1sr5qVNZXjf+etTDuWSpjHwAAAABgtwhrAAAAAAAAYAxnHa/xfuKHzU/Ck9CGg7qRY9ubHkpYwM8lRKIGBlzsckjDU+U+SyhF7YufN7ip5qEGdqRa88kHG5TNR3WsrKLc38V2W7xZ9Zm57PCh5xO8h/LsP85Lq/b1EI/PQZl7Tledd+rm7C7P6sZqXe/hfce3df2unYrzjkE3N5uc63r0RbmXozrXzUqPe93ImKvtOl5xnNzN4Vmof+d2metv5jimAAAAAAAAABiNNZirO+m4FuWXTdfK+qrhrK/6qo2ur1qVcc9SGfsAAAAAALtBWAMAAAAAAACD5dxe1Q0Gq7gsGwNUfXU1KKBs5CgHGf8jIn6smyzu1vzRd3WzW/m8f9SwgPMlB23Uvjivm2pSrc/YwQ2Pm2jKM3VQAjtmeIDz6YqbB0+WEvjxzOmKz+/bKT9vdV46Khu+aojJ2HPS78+egz61WPUA+Leb3sBavwtXPcx94+0bS+23VeeEu9pnm3a24vj9MNeghidWvdfLujlzI2pND77xTLyv9Z/L98aqc/22xj0AAAAAAAAAE9FxDebNjA+lH6yuMThacS1KWf+wtVpZXzWM9VWfNfl1JsY9S2XsAwAAAADM23efPn3ShQAAAAAAAIwipeaobhgqP/eeXbNsELzY5MG/S5BSsx8Rh/W1X2tfvOpw+zf1Z9lUUTZu3M9pg0Udd3/0eOtN3RQzRhsOnvTDUe2Llyu8tWzE+fik9rczPwT8L3VsnteNPc/ng7Jh6GxX7rWPWp8yX55ExItnlyj1OZ/jRqcnc9LRk3lplfnopj4LZUxcj3nvtU1ndSxOrtYpNSe1ba8/879nOxaeq/Pk2RfmhLv6N8L5ltt49oVnsrTvqvbFTgTMfONez7f591odK0c1vCHq3HA117ColJrHuf753wVbrzUAAAAAAAAA02IN5upWWItyVkMwptZu66s6sr7q3yaxvqov4/6v9VrvOrzlnw7L/4+UmuuO6+J/2WZQz1PGPgAAAADAfAhrAAAAAAAAAGZtCmENAAAAAAAAAAAAwOal1DwegF3c5tx+1A3AlAhr6G/OYQ0AAAAAAMzHD/oKAAAAAAAAAAAAAAAAAAAAAJibnNtbnQYAAAAAAAD09b3KAQAAAAAAAAAAAAAAAAAAAAAAAAAAAAAASyKsAQAAAAAAAAAAAAAAAAAAAAAAAAAAAAAAWBR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AWBRhDQAAAAAAAAAAAAAAAAAAAAAAAAAAAAAAwKIIawAAAAAAAAAAAAAAAAAAAAAAAAAAAAAAABZFWAMAAAAAAAAAAAAAAAAAAAAAAAAAAAAAALAowhoAAAAAAAAAAAAAAAAAAAAAAAAAAAAAAIBFEdYAAAAAAAAAAAAAAAAAAAAAAADAlNzqDQAAAAAA1k1YAwAAAAAAAAAAAAAAAAAAAAAAwPg+qmlvXWt3PaG2AwAAAAAwE8IaAAAAAAAAAAAAAAAAAAAAAAAAxtclQOAh51bgwH/drvn3AQAAAABAWAMAAAAAAAAAAAAAAAAAAAAAAMDYcm5LgMDNipe90gH/lXNb6vFhxV+/zLn9uIl2AQAAAACwW4Q1AAAAAAAAAAAAAAAAAAAAAAAArMdpRDx848p39ff4u2O1AwAAAABgnYQ1AAAAAAAAAAAAAAAAAAAAAAAArEHO7W1EHETE5WeCBz5ExC8RcZRz+1H9/67W7lDtAAAAAABYlx9UFgAAAAAAAAAAAAAAAAAAAAAAYD1qmMCJ8naXc3uvdgAAAAAArMv3KgsAAAAAAAAAAAAAAAAAAAAAAAAAAAAAACyJsAYAAAAAAAAAAAAAAAAAAAAAAAAAAAAAAGBRhDUAAAAAAAAAS3Wt5wEAAAAAAAAAAAAAAAAAAABgmYQ1AAAAAAAAAHN327P9H/U8AAAAAAAAAAAAAAAAAAAAACyTsAYAAAAAAABg1nJuS+jCTY97uNLzAAAAAAAAAAAAAAAAAAAAALBMwhoAAAAAAACAXXDW8R7e59ze63kAAAAAAAAAAAAAAAAAAAAAWCZhDQAAAAAAAMDs5dxeR8TbFe/jpke4AwAAAAAAAAAAAAAAAAAAAACwQ7779OmT/gQAAAAAAAB2QkrNUUScRkT5uffsnkpIw0XO7YXeBgAAAAAAAAAAAAAAAAAAAIBlE9YAAAAAAAAAAAAAAAAAAAAAAAAAAAAAAAAsyve6GwAAAAAAAAAAAAAAAAAAAAAAAAAAAAAAWBJ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AWBR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AWBR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AWBR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AWBR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ldq3YAAAgAElEQVQAWBRhDQAAAAAAAAAAAAAAAAAAAAAAAAAAAAAAwKIIawAAAAAAAAAAAAAAAAAAAAAAAAAAAAAAABZFWAMAAAAAAAAAAAAAAAAAAAAAAAAAAAAAALAowhoAAAAAAAAAAAAAAAAAAAAAAAAAAAAAAIBFEdYAAAAAAAAAAAAAAAAAAAAAAAAAAAAAAAAsirAGAAAAAAAAAAAAAAAAAAAAAAAAAAAAAABgUYQ1AAAAAAAAAAAAAAAAAAAAAAAAAAAAAAAAiyKsAQAAAAAAAAAAAAAAAAAAAAAAAAAAAAAAWBRhDQAAAAAAAAAAAAAAAAAAAAAAAAAAAAAAwKIIawAAAAAAAAAAAAAAAAAAAAAAAAAAAAAAABZFWAMAAAAAAAAAAAAAAAAAAAAAAAAAAAAAALAowhoAAAAAAAAAAAAAAAAAAAAAAAAAAAAAAIBFEdYAAAAAAAAAAAAAAAAAAAAAAAAAAAAAAAAsirAGAAAAAAAAAAAAAAAAAAAAAAAAAAAAAABgUX7Q3QAAAAAAAIwlpeYkIsrr1bNLPkTEVUSc5dzeK/i3pdQcRcRpRJSfe0/eUGp5Xl45tx+n2n4AAAAAAAAAAAAAAAAAAAAAgCn77tOnTzoIAAAAAACAwVJqLiLizTeuU4IGjnJub1X8y1JqziLi3Td+7a7WUmADAAAAAAAAAAAAAAAAAAAAAEBH3ysYAAAAAAAAQ9VwgW8FNRR7EXGl4F+2YlBD8TIiTrfVTgAAAAAAAAAAAAAAAAAAAACAORPWAAAAAAAAwBi6hAa8SKk5UfX/lVJzvGJQwyN1BAAAAAAAAAAAAAAAAAAAAADoQVgDAAAAAAAAg6TUHEXEXsdrHKn636XUHETERce3vajvAwAAAAAAAAAAAAAAAAAAAACgA2ENAAAAAAAADNUnLEDAwP+66hF6EWoJAAAAAAAAAAAAAAAAAAAAANCdsAYAAAAAAACGEhYwUErNeUS8nPVNAAAAAAAAAAAAAAAAAAAAAADMiLAGAAAAAAAA2KKUmuOI+EkfAAAAAAAAAAAAAAAAAAAAAABsjrAGAAAAAAAA2JKUmoOIuFB/AAAAAAAAAAAAAAAAAAAAAIDNEtYAAAAAAAAA23MVEXvqDwAAAAAAAAAAAAAAAAAAAACwWcIaAAAAAAAAYAtSas4i4qXaAwAAAAAAAAAAAAAAAAAAAABsnrAGAAAAAAAA2LCUmqOIeKfuAAAAAAAAAAAAAAAAAAAAAADbIawBAAAAAAAANiilZj8irtQcAAAAAAAAAAAAAAAAAAAAAGB7hDUAAAAAAADAZpWghj01BwAAAAAAAAAAAAAAAAAAAADYHmENAAAAAAAAsCEpNWcR8Uq9AQAAAAAAAAAAAAAAAAAAAAC2S1gDAAAAAAAAbEBKzVFEvFNrAAAAAAAAAAAAAAAAAAAAAIDtE9YAAAAAAAAAa5ZSsx8RV+oMAAAAAAAAAAAAAAAAAAAAADANwhoAAAAAAABg/UpQw546AwAAAAAAAAAAAAAAAAAAAABMg7AGAAAAAAAAWKOUmrOIeKXGAAAAAAAAAAAAAAAAAAAAAADTIawBAAAAAAAA1iSl5igi3qkvAAAAAAAAAAAAAAAAAAAAAMC0CGsAAAAAAACANUip2Y+IK7UFAAAAAAAAAAAAAAAAAAAAAJgeYQ0AAAAAAACwHiWoYU9tAQAAAAAAAAAAAAAAAAAAAACmR1gDAAAAAAAAjCyl5jQiXqkrAAAAAAAAAAAAAAAAAAAAAMA0CWsAAAAAAACAEaXUHEbEr2oKAAAAAAAAAAAAAAAAAAAAADBdwhoAAAAAAABgJCk1+xFxNeBqD/oCAAAAAAAAAAAAAAAAAAAAAGD9hDUAAAAAAADAeC4i4kXPq/0SEbf6AgAAAAAAAAAAAAAAAAAAAABg/YQ1AAAAAAAAwAhSak4j4nXPK93l3J7pBwAAAAAAAAAAAAAAAAAAAACAzRDWAAAAAAAAAAOl1BxGxK89r/IQEcf6AAAAAAAAAAAAAAAAAAAAAABgc4Q1AAAAAAAAwAApNfsRcTXgEic5t/f6AAAAAAAAAAAAAAAAAAAAAABgc4Q1AAAAAAAAwDAXEfGi5xXe59wOCXoAAAAAAAAAAAAAAAAAAAAAAKAHYQ0AAAAAAADQU0rNaUS87vn2u5zbU7UHAAAAAAAAAAAAAAAAAAAAANg8YQ0AAAAAAADQQ0rNYUT82rN2DxFxrO4AAAAAAAAAAAAAAAAAAAAAANshrAEAAAAAAAA6SqnZj4irAXU7ybm9V3cAAAAAAAAAAAAAAAAAAAAAgO0Q1gAAAAAAAADdXUTEi551e59zOyToAQAAAAAAAAAAAAAAAAAAAACAgYQ1AAAAAAAAQAcpNScR8bpnze5ybk/VGwAAAAAAAAAAAAAAAAAAAABgu4Q1AAAAAAAAwIpSag4j4rxnvR4i4litAQAAAAAAAAAAAAAAAAAAAAC2T1gDAAAAAAAArCClZj8iLiJir2e9TnNu79UaAAAAAAAAAAAAAAAAAAAAAGD7hDUAAAAAAADAas4j4mXPWl3m3F6oMwAAAAAAAAAAAAAAAAAAAADANPygHwAAAAAAAODrUmpOIuJNzzLdRcSpEq8mpeYoIg7q66i+6TAi9la4QKn1x4i4joj7iLjNub3d9j2xLM/GcBm7+/W/X6xYiA91/D6+rutY/jj3Qta5tLxefeZ//15CcXJur7fQtFGl1JT+PouI48/MXWWeKuE9F9vq05Sa/fq9dPKZcbkz/RD/udfDeq9f6ouznNurLTUPAAAAAAAAAAAAAAAAAACALfvu06dP+gAAAAAAAIDeUmrKgdTvOr7/Juf2aIXf27p60PP1imEBzz2UwIFVAwNSaq6/cIj51/xzzodq1/oe12CGrve+qpuIKIdxX08lvKEe5n5a7/vlBJq0aTf1sPqLOd9E7cej+jpcc19+eDKOZ3W4fA0HuFrxGX+fczvbgJsaSPHbCr96V78fNhrYUPvieoWx+kvO7dmGmrUWHf4+ucy5PZnRfe3X+eaohsE8hsJM9bvk9zrfC8UAAAAAAAAAAAAAAAAAAAAmR1gDAAAAAAAAg+xyWEOHQ62/5G2Xw+iXEtZQAxpOakjDiw1//OOB9+c5t/cb/ux/q4e5n/cMANk15cD6k6mEaKwipeYxXGQb4/dRCYK52OY47iKlpoz3nzq85cc5Huxewzv+7PCWjX8XdvyemW0YUEpNeT7edHjLpMdcSs3Rk2CjuQb8zCoUAwAAAAAAAAAAAAAAAAAAWIbv9TMAAAAAAAB80fmAQ5EvuwQ1LEEJKagHhed6cPs2Drp/UT/7z9KWegD2xtTP+01Qw1/K83VVg1Emq/RbOfw9peZjRPxri+P30d6TcXxRQwImqbatS1BDcTbV+/mGru1+VcM/NqIG5XQJBDrdVNvGVMNBugQ1xBTvtTw75V5Sakogyx/1OZprUEPxpvYNAAAAAAAAAAAAAAAAAADAZAhrAAAAAAAAgM8owQI9Dnt+dDfXQ67XoRxGXg+b/q3jQeHrVtryx4ZDGwR4/K8XEz0ofT+l5uzJQelvJhqy8aaGNpxPNPSiz7P1csoBFF/RJ3hhk4ExXT/r9ZrasTY1/KJrOEhM6buphjSU74o/JxAMM7afZvpsAwAAAAAAAAAAAAAAAAAAO0pYAwAAAAAAADyTUnMYEec96/IQESc5tx+XXtdSxxKEEPH/2bub6zaSNF3AMXVqT14LxLZAjNzcpdgWCLOapVAWCLJAlAWCLChwOauCLGhyOZsM0oKhLLiiBX1PdAdnWGpRAiLxkz/Pcw5OdVUzE1/8ZAZW3xv+6Hmz6cfQhvU+m0iXfTWmptu7NO9LIU8apf+/EML7Aa1Zbup+W/ZZn9Q+U0Ns6F4T5nHI9do6zKOnASDfVd7f1YE4Bwzt+VENlyWkoTYsaghqQk0AAAAAAAAAAAAAAAAAAAD2QlgDAAAAAAAAPFEaU68qm25ni5Ta26nPaWk4nUoQwlC8Ls3uF3uq9+iNwHvsxT6DMjaRG7WXcJEhN0rPwRIpxqY34RcMXt/CP35k3eHsPqoSbnRbAmLGbkh7CgAAAAAAAAAAAAAAAAAAGLlfLTAAAAAAAAD8SQ4ZeFk5JZ9TaldTns4SdrEeWEjDU7nR98fcuD+EME+p/brDe5/u8F5jlMMa7g89ricBLa9HNKe/x9iEqb+PmI4Ym2WHs/uoclBDCOF6qEETFY4azAMAAAAAAAAAAAAAAAAAAPDUL2YDAAAAAAAA/inGZhZCeFs5HV9yc/8pT2VpOH0/4KCGp3Lj/tsyJkYqxuYxIGJMQQ2PcmDDpN9JTEPHs/uoyjOaJhTUAAAAAAAAAAAAAAAAAAAA0CvCGgAAAAAAAOB/m7avOszFLKX261TnsoQaXI+s4fSLPKYYm9Me1MJ+rEbeJP13gSOM2Q7O7qMpz+bSBgUAAAAAAAAAAAAAAAAAADgeYQ0AAAAAAADwT+sOTdvfpdTeTnUeY2xmIwxqeHSimfY4lUbpryYw1LXAEUasy9l9NCVkYqznJgAAAAAAAAAAAAAAAAAAwGD8aqkAAAAAAACYuhib3Iz/ZeU0fE6pnWwz/9LwfrXHhtN3IYT7EMJt+ef9D/72IoSQG2Cfd1jP5+7L+Ox7XR/Kvs2fr0/++ZzTsncfPy92VEe+z2UIYbGj+0EvdDy7j20f5+aXJ++c752Xtym1P3oHbS3GJr9b3vdmVgEAAAAAAAAAAAAAAAAAALYkrAEAAAAAAIBJi7GZhRDeVs5Bbow8n+r8laCG6z00nL4q911v2Vj6+kltp6UZ/6x8utS4q6b5td6V5ttDMZQG6qc7vt9d2YP/+FQ2RV8//o8Ym7Oydxc72INvY2xWKbVD2kfwrI5n91HF2ORn+tWOargrwQ/5vPxRmBEAAAAAAAAAAAAAAAAAAADfIawBAAAAAACAySrN0Fcdxj+rbMg+eCUMYbXDoIYvpcn/ahdzWu6xfmx+H2MzL03va0IEvnStp6PblNrrvX7DDsXYTOmZ+Py4z3b9LiiN1/MzsSz7d9nxeVuWABMYtB2c3UdTzs7LHXz/Tb7PkM4GAAAAAAAAAAAAAAAAAACAPhLWAAAAAAAAwJStOzQ/f5dSezvhuVtVBh9866E0nF7utrw/S6nN9a5ibC5K7S+2uFwz7HG6rxzVXQk+2HlAw3Py/o2xWZe9+7ryNq9yk/sSAgFD1uXsPrZFx9rzmTlPqV3bwQAAAAAAAAAAAAAAAAAAAN39Yg4BAAAAAACYohibZYewgc/7DhfosxibeYeG8U/dhBDODzmXKbXXKbVnOWyjNL3exOpQ9XFQ6y32QHYVQvhrSm3es6tDBTU8yt+XUjsrddS6PGTNsGsdz+4+mHeoIb+vLgQ1AAAAAAAAAAAAAAAAAAAA7I6wBgAAAAAAACYnxiY3PH9bOe6Hjs2WBy3G5jSEsItwhQ8ptbnp9P0x5qMERJyXwIgfucoBD8eokf0qYQubhBfkcIS/pNTO+7AXch0b7NvnzPZfIexHx7P76Er9LyrreAxquLW9AAAAAAAAAAAAAAAAAAAAdkdYAwAAAAAAAJMSY3MWQlh1GPOsNHmfqhxycNJx7L+l1G7SJH+vclBEDozIwRGlEfa3PpXG+IxUCe348MzonoY0HCVU5Afmz+zZnzkpDeNhUHZwdvdBl2dvJqgBAAAAAAAAAAAAAAAAAABg9341pwAAABzb/73+z/PS7BMAGIbFf138h0ahwJCtO4QNfEipvZ7q6sfY5GCDNx1vk4MaetVwOwdHxNgsSyPts/KfVz1s0M8elPVflfU/DSHkdV/3OZQl782yZ99XXD4r70EYki5nd19cVNZxNeXfHgAAAAAAAAAAAAAAAAAAAPskrAEAAIA+yI0QX1kJABiMU0sFDFWMzWUI4WVl+Te5qfvEF7/r+N/1LajhUWnM38va2L8SzDG0IMlc76KigX1tw3g4ihJMUnt290KMTQ4CelFZy9R/ewAAAAAAAAAAAAAAAAAAAOzNL6YWAAAAAACAKYixyQ3K31cO9SGEMJvyRinz1yVo73NK7dCa4UNvlYCRdUV9L0rjeOi9GJt89r6tqPOhZ2OrfeY+lzAZAAAAAAAAAAAAAAAAAAAA9kBYAwAAAAAAAKMXY3Na2dT80aw0Rp+yeYexP3S8Hvi+2vfaufmk70qoyKqizLsQQt/CgS4qr+vy2wUAAAAAAAAAAAAAAAAAAICfENYAAAAAAADAFORmxyeV4/yQUns95V1SGma/6XCLhbAL2Ivad5OwBoag5uzO4UCzEa3upH9/AAAAAAAAAAAAAAAAAAAA7JuwBgAAAAAAAEYtxuYyhPCqcow3KbWXdkinxtd5Dlc7rAUoSgjKXcV8CGug12JsliGElxU1zlJq78eyumMaCwAAAAAAAAAAAAAAAAAAQB8JawAAAAAAAGC0YmwuQgjvK8f30DGkYEzmHcYi7AL2q6aZ+6k1oa9ibPLZ+7aivA8ptdc9HdZFxTU1QSwAAAAAAAAAAAAAAAAAAABsQVgDAAAAAAAAoxRjk5uRrzuMbZZS+3XquyPG5iyE8LLy8i89bpwNY3FbMY5zq08flTNnVVHaTUrt2MKBJv8bBAAAAAAAAAAAAAAAAAAAYN+ENQAAAAAAADBWOajhpHJsn4QM/I9Zh2vH1jgb+qimoXvtuxH2bVWxPx86nlWHUBOqAgAAAAAAAAAAAAAAAAAAwJ4JawAAAAAAAGB0YmxySMCrynHdpdQu7Ir/cdHh2vWOawH+lSbwjEKHs3uWUlsTWnJINfWd9nxMAAAAAAAAAAAAAAAAAAAAgyesAQAAAAAAgFGJscnhAu8rx/SQmz7bEX9SG9bweQDNs2GyYmw0gqc3OpzdH1Jqr0e6ki97UAMAAAAAAAAAAAAAAAAAAMCoCWsAAAAAAABgNErz8XWH8cxTau/tiH+KsTkPIZxUXj7W5tkwFudWkj7ocHbfpNReDmQRq35bxNic7b4UAAAAAAAAAAAAAAAAAAAAHglrAAAAAAAAYEzWHcIFPqXUdgl6GKMuzdyFNQCwiZqz+yGEMBvQ7NYGQV3suA4AAAAAAAAAAAAAAAAAAACeENYAAAAAAADAKMTYLEIIryrHcpdSu7AT/sVZ5XUPKbW3e6wLgBGIsbmsPLtnKbVfhzIDKbW1AUZDCqQAAAAAAAAAAAAAAAAAAAAYHGENAAAAAAAADF6MzXkI4WPlOB40Q37WReV1ghoA+KEYm3zGvK+YpXcdwg+O6abiu1/H2NQGJwEAAAAAAAAAAAAAAAAAAPATwhoAAAAAAAAYtBib0xDCusMY5im193bBd9U2iB5iE20ADqTD2f05pXY50HWq/a1yueM6AAAAAAAAAAAAAAAAAAAAKH41EQAAAAAAAAzcKoTwonIIn1JquwQ9jF3tvH6d+sQBnZ3H2JjF8cpn78mWo/uSA5YGPCN5zB8rrnsTY7P2ewUAAAAAAAAAAAAAAAAAAGD3hDUAAAAAAAAwWDE2ixDC68r671JqF1Z/L25HOCbYSozNeQjhNIRwVj6h/Pv5k/vkf39pZr+rpqk9AxBjcxlCeFVR6SyldrBhQCm19zE2nyt/t6xibC5Sap2vAAAAAAAAAAAAAAAAAAAAOySsAQAAAAAAgEEqjdBrm3k/hBDmVv55uSl0X2uDvoixOSvhC4+f08om9DAJ5Wx5XzHWdyMJKlhWhjWchBCuBTYAAAAAAAAAAAAAAAAAAADslrAGAAAAAAAABifGJjdEX3eoe6HZ8f6k1F6PdWxMW2k0//g5Lw3UgQ10OLs/p9QuxzDH+XyMsfncMbBhnlLb5TcQAAAAAAAAAAAAAAAAAAAAhbAGAAAAAAAAhmgVQnhRWfdVSu3KqgM/U5rLz8rnQjgDdLKueIa+hBDmI5v2RYf3Sb7mjxibmxDCpXAkAAAAAAAAAAAAAAAAAACAboQ1AAAAcHT/dfEfuanYv1kJAABgEzE2ucnx68rJuitNkgGeFWNzlhuhl5AGAQ3QUYxNfp5eVdxlllL7dUzzn1J7X37L/N7hNnku/xZjc1cCrNb5vjssEwAAAAAAAAAAAAAAAAAAYBKENQAAAAAAADAYMTbnIYSPlfU+hBDmY2v6DOzOk5CGN6YVdiPG5iKE8L7iZr+l1N6OcRlSalflN83bjrd6WX4XfYyx+RJCuC2f+/J56tZvIAAAAAAAAAAAAAAAAAAAgD8T1gAAAAAAAMAgxNichhDWHWpdjLXpM9BNeb9c7qBxOvBEh7P7KgcajHkuU2oXZX52FQ7zonxeP/cHMTY7+ioAAAAAAAAAAAAAAAAAAIBx+MU6AgAAAAAAMBCr0oS4xuibPgN1YmzOQwjXghpgL3JQw8mWN77LAUtTWI6U2nn+jdKDUgAAAAAAAAAAAAAAAAAAACZJWAMAAAAAAAC9F2OTmxm/rqxzMk2fge08CWp4aepgt2JsLkMIr7a86UMIYZ5S+3Uqy1ECG34rYwcAAAAAAAAAAAAAAAAAAOCAfjXZAAAAAAAA9Flppr6sLHFyTZ+BzTwJajg50JTl4JjHd9H1k/+e/9vthvf4mlL7p7+NsbkIIfxtd2VCd2Vfvq+40eLbPT4FKbWrGJv8XlhVBFwAAAAAAAAAAAAAAAAAAABQSVgDAAAAAAAAvRVjc1oaF9c2U7+cYtNn4MdibM72FNTwUIIXrss/c7jC9QbXwWiUs3tdMZ6rHFow1Z2QUnsfQriIsZnn3y8hhBc9KAsAAAAAAAAAAAAAAAAAAGDUhDUAAAAAAADQZ8sQwsvK+j6n1C6t7uHF2JwLyaDnuoTAfOuu3O/avt+pvw4t6CLG5u89KKMP1hXPV36OFuOcju2UwIpVCW3In1dDqh8AAAAAAAAAAAAAAAAAAGBIhDUAAAAAAADQS6VJ8ZvK2r6UBsdUyk3SY2xqLz817/RVebfsovn5VQjhMqX23mLDP8XYXFY8Xw/5zE6p/Woa/9eT0IazEMKsfAQ3AAAAAAAAAAAAAAAAAAAA7JCwBgAAAAAAAHonxuY8hLDsUNdM0+ejOpvw2Om/y44V3pTG8kIa4IkYm4sQwvuKOVmk1N6ay+8r75rl4++iMs+PH+ENAAAAAAAAAAAAAAAAAAAAHQhrAAAAAAAAoFdibE5DCKsQwkllXe80fd6ZuxDCy4qbCWugl2Js5iGEFx1qu0qpnVtd+LNydq8rpiU/UyvTuTVBDQAAAAAAAAAAAAAAAAAAADsgrAEAAAAAAIC+WVYGBGSfU2qXVnRnvlbe6LyHY4Fs1mEWBDXA89YVIUt3nqnNlUCM/BvnzVBqBgAAAAAAAAAAAAAAAAAA6DthDQAAAAAAAPRGjM28QxPiLyEETZ936zqE8KrijsIa6J3S6Px1ZV35/bKwqvCvYmwuK86Kh47hKZMSY3NRGYjxnIdyxt+Wfz76mlJ7u+lNytq/n/r6AAAAAAAAAAAAAAAAAAAAwyWsAQAAAAAAgF6IsckN/pcdapml1H61mjt1X3mzFzE2Zym1tdfDPlx0uOdlj98vXcYFnZQQgZpm/XNnxGZKkNXvO7rdVQhhlVJ7vcHfAgAAAAAAAAAAAAAAAAAAjJ6wBgAAAAAAAI4uxuY0Nw8OIZxU1vIupfbWSu5clzm9KGsKfXFeWceXlFp7Gb5Rzu51xbx8SqmtuW5yYmxyiNXbHYz7qoTOCMgAAAAAAAAAAAAAAAAAAAB44heTAQAAAAAAQA9chhBeVpZxk1K7tIi7VwIwHipvfNHnsTFJtXuy703lPWscy7oiZOkupXZhxX5uR0EN+Qz/a0rtXFADAAAAAAAAAAAAAAAAAADAvxLWAAAAAAAAwFHF2Mw6NCPOTYhnVnCvritvbl0Yi9uej+O8BzUwMTE2OXDh1ZajdmZvKMZmvoOghrsQwllKbe05DgAAAAAAAAAAAAAAAAAAMHrCGgAAAAAAADiaGJuzEMKqw/fPUmq/WsG9qm3yfFKCOKAvtm0s/+i+rytY3qEnPSiFCYmxyQEhHytGPE+p7e3z1Bdlfn/vWM5VSu2530gAAAAAAAAAAAAAAAAAAAA/JqwBAAAAAACAY1p3aDT+IaW2NkiAza07zNXCPDMCfW4uLxCFg4qxOa08Fz6l1HY5Tyahw/w+lYMa5lOfSwAAAAAAAAAAAAAAAAAAgE0IawAAAAAAAOAoYmyWIYSXld99k1J7aeX2L6U2N6q/q/yiVzE2Z0MaL3yrPAN9dWHBOLBVCOHFll95l1IrvGczi4r5fepOUAMAAAAAAAAAAAAAAAAAAMDmhDUAAAAAAABwDOchhLeV3/sQQphZtYNadfgyoRoMWoxNLwMRShDK6x6UwkTE2Cwq9tyDUJHNlGf6fYdbfDHXAAAAAAAAAAAAAAAAAAAA2xHWAAAAAAAAwDGcdPjOWUrtV6t2UOsOX/YmxuZ8gGOGvptbIQ6lvMc/VnydM3tzXYKRgrkGAAAAAAAAAAAAAAAAAADYnrAGAAAAAAAAhuRDSu21FTuslNr7EMLnDl+6HOK4GZ0vlQPqXdhIjM1pCGHRg1KYgLLfakJ7nNkbirGZhRBedbhFnuvbgxYNAAAAAAAAAAAAAAAAAAAwAsIaAAAAAAAAGIqblNpLq3U0XQIXXsXYaCzPsd1Xfn/vwhpKUMNJD+pgGlYhhBdbjtSZvZ0uZ+wXoUgAAAAAAAAAAAAAAAAAAAB1hDUAAAAAAAAwBA8hhJmVOp6U2uvcfLtDAZcxNn1ses903FaOtFfvnhibsxDC+x6UwjTkYJDXW47Umb2FGJvLijCMpy5Tar8eq34AAAAAAAAAAAAAAAAAAIAhE9YAAAAAAADAEMw1Iu6Fyw5FnIQQVjE2pyOaD4alNqzhJMZm3qORrnpQA9OxbVBDNnNmb6aEryw63OImpdY7AQAAAAAAAAAAAAAAAAAAoNKvJg4AAAAAAICe+5RSu7ZIx/9pD+UAABFKSURBVJdSex1jcxNCeFVZzMsQQr7HRd8aeZcQiYsQwnkIIde2Tqm970Fp7M51hztd9iEkIcZm2eH5g0P4kM8KM72xZQkzqtUlRAkAAAAAAAAAAAAAAAAAAGDyfpn6BAAAAAAAANBrdym1C0vUK13X4zGw4bQvg4qxyc2uczDDHyGE9yGEjyGE2xibeQ/KY0dK+MZd5d1exNgc9V1U9uPbY9YAP3GTUis8YEM5uCiE8LrDLa4EYwAAAAAAAAAAAAAAAAAAAHQjrAEAAAAAAIC+egghzKxOv6TU3oYQPnUsqheBDTE2ZzE21yWg4eSb/zv/++8xNvbguCw7jOYyxub8GLNRghp+P8Z3w4a+OLO3tupwbf6NJBgDAAAAAAAAAAAAAAAAAACgI2ENAAAAAAAA9NU8pfbe6vTSZWnM3UUObLg/VhhCjM0ihJCDJ1795E9Xxw6VYKfWpcl5jZNj7AdBDQzELKX2q8XaTIxNPkdfdLjF0m8kAAAAAAAAAAAAAAAAAACA7oQ1AAAAAAAA0EefUmrXVqafSkPuXYQs5Ob3f8TYrGNszg4x2Bibixib3OD6Y/n+n8l/c3GI2ti/sneXHb4oh4xcH3C/LjcIaqgNn4BdeZdSe2s2N1MCXxYdbvGl43sMAAAAAAAAAAAAAAAAAACAQlgDAAAAAAAAfXOXUtuliTEHUBpzv9vRN70OIfx3jM1qX03wY2zmMTa55r+FEF5sefn5PmriaJYdAw5yYMNtDv7Y1wBibM7Lfn27wZ9r2s4xfU6ptQe3s9wwLOg5lyV4BgAAAAAAAAAAAAAAAAAAgI5+NYEAAAAAAAD0SG6gPrMgw5AbdOem8iGENzsqON/nTYzNXQhhFUJYp9Te19woxuY0hHBR9tOsY2NsRiQ3Oc/hHSGEPzqMKu+nv8XYXJXG6VX79FslrORyi2fqS2n8/n4X3w9byvtvbtI2V0JeupyZNym1q0PXDQAAAAAAAAAAAAAAAAAAMFbCGgAAAAAAAOiT+a6annMYKbXzGJuww8CG7GUI4WP+xNjkZuC35XNfPs/JTbBzs/vzcg/4rpTadQla6LpvHwNGrkq4yLrmJjE2s9L0/vWWl85L+ETN10JXs7z/zOJWlh2vvzxwvQAAAAAAAAAAAAAAAAAAAKMmrAEAAAAAAIC++FTb6JyjW5SQhFd7KORF+WzbxH6X7MtxWuww2OMxtOEhhHD9JGDkuUb2Z+Vz0eG5ye/M6w41QxfvUmpvzeDmYmzmHd83V555AAAAAAAAAAAAAAAAAACA3RLWAAAAAAAAQB/chRAurcQwpdTmhvQXMTar0rR+TK40JB+nvG9jbGYlVOFkR4M8KcEi+w4XuUupXez5O+A5n1Nql2Zna12e2Qe/kwAAAAAAAAAAAAAAAAAAAHbvF3MKAAAAAADAkeUGxPPS8J8BS6mdhxA+jWgNrzo216bnUmrvc9BIeQ8NxV2pGY7hSz6zzfx2YmzOQggvO9xiWd5XAAAAAAAAAAAAAAAAAAAA7JCwBgAAAAAAAI5tkVJ7axXGIaU2hxv8NrDm99/zLodPCBEZv/L+uShN6PvuH0EN9iVHkt/rM/uvylmHa/O7aXnE2gEAAAAAAAAAAAAAAAAAAEZLWAMAAAAAAADHdJVSu7IC41LW9DyEcDPAgeVm+DGlVmPseoNr5F4CG87L+veVoAaOTbhSvS7P7aXnHgAAAAAAAAAAAAAAAAAAYD+ENQAAAAAAANDVdeX1ufH4wuyPU0rtfUrtRQjhXQjhYSCD/JBSe64ZeWeDnL/cDD2vf94HPSjnW1c/CWqoCUa53115TMDQwpV6FW5QzpWas/BmhKFWgicAAAAAAAAAAAAAAAAAAIDeENYAAAAAAABAVzVNd3PD4vkPGo9PVU2T+143xk+pXYYQzkIIn3pQznNyI/y/pNRe7vl7apvjDy38oGqcKbW1wS87VfZBrAxA2LX8rvz3lNqfvS+3fpfmQJUDjWEq+z77UnHNIcdZ+11DDFeqGeu+n4llxTX7Ppe6qpkzgUgAAAAAAAAAAAAAAAAAAEBvCGsAAAAAAACgk5Ta24oG1YtyHX+23nI+7oYQeJFrTKnNjb7/UkIbHnpQVngS0jA/UOP6bdc3DGWNv1ETuvB5rxVtKb+fUmovQgi/VTbg34X8rJyl1G6yb7bdW4ec75p9fzPQMJ+asdZcU6vm2RxquNK2vzG+HOAcWG75PvnUlxCbH6ip75B7HgAAAAAAAAAAAAAAAAAA4IeENQAAAAAAALALqy3u8SGldpu/n4zSlPlmi/EuhzQ3uRF2CW04K03w745QRv7OdyGE/3PAkIZ/KM3OP2x52WJP5exNmdNPW96/l3s5v6tSah/36zbPZq2HJyEii00b5Jd36jZN4A8232UM2+6Hyz2Vs2/LLcNobg7ZjL9iLfJYLoYYrlQx1r3vuVLTbMM9cjeE56C876+2uORGWBcAAAAAAAAAAAAAAAAAANAn//b3v//dggAAAAAAANBZjE1uvvvyJ/d5l1I7qICBQ4uxyY3hc/PuFz/56qscNjCS8V6UBtb5nyc7/oqHMp/5sz5kOMNzYmxyY/03G/zpYJ+XGJvTPN8hhFcb/PlvQwlwKfs179X5Bu+7bXwu87XeNKDhO7Wdl33+s2foKPO9xb4fzH74nhibeQlt+Nk63JUghKr17lDfadknP9u/OfxjNuTG+luM9aDnaalr+YPnIYdMXB56b9TaYp6PsucBAAAAAAAAAAAAAAAAAAB+RFgDAAAAAAAAOxNjc1mamH8bNJAbkS9Taq/N9s+VxseLZ+byrszlYJuZ/0hphn/+5HNa/vcmIQ55br6WptE5lOG2r43GS0P33PT/9Xf+79E8L2Wci+808X4o4QTLoTaDL8/peQkZedyrm4RT3JR9msd9vct1LjVdlr3Vu/fwhPb92ZN1+Pbdld9Tq2MHsfzgvL578myOoqn+T8Z6tPP0SVjRWflPX/sSKlQjxmbxTJDNqH+3AAAAAAAAAAAAAAAAAAAAwyasAQAAAAAAAAAAAAAAAAAAAAAAAAAAAAAAmJRfLDcAAAAAAAAAAAAAAAAAAAAAAAAAAAAAADAlwhoAAAAAAAAAAAAAAAAAAAAAAAAAAAAAAIBJEdYAAAAAAAAAAAAAAAAAAAAAAAAAAAAAAABMirAGAAAAAAAAAAAAAAAAAAAAAAAAAAAAAABgUoQ1AAAAAAAAAAAAAAAAAAAAAAAAAAAAAAAAkyKsAQAAAAAAAAAAAAAAAAAAAAAAAAAAAAAAmBRhDQAAAAAAAAAAAAAAAAAAAAAAAAAAAAAAwKQIawAAAAAAAAAAAAAAAAAAAAAAAAAAAAAAACZFWAMAAAAAAAAAAAAAAAAAAAAAAAAAAAAAADApwhoAAAAAAAAAAAAAAAAAAAAAAAAAAAAAAIBJEdYAAAAAAAAAAAAAAAAAAAAAAAAAAAAAAABMirAGAAAAAAAAAAAAAAAAAAAAAAAAAAAAAABgUoQ1AAAAAAAAAAAAAAAAAAAAAAAAAAAAAAAAkyKsAQAAAAAAAAAAAAAAAAAAAAAAAAAAAAAAmBRhDQAAAAAAAAAAAAAAAAAAAAAAAAAAAAAAwKQIawAAAAAAAAAAAAAAAAAAAAAAAAAAAAAAACZFWAMAAAAAAAAAAAAAAAAAAAAAAAAAAAAAADApwhoAAAAAAAAAAAAAAAAAAAAAAAAAAAAAAIBJEdYAAAAAAAAAAAAAAAAAAAAAAAAAAAAAAABMirAGAAAAAAAAAAAAAAAAAAAAAAAAAAAAAABgUoQ1AAAAAAAAAAAAAAAAAAAAAAAAAAAAAAAAkyKsAQAAAAAAAAAAAAAAAAAAAAAAAAAAAAAAmBRhDQAAAAAAAAAAAAAAAAAAAAAAAAAAAAAAwKQIawAAAAAAAAAAAAAAAAAAAAAAAAAAAAAAACZFWAMAAAAAAAAAAAAAAAAAAAAAAAAAAAAAADApwhoAAAAAAAAAAAAAAAAAAAAAAAAAAAAAAIBJEdYAAAAAAAAAAAAAAAAAAAAAAAAAAAAAAABMirAGAAAAAAAAAAAAAAAAAAAAAAAAAAAAAABgUoQ1AAAAAAAAAAAAAAAAAAAAAAAAAAAAAAAAkyKsAQAAAAAAAAAAAAAAAAAAAAAAAAAAAAAAmBRhDQAAAAAAAAAAAAAAAAAAAAAAAAAAAAAAwKQIawAAAAAAAAAAAAAAAAAAAAAAAAAAAAAAACZFWAMAAAAAAAAAAAAAAAAAAAAAAAAAAAAAADApwhoAAAAAAAAAAAAAAAAAAAAAAAAAAAAAAIBJEdYAAAAAAAAAAAAAAAAAAAAAAAAAAAAAAABMirAGAAAAAAAAAAAAAAAAAAAAAAAAAAAAAABgUoQ1AAAAAAAAAAAAAAAAAAAAAAAAAAAAAAAAkyKsAQAAAAAAAAAAAAAAAAAAAAAAAAAAAAAAmBRhDQAAAAAAAAAAAAAAAAAAAAAAAAAAAAAAwKQIawAAAAAAAAAAAAAAAAAAAAAAAAAAAAAAACZFWAMAAAAAAAAAAAAAAAAAAAAAAAAAAAAAADApwhoAAAAAAAAAAAAAAAAAAAAAAAAAAAAAAIBJEdYAAAAAAAAAAAAAAAAAAAAAAAAAAAAAAABMirAGAAAAAAAAAAAAAAAAAAAAAAAAAAAAAABgUoQ1AAAAAAAAAAAAAAAAAAAAAAAAAAAAAAAAkyKsAQAAAAAAAAAAAAAAAAAAAAAAAAAAAAAAmBRhDQAAAAAAAAAAAAAAAAAAAAAAAAAAAAAAwKQIawAAAAAAAAAAAAAAAAAAAAAAAAAAAAAAACZFWAMAAAAAAAAAAAAAAAAAAAAAAAAAAAAAADApwhoAAAAAAAAAAAAAAAAAAAAAAAAAAAAAAIBJEdYAAAAAAAAAAAAAAAAAAAAAAAAAAAAAAABMirAGAAAAAAAAAAAAAAAAAAAAAAAAAAAAAABgUoQ1AAAAAAAAAAAAAAAAAAAAAAAAAAAAAAAAkyKsAQAAAAAAAAAAAAAAAAAAAAAAAAAAAAAAmBRhDQAAAAAAAAAAAAAAAAAAAAAAAAAAAAAAwKQIawAAAAAAAAAAAAAAAAAAAAAAAAAAAAAAACZFWAMAAAAA/P/27kAAAACAYdD9qQ+yEgkAAAAAAAAAAAAAAAAAAAAAAACAFFkDAAAAAAAAAAAAAAAAAAAAAAAAAAAAAACQImsAAAAAAAAAAAAAAAAAAAAAAAAAAAAAAABSZA0AAAAAAAAAAAAAAAAAAAAAAAAAAAAAAECKrAEAAAAAAAAAAAAAAAAAAAAAAAAAAAAAAEiRNQAAAAAAAAAAAAAAAAAAAAAAAAAAAAAAACmyBgAAAAAAAAAAAAAAAAAAAAAAAAAAAAAAIEXWAAAAAAAAAAAAAAAAAAAAAAAAAAAAAAAApMgaAAAAAAAAAAAAAAAAAAAAAAAAAAAAAACAFFkDAAAAAAAAAAAAAAAAAAAAAAAAAAAAAACQImsAAAAAAAAAAAAAAAAAAAAAAAAAAAAAAABSZA0AAAAAAAAAAAAAAAAAAAAAAAAAAAAAAECKrAEAAAAAAAAAAAAAAAAAAAAAAAAAAAAAAEiRNQAAAAAAAAAAAAAAAAAAAAAAAAAAAAAAACmyBgAAAAAAAAAAAAAAAAAAAAAAAAAAAAAAIEXWAAAAAAAAAAAAAAAAAAAAAAAAAAAAAAAApMgaAAAAAAAAAAAAAAAAAAAAAAAAAAAAAACAFFkDAAAAAAAAAAAAAAAAAAAAAAAAAAAAAACQImsAAAAAAAAAAAAAAAAAAAAAAAAAAAAAAABSZA0AAAAAAAAAAAAAAAAAAAAAAAAAAAAAAECKrAEAAAAAAAAAAAAAAAAAAAAAAAAAAAAAAEiRNQAAAAAAAAAAAAAAAAAAAAAAAAAAAAAAAB3bDtgSm4FwwewRAAAAAElFTkSuQmCC"/>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70000" lnSpcReduction="20000"/>
          </a:bodyPr>
          <a:lstStyle/>
          <a:p>
            <a:r>
              <a:rPr lang="ru-RU" dirty="0"/>
              <a:t>Среди стран мира к преимущественно принимающим мигрантов относятся многонациональные развитые государства. Безусловным лидером являются США, также в топ-7 по наиболее высоким средним показателям за период входят Австралия, Германия, Испания, Канада, Россия и Саудовская Аравия </a:t>
            </a:r>
          </a:p>
          <a:p>
            <a:r>
              <a:rPr lang="ru-RU" dirty="0"/>
              <a:t>Преимущественно отдают мигрантов страны с нестабильной внутренней ситуацией, однако не относящиеся к наиболее бедным: население, проживающее за чертой бедности, не имеет ресурсов для участия в </a:t>
            </a:r>
            <a:r>
              <a:rPr lang="ru-RU" dirty="0" smtClean="0"/>
              <a:t>миграции</a:t>
            </a:r>
          </a:p>
          <a:p>
            <a:r>
              <a:rPr lang="ru-RU" dirty="0"/>
              <a:t>Следует также отметить, что данные об абсолютных числах эмигрантов и иммигрантов не являются достаточно информативными. При детальном анализе миграционной ситуации в каждой стране следует учитывать страну исхода и направление выбытия, пол, возраст, уровень образования мигрантов и т. д.</a:t>
            </a:r>
          </a:p>
          <a:p>
            <a:r>
              <a:rPr lang="ru-RU" dirty="0"/>
              <a:t>Так, в Российской Федерации основные потоки мигрантов приходятся на граждан из близлежащих стран: Кыргызстан, Таджикистан, Армению, </a:t>
            </a:r>
            <a:r>
              <a:rPr lang="ru-RU" dirty="0" smtClean="0"/>
              <a:t>Казахстан.</a:t>
            </a:r>
          </a:p>
          <a:p>
            <a:r>
              <a:rPr lang="ru-RU" dirty="0"/>
              <a:t>Среди регионов России лидерами по входящим потокам внешних и внутренних мигрантов являются мегаполисы — Москва и Санкт-Петербург — и прилежащие к ним Московская и Ленинградская области, а также некоторые приграничные южные регионы: Краснодарский край, Ростовская область.</a:t>
            </a:r>
          </a:p>
          <a:p>
            <a:endParaRPr lang="ru-RU" dirty="0"/>
          </a:p>
        </p:txBody>
      </p:sp>
    </p:spTree>
    <p:extLst>
      <p:ext uri="{BB962C8B-B14F-4D97-AF65-F5344CB8AC3E}">
        <p14:creationId xmlns:p14="http://schemas.microsoft.com/office/powerpoint/2010/main" val="473476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Контингент</a:t>
            </a:r>
            <a:endParaRPr lang="ru-RU" dirty="0"/>
          </a:p>
        </p:txBody>
      </p:sp>
      <p:sp>
        <p:nvSpPr>
          <p:cNvPr id="3" name="Объект 2"/>
          <p:cNvSpPr>
            <a:spLocks noGrp="1"/>
          </p:cNvSpPr>
          <p:nvPr>
            <p:ph idx="1"/>
          </p:nvPr>
        </p:nvSpPr>
        <p:spPr/>
        <p:txBody>
          <a:bodyPr>
            <a:normAutofit fontScale="62500" lnSpcReduction="20000"/>
          </a:bodyPr>
          <a:lstStyle/>
          <a:p>
            <a:r>
              <a:rPr lang="ru-RU" b="1" dirty="0"/>
              <a:t>Контингент</a:t>
            </a:r>
            <a:r>
              <a:rPr lang="ru-RU" dirty="0"/>
              <a:t> </a:t>
            </a:r>
            <a:r>
              <a:rPr lang="ru-RU" b="1" dirty="0"/>
              <a:t>(численность) мигрантов</a:t>
            </a:r>
            <a:r>
              <a:rPr lang="ru-RU" dirty="0"/>
              <a:t> — совокупность лиц, прямо или косвенно имевших опыт миграции (т. е. люди, которые сами совершили переезд или являются потомками мигрантов), которые на определенный момент времени проживают в стране. В зависимости от целей исследования или целей миграционной политики, контингенты мигрантов выделяются по нескольким признакам:</a:t>
            </a:r>
          </a:p>
          <a:p>
            <a:r>
              <a:rPr lang="ru-RU" dirty="0"/>
              <a:t>Родившиеся за границей — лица, проживающие в одном государстве, но родившиеся в другом;</a:t>
            </a:r>
          </a:p>
          <a:p>
            <a:r>
              <a:rPr lang="ru-RU" dirty="0"/>
              <a:t>Иностранцы — лица, место обычного жительства которых находится в данной стране, но которые имеют гражданство другого государства (вне зависимости от страны рождения);</a:t>
            </a:r>
          </a:p>
          <a:p>
            <a:r>
              <a:rPr lang="ru-RU" dirty="0"/>
              <a:t>Лица иностранного происхождения — лица, у которых хотя бы один из родителей является уроженцем другой страны, вне зависимости от страны происхождения самих этих лиц;</a:t>
            </a:r>
          </a:p>
          <a:p>
            <a:r>
              <a:rPr lang="ru-RU" dirty="0"/>
              <a:t>Представители отдельных этнических групп — лица, принадлежащие к определенной (</a:t>
            </a:r>
            <a:r>
              <a:rPr lang="ru-RU" dirty="0" err="1"/>
              <a:t>нетитульной</a:t>
            </a:r>
            <a:r>
              <a:rPr lang="ru-RU" dirty="0"/>
              <a:t>) расе или этнической группе (критерий малоприменим в странах с исторически сложившимся многонациональным населением);</a:t>
            </a:r>
          </a:p>
          <a:p>
            <a:r>
              <a:rPr lang="ru-RU" dirty="0"/>
              <a:t>Лица, имевшие опыт международной миграции — лица, проживавшие в течение года и более за границей, являющиеся при этом </a:t>
            </a:r>
            <a:r>
              <a:rPr lang="ru-RU" i="1" dirty="0"/>
              <a:t>уроженцами</a:t>
            </a:r>
            <a:r>
              <a:rPr lang="ru-RU" dirty="0"/>
              <a:t> данной страны (возвратные мигранты, вне зависимости от гражданства);</a:t>
            </a:r>
          </a:p>
          <a:p>
            <a:r>
              <a:rPr lang="ru-RU" dirty="0"/>
              <a:t>Возвратившиеся граждане — лица, проживавшие в течение года и более за границей, являющиеся </a:t>
            </a:r>
            <a:r>
              <a:rPr lang="ru-RU" i="1" dirty="0"/>
              <a:t>гражданами</a:t>
            </a:r>
            <a:r>
              <a:rPr lang="ru-RU" dirty="0"/>
              <a:t> данной страны, которые в настоящее время снова вернулись и проживают в стране своего гражданства.</a:t>
            </a:r>
          </a:p>
          <a:p>
            <a:endParaRPr lang="ru-RU" dirty="0"/>
          </a:p>
        </p:txBody>
      </p:sp>
    </p:spTree>
    <p:extLst>
      <p:ext uri="{BB962C8B-B14F-4D97-AF65-F5344CB8AC3E}">
        <p14:creationId xmlns:p14="http://schemas.microsoft.com/office/powerpoint/2010/main" val="1980501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70000" lnSpcReduction="20000"/>
          </a:bodyPr>
          <a:lstStyle/>
          <a:p>
            <a:r>
              <a:rPr lang="ru-RU" dirty="0"/>
              <a:t>Как правило, перечисленные категории не существуют в «чистом виде» и частично перекрываются, так как у каждой из систем учета мигрантов есть свои плюсы и минусы. Целесообразно также использовать различные источники данных, чтобы получать более объективную картину «миграционного» состава населения страны. Например, сведения о стране рождения следует сочетать с информацией о времени переезда или продолжительности проживания, годе получения гражданства и пр.</a:t>
            </a:r>
          </a:p>
          <a:p>
            <a:r>
              <a:rPr lang="ru-RU" dirty="0"/>
              <a:t>Чаще всего в статистике для определения контингента международных мигрантов используется критерий страны рождения. Этот вопрос понятен, не изменен (при условии, что географические границы государств не менялись) и показывает действительно происходившую миграцию. Однако такой критерий не позволяет определить второе поколение мигрантов (т. е. лиц, имеющих </a:t>
            </a:r>
            <a:r>
              <a:rPr lang="ru-RU" dirty="0" err="1"/>
              <a:t>мигрантское</a:t>
            </a:r>
            <a:r>
              <a:rPr lang="ru-RU" dirty="0"/>
              <a:t> происхождение). Кроме того, уроженцы других стран могли совершить переезд давно и уже стать гражданами страны проживания и информация о таких мигрантах будет неприменима для целей миграционной политики.</a:t>
            </a:r>
          </a:p>
          <a:p>
            <a:r>
              <a:rPr lang="ru-RU" dirty="0"/>
              <a:t>В государствах, ранее входивших в состав Югославии, Советского Союза и т. д., применение критерия страны рождения искусственно завышает численность контингента международных мигрантов, родившихся «за рубежом». Зачастую такие мигранты совершили переезд еще во времена существования единого государства, когда такого рода перемещения было эквивалентно внутренней миграции.</a:t>
            </a:r>
          </a:p>
          <a:p>
            <a:r>
              <a:rPr lang="ru-RU" dirty="0"/>
              <a:t>Согласно оценкам ООН, на 2020 год в мире вне страны своего рождения проживало свыше 280 миллионов человек</a:t>
            </a:r>
            <a:r>
              <a:rPr lang="ru-RU" baseline="30000" dirty="0">
                <a:hlinkClick r:id="rId2"/>
              </a:rPr>
              <a:t>1</a:t>
            </a:r>
            <a:r>
              <a:rPr lang="ru-RU" dirty="0"/>
              <a:t>. Их распределение по регионам происхождения, а также по полу</a:t>
            </a:r>
          </a:p>
          <a:p>
            <a:endParaRPr lang="ru-RU" dirty="0"/>
          </a:p>
        </p:txBody>
      </p:sp>
    </p:spTree>
    <p:extLst>
      <p:ext uri="{BB962C8B-B14F-4D97-AF65-F5344CB8AC3E}">
        <p14:creationId xmlns:p14="http://schemas.microsoft.com/office/powerpoint/2010/main" val="2978113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70000" lnSpcReduction="20000"/>
          </a:bodyPr>
          <a:lstStyle/>
          <a:p>
            <a:r>
              <a:rPr lang="ru-RU" dirty="0"/>
              <a:t>С точки зрения абсолютных значений, больше всего за пределами стран рождения проживает выходцев из развивающихся стран с высокой численностью населения. Российская Федерация входит в их число</a:t>
            </a:r>
            <a:r>
              <a:rPr lang="ru-RU" dirty="0" smtClean="0"/>
              <a:t>.</a:t>
            </a:r>
          </a:p>
          <a:p>
            <a:r>
              <a:rPr lang="ru-RU" dirty="0"/>
              <a:t>Стоит обратить внимание, что в Индии растет участие мужчин в миграции, а контингент женщин-мигрантов, родившихся в России, </a:t>
            </a:r>
            <a:r>
              <a:rPr lang="ru-RU" dirty="0" smtClean="0"/>
              <a:t>снижается.</a:t>
            </a:r>
            <a:endParaRPr lang="ru-RU" dirty="0"/>
          </a:p>
          <a:p>
            <a:r>
              <a:rPr lang="ru-RU" dirty="0"/>
              <a:t>Как и в случае с потоками мигрантов, наиболее многочисленные когорты мигрантов проживают в наиболее развитых регионах и странах </a:t>
            </a:r>
            <a:r>
              <a:rPr lang="ru-RU" dirty="0" smtClean="0"/>
              <a:t>мира.</a:t>
            </a:r>
          </a:p>
          <a:p>
            <a:r>
              <a:rPr lang="ru-RU" dirty="0"/>
              <a:t>В основе классификации ООН лежит определение мигранта с точки зрения страны рождения. В этом смысле значения численности мигрантов, проживающих в Российской Федерации, по факту являются завышенными, так как связаны с изменением границ государства в результате распада СССР. </a:t>
            </a:r>
            <a:endParaRPr lang="ru-RU" dirty="0" smtClean="0"/>
          </a:p>
          <a:p>
            <a:r>
              <a:rPr lang="ru-RU" dirty="0"/>
              <a:t>Динамика контингента международных мигрантов в Европе и Северной Америке отражает существенный рост миграционных перемещений в последние десятилетия в эти регионы (рис.18).</a:t>
            </a:r>
          </a:p>
          <a:p>
            <a:r>
              <a:rPr lang="ru-RU" dirty="0"/>
              <a:t>Значительно опережающим другие страны лидером по числу мигрантов являются Соединенные Штаты Америки, причем численность когорты мигрантов в стране прирастает ежегодно (рис.19). Гендерных различий нет. Женщины стали немного активнее в последние годы.</a:t>
            </a:r>
          </a:p>
          <a:p>
            <a:r>
              <a:rPr lang="ru-RU" dirty="0"/>
              <a:t> </a:t>
            </a:r>
          </a:p>
          <a:p>
            <a:endParaRPr lang="ru-RU" dirty="0"/>
          </a:p>
        </p:txBody>
      </p:sp>
    </p:spTree>
    <p:extLst>
      <p:ext uri="{BB962C8B-B14F-4D97-AF65-F5344CB8AC3E}">
        <p14:creationId xmlns:p14="http://schemas.microsoft.com/office/powerpoint/2010/main" val="4040759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lvl="0"/>
            <a:r>
              <a:rPr lang="ru-RU" altLang="ru-RU" b="1" dirty="0">
                <a:solidFill>
                  <a:srgbClr val="303031"/>
                </a:solidFill>
                <a:latin typeface="Arial" panose="020B0604020202020204" pitchFamily="34" charset="0"/>
              </a:rPr>
              <a:t>Источники</a:t>
            </a:r>
            <a:r>
              <a:rPr lang="ru-RU" altLang="ru-RU" dirty="0">
                <a:solidFill>
                  <a:schemeClr val="tx1"/>
                </a:solidFill>
                <a:latin typeface="Arial" panose="020B0604020202020204" pitchFamily="34" charset="0"/>
              </a:rPr>
              <a:t/>
            </a:r>
            <a:br>
              <a:rPr lang="ru-RU" altLang="ru-RU" dirty="0">
                <a:solidFill>
                  <a:schemeClr val="tx1"/>
                </a:solidFill>
                <a:latin typeface="Arial" panose="020B0604020202020204" pitchFamily="34" charset="0"/>
              </a:rPr>
            </a:br>
            <a:endParaRPr lang="ru-RU" dirty="0"/>
          </a:p>
        </p:txBody>
      </p:sp>
      <p:sp>
        <p:nvSpPr>
          <p:cNvPr id="3" name="Объект 2"/>
          <p:cNvSpPr>
            <a:spLocks noGrp="1"/>
          </p:cNvSpPr>
          <p:nvPr>
            <p:ph idx="1"/>
          </p:nvPr>
        </p:nvSpPr>
        <p:spPr/>
        <p:txBody>
          <a:bodyPr/>
          <a:lstStyle/>
          <a:p>
            <a:endParaRPr lang="ru-RU" dirty="0"/>
          </a:p>
        </p:txBody>
      </p:sp>
      <p:sp>
        <p:nvSpPr>
          <p:cNvPr id="7" name="Rectangle 4"/>
          <p:cNvSpPr>
            <a:spLocks noChangeArrowheads="1"/>
          </p:cNvSpPr>
          <p:nvPr/>
        </p:nvSpPr>
        <p:spPr bwMode="auto">
          <a:xfrm>
            <a:off x="1066800" y="2270124"/>
            <a:ext cx="11125200" cy="2215991"/>
          </a:xfrm>
          <a:prstGeom prst="rect">
            <a:avLst/>
          </a:prstGeom>
          <a:solidFill>
            <a:srgbClr val="F7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03200" algn="l" defTabSz="914400" rtl="0" eaLnBrk="0" fontAlgn="base" latinLnBrk="0" hangingPunct="0">
              <a:lnSpc>
                <a:spcPct val="100000"/>
              </a:lnSpc>
              <a:spcBef>
                <a:spcPct val="0"/>
              </a:spcBef>
              <a:spcAft>
                <a:spcPct val="0"/>
              </a:spcAft>
              <a:buClrTx/>
              <a:buSzTx/>
              <a:buFontTx/>
              <a:buAutoNum type="arabicPeriod"/>
              <a:tabLst/>
            </a:pPr>
            <a:r>
              <a:rPr kumimoji="0" lang="ru-RU" altLang="ru-RU" sz="1800" b="0" i="0" u="none" strike="noStrike" cap="none" normalizeH="0" baseline="0" dirty="0" smtClean="0">
                <a:ln>
                  <a:noFill/>
                </a:ln>
                <a:solidFill>
                  <a:schemeClr val="tx1"/>
                </a:solidFill>
                <a:effectLst/>
                <a:latin typeface="Arial" panose="020B0604020202020204" pitchFamily="34" charset="0"/>
              </a:rPr>
              <a:t>Росстат: </a:t>
            </a:r>
            <a:r>
              <a:rPr kumimoji="0" lang="ru-RU" altLang="ru-RU" sz="1800" b="0" i="0" u="none" strike="noStrike" cap="none" normalizeH="0" baseline="0" dirty="0" smtClean="0">
                <a:ln>
                  <a:noFill/>
                </a:ln>
                <a:solidFill>
                  <a:srgbClr val="303031"/>
                </a:solidFill>
                <a:effectLst/>
                <a:latin typeface="Arial" panose="020B0604020202020204" pitchFamily="34" charset="0"/>
                <a:hlinkClick r:id="rId2"/>
              </a:rPr>
              <a:t>https://rosstat.gov.ru/folder/12781</a:t>
            </a: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203200" algn="l" defTabSz="914400" rtl="0" eaLnBrk="0" fontAlgn="base" latinLnBrk="0" hangingPunct="0">
              <a:lnSpc>
                <a:spcPct val="100000"/>
              </a:lnSpc>
              <a:spcBef>
                <a:spcPct val="0"/>
              </a:spcBef>
              <a:spcAft>
                <a:spcPct val="0"/>
              </a:spcAft>
              <a:buClrTx/>
              <a:buSzTx/>
              <a:buFontTx/>
              <a:buAutoNum type="arabicPeriod" startAt="2"/>
              <a:tabLst/>
            </a:pPr>
            <a:r>
              <a:rPr kumimoji="0" lang="ru-RU" altLang="ru-RU" sz="1800" b="0" i="0" u="none" strike="noStrike" cap="none" normalizeH="0" baseline="0" dirty="0" smtClean="0">
                <a:ln>
                  <a:noFill/>
                </a:ln>
                <a:solidFill>
                  <a:schemeClr val="tx1"/>
                </a:solidFill>
                <a:effectLst/>
                <a:latin typeface="Arial" panose="020B0604020202020204" pitchFamily="34" charset="0"/>
              </a:rPr>
              <a:t>Статистика международной миграции. Практическое руководство для стран Восточной Европы и Центральной Азии. — </a:t>
            </a:r>
          </a:p>
          <a:p>
            <a:pPr marL="0" marR="0" lvl="0" indent="203200" algn="l" defTabSz="914400" rtl="0" eaLnBrk="0" fontAlgn="base" latinLnBrk="0" hangingPunct="0">
              <a:lnSpc>
                <a:spcPct val="100000"/>
              </a:lnSpc>
              <a:spcBef>
                <a:spcPct val="0"/>
              </a:spcBef>
              <a:spcAft>
                <a:spcPct val="0"/>
              </a:spcAft>
              <a:buClrTx/>
              <a:buSzTx/>
              <a:buFontTx/>
              <a:buAutoNum type="arabicPeriod" startAt="2"/>
              <a:tabLst/>
            </a:pPr>
            <a:r>
              <a:rPr kumimoji="0" lang="ru-RU" altLang="ru-RU" sz="1800" b="0" i="0" u="none" strike="noStrike" cap="none" normalizeH="0" baseline="0" dirty="0" smtClean="0">
                <a:ln>
                  <a:noFill/>
                </a:ln>
                <a:solidFill>
                  <a:schemeClr val="tx1"/>
                </a:solidFill>
                <a:effectLst/>
                <a:latin typeface="Arial" panose="020B0604020202020204" pitchFamily="34" charset="0"/>
              </a:rPr>
              <a:t>Европейская Экономическая Комиссия ООН Фонд ООН в области народонаселения, 2011.</a:t>
            </a:r>
          </a:p>
          <a:p>
            <a:pPr marL="0" marR="0" lvl="0" indent="203200" algn="l" defTabSz="914400" rtl="0" eaLnBrk="0" fontAlgn="base" latinLnBrk="0" hangingPunct="0">
              <a:lnSpc>
                <a:spcPct val="100000"/>
              </a:lnSpc>
              <a:spcBef>
                <a:spcPct val="0"/>
              </a:spcBef>
              <a:spcAft>
                <a:spcPct val="0"/>
              </a:spcAft>
              <a:buClrTx/>
              <a:buSzTx/>
              <a:buFontTx/>
              <a:buAutoNum type="arabicPeriod" startAt="3"/>
              <a:tabLst/>
            </a:pPr>
            <a:r>
              <a:rPr kumimoji="0" lang="ru-RU" altLang="ru-RU" sz="1800" b="0" i="0" u="none" strike="noStrike" cap="none" normalizeH="0" baseline="0" dirty="0" err="1" smtClean="0">
                <a:ln>
                  <a:noFill/>
                </a:ln>
                <a:solidFill>
                  <a:schemeClr val="tx1"/>
                </a:solidFill>
                <a:effectLst/>
                <a:latin typeface="Arial" panose="020B0604020202020204" pitchFamily="34" charset="0"/>
              </a:rPr>
              <a:t>Our</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err="1" smtClean="0">
                <a:ln>
                  <a:noFill/>
                </a:ln>
                <a:solidFill>
                  <a:schemeClr val="tx1"/>
                </a:solidFill>
                <a:effectLst/>
                <a:latin typeface="Arial" panose="020B0604020202020204" pitchFamily="34" charset="0"/>
              </a:rPr>
              <a:t>World</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err="1" smtClean="0">
                <a:ln>
                  <a:noFill/>
                </a:ln>
                <a:solidFill>
                  <a:schemeClr val="tx1"/>
                </a:solidFill>
                <a:effectLst/>
                <a:latin typeface="Arial" panose="020B0604020202020204" pitchFamily="34" charset="0"/>
              </a:rPr>
              <a:t>in</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err="1" smtClean="0">
                <a:ln>
                  <a:noFill/>
                </a:ln>
                <a:solidFill>
                  <a:schemeClr val="tx1"/>
                </a:solidFill>
                <a:effectLst/>
                <a:latin typeface="Arial" panose="020B0604020202020204" pitchFamily="34" charset="0"/>
              </a:rPr>
              <a:t>Data</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smtClean="0">
                <a:ln>
                  <a:noFill/>
                </a:ln>
                <a:solidFill>
                  <a:srgbClr val="303031"/>
                </a:solidFill>
                <a:effectLst/>
                <a:latin typeface="Arial" panose="020B0604020202020204" pitchFamily="34" charset="0"/>
                <a:hlinkClick r:id="rId3"/>
              </a:rPr>
              <a:t>https://ourworldindata.org/</a:t>
            </a: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ru-RU" altLang="ru-RU" sz="1800" b="0" i="0" u="none" strike="noStrike" cap="none" normalizeH="0" baseline="0" dirty="0" smtClean="0">
                <a:ln>
                  <a:noFill/>
                </a:ln>
                <a:solidFill>
                  <a:srgbClr val="303031"/>
                </a:solidFill>
                <a:effectLst/>
                <a:latin typeface="Arial" panose="020B0604020202020204" pitchFamily="34" charset="0"/>
              </a:rPr>
              <a:t>UN </a:t>
            </a:r>
            <a:r>
              <a:rPr kumimoji="0" lang="ru-RU" altLang="ru-RU" sz="1800" b="0" i="0" u="none" strike="noStrike" cap="none" normalizeH="0" baseline="0" dirty="0" err="1" smtClean="0">
                <a:ln>
                  <a:noFill/>
                </a:ln>
                <a:solidFill>
                  <a:srgbClr val="303031"/>
                </a:solidFill>
                <a:effectLst/>
                <a:latin typeface="Arial" panose="020B0604020202020204" pitchFamily="34" charset="0"/>
              </a:rPr>
              <a:t>Global</a:t>
            </a:r>
            <a:r>
              <a:rPr kumimoji="0" lang="ru-RU" altLang="ru-RU" sz="1800" b="0" i="0" u="none" strike="noStrike" cap="none" normalizeH="0" baseline="0" dirty="0" smtClean="0">
                <a:ln>
                  <a:noFill/>
                </a:ln>
                <a:solidFill>
                  <a:srgbClr val="303031"/>
                </a:solidFill>
                <a:effectLst/>
                <a:latin typeface="Arial" panose="020B0604020202020204" pitchFamily="34" charset="0"/>
              </a:rPr>
              <a:t> </a:t>
            </a:r>
            <a:r>
              <a:rPr kumimoji="0" lang="ru-RU" altLang="ru-RU" sz="1800" b="0" i="0" u="none" strike="noStrike" cap="none" normalizeH="0" baseline="0" dirty="0" err="1" smtClean="0">
                <a:ln>
                  <a:noFill/>
                </a:ln>
                <a:solidFill>
                  <a:srgbClr val="303031"/>
                </a:solidFill>
                <a:effectLst/>
                <a:latin typeface="Arial" panose="020B0604020202020204" pitchFamily="34" charset="0"/>
              </a:rPr>
              <a:t>Migration</a:t>
            </a:r>
            <a:r>
              <a:rPr kumimoji="0" lang="ru-RU" altLang="ru-RU" sz="1800" b="0" i="0" u="none" strike="noStrike" cap="none" normalizeH="0" baseline="0" dirty="0" smtClean="0">
                <a:ln>
                  <a:noFill/>
                </a:ln>
                <a:solidFill>
                  <a:srgbClr val="303031"/>
                </a:solidFill>
                <a:effectLst/>
                <a:latin typeface="Arial" panose="020B0604020202020204" pitchFamily="34" charset="0"/>
              </a:rPr>
              <a:t> </a:t>
            </a:r>
            <a:r>
              <a:rPr kumimoji="0" lang="ru-RU" altLang="ru-RU" sz="1800" b="0" i="0" u="none" strike="noStrike" cap="none" normalizeH="0" baseline="0" dirty="0" err="1" smtClean="0">
                <a:ln>
                  <a:noFill/>
                </a:ln>
                <a:solidFill>
                  <a:srgbClr val="303031"/>
                </a:solidFill>
                <a:effectLst/>
                <a:latin typeface="Arial" panose="020B0604020202020204" pitchFamily="34" charset="0"/>
              </a:rPr>
              <a:t>Database</a:t>
            </a:r>
            <a:r>
              <a:rPr kumimoji="0" lang="ru-RU" altLang="ru-RU" sz="1800" b="0" i="0" u="none" strike="noStrike" cap="none" normalizeH="0" baseline="0" dirty="0" smtClean="0">
                <a:ln>
                  <a:noFill/>
                </a:ln>
                <a:solidFill>
                  <a:srgbClr val="303031"/>
                </a:solidFill>
                <a:effectLst/>
                <a:latin typeface="Arial" panose="020B0604020202020204" pitchFamily="34" charset="0"/>
              </a:rPr>
              <a:t>: </a:t>
            </a:r>
            <a:r>
              <a:rPr kumimoji="0" lang="ru-RU" altLang="ru-RU" sz="1800" b="0" i="0" u="none" strike="noStrike" cap="none" normalizeH="0" baseline="0" dirty="0" smtClean="0">
                <a:ln>
                  <a:noFill/>
                </a:ln>
                <a:solidFill>
                  <a:srgbClr val="303031"/>
                </a:solidFill>
                <a:effectLst/>
                <a:latin typeface="Arial" panose="020B0604020202020204" pitchFamily="34" charset="0"/>
                <a:hlinkClick r:id="rId4"/>
              </a:rPr>
              <a:t>https://www.un.org/development/desa/pd/data/global-migration-database</a:t>
            </a: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ru-RU" altLang="ru-RU" sz="1800" b="0" i="0" u="none" strike="noStrike" cap="none" normalizeH="0" baseline="0" dirty="0" err="1" smtClean="0">
                <a:ln>
                  <a:noFill/>
                </a:ln>
                <a:solidFill>
                  <a:schemeClr val="tx1"/>
                </a:solidFill>
                <a:effectLst/>
                <a:latin typeface="Arial" panose="020B0604020202020204" pitchFamily="34" charset="0"/>
              </a:rPr>
              <a:t>World</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err="1" smtClean="0">
                <a:ln>
                  <a:noFill/>
                </a:ln>
                <a:solidFill>
                  <a:schemeClr val="tx1"/>
                </a:solidFill>
                <a:effectLst/>
                <a:latin typeface="Arial" panose="020B0604020202020204" pitchFamily="34" charset="0"/>
              </a:rPr>
              <a:t>Bank</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err="1" smtClean="0">
                <a:ln>
                  <a:noFill/>
                </a:ln>
                <a:solidFill>
                  <a:schemeClr val="tx1"/>
                </a:solidFill>
                <a:effectLst/>
                <a:latin typeface="Arial" panose="020B0604020202020204" pitchFamily="34" charset="0"/>
              </a:rPr>
              <a:t>Open</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err="1" smtClean="0">
                <a:ln>
                  <a:noFill/>
                </a:ln>
                <a:solidFill>
                  <a:schemeClr val="tx1"/>
                </a:solidFill>
                <a:effectLst/>
                <a:latin typeface="Arial" panose="020B0604020202020204" pitchFamily="34" charset="0"/>
              </a:rPr>
              <a:t>Data</a:t>
            </a:r>
            <a:r>
              <a:rPr kumimoji="0" lang="ru-RU" altLang="ru-RU" sz="1800" b="0" i="0" u="none" strike="noStrike" cap="none" normalizeH="0" baseline="0" dirty="0" smtClean="0">
                <a:ln>
                  <a:noFill/>
                </a:ln>
                <a:solidFill>
                  <a:schemeClr val="tx1"/>
                </a:solidFill>
                <a:effectLst/>
                <a:latin typeface="Arial" panose="020B0604020202020204" pitchFamily="34" charset="0"/>
              </a:rPr>
              <a:t>: </a:t>
            </a:r>
            <a:r>
              <a:rPr kumimoji="0" lang="ru-RU" altLang="ru-RU" sz="1800" b="0" i="0" u="none" strike="noStrike" cap="none" normalizeH="0" baseline="0" dirty="0" smtClean="0">
                <a:ln>
                  <a:noFill/>
                </a:ln>
                <a:solidFill>
                  <a:srgbClr val="303031"/>
                </a:solidFill>
                <a:effectLst/>
                <a:latin typeface="Arial" panose="020B0604020202020204" pitchFamily="34" charset="0"/>
                <a:hlinkClick r:id="rId5"/>
              </a:rPr>
              <a:t>https://data.worldbank.org/</a:t>
            </a: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9" name="Rectangle 6"/>
          <p:cNvSpPr>
            <a:spLocks noChangeArrowheads="1"/>
          </p:cNvSpPr>
          <p:nvPr/>
        </p:nvSpPr>
        <p:spPr bwMode="auto">
          <a:xfrm>
            <a:off x="0" y="473075"/>
            <a:ext cx="12192000" cy="0"/>
          </a:xfrm>
          <a:prstGeom prst="rect">
            <a:avLst/>
          </a:prstGeom>
          <a:solidFill>
            <a:srgbClr val="F7F7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944432" tIns="4572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ru-RU" altLang="ru-RU" sz="2100" b="0" i="0" u="none" strike="noStrike" cap="none" normalizeH="0" baseline="0" smtClean="0">
                <a:ln>
                  <a:noFill/>
                </a:ln>
                <a:solidFill>
                  <a:srgbClr val="303031"/>
                </a:solidFill>
                <a:effectLst/>
                <a:latin typeface="Vollkorn"/>
              </a:rPr>
              <a:t/>
            </a:r>
            <a:br>
              <a:rPr kumimoji="0" lang="ru-RU" altLang="ru-RU" sz="2100" b="0" i="0" u="none" strike="noStrike" cap="none" normalizeH="0" baseline="0" smtClean="0">
                <a:ln>
                  <a:noFill/>
                </a:ln>
                <a:solidFill>
                  <a:srgbClr val="303031"/>
                </a:solidFill>
                <a:effectLst/>
                <a:latin typeface="Vollkorn"/>
              </a:rPr>
            </a:br>
            <a:endParaRPr kumimoji="0" lang="ru-RU" altLang="ru-RU" sz="2100" b="0" i="0" u="none" strike="noStrike" cap="none" normalizeH="0" baseline="0" smtClean="0">
              <a:ln>
                <a:noFill/>
              </a:ln>
              <a:solidFill>
                <a:srgbClr val="303031"/>
              </a:solidFill>
              <a:effectLst/>
              <a:latin typeface="Vollkorn"/>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00704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TM10001105[[fn=Уголки]]</Template>
  <TotalTime>58</TotalTime>
  <Words>2030</Words>
  <Application>Microsoft Office PowerPoint</Application>
  <PresentationFormat>Широкоэкранный</PresentationFormat>
  <Paragraphs>233</Paragraphs>
  <Slides>21</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21</vt:i4>
      </vt:variant>
    </vt:vector>
  </HeadingPairs>
  <TitlesOfParts>
    <vt:vector size="27" baseType="lpstr">
      <vt:lpstr>Arial</vt:lpstr>
      <vt:lpstr>Franklin Gothic Book</vt:lpstr>
      <vt:lpstr>Garamond Regular</vt:lpstr>
      <vt:lpstr>Roboto Regular</vt:lpstr>
      <vt:lpstr>Vollkorn</vt:lpstr>
      <vt:lpstr>Crop</vt:lpstr>
      <vt:lpstr>Миграция</vt:lpstr>
      <vt:lpstr>Определение</vt:lpstr>
      <vt:lpstr>Типы миграции</vt:lpstr>
      <vt:lpstr>Показатели миграции </vt:lpstr>
      <vt:lpstr>Мобильный переход и другие концепции миграции </vt:lpstr>
      <vt:lpstr>Top 10 Country Outflows </vt:lpstr>
      <vt:lpstr>Top 10 Country Inflows </vt:lpstr>
      <vt:lpstr>Концепция миграционного перехода В.Зелинского </vt:lpstr>
      <vt:lpstr>В.Зелинский описывает 5 этапов мобильного перехода, которые являются следствием демографических изменений, в частности, в темпах естественного прироста населения. </vt:lpstr>
      <vt:lpstr>Третий демографический переход – изменение роли миграции в демографическом развитии стран с низкой рождаемостью </vt:lpstr>
      <vt:lpstr>Таблица 14.2. Бельгия: страны гражданства и страны  рождения иммигрантов, на 1 января 2022 г</vt:lpstr>
      <vt:lpstr>Рис. 6. Доля живорождений у матерей, рожденных в стране и за ее пределами, 2021 г.</vt:lpstr>
      <vt:lpstr>Рис. 7. Суммарный коэффициент рождаемости у матерей, родившихся в Великобритании и за ее пределами.</vt:lpstr>
      <vt:lpstr>Концепция замещающей миграции </vt:lpstr>
      <vt:lpstr>Тенденции миграции в современном мире </vt:lpstr>
      <vt:lpstr>Потоки мигрантов</vt:lpstr>
      <vt:lpstr>Презентация PowerPoint</vt:lpstr>
      <vt:lpstr>Контингент</vt:lpstr>
      <vt:lpstr>Презентация PowerPoint</vt:lpstr>
      <vt:lpstr>Презентация PowerPoint</vt:lpstr>
      <vt:lpstr>Источники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User</cp:lastModifiedBy>
  <cp:revision>18</cp:revision>
  <dcterms:created xsi:type="dcterms:W3CDTF">2025-03-22T07:23:22Z</dcterms:created>
  <dcterms:modified xsi:type="dcterms:W3CDTF">2025-03-22T08:22:12Z</dcterms:modified>
</cp:coreProperties>
</file>