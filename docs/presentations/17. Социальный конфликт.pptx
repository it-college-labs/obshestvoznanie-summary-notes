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82" r:id="rId7"/>
    <p:sldId id="283" r:id="rId8"/>
    <p:sldId id="278" r:id="rId9"/>
    <p:sldId id="280" r:id="rId10"/>
    <p:sldId id="285" r:id="rId11"/>
    <p:sldId id="284" r:id="rId12"/>
    <p:sldId id="281" r:id="rId13"/>
    <p:sldId id="286" r:id="rId14"/>
    <p:sldId id="28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Социальный конфликт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Описание, типы,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49314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371600" y="1620078"/>
            <a:ext cx="9601200" cy="4247322"/>
          </a:xfrm>
        </p:spPr>
        <p:txBody>
          <a:bodyPr>
            <a:normAutofit/>
          </a:bodyPr>
          <a:lstStyle/>
          <a:p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Социальный конфликт — это открытое или скрытое столкновение интересов, ценностей или целей между индивидами, группами или институтами</a:t>
            </a:r>
          </a:p>
          <a:p>
            <a:endParaRPr lang="ru-RU" sz="18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u-RU" sz="1800" dirty="0"/>
              <a:t>Субъекты социальных конфликтов: </a:t>
            </a:r>
          </a:p>
          <a:p>
            <a:pPr marL="0" indent="0">
              <a:buNone/>
            </a:pPr>
            <a:r>
              <a:rPr lang="ru-RU" sz="1800" dirty="0"/>
              <a:t>социальные общности (классы, страты, группы и т.п.), </a:t>
            </a:r>
          </a:p>
          <a:p>
            <a:pPr marL="0" indent="0">
              <a:buNone/>
            </a:pPr>
            <a:r>
              <a:rPr lang="ru-RU" sz="1800" dirty="0"/>
              <a:t>социальные институты (семья, армия, система образования, государство, церковь, политические партии и т.п.), </a:t>
            </a:r>
          </a:p>
          <a:p>
            <a:pPr marL="0" indent="0">
              <a:buNone/>
            </a:pPr>
            <a:r>
              <a:rPr lang="ru-RU" sz="1800" dirty="0"/>
              <a:t>исторические общности, общества и цивилизации. </a:t>
            </a:r>
          </a:p>
          <a:p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83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264381"/>
            <a:ext cx="9601200" cy="665922"/>
          </a:xfrm>
        </p:spPr>
        <p:txBody>
          <a:bodyPr>
            <a:normAutofit fontScale="90000"/>
          </a:bodyPr>
          <a:lstStyle/>
          <a:p>
            <a:r>
              <a:rPr lang="ru-RU" dirty="0"/>
              <a:t>Общие источники обострения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C86609-18F6-B08A-65B9-2F9416BEB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000" dirty="0"/>
              <a:t>Накопление неудовлетворенности существующим положением дел, нарастанием притязаний, радикальное изменение самосознания и социального самочувствия. </a:t>
            </a:r>
          </a:p>
          <a:p>
            <a:r>
              <a:rPr lang="ru-RU" sz="2000" dirty="0"/>
              <a:t>Как правило, сначала процесс накопления неудовлетворенности идет медленно и подспудно, пока не происходит некоторое событие, которое играет роль своего рода спускового механизма, выводящего наружу это чувство неудовлетворенности. </a:t>
            </a:r>
          </a:p>
          <a:p>
            <a:r>
              <a:rPr lang="ru-RU" sz="2000" dirty="0"/>
              <a:t>Неудовлетворенность, приобретающая открытую форму, стимулирует возникновение социального движения, в ходе которого выдвигаются лидеры, отрабатываются программы и лозунги, формируется идеология защиты интересов. На этом этапе конфликт становится открытым и необратимым. Он либо превращается в самостоятельный и постоянный компонент общественной жизни, либо завершается победой инициирующей стороны, либо решается на основе взаимных уступок сторон.</a:t>
            </a:r>
            <a:endParaRPr lang="ru-R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60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Причины социальных конфликтов </a:t>
            </a:r>
            <a:r>
              <a:rPr lang="ru-RU" sz="4400" dirty="0"/>
              <a:t>осознанные несовместимые потребности, интересы и ценности. </a:t>
            </a:r>
            <a:br>
              <a:rPr lang="ru-RU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2753139"/>
            <a:ext cx="9601200" cy="358140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Экономические (неравенство, борьба за ресурсы).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Политические (власть, влияние).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Социальные (дискриминация, неравные возможности).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Культурные (религиозные, этнические различия).</a:t>
            </a:r>
          </a:p>
        </p:txBody>
      </p:sp>
    </p:spTree>
    <p:extLst>
      <p:ext uri="{BB962C8B-B14F-4D97-AF65-F5344CB8AC3E}">
        <p14:creationId xmlns:p14="http://schemas.microsoft.com/office/powerpoint/2010/main" val="263798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F8869-63F7-428C-4598-791D2862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0000"/>
                </a:solidFill>
                <a:latin typeface="Golos Text"/>
              </a:rPr>
              <a:t>Классификация социальных конфликтов</a:t>
            </a:r>
            <a:br>
              <a:rPr lang="ru-RU" b="1" dirty="0">
                <a:solidFill>
                  <a:srgbClr val="000000"/>
                </a:solidFill>
                <a:latin typeface="Golos Text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459BA8-50FF-0C5A-2899-737DB0CD6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992" y="1798982"/>
            <a:ext cx="9601200" cy="4257261"/>
          </a:xfrm>
        </p:spPr>
        <p:txBody>
          <a:bodyPr>
            <a:normAutofit/>
          </a:bodyPr>
          <a:lstStyle/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количеству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участников конфликта: внутриличностный, межличностный, межгрупповой.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направленности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конфликта: горизонтальные (между людьми одного уровня), вертикальные (работник против начальства), смешанные.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функции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социального конфликта: деструктивные, конструктивные.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длительности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протекания: кратковременные, затяжные.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средствам разрешения: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мирные или ненасильственные, вооруженные или насильственные.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содержанию проблемы: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экономические, политические, производственные, бытовые, духовно-нравственные и т. д.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характеру развития: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 спонтанные (непреднамеренные), преднамеренные (заранее спланированные).</a:t>
            </a:r>
          </a:p>
          <a:p>
            <a:pPr algn="l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По 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Golos Text"/>
              </a:rPr>
              <a:t>объёму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olos Text"/>
              </a:rPr>
              <a:t>: глобальные, региональные, локальные, групповые, личные.</a:t>
            </a: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99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2057C-6B06-751C-CD48-B110E93FB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9270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ru-RU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Основные формы проявления социального конфликта</a:t>
            </a:r>
            <a:br>
              <a:rPr lang="ru-RU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DDFB51-5B3B-A9E5-CA56-5D40A7B38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292087"/>
            <a:ext cx="9601200" cy="3581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Вербальные (словесные) формы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Споры и дискуссии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обмен аргументами (например, политические дебаты).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Оскорбления и угрозы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эмоциональные выпады (семейные ссоры, травля в школе).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Публичные заявления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обращения в СМИ, соцсети (например, обвинения компании в нарушении прав работников).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Невербальные и символические формы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Акции протеста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митинги, пикеты, забастовки (пример: учителя требуют повышения зарплат).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Бойкот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отказ от взаимодействия (потребители не покупают товары фирмы из-за скандала).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Граффити, плакаты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визуальное выражение позиции (антивоенные лозунги на стенах).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Агрессивные и противоправные действия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Погромы и вандализм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разрушение имущества (например, беспорядки после спортивных матчей).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Физическое насилие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драки, столкновения с полицией (этнические конфликты).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Терроризм и экстремизм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крайние формы (атаки на государственные учреждения).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Институциональные формы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Судебные иски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законные способы борьбы (иск работника к работодателю за невыплату зарплаты).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Законодательные изменения</a:t>
            </a:r>
            <a:r>
              <a:rPr lang="ru-R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давление через власть (например, принятие закона под давлением профсоюзов).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Международные санкции</a:t>
            </a:r>
            <a:r>
              <a:rPr lang="ru-RU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– конфликты между государствами (торговые ограничения между странами).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01354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74ED6-1080-14D0-360A-FE34041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проявления конфликтов в разных сферах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1B342CC-254A-986A-044B-E1155199E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083036"/>
              </p:ext>
            </p:extLst>
          </p:nvPr>
        </p:nvGraphicFramePr>
        <p:xfrm>
          <a:off x="1475960" y="2171700"/>
          <a:ext cx="9705561" cy="40088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0849">
                  <a:extLst>
                    <a:ext uri="{9D8B030D-6E8A-4147-A177-3AD203B41FA5}">
                      <a16:colId xmlns:a16="http://schemas.microsoft.com/office/drawing/2014/main" val="1480235062"/>
                    </a:ext>
                  </a:extLst>
                </a:gridCol>
                <a:gridCol w="2305878">
                  <a:extLst>
                    <a:ext uri="{9D8B030D-6E8A-4147-A177-3AD203B41FA5}">
                      <a16:colId xmlns:a16="http://schemas.microsoft.com/office/drawing/2014/main" val="3490687258"/>
                    </a:ext>
                  </a:extLst>
                </a:gridCol>
                <a:gridCol w="5088834">
                  <a:extLst>
                    <a:ext uri="{9D8B030D-6E8A-4147-A177-3AD203B41FA5}">
                      <a16:colId xmlns:a16="http://schemas.microsoft.com/office/drawing/2014/main" val="852724865"/>
                    </a:ext>
                  </a:extLst>
                </a:gridCol>
              </a:tblGrid>
              <a:tr h="553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effectLst/>
                        </a:rPr>
                        <a:t>Сфера</a:t>
                      </a:r>
                      <a:endParaRPr lang="ru-RU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Пример конфликта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Как проявляется?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28525591"/>
                  </a:ext>
                </a:extLst>
              </a:tr>
              <a:tr h="553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Семья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Развод родителей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Ссоры, раздел имущества, судебные тяжбы.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5362606"/>
                  </a:ext>
                </a:extLst>
              </a:tr>
              <a:tr h="553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Школа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Конфликт "учитель – ученик"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Жалобы, прогулы, открытое неповиновение.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2764053"/>
                  </a:ext>
                </a:extLst>
              </a:tr>
              <a:tr h="553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Работа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effectLst/>
                        </a:rPr>
                        <a:t>Забастовка рабочих</a:t>
                      </a:r>
                      <a:endParaRPr lang="ru-RU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Митинги, остановка производства, переговоры.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8218927"/>
                  </a:ext>
                </a:extLst>
              </a:tr>
              <a:tr h="553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Политика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Протесты против власти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Демонстрации, интернет-кампании, аресты.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243825"/>
                  </a:ext>
                </a:extLst>
              </a:tr>
              <a:tr h="1084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Межнациональные отношения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effectLst/>
                        </a:rPr>
                        <a:t>Дискриминация меньшинств</a:t>
                      </a:r>
                      <a:endParaRPr lang="ru-RU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effectLst/>
                        </a:rPr>
                        <a:t>Погромы, законы о равноправии, акции солидарности.</a:t>
                      </a:r>
                      <a:endParaRPr lang="ru-RU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63311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65C1BE3-8F28-12F2-9590-046C058F3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Примеры проявлений в разных сферах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E8BE2-08B2-6074-02EA-C387806B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4800"/>
            <a:ext cx="9601200" cy="1485900"/>
          </a:xfrm>
        </p:spPr>
        <p:txBody>
          <a:bodyPr/>
          <a:lstStyle/>
          <a:p>
            <a:r>
              <a:rPr lang="ru-RU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 стадии развития конфликта</a:t>
            </a:r>
            <a:br>
              <a:rPr lang="ru-RU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443D09-0E31-11B7-DC11-C69905A6A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 descr="Фазы развития социального конфликта">
            <a:extLst>
              <a:ext uri="{FF2B5EF4-FFF2-40B4-BE49-F238E27FC236}">
                <a16:creationId xmlns:a16="http://schemas.microsoft.com/office/drawing/2014/main" id="{EC52E875-6D20-F9B9-9B32-AEE0CEDD4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383" y="990600"/>
            <a:ext cx="8756374" cy="584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75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FED37-8B6A-DAEC-CF9F-CBAA5776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Направления постконфликтной ситуации</a:t>
            </a:r>
          </a:p>
        </p:txBody>
      </p:sp>
      <p:pic>
        <p:nvPicPr>
          <p:cNvPr id="5122" name="Picture 2" descr="Последствия социальных конфликтов">
            <a:extLst>
              <a:ext uri="{FF2B5EF4-FFF2-40B4-BE49-F238E27FC236}">
                <a16:creationId xmlns:a16="http://schemas.microsoft.com/office/drawing/2014/main" id="{AB63D280-2A04-F959-1A4E-0F32D22154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2" y="2067546"/>
            <a:ext cx="9407433" cy="428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11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01464-E3E5-8525-F1C0-0B7D98A9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>
                <a:solidFill>
                  <a:srgbClr val="373D3F"/>
                </a:solidFill>
                <a:latin typeface="Lora" pitchFamily="2" charset="-52"/>
              </a:rPr>
              <a:t>Разрешение любого социального конфликта – это, прежде всего, </a:t>
            </a:r>
            <a:r>
              <a:rPr lang="ru-RU" sz="2800" b="1" dirty="0">
                <a:solidFill>
                  <a:srgbClr val="373D3F"/>
                </a:solidFill>
                <a:latin typeface="Lora" pitchFamily="2" charset="-52"/>
              </a:rPr>
              <a:t>преодоление основного противоречия </a:t>
            </a:r>
            <a:r>
              <a:rPr lang="ru-RU" sz="2800" dirty="0">
                <a:solidFill>
                  <a:srgbClr val="373D3F"/>
                </a:solidFill>
                <a:latin typeface="Lora" pitchFamily="2" charset="-52"/>
              </a:rPr>
              <a:t>в интересах сторон, а также устранение его на уровне причин конфликта. 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F88FBD-38F9-5935-88A4-BE15DFB3E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908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Разрешение конфликта при этом может быть достигнуто </a:t>
            </a:r>
          </a:p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или самими конфликтующими сторонами без помощи каких-либо посторонних лиц, </a:t>
            </a:r>
          </a:p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или путем подключения к решению какой-либо третьей стороны – посредника; </a:t>
            </a:r>
          </a:p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через участие в конфликте новой силы, способной завершить его путем принуждения; </a:t>
            </a:r>
          </a:p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через обращение субъектов конфликта к арбитру и завершение его при посредстве третейского судьи; </a:t>
            </a:r>
          </a:p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посредством переговоров как одного из наиболее эффективных и часто встречающихся способов разрешения конфликта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5879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BA43F-B4C2-E4F0-8E9B-9F323B45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73D3F"/>
                </a:solidFill>
                <a:latin typeface="Lora" pitchFamily="2" charset="-52"/>
              </a:rPr>
              <a:t>Методы разрешения социального конфликта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73809-FBBA-2086-4B58-CB5C50403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– 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превентивный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 метод ухода от конфликта (уклонение от встреч с потенциальным противником, устранение факторов, которые могли бы способствовать нагнетанию напряженности и началу конфликта, и т.д.);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– метод 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переговоров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, позволяющий уменьшить остроту конфликта благодаря открытому и конструктивному обмену мнениями, избежать неконтролируемого применения насилия, правильно оценить ситуацию и потенции ее развития;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– метод 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использования посредников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 – авторитетных и компетентных лиц и общественных организаций, своевременное вмешательство которых позволяет примирить враждующих или по крайней мере найти компромисс;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– 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арбитраж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 – обращение к уважаемому обеими сторонами третьему лицу за помощью в разрешении спорных вопросов;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– метод </a:t>
            </a:r>
            <a:r>
              <a:rPr lang="ru-RU" b="1" i="0" dirty="0">
                <a:solidFill>
                  <a:srgbClr val="373D3F"/>
                </a:solidFill>
                <a:effectLst/>
                <a:latin typeface="Lora" pitchFamily="2" charset="-52"/>
              </a:rPr>
              <a:t>откладывания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 окончательного решения (иногда отсрочка принятия решения приводит к самопроизвольному ослаблению напряженности между сторонами, однако такие случаи редки и метод нельзя назвать эффективным).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976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9AD7D-BDB7-62F6-262C-33E376D7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 материалы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01BD2-86AF-7A7A-A8A7-ABF79193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Видео </a:t>
            </a:r>
            <a:r>
              <a:rPr lang="en-US" dirty="0"/>
              <a:t>I have a dream</a:t>
            </a:r>
            <a:r>
              <a:rPr lang="ru-RU" dirty="0"/>
              <a:t>, речь Мартина Лютера Кинга</a:t>
            </a:r>
          </a:p>
          <a:p>
            <a:r>
              <a:rPr lang="ru-RU" dirty="0"/>
              <a:t>Зеленков, М. Ю. Социальная конфликтология (базовый курс) / М. Ю. Зеленков. – М. : Юридический институт МИИТа, 2011 – 272 с.</a:t>
            </a:r>
          </a:p>
        </p:txBody>
      </p:sp>
    </p:spTree>
    <p:extLst>
      <p:ext uri="{BB962C8B-B14F-4D97-AF65-F5344CB8AC3E}">
        <p14:creationId xmlns:p14="http://schemas.microsoft.com/office/powerpoint/2010/main" val="1629700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424EE-CA77-4D0B-B3F9-8809342C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i="1" dirty="0">
                <a:solidFill>
                  <a:srgbClr val="404040"/>
                </a:solidFill>
                <a:latin typeface="Inter"/>
              </a:rPr>
              <a:t>Трудовой конфликт на заводе «</a:t>
            </a:r>
            <a:r>
              <a:rPr lang="ru-RU" i="1" dirty="0" err="1">
                <a:solidFill>
                  <a:srgbClr val="404040"/>
                </a:solidFill>
                <a:latin typeface="Inter"/>
              </a:rPr>
              <a:t>АвтоСила</a:t>
            </a:r>
            <a:r>
              <a:rPr lang="ru-RU" i="1" dirty="0">
                <a:solidFill>
                  <a:srgbClr val="404040"/>
                </a:solidFill>
                <a:latin typeface="Inter"/>
              </a:rPr>
              <a:t>»</a:t>
            </a:r>
            <a:br>
              <a:rPr lang="ru-RU" dirty="0">
                <a:solidFill>
                  <a:srgbClr val="404040"/>
                </a:solidFill>
                <a:latin typeface="Inter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FDA15-9660-DA7D-0B99-08C1FB0E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Inter"/>
              </a:rPr>
              <a:t>Условие: На автомобильном заводе «</a:t>
            </a:r>
            <a:r>
              <a:rPr lang="ru-RU" b="0" i="0" dirty="0" err="1">
                <a:solidFill>
                  <a:srgbClr val="404040"/>
                </a:solidFill>
                <a:effectLst/>
                <a:latin typeface="Inter"/>
              </a:rPr>
              <a:t>АвтоСила</a:t>
            </a:r>
            <a:r>
              <a:rPr lang="ru-RU" b="0" i="0" dirty="0">
                <a:solidFill>
                  <a:srgbClr val="404040"/>
                </a:solidFill>
                <a:effectLst/>
                <a:latin typeface="Inter"/>
              </a:rPr>
              <a:t>» уже несколько месяцев не повышали зарплату работникам, хотя цены в стране выросли на 15%. Кроме того, руководство увеличило нормы выработки без дополнительной оплаты. Рабочие пытались вести переговоры с администрацией, но их требования проигнорировали. В результате сотрудники объявили забастовку, остановив конвейер на три дня.</a:t>
            </a:r>
          </a:p>
          <a:p>
            <a:pPr algn="l">
              <a:buNone/>
            </a:pPr>
            <a:r>
              <a:rPr lang="ru-RU" dirty="0">
                <a:solidFill>
                  <a:srgbClr val="404040"/>
                </a:solidFill>
                <a:latin typeface="Inter"/>
              </a:rPr>
              <a:t>Задание: разделиться на 2 группы:</a:t>
            </a:r>
          </a:p>
          <a:p>
            <a:pPr marL="742950" indent="-742950" algn="l">
              <a:buAutoNum type="arabicPeriod"/>
            </a:pPr>
            <a:r>
              <a:rPr lang="ru-RU" b="0" i="0" dirty="0">
                <a:solidFill>
                  <a:srgbClr val="404040"/>
                </a:solidFill>
                <a:effectLst/>
                <a:latin typeface="Inter"/>
              </a:rPr>
              <a:t>Представители завод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а</a:t>
            </a:r>
          </a:p>
          <a:p>
            <a:pPr marL="742950" indent="-742950" algn="l">
              <a:buAutoNum type="arabicPeriod"/>
            </a:pPr>
            <a:r>
              <a:rPr lang="ru-RU" b="0" i="0" dirty="0">
                <a:solidFill>
                  <a:srgbClr val="404040"/>
                </a:solidFill>
                <a:effectLst/>
                <a:latin typeface="Inter"/>
              </a:rPr>
              <a:t>Рабочие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Inter"/>
              </a:rPr>
              <a:t>Задача: разрешить конфликт 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778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B486A-EDD3-4D6E-9C63-8AC8C6A8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404040"/>
                </a:solidFill>
                <a:latin typeface="Inter"/>
              </a:rPr>
              <a:t>Вопросы для анализа:</a:t>
            </a:r>
            <a:br>
              <a:rPr lang="ru-RU" b="1" dirty="0">
                <a:solidFill>
                  <a:srgbClr val="404040"/>
                </a:solidFill>
                <a:latin typeface="Inter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E3F19-A1C9-60EE-9DF8-703FB38B8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Inter"/>
              </a:rPr>
              <a:t>Причины конфликта:</a:t>
            </a:r>
            <a:endParaRPr lang="ru-RU" sz="1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Каковы основные причины недовольства рабочих?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Почему руководство не пошло на уступки сразу?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Inter"/>
              </a:rPr>
              <a:t>Стороны конфликта:</a:t>
            </a:r>
            <a:endParaRPr lang="ru-RU" sz="1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Кто участвует в конфликте? (рабочие, профсоюз, администрация, государство?)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Какие интересы у каждой стороны?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Inter"/>
              </a:rPr>
              <a:t>Стадии конфликта:</a:t>
            </a:r>
            <a:endParaRPr lang="ru-RU" sz="1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Как развивался конфликт? (от скрытого недовольства к открытому протесту)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Inter"/>
              </a:rPr>
              <a:t>Последствия:</a:t>
            </a:r>
            <a:endParaRPr lang="ru-RU" sz="1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Какие негативные последствия могут быть для завода? (убытки, репутация)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Как конфликт повлияет на рабочих? (возможные увольнения, стресс)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1" i="0" dirty="0">
                <a:solidFill>
                  <a:srgbClr val="404040"/>
                </a:solidFill>
                <a:effectLst/>
                <a:latin typeface="Inter"/>
              </a:rPr>
              <a:t>Способы разрешения:</a:t>
            </a:r>
            <a:endParaRPr lang="ru-RU" sz="1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Какие мирные методы можно применить? (переговоры, медиация, обращение в трудовую инспекцию)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Возможен ли компромисс? Например: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Постепенное повышение зарплаты.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Снижение норм выработки до прежнего уровня.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ru-RU" sz="1400" b="0" i="0" dirty="0">
                <a:solidFill>
                  <a:srgbClr val="404040"/>
                </a:solidFill>
                <a:effectLst/>
                <a:latin typeface="Inter"/>
              </a:rPr>
              <a:t>Создание комиссии по трудовым спорам.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29379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903</TotalTime>
  <Words>1098</Words>
  <Application>Microsoft Office PowerPoint</Application>
  <PresentationFormat>Широкоэкранный</PresentationFormat>
  <Paragraphs>107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Aptos</vt:lpstr>
      <vt:lpstr>Arial</vt:lpstr>
      <vt:lpstr>Franklin Gothic Book</vt:lpstr>
      <vt:lpstr>Golos Text</vt:lpstr>
      <vt:lpstr>Inter</vt:lpstr>
      <vt:lpstr>Lora</vt:lpstr>
      <vt:lpstr>Symbol</vt:lpstr>
      <vt:lpstr>Crop</vt:lpstr>
      <vt:lpstr>Социальный конфликт</vt:lpstr>
      <vt:lpstr>Определение</vt:lpstr>
      <vt:lpstr>Общие источники обострения</vt:lpstr>
      <vt:lpstr>. Причины социальных конфликтов осознанные несовместимые потребности, интересы и ценности.   </vt:lpstr>
      <vt:lpstr>Классификация социальных конфликтов </vt:lpstr>
      <vt:lpstr>Основные формы проявления социального конфликта </vt:lpstr>
      <vt:lpstr>Примеры проявления конфликтов в разных сферах</vt:lpstr>
      <vt:lpstr>3 стадии развития конфликта </vt:lpstr>
      <vt:lpstr>Направления постконфликтной ситуации</vt:lpstr>
      <vt:lpstr>Разрешение любого социального конфликта – это, прежде всего, преодоление основного противоречия в интересах сторон, а также устранение его на уровне причин конфликта. </vt:lpstr>
      <vt:lpstr>Методы разрешения социального конфликта </vt:lpstr>
      <vt:lpstr>Доп материалы</vt:lpstr>
      <vt:lpstr>Практика: Трудовой конфликт на заводе «АвтоСила» </vt:lpstr>
      <vt:lpstr>Вопросы для анализа: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Полина Шумилова</cp:lastModifiedBy>
  <cp:revision>32</cp:revision>
  <dcterms:created xsi:type="dcterms:W3CDTF">2025-03-22T07:23:22Z</dcterms:created>
  <dcterms:modified xsi:type="dcterms:W3CDTF">2025-03-25T07:50:55Z</dcterms:modified>
</cp:coreProperties>
</file>