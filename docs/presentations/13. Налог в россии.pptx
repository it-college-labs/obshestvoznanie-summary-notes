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318" r:id="rId3"/>
    <p:sldId id="371" r:id="rId4"/>
    <p:sldId id="373" r:id="rId5"/>
    <p:sldId id="372" r:id="rId6"/>
    <p:sldId id="374" r:id="rId7"/>
    <p:sldId id="258" r:id="rId8"/>
    <p:sldId id="259" r:id="rId9"/>
    <p:sldId id="260" r:id="rId10"/>
    <p:sldId id="261" r:id="rId11"/>
    <p:sldId id="382" r:id="rId12"/>
    <p:sldId id="375" r:id="rId13"/>
    <p:sldId id="383" r:id="rId14"/>
    <p:sldId id="384" r:id="rId15"/>
    <p:sldId id="385" r:id="rId16"/>
    <p:sldId id="386" r:id="rId17"/>
    <p:sldId id="376" r:id="rId18"/>
    <p:sldId id="377" r:id="rId19"/>
    <p:sldId id="379" r:id="rId20"/>
    <p:sldId id="380" r:id="rId21"/>
    <p:sldId id="378" r:id="rId22"/>
    <p:sldId id="381" r:id="rId23"/>
    <p:sldId id="387" r:id="rId24"/>
    <p:sldId id="262" r:id="rId25"/>
    <p:sldId id="263" r:id="rId26"/>
    <p:sldId id="264" r:id="rId27"/>
    <p:sldId id="389" r:id="rId28"/>
    <p:sldId id="390" r:id="rId29"/>
    <p:sldId id="391" r:id="rId30"/>
    <p:sldId id="392" r:id="rId31"/>
    <p:sldId id="393" r:id="rId32"/>
    <p:sldId id="394" r:id="rId33"/>
    <p:sldId id="395" r:id="rId34"/>
    <p:sldId id="396" r:id="rId35"/>
    <p:sldId id="397" r:id="rId36"/>
    <p:sldId id="388"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0" d="100"/>
          <a:sy n="60" d="100"/>
        </p:scale>
        <p:origin x="90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ru-RU"/>
              <a:t>Образец заголовка</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3/2/2025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ru-RU"/>
              <a:t>Образец заголовка</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3/2/2025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ru-RU"/>
              <a:t>Образец заголовка</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3/2/2025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3/2/2025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3/2/2025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3/2/2025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ru-RU"/>
              <a:t>Образец заголовка</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3/2/2025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3/2/2025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3/2/2025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www.nalog.gov.ru/rn77/taxation/taxes/ndf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www.consultant.ru/document/cons_doc_LAW_28165/404626c621255e12b76d7d661be99292fc859c72/"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www.consultant.ru/document/cons_doc_LAW_28165/35cc6698564adc4507baa31c9cfdbb4f2516d068/"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hyperlink" Target="https://fincult.info/article/chto-takoe-iis-3/" TargetMode="External"/><Relationship Id="rId7" Type="http://schemas.openxmlformats.org/officeDocument/2006/relationships/hyperlink" Target="https://www.nalog.gov.ru/rn25/ifns/r25_16/info/15332197/" TargetMode="External"/><Relationship Id="rId2" Type="http://schemas.openxmlformats.org/officeDocument/2006/relationships/hyperlink" Target="https://fincult.info/article/chto-takoe-individualnyy-investitsionnyy-schet/" TargetMode="External"/><Relationship Id="rId1" Type="http://schemas.openxmlformats.org/officeDocument/2006/relationships/slideLayout" Target="../slideLayouts/slideLayout2.xml"/><Relationship Id="rId6" Type="http://schemas.openxmlformats.org/officeDocument/2006/relationships/hyperlink" Target="https://nalog.garant.ru/fns/nk/1458a0a55ea2ab5e42fde990265bcdf4/#block_218" TargetMode="External"/><Relationship Id="rId5" Type="http://schemas.openxmlformats.org/officeDocument/2006/relationships/hyperlink" Target="https://fincult.info/article/kak-ustroena-programma-dolgosrochnykh-sberezheniy/" TargetMode="External"/><Relationship Id="rId4" Type="http://schemas.openxmlformats.org/officeDocument/2006/relationships/hyperlink" Target="https://fincult.info/article/negosudarstvennyy-pensionnyy-fond-kak-nakopit-na-dopolnitelnuyu-pensiyu/"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fincult.info/article/kakie-nalogi-platit-investor/" TargetMode="External"/><Relationship Id="rId2" Type="http://schemas.openxmlformats.org/officeDocument/2006/relationships/hyperlink" Target="https://www.nalog.gov.ru/rn25/ifns/r25_02/info/15376797/" TargetMode="External"/><Relationship Id="rId1" Type="http://schemas.openxmlformats.org/officeDocument/2006/relationships/slideLayout" Target="../slideLayouts/slideLayout2.xml"/><Relationship Id="rId4" Type="http://schemas.openxmlformats.org/officeDocument/2006/relationships/hyperlink" Target="https://www.nalog.gov.ru/rn77/apply_fts/"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www.nalog.gov.ru/rn77/taxation/taxes/dec/" TargetMode="External"/><Relationship Id="rId2" Type="http://schemas.openxmlformats.org/officeDocument/2006/relationships/hyperlink" Target="https://www.nalog.gov.ru/rn77/taxation/taxes/ndfl/form_ndfl/"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lkfl2.nalog.ru/lkfl"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nalog.gov.ru/rn77/apply_fts/" TargetMode="External"/><Relationship Id="rId2" Type="http://schemas.openxmlformats.org/officeDocument/2006/relationships/hyperlink" Target="https://www.nalog.gov.ru/rn77/ndfl_easy/"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a:t>Налог в </a:t>
            </a:r>
            <a:r>
              <a:rPr lang="ru-RU" dirty="0" err="1"/>
              <a:t>россии</a:t>
            </a:r>
            <a:endParaRPr lang="ru-RU" dirty="0"/>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2046916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3"/>
          <p:cNvSpPr txBox="1">
            <a:spLocks noChangeArrowheads="1"/>
          </p:cNvSpPr>
          <p:nvPr/>
        </p:nvSpPr>
        <p:spPr bwMode="auto">
          <a:xfrm>
            <a:off x="1676400" y="260351"/>
            <a:ext cx="8534400" cy="584775"/>
          </a:xfrm>
          <a:prstGeom prst="rect">
            <a:avLst/>
          </a:prstGeom>
          <a:noFill/>
          <a:ln w="9525">
            <a:noFill/>
            <a:miter lim="800000"/>
            <a:headEnd/>
            <a:tailEnd/>
          </a:ln>
        </p:spPr>
        <p:txBody>
          <a:bodyPr wrap="square">
            <a:spAutoFit/>
          </a:bodyPr>
          <a:lstStyle/>
          <a:p>
            <a:pPr algn="ctr">
              <a:spcBef>
                <a:spcPct val="50000"/>
              </a:spcBef>
            </a:pPr>
            <a:r>
              <a:rPr lang="ru-RU" sz="3200" b="1" dirty="0"/>
              <a:t>Налоги</a:t>
            </a:r>
          </a:p>
        </p:txBody>
      </p:sp>
      <p:sp>
        <p:nvSpPr>
          <p:cNvPr id="35841" name="Rectangle 1"/>
          <p:cNvSpPr>
            <a:spLocks noChangeArrowheads="1"/>
          </p:cNvSpPr>
          <p:nvPr/>
        </p:nvSpPr>
        <p:spPr bwMode="auto">
          <a:xfrm>
            <a:off x="1222744" y="1118936"/>
            <a:ext cx="9216656" cy="570925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spcAft>
                <a:spcPts val="600"/>
              </a:spcAft>
            </a:pPr>
            <a:r>
              <a:rPr lang="ru-RU" sz="2000" b="1" u="sng" dirty="0"/>
              <a:t>Налоги</a:t>
            </a:r>
            <a:r>
              <a:rPr lang="ru-RU" sz="2000" dirty="0"/>
              <a:t> – обязательные платежи физических и юридических лиц государству.</a:t>
            </a:r>
          </a:p>
          <a:p>
            <a:pPr>
              <a:spcAft>
                <a:spcPts val="600"/>
              </a:spcAft>
            </a:pPr>
            <a:r>
              <a:rPr lang="ru-RU" sz="2000" i="1" dirty="0"/>
              <a:t>Субъект налогообложения</a:t>
            </a:r>
            <a:r>
              <a:rPr lang="ru-RU" sz="2000" dirty="0"/>
              <a:t>: налогоплательщик – физическое или юридическое лицо, которое по закону обязано платить налог.</a:t>
            </a:r>
          </a:p>
          <a:p>
            <a:pPr>
              <a:spcAft>
                <a:spcPts val="600"/>
              </a:spcAft>
            </a:pPr>
            <a:r>
              <a:rPr lang="ru-RU" sz="2000" i="1" dirty="0"/>
              <a:t>Объекты налогообложения</a:t>
            </a:r>
            <a:r>
              <a:rPr lang="ru-RU" sz="2000" dirty="0"/>
              <a:t>: доход (прибыль); имущество; операции по реализации товаров и услуг; стоимость определенных товаров; передача собственности и т.д.</a:t>
            </a:r>
          </a:p>
          <a:p>
            <a:pPr>
              <a:spcAft>
                <a:spcPts val="600"/>
              </a:spcAft>
            </a:pPr>
            <a:r>
              <a:rPr lang="ru-RU" sz="2000" i="1" dirty="0"/>
              <a:t>Источник налога</a:t>
            </a:r>
            <a:r>
              <a:rPr lang="ru-RU" sz="2000" dirty="0"/>
              <a:t>: все виды доходов налогоплательщика.</a:t>
            </a:r>
          </a:p>
          <a:p>
            <a:pPr>
              <a:spcAft>
                <a:spcPts val="600"/>
              </a:spcAft>
            </a:pPr>
            <a:r>
              <a:rPr lang="ru-RU" sz="2000" i="1" dirty="0"/>
              <a:t>Налоговая ставка</a:t>
            </a:r>
            <a:r>
              <a:rPr lang="ru-RU" sz="2000" dirty="0"/>
              <a:t> – величина начислений на единицу объекта налогообложения (рубль дохода, единица площади и т.д.).</a:t>
            </a:r>
          </a:p>
          <a:p>
            <a:pPr algn="ctr">
              <a:spcAft>
                <a:spcPts val="600"/>
              </a:spcAft>
            </a:pPr>
            <a:r>
              <a:rPr lang="ru-RU" sz="2000" dirty="0"/>
              <a:t>Виды налоговых ставок:</a:t>
            </a:r>
          </a:p>
          <a:p>
            <a:pPr marL="288000" indent="-288000">
              <a:spcAft>
                <a:spcPts val="600"/>
              </a:spcAft>
              <a:buFont typeface="+mj-lt"/>
              <a:buAutoNum type="arabicPeriod"/>
            </a:pPr>
            <a:r>
              <a:rPr lang="ru-RU" sz="2000" i="1" dirty="0"/>
              <a:t>Твердая ставка</a:t>
            </a:r>
            <a:r>
              <a:rPr lang="ru-RU" sz="2000" dirty="0"/>
              <a:t> – устанавливается в абсолютной форме на единицу налогообложения независимо от дохода.</a:t>
            </a:r>
          </a:p>
          <a:p>
            <a:pPr marL="288000" indent="-288000">
              <a:spcAft>
                <a:spcPts val="600"/>
              </a:spcAft>
              <a:buFont typeface="+mj-lt"/>
              <a:buAutoNum type="arabicPeriod"/>
            </a:pPr>
            <a:r>
              <a:rPr lang="ru-RU" sz="2000" i="1" dirty="0"/>
              <a:t>Пропорциональная ставка</a:t>
            </a:r>
            <a:r>
              <a:rPr lang="ru-RU" sz="2000" dirty="0"/>
              <a:t> – фиксированный процент дохода независимо от его размера.</a:t>
            </a:r>
          </a:p>
          <a:p>
            <a:pPr marL="288000" indent="-288000">
              <a:spcAft>
                <a:spcPts val="600"/>
              </a:spcAft>
              <a:buFont typeface="+mj-lt"/>
              <a:buAutoNum type="arabicPeriod"/>
            </a:pPr>
            <a:r>
              <a:rPr lang="ru-RU" sz="2000" i="1" dirty="0"/>
              <a:t>Регрессивная ставка</a:t>
            </a:r>
            <a:r>
              <a:rPr lang="ru-RU" sz="2000" dirty="0"/>
              <a:t> – снижается по мере роста суммы дохода.</a:t>
            </a:r>
          </a:p>
          <a:p>
            <a:pPr marL="288000" indent="-288000">
              <a:spcAft>
                <a:spcPts val="600"/>
              </a:spcAft>
              <a:buFont typeface="+mj-lt"/>
              <a:buAutoNum type="arabicPeriod"/>
            </a:pPr>
            <a:r>
              <a:rPr lang="ru-RU" sz="2000" i="1" dirty="0"/>
              <a:t>Прогрессивная ставка </a:t>
            </a:r>
            <a:r>
              <a:rPr lang="ru-RU" sz="2000" dirty="0"/>
              <a:t>– повышается по мере роста суммы дохода.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5841">
                                            <p:txEl>
                                              <p:pRg st="0" end="0"/>
                                            </p:txEl>
                                          </p:spTgt>
                                        </p:tgtEl>
                                        <p:attrNameLst>
                                          <p:attrName>style.visibility</p:attrName>
                                        </p:attrNameLst>
                                      </p:cBhvr>
                                      <p:to>
                                        <p:strVal val="visible"/>
                                      </p:to>
                                    </p:set>
                                    <p:animEffect transition="in" filter="wipe(up)">
                                      <p:cBhvr>
                                        <p:cTn id="7" dur="500"/>
                                        <p:tgtEl>
                                          <p:spTgt spid="358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5841">
                                            <p:txEl>
                                              <p:pRg st="1" end="1"/>
                                            </p:txEl>
                                          </p:spTgt>
                                        </p:tgtEl>
                                        <p:attrNameLst>
                                          <p:attrName>style.visibility</p:attrName>
                                        </p:attrNameLst>
                                      </p:cBhvr>
                                      <p:to>
                                        <p:strVal val="visible"/>
                                      </p:to>
                                    </p:set>
                                    <p:animEffect transition="in" filter="wipe(up)">
                                      <p:cBhvr>
                                        <p:cTn id="12" dur="500"/>
                                        <p:tgtEl>
                                          <p:spTgt spid="3584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5841">
                                            <p:txEl>
                                              <p:pRg st="2" end="2"/>
                                            </p:txEl>
                                          </p:spTgt>
                                        </p:tgtEl>
                                        <p:attrNameLst>
                                          <p:attrName>style.visibility</p:attrName>
                                        </p:attrNameLst>
                                      </p:cBhvr>
                                      <p:to>
                                        <p:strVal val="visible"/>
                                      </p:to>
                                    </p:set>
                                    <p:animEffect transition="in" filter="wipe(up)">
                                      <p:cBhvr>
                                        <p:cTn id="17" dur="500"/>
                                        <p:tgtEl>
                                          <p:spTgt spid="3584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5841">
                                            <p:txEl>
                                              <p:pRg st="3" end="3"/>
                                            </p:txEl>
                                          </p:spTgt>
                                        </p:tgtEl>
                                        <p:attrNameLst>
                                          <p:attrName>style.visibility</p:attrName>
                                        </p:attrNameLst>
                                      </p:cBhvr>
                                      <p:to>
                                        <p:strVal val="visible"/>
                                      </p:to>
                                    </p:set>
                                    <p:animEffect transition="in" filter="wipe(up)">
                                      <p:cBhvr>
                                        <p:cTn id="22" dur="500"/>
                                        <p:tgtEl>
                                          <p:spTgt spid="3584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5841">
                                            <p:txEl>
                                              <p:pRg st="4" end="4"/>
                                            </p:txEl>
                                          </p:spTgt>
                                        </p:tgtEl>
                                        <p:attrNameLst>
                                          <p:attrName>style.visibility</p:attrName>
                                        </p:attrNameLst>
                                      </p:cBhvr>
                                      <p:to>
                                        <p:strVal val="visible"/>
                                      </p:to>
                                    </p:set>
                                    <p:animEffect transition="in" filter="wipe(up)">
                                      <p:cBhvr>
                                        <p:cTn id="27" dur="500"/>
                                        <p:tgtEl>
                                          <p:spTgt spid="3584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35841">
                                            <p:txEl>
                                              <p:pRg st="5" end="5"/>
                                            </p:txEl>
                                          </p:spTgt>
                                        </p:tgtEl>
                                        <p:attrNameLst>
                                          <p:attrName>style.visibility</p:attrName>
                                        </p:attrNameLst>
                                      </p:cBhvr>
                                      <p:to>
                                        <p:strVal val="visible"/>
                                      </p:to>
                                    </p:set>
                                    <p:animEffect transition="in" filter="wipe(up)">
                                      <p:cBhvr>
                                        <p:cTn id="32" dur="500"/>
                                        <p:tgtEl>
                                          <p:spTgt spid="3584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35841">
                                            <p:txEl>
                                              <p:pRg st="6" end="6"/>
                                            </p:txEl>
                                          </p:spTgt>
                                        </p:tgtEl>
                                        <p:attrNameLst>
                                          <p:attrName>style.visibility</p:attrName>
                                        </p:attrNameLst>
                                      </p:cBhvr>
                                      <p:to>
                                        <p:strVal val="visible"/>
                                      </p:to>
                                    </p:set>
                                    <p:animEffect transition="in" filter="wipe(up)">
                                      <p:cBhvr>
                                        <p:cTn id="37" dur="500"/>
                                        <p:tgtEl>
                                          <p:spTgt spid="3584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35841">
                                            <p:txEl>
                                              <p:pRg st="7" end="7"/>
                                            </p:txEl>
                                          </p:spTgt>
                                        </p:tgtEl>
                                        <p:attrNameLst>
                                          <p:attrName>style.visibility</p:attrName>
                                        </p:attrNameLst>
                                      </p:cBhvr>
                                      <p:to>
                                        <p:strVal val="visible"/>
                                      </p:to>
                                    </p:set>
                                    <p:animEffect transition="in" filter="wipe(up)">
                                      <p:cBhvr>
                                        <p:cTn id="42" dur="500"/>
                                        <p:tgtEl>
                                          <p:spTgt spid="3584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35841">
                                            <p:txEl>
                                              <p:pRg st="8" end="8"/>
                                            </p:txEl>
                                          </p:spTgt>
                                        </p:tgtEl>
                                        <p:attrNameLst>
                                          <p:attrName>style.visibility</p:attrName>
                                        </p:attrNameLst>
                                      </p:cBhvr>
                                      <p:to>
                                        <p:strVal val="visible"/>
                                      </p:to>
                                    </p:set>
                                    <p:animEffect transition="in" filter="wipe(up)">
                                      <p:cBhvr>
                                        <p:cTn id="47" dur="500"/>
                                        <p:tgtEl>
                                          <p:spTgt spid="3584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35841">
                                            <p:txEl>
                                              <p:pRg st="9" end="9"/>
                                            </p:txEl>
                                          </p:spTgt>
                                        </p:tgtEl>
                                        <p:attrNameLst>
                                          <p:attrName>style.visibility</p:attrName>
                                        </p:attrNameLst>
                                      </p:cBhvr>
                                      <p:to>
                                        <p:strVal val="visible"/>
                                      </p:to>
                                    </p:set>
                                    <p:animEffect transition="in" filter="wipe(up)">
                                      <p:cBhvr>
                                        <p:cTn id="52" dur="500"/>
                                        <p:tgtEl>
                                          <p:spTgt spid="3584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3"/>
          <p:cNvSpPr txBox="1">
            <a:spLocks noChangeArrowheads="1"/>
          </p:cNvSpPr>
          <p:nvPr/>
        </p:nvSpPr>
        <p:spPr bwMode="auto">
          <a:xfrm>
            <a:off x="1676400" y="260351"/>
            <a:ext cx="8534400" cy="584775"/>
          </a:xfrm>
          <a:prstGeom prst="rect">
            <a:avLst/>
          </a:prstGeom>
          <a:noFill/>
          <a:ln w="9525">
            <a:noFill/>
            <a:miter lim="800000"/>
            <a:headEnd/>
            <a:tailEnd/>
          </a:ln>
        </p:spPr>
        <p:txBody>
          <a:bodyPr wrap="square">
            <a:spAutoFit/>
          </a:bodyPr>
          <a:lstStyle/>
          <a:p>
            <a:pPr algn="ctr">
              <a:spcBef>
                <a:spcPct val="50000"/>
              </a:spcBef>
            </a:pPr>
            <a:r>
              <a:rPr lang="ru-RU" sz="3200" b="1" dirty="0"/>
              <a:t>Функции налогов</a:t>
            </a:r>
          </a:p>
        </p:txBody>
      </p:sp>
      <p:sp>
        <p:nvSpPr>
          <p:cNvPr id="35841" name="Rectangle 1"/>
          <p:cNvSpPr>
            <a:spLocks noChangeArrowheads="1"/>
          </p:cNvSpPr>
          <p:nvPr/>
        </p:nvSpPr>
        <p:spPr bwMode="auto">
          <a:xfrm>
            <a:off x="1316665" y="1562988"/>
            <a:ext cx="8686800" cy="443198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indent="-457200">
              <a:spcAft>
                <a:spcPts val="1200"/>
              </a:spcAft>
              <a:buFont typeface="Wingdings" pitchFamily="2" charset="2"/>
              <a:buChar char="q"/>
            </a:pPr>
            <a:r>
              <a:rPr lang="ru-RU" sz="2200" i="1" dirty="0"/>
              <a:t>фискальная</a:t>
            </a:r>
            <a:r>
              <a:rPr lang="ru-RU" sz="2200" dirty="0"/>
              <a:t> – наполнение государственного бюджета</a:t>
            </a:r>
          </a:p>
          <a:p>
            <a:pPr marL="457200" indent="-457200">
              <a:spcAft>
                <a:spcPts val="1200"/>
              </a:spcAft>
              <a:buFont typeface="Wingdings" pitchFamily="2" charset="2"/>
              <a:buChar char="q"/>
            </a:pPr>
            <a:r>
              <a:rPr lang="ru-RU" sz="2200" i="1" dirty="0"/>
              <a:t>распределительная</a:t>
            </a:r>
            <a:r>
              <a:rPr lang="ru-RU" sz="2200" dirty="0"/>
              <a:t> – перераспределение доходов между различными социальными группами с целью сглаживания неравенства</a:t>
            </a:r>
          </a:p>
          <a:p>
            <a:pPr marL="457200" indent="-457200">
              <a:spcAft>
                <a:spcPts val="1200"/>
              </a:spcAft>
              <a:buFont typeface="Wingdings" pitchFamily="2" charset="2"/>
              <a:buChar char="q"/>
            </a:pPr>
            <a:r>
              <a:rPr lang="ru-RU" sz="2200" i="1" dirty="0"/>
              <a:t>стимулирующая</a:t>
            </a:r>
            <a:r>
              <a:rPr lang="ru-RU" sz="2200" dirty="0"/>
              <a:t> – поддержка развития определенных отраслей или групп предприятий через налоговые льготы</a:t>
            </a:r>
          </a:p>
          <a:p>
            <a:pPr marL="457200" indent="-457200">
              <a:spcAft>
                <a:spcPts val="1200"/>
              </a:spcAft>
              <a:buFont typeface="Wingdings" pitchFamily="2" charset="2"/>
              <a:buChar char="q"/>
            </a:pPr>
            <a:r>
              <a:rPr lang="ru-RU" sz="2200" i="1" dirty="0"/>
              <a:t>дестимулирующая</a:t>
            </a:r>
            <a:r>
              <a:rPr lang="ru-RU" sz="2200" dirty="0"/>
              <a:t> – создание препятствий для развития определенных отраслей, сдерживание потребления вредных продуктов</a:t>
            </a:r>
          </a:p>
          <a:p>
            <a:pPr marL="457200" indent="-457200">
              <a:spcAft>
                <a:spcPts val="1200"/>
              </a:spcAft>
              <a:buFont typeface="Wingdings" pitchFamily="2" charset="2"/>
              <a:buChar char="q"/>
            </a:pPr>
            <a:r>
              <a:rPr lang="ru-RU" sz="2200" i="1" dirty="0"/>
              <a:t>контрольно-учетная (статистическая)</a:t>
            </a:r>
            <a:r>
              <a:rPr lang="ru-RU" sz="2200" dirty="0"/>
              <a:t> – осуществление учета доходов граждан, предприятий и организаций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5841">
                                            <p:txEl>
                                              <p:pRg st="0" end="0"/>
                                            </p:txEl>
                                          </p:spTgt>
                                        </p:tgtEl>
                                        <p:attrNameLst>
                                          <p:attrName>style.visibility</p:attrName>
                                        </p:attrNameLst>
                                      </p:cBhvr>
                                      <p:to>
                                        <p:strVal val="visible"/>
                                      </p:to>
                                    </p:set>
                                    <p:animEffect transition="in" filter="wipe(up)">
                                      <p:cBhvr>
                                        <p:cTn id="7" dur="500"/>
                                        <p:tgtEl>
                                          <p:spTgt spid="358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5841">
                                            <p:txEl>
                                              <p:pRg st="1" end="1"/>
                                            </p:txEl>
                                          </p:spTgt>
                                        </p:tgtEl>
                                        <p:attrNameLst>
                                          <p:attrName>style.visibility</p:attrName>
                                        </p:attrNameLst>
                                      </p:cBhvr>
                                      <p:to>
                                        <p:strVal val="visible"/>
                                      </p:to>
                                    </p:set>
                                    <p:animEffect transition="in" filter="wipe(up)">
                                      <p:cBhvr>
                                        <p:cTn id="12" dur="500"/>
                                        <p:tgtEl>
                                          <p:spTgt spid="3584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5841">
                                            <p:txEl>
                                              <p:pRg st="2" end="2"/>
                                            </p:txEl>
                                          </p:spTgt>
                                        </p:tgtEl>
                                        <p:attrNameLst>
                                          <p:attrName>style.visibility</p:attrName>
                                        </p:attrNameLst>
                                      </p:cBhvr>
                                      <p:to>
                                        <p:strVal val="visible"/>
                                      </p:to>
                                    </p:set>
                                    <p:animEffect transition="in" filter="wipe(up)">
                                      <p:cBhvr>
                                        <p:cTn id="17" dur="500"/>
                                        <p:tgtEl>
                                          <p:spTgt spid="3584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5841">
                                            <p:txEl>
                                              <p:pRg st="3" end="3"/>
                                            </p:txEl>
                                          </p:spTgt>
                                        </p:tgtEl>
                                        <p:attrNameLst>
                                          <p:attrName>style.visibility</p:attrName>
                                        </p:attrNameLst>
                                      </p:cBhvr>
                                      <p:to>
                                        <p:strVal val="visible"/>
                                      </p:to>
                                    </p:set>
                                    <p:animEffect transition="in" filter="wipe(up)">
                                      <p:cBhvr>
                                        <p:cTn id="22" dur="500"/>
                                        <p:tgtEl>
                                          <p:spTgt spid="3584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5841">
                                            <p:txEl>
                                              <p:pRg st="4" end="4"/>
                                            </p:txEl>
                                          </p:spTgt>
                                        </p:tgtEl>
                                        <p:attrNameLst>
                                          <p:attrName>style.visibility</p:attrName>
                                        </p:attrNameLst>
                                      </p:cBhvr>
                                      <p:to>
                                        <p:strVal val="visible"/>
                                      </p:to>
                                    </p:set>
                                    <p:animEffect transition="in" filter="wipe(up)">
                                      <p:cBhvr>
                                        <p:cTn id="27" dur="500"/>
                                        <p:tgtEl>
                                          <p:spTgt spid="3584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3"/>
          <p:cNvSpPr txBox="1">
            <a:spLocks noChangeArrowheads="1"/>
          </p:cNvSpPr>
          <p:nvPr/>
        </p:nvSpPr>
        <p:spPr bwMode="auto">
          <a:xfrm>
            <a:off x="2643963" y="239086"/>
            <a:ext cx="8534400" cy="1585049"/>
          </a:xfrm>
          <a:prstGeom prst="rect">
            <a:avLst/>
          </a:prstGeom>
          <a:noFill/>
          <a:ln w="9525">
            <a:noFill/>
            <a:miter lim="800000"/>
            <a:headEnd/>
            <a:tailEnd/>
          </a:ln>
        </p:spPr>
        <p:txBody>
          <a:bodyPr wrap="square">
            <a:spAutoFit/>
          </a:bodyPr>
          <a:lstStyle/>
          <a:p>
            <a:pPr algn="ctr">
              <a:spcBef>
                <a:spcPct val="50000"/>
              </a:spcBef>
            </a:pPr>
            <a:r>
              <a:rPr lang="ru-RU" sz="3200" b="1" dirty="0"/>
              <a:t>Виды налогов по сбору в бюджет соответствующего уровня</a:t>
            </a:r>
          </a:p>
          <a:p>
            <a:pPr algn="ctr">
              <a:spcBef>
                <a:spcPct val="50000"/>
              </a:spcBef>
            </a:pPr>
            <a:r>
              <a:rPr lang="ru-RU" sz="2200" dirty="0"/>
              <a:t>(ст. 13 – 15 Налогового кодекса РФ; по состоянию на 2022 г.)</a:t>
            </a:r>
            <a:endParaRPr lang="ru-RU" sz="2200" b="1" dirty="0"/>
          </a:p>
        </p:txBody>
      </p:sp>
      <p:graphicFrame>
        <p:nvGraphicFramePr>
          <p:cNvPr id="5" name="Таблица 4"/>
          <p:cNvGraphicFramePr>
            <a:graphicFrameLocks noGrp="1"/>
          </p:cNvGraphicFramePr>
          <p:nvPr/>
        </p:nvGraphicFramePr>
        <p:xfrm>
          <a:off x="2057400" y="1981200"/>
          <a:ext cx="8077200" cy="4246880"/>
        </p:xfrm>
        <a:graphic>
          <a:graphicData uri="http://schemas.openxmlformats.org/drawingml/2006/table">
            <a:tbl>
              <a:tblPr firstRow="1" bandRow="1">
                <a:tableStyleId>{5940675A-B579-460E-94D1-54222C63F5DA}</a:tableStyleId>
              </a:tblPr>
              <a:tblGrid>
                <a:gridCol w="40386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370840">
                <a:tc>
                  <a:txBody>
                    <a:bodyPr/>
                    <a:lstStyle/>
                    <a:p>
                      <a:pPr algn="ctr"/>
                      <a:r>
                        <a:rPr lang="ru-RU" b="1" dirty="0"/>
                        <a:t>1.</a:t>
                      </a:r>
                      <a:r>
                        <a:rPr lang="ru-RU" b="1" baseline="0" dirty="0"/>
                        <a:t> </a:t>
                      </a:r>
                      <a:r>
                        <a:rPr lang="ru-RU" b="1" dirty="0"/>
                        <a:t>Федеральные налоги и</a:t>
                      </a:r>
                      <a:r>
                        <a:rPr lang="ru-RU" b="1" baseline="0" dirty="0"/>
                        <a:t> сборы</a:t>
                      </a:r>
                      <a:endParaRPr lang="ru-RU" b="1" dirty="0"/>
                    </a:p>
                  </a:txBody>
                  <a:tcPr>
                    <a:solidFill>
                      <a:srgbClr val="FCAAAA"/>
                    </a:solidFill>
                  </a:tcPr>
                </a:tc>
                <a:tc>
                  <a:txBody>
                    <a:bodyPr/>
                    <a:lstStyle/>
                    <a:p>
                      <a:pPr algn="ctr"/>
                      <a:r>
                        <a:rPr lang="ru-RU" b="1" dirty="0"/>
                        <a:t>2. Региональные</a:t>
                      </a:r>
                      <a:r>
                        <a:rPr lang="ru-RU" b="1" baseline="0" dirty="0"/>
                        <a:t> налоги</a:t>
                      </a:r>
                      <a:endParaRPr lang="ru-RU" b="1" dirty="0"/>
                    </a:p>
                  </a:txBody>
                  <a:tcPr>
                    <a:solidFill>
                      <a:srgbClr val="99EFA9"/>
                    </a:solidFill>
                  </a:tcPr>
                </a:tc>
                <a:extLst>
                  <a:ext uri="{0D108BD9-81ED-4DB2-BD59-A6C34878D82A}">
                    <a16:rowId xmlns:a16="http://schemas.microsoft.com/office/drawing/2014/main" val="10000"/>
                  </a:ext>
                </a:extLst>
              </a:tr>
              <a:tr h="370840">
                <a:tc>
                  <a:txBody>
                    <a:bodyPr/>
                    <a:lstStyle/>
                    <a:p>
                      <a:r>
                        <a:rPr lang="ru-RU" sz="1800" kern="1200" dirty="0">
                          <a:solidFill>
                            <a:schemeClr val="tx1"/>
                          </a:solidFill>
                          <a:latin typeface="+mn-lt"/>
                          <a:ea typeface="+mn-ea"/>
                          <a:cs typeface="+mn-cs"/>
                        </a:rPr>
                        <a:t>налог на добавленную стоимость</a:t>
                      </a:r>
                      <a:endParaRPr lang="ru-RU" dirty="0"/>
                    </a:p>
                  </a:txBody>
                  <a:tcPr>
                    <a:solidFill>
                      <a:srgbClr val="FCAAAA"/>
                    </a:solidFill>
                  </a:tcPr>
                </a:tc>
                <a:tc>
                  <a:txBody>
                    <a:bodyPr/>
                    <a:lstStyle/>
                    <a:p>
                      <a:r>
                        <a:rPr lang="ru-RU" sz="1800" kern="1200" dirty="0">
                          <a:solidFill>
                            <a:schemeClr val="tx1"/>
                          </a:solidFill>
                          <a:latin typeface="+mn-lt"/>
                          <a:ea typeface="+mn-ea"/>
                          <a:cs typeface="+mn-cs"/>
                        </a:rPr>
                        <a:t>налог на имущество организаций</a:t>
                      </a:r>
                      <a:endParaRPr lang="ru-RU" dirty="0"/>
                    </a:p>
                  </a:txBody>
                  <a:tcPr>
                    <a:solidFill>
                      <a:srgbClr val="99EFA9"/>
                    </a:solidFill>
                  </a:tcPr>
                </a:tc>
                <a:extLst>
                  <a:ext uri="{0D108BD9-81ED-4DB2-BD59-A6C34878D82A}">
                    <a16:rowId xmlns:a16="http://schemas.microsoft.com/office/drawing/2014/main" val="10001"/>
                  </a:ext>
                </a:extLst>
              </a:tr>
              <a:tr h="370840">
                <a:tc>
                  <a:txBody>
                    <a:bodyPr/>
                    <a:lstStyle/>
                    <a:p>
                      <a:r>
                        <a:rPr lang="ru-RU" sz="1800" kern="1200" dirty="0">
                          <a:solidFill>
                            <a:schemeClr val="tx1"/>
                          </a:solidFill>
                          <a:latin typeface="+mn-lt"/>
                          <a:ea typeface="+mn-ea"/>
                          <a:cs typeface="+mn-cs"/>
                        </a:rPr>
                        <a:t>акцизы</a:t>
                      </a:r>
                      <a:endParaRPr lang="ru-RU" dirty="0"/>
                    </a:p>
                  </a:txBody>
                  <a:tcPr>
                    <a:solidFill>
                      <a:srgbClr val="FCAAAA"/>
                    </a:solidFill>
                  </a:tcPr>
                </a:tc>
                <a:tc>
                  <a:txBody>
                    <a:bodyPr/>
                    <a:lstStyle/>
                    <a:p>
                      <a:r>
                        <a:rPr lang="ru-RU" sz="1800" kern="1200" dirty="0">
                          <a:solidFill>
                            <a:schemeClr val="tx1"/>
                          </a:solidFill>
                          <a:latin typeface="+mn-lt"/>
                          <a:ea typeface="+mn-ea"/>
                          <a:cs typeface="+mn-cs"/>
                        </a:rPr>
                        <a:t>налог на игорный бизнес</a:t>
                      </a:r>
                      <a:endParaRPr lang="ru-RU" dirty="0"/>
                    </a:p>
                  </a:txBody>
                  <a:tcPr>
                    <a:solidFill>
                      <a:srgbClr val="99EFA9"/>
                    </a:solidFill>
                  </a:tcPr>
                </a:tc>
                <a:extLst>
                  <a:ext uri="{0D108BD9-81ED-4DB2-BD59-A6C34878D82A}">
                    <a16:rowId xmlns:a16="http://schemas.microsoft.com/office/drawing/2014/main" val="10002"/>
                  </a:ext>
                </a:extLst>
              </a:tr>
              <a:tr h="370840">
                <a:tc>
                  <a:txBody>
                    <a:bodyPr/>
                    <a:lstStyle/>
                    <a:p>
                      <a:r>
                        <a:rPr lang="ru-RU" sz="1800" kern="1200" dirty="0">
                          <a:solidFill>
                            <a:schemeClr val="tx1"/>
                          </a:solidFill>
                          <a:latin typeface="+mn-lt"/>
                          <a:ea typeface="+mn-ea"/>
                          <a:cs typeface="+mn-cs"/>
                        </a:rPr>
                        <a:t>налог на доходы физических лиц</a:t>
                      </a:r>
                      <a:endParaRPr lang="ru-RU" dirty="0"/>
                    </a:p>
                  </a:txBody>
                  <a:tcPr>
                    <a:solidFill>
                      <a:srgbClr val="FCAAAA"/>
                    </a:solidFill>
                  </a:tcPr>
                </a:tc>
                <a:tc>
                  <a:txBody>
                    <a:bodyPr/>
                    <a:lstStyle/>
                    <a:p>
                      <a:r>
                        <a:rPr lang="ru-RU" sz="1800" kern="1200" dirty="0">
                          <a:solidFill>
                            <a:schemeClr val="tx1"/>
                          </a:solidFill>
                          <a:latin typeface="+mn-lt"/>
                          <a:ea typeface="+mn-ea"/>
                          <a:cs typeface="+mn-cs"/>
                        </a:rPr>
                        <a:t>транспортный налог</a:t>
                      </a:r>
                      <a:endParaRPr lang="ru-RU" dirty="0"/>
                    </a:p>
                  </a:txBody>
                  <a:tcPr>
                    <a:solidFill>
                      <a:srgbClr val="99EFA9"/>
                    </a:solidFill>
                  </a:tcPr>
                </a:tc>
                <a:extLst>
                  <a:ext uri="{0D108BD9-81ED-4DB2-BD59-A6C34878D82A}">
                    <a16:rowId xmlns:a16="http://schemas.microsoft.com/office/drawing/2014/main" val="10003"/>
                  </a:ext>
                </a:extLst>
              </a:tr>
              <a:tr h="370840">
                <a:tc>
                  <a:txBody>
                    <a:bodyPr/>
                    <a:lstStyle/>
                    <a:p>
                      <a:r>
                        <a:rPr lang="ru-RU" sz="1800" kern="1200" dirty="0">
                          <a:solidFill>
                            <a:schemeClr val="tx1"/>
                          </a:solidFill>
                          <a:latin typeface="+mn-lt"/>
                          <a:ea typeface="+mn-ea"/>
                          <a:cs typeface="+mn-cs"/>
                        </a:rPr>
                        <a:t>налог на прибыль организаций</a:t>
                      </a:r>
                      <a:endParaRPr lang="ru-RU" dirty="0"/>
                    </a:p>
                  </a:txBody>
                  <a:tcPr>
                    <a:solidFill>
                      <a:srgbClr val="FCAAAA"/>
                    </a:solidFill>
                  </a:tcPr>
                </a:tc>
                <a:tc>
                  <a:txBody>
                    <a:bodyPr/>
                    <a:lstStyle/>
                    <a:p>
                      <a:endParaRPr lang="ru-RU" dirty="0"/>
                    </a:p>
                  </a:txBody>
                  <a:tcPr>
                    <a:solidFill>
                      <a:srgbClr val="99EFA9"/>
                    </a:solidFill>
                  </a:tcPr>
                </a:tc>
                <a:extLst>
                  <a:ext uri="{0D108BD9-81ED-4DB2-BD59-A6C34878D82A}">
                    <a16:rowId xmlns:a16="http://schemas.microsoft.com/office/drawing/2014/main" val="10004"/>
                  </a:ext>
                </a:extLst>
              </a:tr>
              <a:tr h="370840">
                <a:tc>
                  <a:txBody>
                    <a:bodyPr/>
                    <a:lstStyle/>
                    <a:p>
                      <a:r>
                        <a:rPr lang="ru-RU" sz="1800" kern="1200" dirty="0">
                          <a:solidFill>
                            <a:schemeClr val="tx1"/>
                          </a:solidFill>
                          <a:latin typeface="+mn-lt"/>
                          <a:ea typeface="+mn-ea"/>
                          <a:cs typeface="+mn-cs"/>
                        </a:rPr>
                        <a:t>налог на добычу полезных ископаемых</a:t>
                      </a:r>
                      <a:endParaRPr lang="ru-RU" dirty="0"/>
                    </a:p>
                  </a:txBody>
                  <a:tcPr>
                    <a:solidFill>
                      <a:srgbClr val="FCAAAA"/>
                    </a:solidFill>
                  </a:tcPr>
                </a:tc>
                <a:tc>
                  <a:txBody>
                    <a:bodyPr/>
                    <a:lstStyle/>
                    <a:p>
                      <a:pPr algn="ctr"/>
                      <a:r>
                        <a:rPr lang="ru-RU" sz="1800" b="1" i="0" kern="1200" dirty="0">
                          <a:solidFill>
                            <a:schemeClr val="tx1"/>
                          </a:solidFill>
                          <a:latin typeface="+mn-lt"/>
                          <a:ea typeface="+mn-ea"/>
                          <a:cs typeface="+mn-cs"/>
                        </a:rPr>
                        <a:t>3. Местные налоги и сборы</a:t>
                      </a:r>
                      <a:endParaRPr lang="ru-RU" i="0" dirty="0"/>
                    </a:p>
                  </a:txBody>
                  <a:tcPr>
                    <a:solidFill>
                      <a:srgbClr val="FFFF79"/>
                    </a:solidFill>
                  </a:tcPr>
                </a:tc>
                <a:extLst>
                  <a:ext uri="{0D108BD9-81ED-4DB2-BD59-A6C34878D82A}">
                    <a16:rowId xmlns:a16="http://schemas.microsoft.com/office/drawing/2014/main" val="10005"/>
                  </a:ext>
                </a:extLst>
              </a:tr>
              <a:tr h="370840">
                <a:tc>
                  <a:txBody>
                    <a:bodyPr/>
                    <a:lstStyle/>
                    <a:p>
                      <a:r>
                        <a:rPr lang="ru-RU" sz="1800" kern="1200" dirty="0">
                          <a:solidFill>
                            <a:schemeClr val="tx1"/>
                          </a:solidFill>
                          <a:latin typeface="+mn-lt"/>
                          <a:ea typeface="+mn-ea"/>
                          <a:cs typeface="+mn-cs"/>
                        </a:rPr>
                        <a:t>водный налог</a:t>
                      </a:r>
                      <a:endParaRPr lang="ru-RU" dirty="0"/>
                    </a:p>
                  </a:txBody>
                  <a:tcPr>
                    <a:solidFill>
                      <a:srgbClr val="FCAAAA"/>
                    </a:solidFill>
                  </a:tcPr>
                </a:tc>
                <a:tc>
                  <a:txBody>
                    <a:bodyPr/>
                    <a:lstStyle/>
                    <a:p>
                      <a:r>
                        <a:rPr lang="ru-RU" sz="1800" kern="1200" dirty="0">
                          <a:solidFill>
                            <a:schemeClr val="tx1"/>
                          </a:solidFill>
                          <a:latin typeface="+mn-lt"/>
                          <a:ea typeface="+mn-ea"/>
                          <a:cs typeface="+mn-cs"/>
                        </a:rPr>
                        <a:t>земельный налог</a:t>
                      </a:r>
                      <a:endParaRPr lang="ru-RU" dirty="0"/>
                    </a:p>
                  </a:txBody>
                  <a:tcPr>
                    <a:solidFill>
                      <a:srgbClr val="FFFF79"/>
                    </a:solidFill>
                  </a:tcPr>
                </a:tc>
                <a:extLst>
                  <a:ext uri="{0D108BD9-81ED-4DB2-BD59-A6C34878D82A}">
                    <a16:rowId xmlns:a16="http://schemas.microsoft.com/office/drawing/2014/main" val="10006"/>
                  </a:ext>
                </a:extLst>
              </a:tr>
              <a:tr h="370840">
                <a:tc>
                  <a:txBody>
                    <a:bodyPr/>
                    <a:lstStyle/>
                    <a:p>
                      <a:r>
                        <a:rPr lang="ru-RU" sz="1800" kern="1200" dirty="0">
                          <a:solidFill>
                            <a:schemeClr val="tx1"/>
                          </a:solidFill>
                          <a:latin typeface="+mn-lt"/>
                          <a:ea typeface="+mn-ea"/>
                          <a:cs typeface="+mn-cs"/>
                        </a:rPr>
                        <a:t>экологические сборы</a:t>
                      </a:r>
                      <a:endParaRPr lang="ru-RU" dirty="0"/>
                    </a:p>
                  </a:txBody>
                  <a:tcPr>
                    <a:solidFill>
                      <a:srgbClr val="FCAAAA"/>
                    </a:solidFill>
                  </a:tcPr>
                </a:tc>
                <a:tc>
                  <a:txBody>
                    <a:bodyPr/>
                    <a:lstStyle/>
                    <a:p>
                      <a:r>
                        <a:rPr lang="ru-RU" sz="1800" kern="1200" dirty="0">
                          <a:solidFill>
                            <a:schemeClr val="tx1"/>
                          </a:solidFill>
                          <a:latin typeface="+mn-lt"/>
                          <a:ea typeface="+mn-ea"/>
                          <a:cs typeface="+mn-cs"/>
                        </a:rPr>
                        <a:t>налог на имущество физических лиц</a:t>
                      </a:r>
                      <a:endParaRPr lang="ru-RU" dirty="0"/>
                    </a:p>
                  </a:txBody>
                  <a:tcPr>
                    <a:solidFill>
                      <a:srgbClr val="FFFF79"/>
                    </a:solidFill>
                  </a:tcPr>
                </a:tc>
                <a:extLst>
                  <a:ext uri="{0D108BD9-81ED-4DB2-BD59-A6C34878D82A}">
                    <a16:rowId xmlns:a16="http://schemas.microsoft.com/office/drawing/2014/main" val="10007"/>
                  </a:ext>
                </a:extLst>
              </a:tr>
              <a:tr h="370840">
                <a:tc>
                  <a:txBody>
                    <a:bodyPr/>
                    <a:lstStyle/>
                    <a:p>
                      <a:r>
                        <a:rPr lang="ru-RU" sz="1800" kern="1200" dirty="0">
                          <a:solidFill>
                            <a:schemeClr val="tx1"/>
                          </a:solidFill>
                          <a:latin typeface="+mn-lt"/>
                          <a:ea typeface="+mn-ea"/>
                          <a:cs typeface="+mn-cs"/>
                        </a:rPr>
                        <a:t>государственная пошлина</a:t>
                      </a:r>
                      <a:endParaRPr lang="ru-RU" dirty="0"/>
                    </a:p>
                  </a:txBody>
                  <a:tcPr>
                    <a:solidFill>
                      <a:srgbClr val="FCAAAA"/>
                    </a:solidFill>
                  </a:tcPr>
                </a:tc>
                <a:tc>
                  <a:txBody>
                    <a:bodyPr/>
                    <a:lstStyle/>
                    <a:p>
                      <a:r>
                        <a:rPr lang="ru-RU" sz="1800" kern="1200" dirty="0">
                          <a:solidFill>
                            <a:schemeClr val="tx1"/>
                          </a:solidFill>
                          <a:latin typeface="+mn-lt"/>
                          <a:ea typeface="+mn-ea"/>
                          <a:cs typeface="+mn-cs"/>
                        </a:rPr>
                        <a:t>торговый сбор</a:t>
                      </a:r>
                      <a:endParaRPr lang="ru-RU" dirty="0"/>
                    </a:p>
                  </a:txBody>
                  <a:tcPr>
                    <a:solidFill>
                      <a:srgbClr val="FFFF79"/>
                    </a:solidFill>
                  </a:tcPr>
                </a:tc>
                <a:extLst>
                  <a:ext uri="{0D108BD9-81ED-4DB2-BD59-A6C34878D82A}">
                    <a16:rowId xmlns:a16="http://schemas.microsoft.com/office/drawing/2014/main" val="10008"/>
                  </a:ext>
                </a:extLst>
              </a:tr>
              <a:tr h="370840">
                <a:tc>
                  <a:txBody>
                    <a:bodyPr/>
                    <a:lstStyle/>
                    <a:p>
                      <a:r>
                        <a:rPr lang="ru-RU" sz="1800" kern="1200" dirty="0">
                          <a:solidFill>
                            <a:schemeClr val="tx1"/>
                          </a:solidFill>
                          <a:latin typeface="+mn-lt"/>
                          <a:ea typeface="+mn-ea"/>
                          <a:cs typeface="+mn-cs"/>
                        </a:rPr>
                        <a:t>налог на дополнительный доход от добычи углеводородного сырья</a:t>
                      </a:r>
                      <a:endParaRPr lang="ru-RU" dirty="0"/>
                    </a:p>
                  </a:txBody>
                  <a:tcPr>
                    <a:solidFill>
                      <a:srgbClr val="FCAAAA"/>
                    </a:solidFill>
                  </a:tcPr>
                </a:tc>
                <a:tc>
                  <a:txBody>
                    <a:bodyPr/>
                    <a:lstStyle/>
                    <a:p>
                      <a:endParaRPr lang="ru-RU" dirty="0"/>
                    </a:p>
                  </a:txBody>
                  <a:tcPr>
                    <a:solidFill>
                      <a:srgbClr val="FFFF79"/>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3"/>
          <p:cNvSpPr txBox="1">
            <a:spLocks noChangeArrowheads="1"/>
          </p:cNvSpPr>
          <p:nvPr/>
        </p:nvSpPr>
        <p:spPr bwMode="auto">
          <a:xfrm>
            <a:off x="1676400" y="260350"/>
            <a:ext cx="8534400" cy="1077218"/>
          </a:xfrm>
          <a:prstGeom prst="rect">
            <a:avLst/>
          </a:prstGeom>
          <a:noFill/>
          <a:ln w="9525">
            <a:noFill/>
            <a:miter lim="800000"/>
            <a:headEnd/>
            <a:tailEnd/>
          </a:ln>
        </p:spPr>
        <p:txBody>
          <a:bodyPr wrap="square">
            <a:spAutoFit/>
          </a:bodyPr>
          <a:lstStyle/>
          <a:p>
            <a:pPr algn="ctr">
              <a:spcBef>
                <a:spcPct val="50000"/>
              </a:spcBef>
            </a:pPr>
            <a:r>
              <a:rPr lang="ru-RU" sz="3200" b="1" dirty="0"/>
              <a:t>Виды налогов по объекту налогообложения</a:t>
            </a:r>
          </a:p>
        </p:txBody>
      </p:sp>
      <p:sp>
        <p:nvSpPr>
          <p:cNvPr id="35841" name="Rectangle 1"/>
          <p:cNvSpPr>
            <a:spLocks noChangeArrowheads="1"/>
          </p:cNvSpPr>
          <p:nvPr/>
        </p:nvSpPr>
        <p:spPr bwMode="auto">
          <a:xfrm>
            <a:off x="1752600" y="1507123"/>
            <a:ext cx="4114800" cy="453970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spcAft>
                <a:spcPts val="600"/>
              </a:spcAft>
            </a:pPr>
            <a:r>
              <a:rPr lang="ru-RU" sz="2200" dirty="0"/>
              <a:t>1.</a:t>
            </a:r>
            <a:r>
              <a:rPr lang="ru-RU" sz="2200" b="1" dirty="0"/>
              <a:t> Прямые налоги – </a:t>
            </a:r>
            <a:r>
              <a:rPr lang="ru-RU" sz="2200" dirty="0"/>
              <a:t>взимаются с доходов или имущества налогоплательщиков:</a:t>
            </a:r>
          </a:p>
          <a:p>
            <a:pPr marL="360000" indent="-360000">
              <a:spcAft>
                <a:spcPts val="600"/>
              </a:spcAft>
              <a:buFont typeface="Wingdings" pitchFamily="2" charset="2"/>
              <a:buChar char="q"/>
            </a:pPr>
            <a:r>
              <a:rPr lang="ru-RU" sz="2200" dirty="0"/>
              <a:t>налог на доходы физических лиц (НДФЛ)</a:t>
            </a:r>
          </a:p>
          <a:p>
            <a:pPr marL="360000" indent="-360000">
              <a:spcAft>
                <a:spcPts val="600"/>
              </a:spcAft>
              <a:buFont typeface="Wingdings" pitchFamily="2" charset="2"/>
              <a:buChar char="q"/>
            </a:pPr>
            <a:r>
              <a:rPr lang="ru-RU" sz="2200" dirty="0"/>
              <a:t>налог на прибыль организаций</a:t>
            </a:r>
          </a:p>
          <a:p>
            <a:pPr marL="360000" indent="-360000">
              <a:spcAft>
                <a:spcPts val="600"/>
              </a:spcAft>
              <a:buFont typeface="Wingdings" pitchFamily="2" charset="2"/>
              <a:buChar char="q"/>
            </a:pPr>
            <a:r>
              <a:rPr lang="ru-RU" sz="2200" dirty="0"/>
              <a:t>налог на имущество</a:t>
            </a:r>
          </a:p>
          <a:p>
            <a:pPr marL="360000" indent="-360000">
              <a:spcAft>
                <a:spcPts val="600"/>
              </a:spcAft>
              <a:buFont typeface="Wingdings" pitchFamily="2" charset="2"/>
              <a:buChar char="q"/>
            </a:pPr>
            <a:r>
              <a:rPr lang="ru-RU" sz="2200" dirty="0"/>
              <a:t> земельный налог</a:t>
            </a:r>
          </a:p>
          <a:p>
            <a:pPr marL="360000" indent="-360000">
              <a:spcAft>
                <a:spcPts val="600"/>
              </a:spcAft>
              <a:buFont typeface="Wingdings" pitchFamily="2" charset="2"/>
              <a:buChar char="q"/>
            </a:pPr>
            <a:r>
              <a:rPr lang="ru-RU" sz="2200" dirty="0"/>
              <a:t>налоги на финансовые операции и т.д.</a:t>
            </a:r>
            <a:r>
              <a:rPr lang="ru-RU" sz="2200" b="1" dirty="0"/>
              <a:t> </a:t>
            </a:r>
            <a:endParaRPr lang="ru-RU" sz="2200" dirty="0"/>
          </a:p>
        </p:txBody>
      </p:sp>
      <p:sp>
        <p:nvSpPr>
          <p:cNvPr id="7" name="Rectangle 1"/>
          <p:cNvSpPr>
            <a:spLocks noChangeArrowheads="1"/>
          </p:cNvSpPr>
          <p:nvPr/>
        </p:nvSpPr>
        <p:spPr bwMode="auto">
          <a:xfrm>
            <a:off x="6248400" y="1507123"/>
            <a:ext cx="4114800" cy="37087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spcAft>
                <a:spcPts val="600"/>
              </a:spcAft>
            </a:pPr>
            <a:r>
              <a:rPr lang="ru-RU" sz="2200" dirty="0"/>
              <a:t>2.</a:t>
            </a:r>
            <a:r>
              <a:rPr lang="ru-RU" sz="2200" b="1" dirty="0"/>
              <a:t> Косвенные налоги</a:t>
            </a:r>
            <a:r>
              <a:rPr lang="ru-RU" sz="2200" dirty="0"/>
              <a:t> – устанавливаются в виде надбавок к цене товаров и услуг (их плательщиками фактически являются потребители):</a:t>
            </a:r>
          </a:p>
          <a:p>
            <a:pPr marL="360000" indent="-360000">
              <a:spcAft>
                <a:spcPts val="600"/>
              </a:spcAft>
              <a:buFont typeface="Wingdings" pitchFamily="2" charset="2"/>
              <a:buChar char="q"/>
            </a:pPr>
            <a:r>
              <a:rPr lang="ru-RU" sz="2200" dirty="0"/>
              <a:t>налог на добавленную стоимость (НДС)</a:t>
            </a:r>
          </a:p>
          <a:p>
            <a:pPr marL="360000" indent="-360000">
              <a:spcAft>
                <a:spcPts val="600"/>
              </a:spcAft>
              <a:buFont typeface="Wingdings" pitchFamily="2" charset="2"/>
              <a:buChar char="q"/>
            </a:pPr>
            <a:r>
              <a:rPr lang="ru-RU" sz="2200" dirty="0"/>
              <a:t>акцизы</a:t>
            </a:r>
          </a:p>
          <a:p>
            <a:pPr marL="360000" indent="-360000">
              <a:spcAft>
                <a:spcPts val="600"/>
              </a:spcAft>
              <a:buFont typeface="Wingdings" pitchFamily="2" charset="2"/>
              <a:buChar char="q"/>
            </a:pPr>
            <a:r>
              <a:rPr lang="ru-RU" sz="2200" dirty="0"/>
              <a:t>таможенные пошлины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Налог на доходы физических лиц НДФЛ</a:t>
            </a:r>
            <a:br>
              <a:rPr lang="ru-RU" b="1" dirty="0"/>
            </a:br>
            <a:r>
              <a:rPr lang="ru-RU" b="1" dirty="0"/>
              <a:t>(с сайта госуслуги)</a:t>
            </a:r>
            <a:endParaRPr lang="ru-RU" dirty="0"/>
          </a:p>
        </p:txBody>
      </p:sp>
      <p:sp>
        <p:nvSpPr>
          <p:cNvPr id="3" name="Объект 2"/>
          <p:cNvSpPr>
            <a:spLocks noGrp="1"/>
          </p:cNvSpPr>
          <p:nvPr>
            <p:ph idx="1"/>
          </p:nvPr>
        </p:nvSpPr>
        <p:spPr/>
        <p:txBody>
          <a:bodyPr>
            <a:normAutofit fontScale="92500" lnSpcReduction="10000"/>
          </a:bodyPr>
          <a:lstStyle/>
          <a:p>
            <a:pPr fontAlgn="base"/>
            <a:r>
              <a:rPr lang="ru-RU" dirty="0"/>
              <a:t>Когда вы получаете зарплату, вам </a:t>
            </a:r>
            <a:r>
              <a:rPr lang="ru-RU" dirty="0">
                <a:hlinkClick r:id="rId2"/>
              </a:rPr>
              <a:t>начисляют НДФЛ</a:t>
            </a:r>
            <a:r>
              <a:rPr lang="ru-RU" dirty="0"/>
              <a:t> — обычно 13% от суммы дохода. Если доход более 5 млн в год, НДФЛ составляет 15%. Эти деньги удерживают из зарплаты и перечисляют в бюджет. В этом случае работодатель выступает налоговым агентом.</a:t>
            </a:r>
          </a:p>
          <a:p>
            <a:pPr fontAlgn="base"/>
            <a:r>
              <a:rPr lang="ru-RU" dirty="0"/>
              <a:t>Иногда НДФЛ нужно начислить и заплатить самостоятельно. Например, при продаже имущества или при получении в подарок недвижимости не от родственника. Для этого нужно подать декларацию, указать в ней сумму к оплате и перечислить её в бюджет. Работодатель в этом процессе не участвует</a:t>
            </a:r>
          </a:p>
          <a:p>
            <a:pPr fontAlgn="base"/>
            <a:r>
              <a:rPr lang="ru-RU" dirty="0"/>
              <a:t>Декларацию 3-НДФЛ подают до 30 апреля следующего года. Срок оплаты начисленного по ней НДФЛ — до 15 июля</a:t>
            </a:r>
          </a:p>
          <a:p>
            <a:pPr fontAlgn="base"/>
            <a:r>
              <a:rPr lang="ru-RU" dirty="0"/>
              <a:t>С 2024 года налоговая ставка 15% подлежит применению в отношении совокупности всех видов доходов, полученных физическим лицом за год от всех работодателей.</a:t>
            </a:r>
          </a:p>
        </p:txBody>
      </p:sp>
    </p:spTree>
    <p:extLst>
      <p:ext uri="{BB962C8B-B14F-4D97-AF65-F5344CB8AC3E}">
        <p14:creationId xmlns:p14="http://schemas.microsoft.com/office/powerpoint/2010/main" val="3872170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2102F81B-09E1-F473-086B-7CE4C4F1022D}"/>
              </a:ext>
            </a:extLst>
          </p:cNvPr>
          <p:cNvSpPr>
            <a:spLocks noGrp="1"/>
          </p:cNvSpPr>
          <p:nvPr>
            <p:ph type="title"/>
          </p:nvPr>
        </p:nvSpPr>
        <p:spPr/>
        <p:txBody>
          <a:bodyPr/>
          <a:lstStyle/>
          <a:p>
            <a:endParaRPr lang="ru-RU"/>
          </a:p>
        </p:txBody>
      </p:sp>
      <p:pic>
        <p:nvPicPr>
          <p:cNvPr id="1026" name="Picture 2" descr="https://avatars.dzeninfra.ru/get-zen_doc/4337106/pub_60ccba71ece8c27acf5adbfa_60ccc23fece8c27acf7115ac/scale_2400"/>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371600" y="611372"/>
            <a:ext cx="9601200" cy="43497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7B07414-DE44-50BB-E95B-FBC31DE6104B}"/>
              </a:ext>
            </a:extLst>
          </p:cNvPr>
          <p:cNvSpPr txBox="1"/>
          <p:nvPr/>
        </p:nvSpPr>
        <p:spPr>
          <a:xfrm>
            <a:off x="1528429" y="4253256"/>
            <a:ext cx="6360928" cy="707886"/>
          </a:xfrm>
          <a:prstGeom prst="rect">
            <a:avLst/>
          </a:prstGeom>
          <a:noFill/>
        </p:spPr>
        <p:txBody>
          <a:bodyPr wrap="square">
            <a:spAutoFit/>
          </a:bodyPr>
          <a:lstStyle/>
          <a:p>
            <a:r>
              <a:rPr lang="ru-RU" sz="4000" b="1" i="0" dirty="0">
                <a:solidFill>
                  <a:schemeClr val="bg1"/>
                </a:solidFill>
                <a:effectLst/>
                <a:latin typeface="RobotoFlex"/>
              </a:rPr>
              <a:t>20%</a:t>
            </a:r>
            <a:r>
              <a:rPr lang="ru-RU" sz="2400" b="1" i="0" dirty="0">
                <a:solidFill>
                  <a:schemeClr val="bg1"/>
                </a:solidFill>
                <a:effectLst/>
                <a:latin typeface="RobotoFlex"/>
              </a:rPr>
              <a:t> — при доходе от 25 млн рублей. </a:t>
            </a:r>
            <a:endParaRPr lang="ru-RU" sz="2400" b="1" dirty="0">
              <a:solidFill>
                <a:schemeClr val="bg1"/>
              </a:solidFill>
            </a:endParaRPr>
          </a:p>
        </p:txBody>
      </p:sp>
    </p:spTree>
    <p:extLst>
      <p:ext uri="{BB962C8B-B14F-4D97-AF65-F5344CB8AC3E}">
        <p14:creationId xmlns:p14="http://schemas.microsoft.com/office/powerpoint/2010/main" val="3526389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часть, которую </a:t>
            </a:r>
            <a:r>
              <a:rPr lang="ru-RU"/>
              <a:t>за работника </a:t>
            </a:r>
            <a:r>
              <a:rPr lang="ru-RU" dirty="0"/>
              <a:t>выплачивает работодатель, включающая следующие </a:t>
            </a:r>
            <a:br>
              <a:rPr lang="ru-RU" dirty="0"/>
            </a:br>
            <a:r>
              <a:rPr lang="ru-RU" dirty="0"/>
              <a:t>выплаты:</a:t>
            </a:r>
            <a:br>
              <a:rPr lang="ru-RU" dirty="0"/>
            </a:br>
            <a:r>
              <a:rPr lang="ru-RU" dirty="0"/>
              <a:t> </a:t>
            </a:r>
          </a:p>
        </p:txBody>
      </p:sp>
      <p:sp>
        <p:nvSpPr>
          <p:cNvPr id="3" name="Объект 2"/>
          <p:cNvSpPr>
            <a:spLocks noGrp="1"/>
          </p:cNvSpPr>
          <p:nvPr>
            <p:ph idx="1"/>
          </p:nvPr>
        </p:nvSpPr>
        <p:spPr/>
        <p:txBody>
          <a:bodyPr>
            <a:normAutofit/>
          </a:bodyPr>
          <a:lstStyle/>
          <a:p>
            <a:r>
              <a:rPr lang="ru-RU" dirty="0"/>
              <a:t>22% в пенсионный фонд;</a:t>
            </a:r>
          </a:p>
          <a:p>
            <a:r>
              <a:rPr lang="ru-RU" dirty="0"/>
              <a:t>2.9% в фонд социального страхования;</a:t>
            </a:r>
          </a:p>
          <a:p>
            <a:r>
              <a:rPr lang="ru-RU" dirty="0"/>
              <a:t>5.1% в федеральный фонд ОМС (обязательного медицинского страхования);</a:t>
            </a:r>
          </a:p>
          <a:p>
            <a:r>
              <a:rPr lang="ru-RU" dirty="0"/>
              <a:t>до 8.5% за страхование от несчастных случаев (ставка зависит от класса профессионального риска);</a:t>
            </a:r>
          </a:p>
          <a:p>
            <a:r>
              <a:rPr lang="ru-RU" dirty="0"/>
              <a:t>Всего получается: до 38.5% налогов</a:t>
            </a:r>
          </a:p>
          <a:p>
            <a:endParaRPr lang="ru-RU" dirty="0"/>
          </a:p>
          <a:p>
            <a:r>
              <a:rPr lang="ru-RU" dirty="0"/>
              <a:t>+НДФЛ ,считает и вычитает работодатель</a:t>
            </a:r>
          </a:p>
        </p:txBody>
      </p:sp>
    </p:spTree>
    <p:extLst>
      <p:ext uri="{BB962C8B-B14F-4D97-AF65-F5344CB8AC3E}">
        <p14:creationId xmlns:p14="http://schemas.microsoft.com/office/powerpoint/2010/main" val="498145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например</a:t>
            </a:r>
          </a:p>
        </p:txBody>
      </p:sp>
      <p:sp>
        <p:nvSpPr>
          <p:cNvPr id="3" name="Объект 2"/>
          <p:cNvSpPr>
            <a:spLocks noGrp="1"/>
          </p:cNvSpPr>
          <p:nvPr>
            <p:ph idx="1"/>
          </p:nvPr>
        </p:nvSpPr>
        <p:spPr/>
        <p:txBody>
          <a:bodyPr>
            <a:normAutofit/>
          </a:bodyPr>
          <a:lstStyle/>
          <a:p>
            <a:r>
              <a:rPr lang="ru-RU" dirty="0"/>
              <a:t>Возьмем для примера среднюю по России зарплату в 51 083 рубля. Работодатель должен заплатить из нее 19 635 рублей в качестве взносов. И вы должны заплатить 13% НДФЛ - 6 630 рублей. Получается, что на руки, человек со средней зарплатой получит 44 370 рублей, хотя большую часть этих налогов формально заплатит и не сам работник. </a:t>
            </a:r>
          </a:p>
          <a:p>
            <a:r>
              <a:rPr lang="ru-RU" dirty="0"/>
              <a:t>Если мы сложим те деньги, что получает работник на руки и те, что за него получает государство в качестве налогов, то получается сумма в 70 635 руб. Но мы получим на руки только 44 370 руб., около 62% от общей суммы</a:t>
            </a:r>
          </a:p>
        </p:txBody>
      </p:sp>
    </p:spTree>
    <p:extLst>
      <p:ext uri="{BB962C8B-B14F-4D97-AF65-F5344CB8AC3E}">
        <p14:creationId xmlns:p14="http://schemas.microsoft.com/office/powerpoint/2010/main" val="726485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title"/>
          </p:nvPr>
        </p:nvSpPr>
        <p:spPr/>
        <p:txBody>
          <a:bodyPr/>
          <a:lstStyle/>
          <a:p>
            <a:endParaRPr lang="ru-RU" dirty="0"/>
          </a:p>
        </p:txBody>
      </p:sp>
      <p:sp>
        <p:nvSpPr>
          <p:cNvPr id="5" name="Текст 4"/>
          <p:cNvSpPr>
            <a:spLocks noGrp="1"/>
          </p:cNvSpPr>
          <p:nvPr>
            <p:ph type="body" idx="1"/>
          </p:nvPr>
        </p:nvSpPr>
        <p:spPr/>
        <p:txBody>
          <a:bodyPr/>
          <a:lstStyle/>
          <a:p>
            <a:endParaRPr lang="ru-RU"/>
          </a:p>
        </p:txBody>
      </p:sp>
      <p:sp>
        <p:nvSpPr>
          <p:cNvPr id="7" name="Текст 6"/>
          <p:cNvSpPr>
            <a:spLocks noGrp="1"/>
          </p:cNvSpPr>
          <p:nvPr>
            <p:ph type="body" sz="quarter" idx="3"/>
          </p:nvPr>
        </p:nvSpPr>
        <p:spPr/>
        <p:txBody>
          <a:bodyPr/>
          <a:lstStyle/>
          <a:p>
            <a:endParaRPr lang="ru-RU"/>
          </a:p>
        </p:txBody>
      </p:sp>
      <p:pic>
        <p:nvPicPr>
          <p:cNvPr id="2050" name="Picture 2" descr="https://avatars.dzeninfra.ru/get-zen_doc/3752452/pub_60ccba71ece8c27acf5adbfa_60ccc56c0283a4644af95def/scale_2400"/>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1638780" y="467282"/>
            <a:ext cx="3777952" cy="522807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Сколько выплачивается налогов государству и сколько получает работник. Источник: видео Ильи Варламова"/>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6556779" y="467282"/>
            <a:ext cx="3887285" cy="52280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7031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8D1E4EF1-2360-F469-FABB-9101DF788B40}"/>
              </a:ext>
            </a:extLst>
          </p:cNvPr>
          <p:cNvSpPr>
            <a:spLocks noGrp="1"/>
          </p:cNvSpPr>
          <p:nvPr>
            <p:ph type="title"/>
          </p:nvPr>
        </p:nvSpPr>
        <p:spPr/>
        <p:txBody>
          <a:bodyPr/>
          <a:lstStyle/>
          <a:p>
            <a:r>
              <a:rPr lang="ru-RU" dirty="0"/>
              <a:t>Что еще считается доходом физических лиц и облагается налогом</a:t>
            </a:r>
          </a:p>
        </p:txBody>
      </p:sp>
      <p:sp>
        <p:nvSpPr>
          <p:cNvPr id="8" name="Объект 7">
            <a:extLst>
              <a:ext uri="{FF2B5EF4-FFF2-40B4-BE49-F238E27FC236}">
                <a16:creationId xmlns:a16="http://schemas.microsoft.com/office/drawing/2014/main" id="{A4D41567-DEE7-85F4-8F0F-E346C8F6D2F8}"/>
              </a:ext>
            </a:extLst>
          </p:cNvPr>
          <p:cNvSpPr>
            <a:spLocks noGrp="1"/>
          </p:cNvSpPr>
          <p:nvPr>
            <p:ph idx="1"/>
          </p:nvPr>
        </p:nvSpPr>
        <p:spPr/>
        <p:txBody>
          <a:bodyPr/>
          <a:lstStyle/>
          <a:p>
            <a:endParaRPr lang="ru-RU"/>
          </a:p>
        </p:txBody>
      </p:sp>
      <p:sp>
        <p:nvSpPr>
          <p:cNvPr id="9" name="Текст 8">
            <a:extLst>
              <a:ext uri="{FF2B5EF4-FFF2-40B4-BE49-F238E27FC236}">
                <a16:creationId xmlns:a16="http://schemas.microsoft.com/office/drawing/2014/main" id="{3F87F75F-CB58-43E0-12D6-5E20977CEF32}"/>
              </a:ext>
            </a:extLst>
          </p:cNvPr>
          <p:cNvSpPr>
            <a:spLocks noGrp="1"/>
          </p:cNvSpPr>
          <p:nvPr>
            <p:ph type="body" sz="half" idx="2"/>
          </p:nvPr>
        </p:nvSpPr>
        <p:spPr/>
        <p:txBody>
          <a:bodyPr/>
          <a:lstStyle/>
          <a:p>
            <a:endParaRPr lang="ru-RU"/>
          </a:p>
        </p:txBody>
      </p:sp>
    </p:spTree>
    <p:extLst>
      <p:ext uri="{BB962C8B-B14F-4D97-AF65-F5344CB8AC3E}">
        <p14:creationId xmlns:p14="http://schemas.microsoft.com/office/powerpoint/2010/main" val="4073972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C0C8142B-BC97-1C88-0E00-B04917A4DED5}"/>
              </a:ext>
            </a:extLst>
          </p:cNvPr>
          <p:cNvSpPr>
            <a:spLocks noGrp="1"/>
          </p:cNvSpPr>
          <p:nvPr>
            <p:ph type="title"/>
          </p:nvPr>
        </p:nvSpPr>
        <p:spPr/>
        <p:txBody>
          <a:bodyPr>
            <a:normAutofit fontScale="90000"/>
          </a:bodyPr>
          <a:lstStyle/>
          <a:p>
            <a:r>
              <a:rPr lang="ru-RU" dirty="0">
                <a:solidFill>
                  <a:srgbClr val="000000"/>
                </a:solidFill>
                <a:latin typeface="SBSansDisplay"/>
              </a:rPr>
              <a:t>Налог на процентные доходы по вкладам и счетам</a:t>
            </a:r>
            <a:br>
              <a:rPr lang="ru-RU" dirty="0">
                <a:solidFill>
                  <a:srgbClr val="000000"/>
                </a:solidFill>
                <a:latin typeface="SBSansDisplay"/>
              </a:rPr>
            </a:br>
            <a:endParaRPr lang="ru-RU" dirty="0"/>
          </a:p>
        </p:txBody>
      </p:sp>
      <p:sp>
        <p:nvSpPr>
          <p:cNvPr id="8" name="Объект 7">
            <a:extLst>
              <a:ext uri="{FF2B5EF4-FFF2-40B4-BE49-F238E27FC236}">
                <a16:creationId xmlns:a16="http://schemas.microsoft.com/office/drawing/2014/main" id="{5B8CB41B-1982-4EFD-537F-1C759E9CD6AA}"/>
              </a:ext>
            </a:extLst>
          </p:cNvPr>
          <p:cNvSpPr>
            <a:spLocks noGrp="1"/>
          </p:cNvSpPr>
          <p:nvPr>
            <p:ph idx="1"/>
          </p:nvPr>
        </p:nvSpPr>
        <p:spPr/>
        <p:txBody>
          <a:bodyPr/>
          <a:lstStyle/>
          <a:p>
            <a:pPr algn="l">
              <a:lnSpc>
                <a:spcPts val="2550"/>
              </a:lnSpc>
              <a:buNone/>
            </a:pPr>
            <a:r>
              <a:rPr lang="ru-RU" b="0" i="0" dirty="0">
                <a:solidFill>
                  <a:srgbClr val="000000"/>
                </a:solidFill>
                <a:effectLst/>
                <a:latin typeface="SBSansDisplay"/>
              </a:rPr>
              <a:t>Что облагается налогом</a:t>
            </a:r>
          </a:p>
          <a:p>
            <a:pPr algn="l">
              <a:lnSpc>
                <a:spcPts val="1800"/>
              </a:lnSpc>
              <a:buNone/>
            </a:pPr>
            <a:r>
              <a:rPr lang="ru-RU" b="0" i="0" dirty="0">
                <a:solidFill>
                  <a:srgbClr val="000000"/>
                </a:solidFill>
                <a:effectLst/>
                <a:latin typeface="SBSansText"/>
              </a:rPr>
              <a:t>Налоги надо заплатить с процентных доходов, которые вы получили по вкладам и другим банковским счетам. К вкладам (счетам) в том числе относятся и сберегательные сертификаты, если по ним начисляются проценты.</a:t>
            </a:r>
          </a:p>
          <a:p>
            <a:pPr algn="l">
              <a:lnSpc>
                <a:spcPts val="1800"/>
              </a:lnSpc>
              <a:buNone/>
            </a:pPr>
            <a:r>
              <a:rPr lang="ru-RU" b="0" i="0" dirty="0">
                <a:solidFill>
                  <a:srgbClr val="000000"/>
                </a:solidFill>
                <a:effectLst/>
                <a:latin typeface="SBSansText"/>
              </a:rPr>
              <a:t>Если счёт или вклад в рублях, доходы с него облагаются налогом, только если ставка по нему превышала 1% годовых — весь год или хотя бы какое-то время в течение года, за который вы платите налоги.</a:t>
            </a:r>
          </a:p>
          <a:p>
            <a:pPr algn="l">
              <a:lnSpc>
                <a:spcPts val="1800"/>
              </a:lnSpc>
            </a:pPr>
            <a:r>
              <a:rPr lang="ru-RU" b="0" i="0" dirty="0">
                <a:solidFill>
                  <a:srgbClr val="000000"/>
                </a:solidFill>
                <a:effectLst/>
                <a:latin typeface="SBSansText"/>
              </a:rPr>
              <a:t>Если вклад в валюте, доход по нему облагается налогом независимо от размера ставки и пересчитывается в рубли по курсу Центробанка, который действовал на день выплаты процентов.</a:t>
            </a:r>
          </a:p>
          <a:p>
            <a:endParaRPr lang="ru-RU" dirty="0"/>
          </a:p>
        </p:txBody>
      </p:sp>
    </p:spTree>
    <p:extLst>
      <p:ext uri="{BB962C8B-B14F-4D97-AF65-F5344CB8AC3E}">
        <p14:creationId xmlns:p14="http://schemas.microsoft.com/office/powerpoint/2010/main" val="443528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C51074-5F59-D6BE-E6C5-2B094B7C4C28}"/>
              </a:ext>
            </a:extLst>
          </p:cNvPr>
          <p:cNvSpPr>
            <a:spLocks noGrp="1"/>
          </p:cNvSpPr>
          <p:nvPr>
            <p:ph type="title"/>
          </p:nvPr>
        </p:nvSpPr>
        <p:spPr/>
        <p:txBody>
          <a:bodyPr/>
          <a:lstStyle/>
          <a:p>
            <a:r>
              <a:rPr lang="ru-RU" dirty="0">
                <a:solidFill>
                  <a:srgbClr val="262626"/>
                </a:solidFill>
                <a:latin typeface="SBSansDisplay"/>
              </a:rPr>
              <a:t>Важно понимать</a:t>
            </a:r>
            <a:br>
              <a:rPr lang="ru-RU" dirty="0">
                <a:solidFill>
                  <a:srgbClr val="262626"/>
                </a:solidFill>
                <a:latin typeface="SBSansDisplay"/>
              </a:rPr>
            </a:br>
            <a:endParaRPr lang="ru-RU" dirty="0"/>
          </a:p>
        </p:txBody>
      </p:sp>
      <p:sp>
        <p:nvSpPr>
          <p:cNvPr id="3" name="Объект 2">
            <a:extLst>
              <a:ext uri="{FF2B5EF4-FFF2-40B4-BE49-F238E27FC236}">
                <a16:creationId xmlns:a16="http://schemas.microsoft.com/office/drawing/2014/main" id="{EDE7F76C-C037-9C31-D779-04D397B1EBE8}"/>
              </a:ext>
            </a:extLst>
          </p:cNvPr>
          <p:cNvSpPr>
            <a:spLocks noGrp="1"/>
          </p:cNvSpPr>
          <p:nvPr>
            <p:ph idx="1"/>
          </p:nvPr>
        </p:nvSpPr>
        <p:spPr/>
        <p:txBody>
          <a:bodyPr>
            <a:normAutofit fontScale="85000" lnSpcReduction="10000"/>
          </a:bodyPr>
          <a:lstStyle/>
          <a:p>
            <a:pPr algn="l">
              <a:lnSpc>
                <a:spcPts val="1800"/>
              </a:lnSpc>
              <a:spcBef>
                <a:spcPts val="600"/>
              </a:spcBef>
            </a:pPr>
            <a:r>
              <a:rPr lang="ru-RU" b="0" dirty="0">
                <a:solidFill>
                  <a:srgbClr val="000000"/>
                </a:solidFill>
                <a:effectLst/>
                <a:latin typeface="SBSansText"/>
              </a:rPr>
              <a:t>Сами по себе сбережения на вкладах и счетах налогом не облагаются. Под налогообложение подпадает только процентный доход. Деньги на вашем вкладе или счёте — это ваше имущество, а не доход, поэтому они не облагаются налогом на доходы физлиц.</a:t>
            </a:r>
          </a:p>
          <a:p>
            <a:pPr algn="l">
              <a:lnSpc>
                <a:spcPts val="1800"/>
              </a:lnSpc>
              <a:buNone/>
            </a:pPr>
            <a:r>
              <a:rPr lang="ru-RU" b="0" dirty="0">
                <a:solidFill>
                  <a:srgbClr val="000000"/>
                </a:solidFill>
                <a:effectLst/>
                <a:latin typeface="SBSansText"/>
              </a:rPr>
              <a:t>Для процентов, полученных налоговыми резидентами в 2024 году, НДФЛ составляет 13% для дохода до 5 млн ₽, и 15% — для дохода свыше 5 млн ₽. С 2025 года процентный доход по вкладам в российских банках относится к инвестиционным доходам, ставки налога будут следующими:</a:t>
            </a:r>
          </a:p>
          <a:p>
            <a:pPr algn="l">
              <a:lnSpc>
                <a:spcPts val="1800"/>
              </a:lnSpc>
              <a:spcAft>
                <a:spcPts val="600"/>
              </a:spcAft>
              <a:buFont typeface="Arial" panose="020B0604020202020204" pitchFamily="34" charset="0"/>
              <a:buChar char="•"/>
            </a:pPr>
            <a:r>
              <a:rPr lang="ru-RU" b="0" i="0" dirty="0">
                <a:solidFill>
                  <a:srgbClr val="000000"/>
                </a:solidFill>
                <a:effectLst/>
                <a:latin typeface="SBSansText"/>
              </a:rPr>
              <a:t>13% — если доход до 2,4 млн ₽,</a:t>
            </a:r>
          </a:p>
          <a:p>
            <a:pPr algn="l">
              <a:lnSpc>
                <a:spcPts val="1800"/>
              </a:lnSpc>
              <a:buFont typeface="Arial" panose="020B0604020202020204" pitchFamily="34" charset="0"/>
              <a:buChar char="•"/>
            </a:pPr>
            <a:r>
              <a:rPr lang="ru-RU" b="0" i="0" dirty="0">
                <a:solidFill>
                  <a:srgbClr val="000000"/>
                </a:solidFill>
                <a:effectLst/>
                <a:latin typeface="SBSansText"/>
              </a:rPr>
              <a:t>15% — если доход превысит 2,4 млн ₽.</a:t>
            </a:r>
          </a:p>
          <a:p>
            <a:pPr algn="l">
              <a:lnSpc>
                <a:spcPts val="1800"/>
              </a:lnSpc>
            </a:pPr>
            <a:r>
              <a:rPr lang="ru-RU" b="0" dirty="0">
                <a:solidFill>
                  <a:srgbClr val="000000"/>
                </a:solidFill>
                <a:effectLst/>
                <a:latin typeface="SBSansText"/>
              </a:rPr>
              <a:t>При расчёте налога по этой шкале также будут учитываться и другие инвестиционные доходы, например, от операций с ценными бумагами, продажи имущества, долей в российский компаниях.</a:t>
            </a:r>
          </a:p>
          <a:p>
            <a:pPr algn="l">
              <a:lnSpc>
                <a:spcPts val="1800"/>
              </a:lnSpc>
              <a:spcBef>
                <a:spcPts val="600"/>
              </a:spcBef>
            </a:pPr>
            <a:endParaRPr lang="ru-RU" b="0" dirty="0">
              <a:solidFill>
                <a:srgbClr val="262626"/>
              </a:solidFill>
              <a:effectLst/>
              <a:latin typeface="SBSansText"/>
            </a:endParaRPr>
          </a:p>
          <a:p>
            <a:endParaRPr lang="ru-RU" dirty="0"/>
          </a:p>
        </p:txBody>
      </p:sp>
    </p:spTree>
    <p:extLst>
      <p:ext uri="{BB962C8B-B14F-4D97-AF65-F5344CB8AC3E}">
        <p14:creationId xmlns:p14="http://schemas.microsoft.com/office/powerpoint/2010/main" val="2404645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F732F4-8EDA-B7F2-1399-B804742C1878}"/>
              </a:ext>
            </a:extLst>
          </p:cNvPr>
          <p:cNvSpPr>
            <a:spLocks noGrp="1"/>
          </p:cNvSpPr>
          <p:nvPr>
            <p:ph type="title"/>
          </p:nvPr>
        </p:nvSpPr>
        <p:spPr/>
        <p:txBody>
          <a:bodyPr/>
          <a:lstStyle/>
          <a:p>
            <a:r>
              <a:rPr lang="ru-RU" dirty="0">
                <a:solidFill>
                  <a:srgbClr val="000000"/>
                </a:solidFill>
                <a:latin typeface="SBSansDisplay"/>
              </a:rPr>
              <a:t>Сколько платить</a:t>
            </a:r>
            <a:br>
              <a:rPr lang="ru-RU" dirty="0">
                <a:solidFill>
                  <a:srgbClr val="000000"/>
                </a:solidFill>
                <a:latin typeface="SBSansDisplay"/>
              </a:rPr>
            </a:br>
            <a:endParaRPr lang="ru-RU" dirty="0"/>
          </a:p>
        </p:txBody>
      </p:sp>
      <p:sp>
        <p:nvSpPr>
          <p:cNvPr id="3" name="Объект 2">
            <a:extLst>
              <a:ext uri="{FF2B5EF4-FFF2-40B4-BE49-F238E27FC236}">
                <a16:creationId xmlns:a16="http://schemas.microsoft.com/office/drawing/2014/main" id="{EA07D37A-105E-D130-E29E-66EC3FC58208}"/>
              </a:ext>
            </a:extLst>
          </p:cNvPr>
          <p:cNvSpPr>
            <a:spLocks noGrp="1"/>
          </p:cNvSpPr>
          <p:nvPr>
            <p:ph idx="1"/>
          </p:nvPr>
        </p:nvSpPr>
        <p:spPr>
          <a:xfrm>
            <a:off x="882502" y="1428750"/>
            <a:ext cx="11121656" cy="3581400"/>
          </a:xfrm>
        </p:spPr>
        <p:txBody>
          <a:bodyPr>
            <a:noAutofit/>
          </a:bodyPr>
          <a:lstStyle/>
          <a:p>
            <a:pPr marL="0" indent="384048" algn="l">
              <a:lnSpc>
                <a:spcPct val="100000"/>
              </a:lnSpc>
              <a:spcAft>
                <a:spcPts val="0"/>
              </a:spcAft>
              <a:buNone/>
            </a:pPr>
            <a:r>
              <a:rPr lang="ru-RU" sz="1600" b="0" i="0" dirty="0">
                <a:solidFill>
                  <a:srgbClr val="000000"/>
                </a:solidFill>
                <a:effectLst/>
                <a:latin typeface="SBSansText"/>
              </a:rPr>
              <a:t>Для начала нужно понять, какая сумма процентного дохода по вкладам и счетам не облагается налогом. Для этого нужно 1 млн рублей умножить на максимальное значение ключевой ставки Банка России из действовавших на первое число каждого месяца за календарный год, когда был получен доход.</a:t>
            </a:r>
          </a:p>
          <a:p>
            <a:pPr marL="0" indent="384048" algn="l">
              <a:lnSpc>
                <a:spcPct val="100000"/>
              </a:lnSpc>
              <a:spcAft>
                <a:spcPts val="0"/>
              </a:spcAft>
              <a:buNone/>
            </a:pPr>
            <a:r>
              <a:rPr lang="ru-RU" sz="1600" b="0" i="0" dirty="0">
                <a:solidFill>
                  <a:srgbClr val="000000"/>
                </a:solidFill>
                <a:effectLst/>
                <a:latin typeface="SBSansText"/>
              </a:rPr>
              <a:t>Максимальная ключевая ставка ЦБ в 2024 году составила 21%. Значит, чтобы в 2025 году рассчитать налог за 2024 год, из суммы ваших процентных доходов по вкладам и счетам нужно вычесть 210 000 рублей — сумму необлагаемого процентного дохода.</a:t>
            </a:r>
          </a:p>
          <a:p>
            <a:pPr marL="0" indent="384048" algn="l">
              <a:lnSpc>
                <a:spcPct val="100000"/>
              </a:lnSpc>
              <a:spcAft>
                <a:spcPts val="0"/>
              </a:spcAft>
              <a:buNone/>
            </a:pPr>
            <a:r>
              <a:rPr lang="ru-RU" sz="1600" b="0" i="0" dirty="0">
                <a:solidFill>
                  <a:srgbClr val="000000"/>
                </a:solidFill>
                <a:effectLst/>
                <a:latin typeface="SBSansText"/>
              </a:rPr>
              <a:t>Допустим, за 2024 год вы получили в виде зарплаты 1,5 млн ₽. Кроме этого, у вас хранятся 900 000 рублей в банке А на вкладе со ставкой 17% годовых, и в банке Б открыт депозит на сумму 500 000 рублей со ставкой 15% годовых. Ваш процентный доход в двух банках за 2024 год составил 228 000 рублей (153 000 в банке А и 75 000 в банке Б).</a:t>
            </a:r>
          </a:p>
          <a:p>
            <a:pPr marL="0" indent="384048" algn="l">
              <a:lnSpc>
                <a:spcPct val="100000"/>
              </a:lnSpc>
              <a:spcAft>
                <a:spcPts val="0"/>
              </a:spcAft>
              <a:buNone/>
            </a:pPr>
            <a:r>
              <a:rPr lang="ru-RU" sz="1600" b="0" i="0" dirty="0">
                <a:solidFill>
                  <a:srgbClr val="000000"/>
                </a:solidFill>
                <a:effectLst/>
                <a:latin typeface="SBSansText"/>
              </a:rPr>
              <a:t>Общий доход за 2024 составил менее 5 млн ₽, значит ставка НДФЛ на процентный доход составит 13% Из суммы процентного дохода 228 000 ₽ вычитаем сумму необлагаемого дохода 210 000 ₽ и получаем налогооблагаемую базу — 18 000 ₽. 13% от 18 000 — это 2 340 ₽. Это и есть сумма налога, которую вы должны заплатить в 2025 году по итогам 2024 года на основании налогового уведомления.</a:t>
            </a:r>
          </a:p>
          <a:p>
            <a:pPr marL="0" indent="384048" algn="l">
              <a:lnSpc>
                <a:spcPct val="100000"/>
              </a:lnSpc>
              <a:spcAft>
                <a:spcPts val="0"/>
              </a:spcAft>
              <a:buNone/>
            </a:pPr>
            <a:r>
              <a:rPr lang="ru-RU" sz="1600" b="0" i="0" dirty="0">
                <a:solidFill>
                  <a:srgbClr val="000000"/>
                </a:solidFill>
                <a:effectLst/>
                <a:latin typeface="SBSansText"/>
              </a:rPr>
              <a:t>При этом, как только ваш совокупный процентный доход по всем вкладам и счетам, а также другие доходы, которые учитываются при расчёте НДФЛ, за год составят 5 млн ₽, он будет облагаться по ставке 15%.</a:t>
            </a:r>
          </a:p>
          <a:p>
            <a:pPr marL="0" indent="384048" algn="l">
              <a:lnSpc>
                <a:spcPct val="100000"/>
              </a:lnSpc>
              <a:spcAft>
                <a:spcPts val="0"/>
              </a:spcAft>
              <a:buNone/>
            </a:pPr>
            <a:r>
              <a:rPr lang="ru-RU" sz="1600" b="0" i="0" dirty="0">
                <a:solidFill>
                  <a:srgbClr val="000000"/>
                </a:solidFill>
                <a:effectLst/>
                <a:latin typeface="SBSansText"/>
              </a:rPr>
              <a:t>Если такая ситуация повторится с процентами, полученными в 2025 году, то, как только ваш совокупный процентный доход по всем вкладам и счетам, а также другим инвестиционным доходам, за год достигнут 2,4 млн ₽, они будут облагаться налогом по ставке 15%.</a:t>
            </a:r>
          </a:p>
          <a:p>
            <a:pPr marL="0" indent="384048">
              <a:lnSpc>
                <a:spcPct val="100000"/>
              </a:lnSpc>
              <a:spcAft>
                <a:spcPts val="0"/>
              </a:spcAft>
            </a:pPr>
            <a:endParaRPr lang="ru-RU" sz="1600" dirty="0"/>
          </a:p>
        </p:txBody>
      </p:sp>
    </p:spTree>
    <p:extLst>
      <p:ext uri="{BB962C8B-B14F-4D97-AF65-F5344CB8AC3E}">
        <p14:creationId xmlns:p14="http://schemas.microsoft.com/office/powerpoint/2010/main" val="1095977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1409FD-76B8-0B2B-32F6-A751946FB243}"/>
              </a:ext>
            </a:extLst>
          </p:cNvPr>
          <p:cNvSpPr>
            <a:spLocks noGrp="1"/>
          </p:cNvSpPr>
          <p:nvPr>
            <p:ph type="title"/>
          </p:nvPr>
        </p:nvSpPr>
        <p:spPr/>
        <p:txBody>
          <a:bodyPr/>
          <a:lstStyle/>
          <a:p>
            <a:r>
              <a:rPr lang="ru-RU" dirty="0">
                <a:solidFill>
                  <a:srgbClr val="262626"/>
                </a:solidFill>
                <a:latin typeface="SBSansDisplay"/>
              </a:rPr>
              <a:t>Пример</a:t>
            </a:r>
            <a:br>
              <a:rPr lang="ru-RU" dirty="0">
                <a:solidFill>
                  <a:srgbClr val="262626"/>
                </a:solidFill>
                <a:latin typeface="SBSansDisplay"/>
              </a:rPr>
            </a:br>
            <a:endParaRPr lang="ru-RU" dirty="0"/>
          </a:p>
        </p:txBody>
      </p:sp>
      <p:sp>
        <p:nvSpPr>
          <p:cNvPr id="3" name="Объект 2">
            <a:extLst>
              <a:ext uri="{FF2B5EF4-FFF2-40B4-BE49-F238E27FC236}">
                <a16:creationId xmlns:a16="http://schemas.microsoft.com/office/drawing/2014/main" id="{597A4BCE-5CB9-9116-D008-382DD156BD0A}"/>
              </a:ext>
            </a:extLst>
          </p:cNvPr>
          <p:cNvSpPr>
            <a:spLocks noGrp="1"/>
          </p:cNvSpPr>
          <p:nvPr>
            <p:ph idx="1"/>
          </p:nvPr>
        </p:nvSpPr>
        <p:spPr/>
        <p:txBody>
          <a:bodyPr/>
          <a:lstStyle/>
          <a:p>
            <a:pPr marL="0" indent="384048" algn="l">
              <a:lnSpc>
                <a:spcPct val="100000"/>
              </a:lnSpc>
              <a:spcBef>
                <a:spcPts val="600"/>
              </a:spcBef>
              <a:spcAft>
                <a:spcPts val="0"/>
              </a:spcAft>
              <a:buNone/>
            </a:pPr>
            <a:r>
              <a:rPr lang="ru-RU" sz="2000" b="0" i="0" dirty="0">
                <a:solidFill>
                  <a:srgbClr val="000000"/>
                </a:solidFill>
                <a:effectLst/>
                <a:latin typeface="SBSansText"/>
              </a:rPr>
              <a:t>Допустим, в 2025 году вы получите по вкладам 300 000 ₽ и продадите квартиру за 3 100 000 ₽. Максимальная ключевая ставка ЦБ также составит 21%, а значит необлагаемый доход по вкладам — 210 000 ₽.</a:t>
            </a:r>
            <a:endParaRPr lang="ru-RU" sz="2000" b="0" i="0" dirty="0">
              <a:solidFill>
                <a:srgbClr val="262626"/>
              </a:solidFill>
              <a:effectLst/>
              <a:latin typeface="SBSansText"/>
            </a:endParaRPr>
          </a:p>
          <a:p>
            <a:pPr marL="0" indent="384048" algn="l">
              <a:lnSpc>
                <a:spcPct val="100000"/>
              </a:lnSpc>
              <a:spcBef>
                <a:spcPts val="600"/>
              </a:spcBef>
              <a:spcAft>
                <a:spcPts val="0"/>
              </a:spcAft>
            </a:pPr>
            <a:r>
              <a:rPr lang="ru-RU" sz="2000" b="0" i="0" dirty="0">
                <a:solidFill>
                  <a:srgbClr val="000000"/>
                </a:solidFill>
                <a:effectLst/>
                <a:latin typeface="SBSansText"/>
              </a:rPr>
              <a:t>Ваш общий годовой доход составит: 3 100 000 ₽ + (300 000 ₽ — 210 000 ₽) = 3 190 000 ₽. Это больше лимита 2,4 млн ₽, а значит к части дохода будет применяться ставка налога 15%. Посчитаем общий размер НДФЛ: (2 400 000 ₽ × 13%) + (790 000 ₽ × 15%) = 312 000 ₽ + 118 500 ₽ = 430 500 ₽.</a:t>
            </a:r>
            <a:endParaRPr lang="ru-RU" sz="2000" b="0" i="0" dirty="0">
              <a:solidFill>
                <a:srgbClr val="262626"/>
              </a:solidFill>
              <a:effectLst/>
              <a:latin typeface="SBSansText"/>
            </a:endParaRPr>
          </a:p>
          <a:p>
            <a:endParaRPr lang="ru-RU" dirty="0"/>
          </a:p>
        </p:txBody>
      </p:sp>
    </p:spTree>
    <p:extLst>
      <p:ext uri="{BB962C8B-B14F-4D97-AF65-F5344CB8AC3E}">
        <p14:creationId xmlns:p14="http://schemas.microsoft.com/office/powerpoint/2010/main" val="2602835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975CB9-7424-605B-9D13-68A89DD0D6DD}"/>
              </a:ext>
            </a:extLst>
          </p:cNvPr>
          <p:cNvSpPr>
            <a:spLocks noGrp="1"/>
          </p:cNvSpPr>
          <p:nvPr>
            <p:ph type="title"/>
          </p:nvPr>
        </p:nvSpPr>
        <p:spPr/>
        <p:txBody>
          <a:bodyPr/>
          <a:lstStyle/>
          <a:p>
            <a:r>
              <a:rPr lang="ru-RU" dirty="0">
                <a:solidFill>
                  <a:srgbClr val="000000"/>
                </a:solidFill>
                <a:latin typeface="SBSansDisplay"/>
              </a:rPr>
              <a:t>Когда платить</a:t>
            </a:r>
            <a:br>
              <a:rPr lang="ru-RU" dirty="0">
                <a:solidFill>
                  <a:srgbClr val="000000"/>
                </a:solidFill>
                <a:latin typeface="SBSansDisplay"/>
              </a:rPr>
            </a:br>
            <a:endParaRPr lang="ru-RU" dirty="0"/>
          </a:p>
        </p:txBody>
      </p:sp>
      <p:sp>
        <p:nvSpPr>
          <p:cNvPr id="3" name="Объект 2">
            <a:extLst>
              <a:ext uri="{FF2B5EF4-FFF2-40B4-BE49-F238E27FC236}">
                <a16:creationId xmlns:a16="http://schemas.microsoft.com/office/drawing/2014/main" id="{0DB3662E-EDFD-6E7C-1405-7E533C4C5E05}"/>
              </a:ext>
            </a:extLst>
          </p:cNvPr>
          <p:cNvSpPr>
            <a:spLocks noGrp="1"/>
          </p:cNvSpPr>
          <p:nvPr>
            <p:ph idx="1"/>
          </p:nvPr>
        </p:nvSpPr>
        <p:spPr/>
        <p:txBody>
          <a:bodyPr/>
          <a:lstStyle/>
          <a:p>
            <a:pPr algn="l">
              <a:lnSpc>
                <a:spcPts val="1800"/>
              </a:lnSpc>
              <a:buNone/>
            </a:pPr>
            <a:r>
              <a:rPr lang="ru-RU" b="0" i="0" dirty="0">
                <a:solidFill>
                  <a:srgbClr val="000000"/>
                </a:solidFill>
                <a:effectLst/>
                <a:latin typeface="SBSansText"/>
              </a:rPr>
              <a:t>Вы должны </a:t>
            </a:r>
            <a:r>
              <a:rPr lang="ru-RU" b="1" i="0" dirty="0">
                <a:solidFill>
                  <a:srgbClr val="000000"/>
                </a:solidFill>
                <a:effectLst/>
                <a:latin typeface="SBSansText"/>
              </a:rPr>
              <a:t>самостоятельно</a:t>
            </a:r>
            <a:r>
              <a:rPr lang="ru-RU" b="0" i="0" dirty="0">
                <a:solidFill>
                  <a:srgbClr val="000000"/>
                </a:solidFill>
                <a:effectLst/>
                <a:latin typeface="SBSansText"/>
              </a:rPr>
              <a:t> уплатить налог по итогам 2024 года, срок — до 1 декабря 2025 года.</a:t>
            </a:r>
          </a:p>
          <a:p>
            <a:pPr algn="l">
              <a:lnSpc>
                <a:spcPts val="2550"/>
              </a:lnSpc>
              <a:buNone/>
            </a:pPr>
            <a:r>
              <a:rPr lang="ru-RU" b="0" i="0" dirty="0">
                <a:solidFill>
                  <a:srgbClr val="000000"/>
                </a:solidFill>
                <a:effectLst/>
                <a:latin typeface="SBSansDisplay"/>
              </a:rPr>
              <a:t>Как платить</a:t>
            </a:r>
          </a:p>
          <a:p>
            <a:pPr algn="l">
              <a:lnSpc>
                <a:spcPts val="1800"/>
              </a:lnSpc>
              <a:buNone/>
            </a:pPr>
            <a:r>
              <a:rPr lang="ru-RU" b="0" i="0" dirty="0">
                <a:solidFill>
                  <a:srgbClr val="000000"/>
                </a:solidFill>
                <a:effectLst/>
                <a:latin typeface="SBSansText"/>
              </a:rPr>
              <a:t>Банк раз в год направляет в налоговую информацию о процентных доходах клиента по вкладам и счетам, но сам не удерживает налог — он не является налоговым агентом. Сумму налога определяет налоговый орган — он учитывает информацию о полученных вами процентных доходах во всех банках. Вы получаете единое уведомление от налогового органа с расчётом суммы к уплате.</a:t>
            </a:r>
          </a:p>
          <a:p>
            <a:pPr algn="l">
              <a:lnSpc>
                <a:spcPts val="1800"/>
              </a:lnSpc>
            </a:pPr>
            <a:r>
              <a:rPr lang="ru-RU" b="0" i="0" dirty="0">
                <a:solidFill>
                  <a:srgbClr val="000000"/>
                </a:solidFill>
                <a:effectLst/>
                <a:latin typeface="SBSansText"/>
              </a:rPr>
              <a:t>После того, как вы получите это уведомление, вам останется только заплатить налог удобным для вас способом: в </a:t>
            </a:r>
            <a:r>
              <a:rPr lang="ru-RU" b="0" i="0" dirty="0" err="1">
                <a:solidFill>
                  <a:srgbClr val="000000"/>
                </a:solidFill>
                <a:effectLst/>
                <a:latin typeface="SBSansText"/>
              </a:rPr>
              <a:t>СберБанк</a:t>
            </a:r>
            <a:r>
              <a:rPr lang="ru-RU" b="0" i="0" dirty="0">
                <a:solidFill>
                  <a:srgbClr val="000000"/>
                </a:solidFill>
                <a:effectLst/>
                <a:latin typeface="SBSansText"/>
              </a:rPr>
              <a:t> Онлайн или в офисе банка.</a:t>
            </a:r>
          </a:p>
          <a:p>
            <a:endParaRPr lang="ru-RU" dirty="0"/>
          </a:p>
        </p:txBody>
      </p:sp>
    </p:spTree>
    <p:extLst>
      <p:ext uri="{BB962C8B-B14F-4D97-AF65-F5344CB8AC3E}">
        <p14:creationId xmlns:p14="http://schemas.microsoft.com/office/powerpoint/2010/main" val="691275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48274DE-8F3B-84A4-F603-FABB51B4A261}"/>
              </a:ext>
            </a:extLst>
          </p:cNvPr>
          <p:cNvSpPr>
            <a:spLocks noGrp="1"/>
          </p:cNvSpPr>
          <p:nvPr>
            <p:ph type="title"/>
          </p:nvPr>
        </p:nvSpPr>
        <p:spPr/>
        <p:txBody>
          <a:bodyPr/>
          <a:lstStyle/>
          <a:p>
            <a:r>
              <a:rPr lang="ru-RU" dirty="0">
                <a:solidFill>
                  <a:srgbClr val="000000"/>
                </a:solidFill>
                <a:latin typeface="RobotoFlex"/>
              </a:rPr>
              <a:t>Налог на имущество</a:t>
            </a:r>
            <a:br>
              <a:rPr lang="ru-RU" dirty="0">
                <a:solidFill>
                  <a:srgbClr val="000000"/>
                </a:solidFill>
                <a:latin typeface="RobotoFlex"/>
              </a:rPr>
            </a:br>
            <a:endParaRPr lang="ru-RU" dirty="0"/>
          </a:p>
        </p:txBody>
      </p:sp>
      <p:sp>
        <p:nvSpPr>
          <p:cNvPr id="3" name="Объект 2">
            <a:extLst>
              <a:ext uri="{FF2B5EF4-FFF2-40B4-BE49-F238E27FC236}">
                <a16:creationId xmlns:a16="http://schemas.microsoft.com/office/drawing/2014/main" id="{22D5556A-2433-91EB-A603-03229C8F05B6}"/>
              </a:ext>
            </a:extLst>
          </p:cNvPr>
          <p:cNvSpPr>
            <a:spLocks noGrp="1"/>
          </p:cNvSpPr>
          <p:nvPr>
            <p:ph idx="1"/>
          </p:nvPr>
        </p:nvSpPr>
        <p:spPr/>
        <p:txBody>
          <a:bodyPr>
            <a:normAutofit fontScale="85000" lnSpcReduction="10000"/>
          </a:bodyPr>
          <a:lstStyle/>
          <a:p>
            <a:pPr algn="l">
              <a:lnSpc>
                <a:spcPts val="2100"/>
              </a:lnSpc>
              <a:spcBef>
                <a:spcPts val="1500"/>
              </a:spcBef>
              <a:buNone/>
            </a:pPr>
            <a:r>
              <a:rPr lang="ru-RU" b="0" i="0" dirty="0">
                <a:solidFill>
                  <a:srgbClr val="454545"/>
                </a:solidFill>
                <a:effectLst/>
                <a:latin typeface="RobotoFlex"/>
              </a:rPr>
              <a:t>Налог на имущество физических лиц представляет собой налог на принадлежащую гражданам недвижимость, к которой относятся квартиры, комнаты, частные дома (в том числе и недостроенные), апартаменты, гаражи и др., вся она перечислена в </a:t>
            </a:r>
            <a:r>
              <a:rPr lang="ru-RU" b="0" i="0" u="none" strike="noStrike" dirty="0">
                <a:solidFill>
                  <a:srgbClr val="333333"/>
                </a:solidFill>
                <a:effectLst/>
                <a:latin typeface="RobotoFlex"/>
                <a:hlinkClick r:id="rId2"/>
              </a:rPr>
              <a:t>ст. 401 НК РФ</a:t>
            </a:r>
            <a:r>
              <a:rPr lang="ru-RU" b="0" i="0" dirty="0">
                <a:solidFill>
                  <a:srgbClr val="454545"/>
                </a:solidFill>
                <a:effectLst/>
                <a:latin typeface="RobotoFlex"/>
              </a:rPr>
              <a:t>.</a:t>
            </a:r>
          </a:p>
          <a:p>
            <a:pPr algn="l">
              <a:lnSpc>
                <a:spcPts val="2100"/>
              </a:lnSpc>
              <a:spcBef>
                <a:spcPts val="1500"/>
              </a:spcBef>
              <a:buNone/>
            </a:pPr>
            <a:r>
              <a:rPr lang="ru-RU" b="0" i="0" dirty="0">
                <a:solidFill>
                  <a:srgbClr val="454545"/>
                </a:solidFill>
                <a:effectLst/>
                <a:latin typeface="RobotoFlex"/>
              </a:rPr>
              <a:t>Базовые ставки налогообложения определяются законом и на данный момент составляют: 0,1% от стоимости комнаты, квартиры, жилого дома или гаража, 0,5% от стоимости всего остального и 2% , если объект дороже 300 млн рублей. На основе этих ставок каждый регион РФ может устанавливать свои значения, при этом налог может быть уменьшен до нуля или увеличен, но не более чем в три раза (сейчас не более 0,3%).</a:t>
            </a:r>
          </a:p>
          <a:p>
            <a:pPr algn="l">
              <a:lnSpc>
                <a:spcPts val="2100"/>
              </a:lnSpc>
              <a:spcBef>
                <a:spcPts val="1500"/>
              </a:spcBef>
            </a:pPr>
            <a:r>
              <a:rPr lang="ru-RU" b="0" i="0" dirty="0">
                <a:solidFill>
                  <a:srgbClr val="454545"/>
                </a:solidFill>
                <a:effectLst/>
                <a:latin typeface="RobotoFlex"/>
              </a:rPr>
              <a:t>Налог на недвижимость раз в год рассчитывает ФНС, после этого она направляет физлицу квитанцию, в которой указано за что и сколько нужно заплатить.</a:t>
            </a:r>
          </a:p>
          <a:p>
            <a:endParaRPr lang="ru-RU" dirty="0"/>
          </a:p>
        </p:txBody>
      </p:sp>
    </p:spTree>
    <p:extLst>
      <p:ext uri="{BB962C8B-B14F-4D97-AF65-F5344CB8AC3E}">
        <p14:creationId xmlns:p14="http://schemas.microsoft.com/office/powerpoint/2010/main" val="38874926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CFC0FE-E68B-6E3B-FB38-D10CF7A65021}"/>
              </a:ext>
            </a:extLst>
          </p:cNvPr>
          <p:cNvSpPr>
            <a:spLocks noGrp="1"/>
          </p:cNvSpPr>
          <p:nvPr>
            <p:ph type="title"/>
          </p:nvPr>
        </p:nvSpPr>
        <p:spPr/>
        <p:txBody>
          <a:bodyPr/>
          <a:lstStyle/>
          <a:p>
            <a:r>
              <a:rPr lang="ru-RU" dirty="0"/>
              <a:t>Налог на продажу недвижимости</a:t>
            </a:r>
          </a:p>
        </p:txBody>
      </p:sp>
      <p:sp>
        <p:nvSpPr>
          <p:cNvPr id="3" name="Объект 2">
            <a:extLst>
              <a:ext uri="{FF2B5EF4-FFF2-40B4-BE49-F238E27FC236}">
                <a16:creationId xmlns:a16="http://schemas.microsoft.com/office/drawing/2014/main" id="{1E32912D-44DF-2AC2-AD86-471D6595371A}"/>
              </a:ext>
            </a:extLst>
          </p:cNvPr>
          <p:cNvSpPr>
            <a:spLocks noGrp="1"/>
          </p:cNvSpPr>
          <p:nvPr>
            <p:ph idx="1"/>
          </p:nvPr>
        </p:nvSpPr>
        <p:spPr>
          <a:xfrm>
            <a:off x="1371600" y="1690577"/>
            <a:ext cx="9601200" cy="4635795"/>
          </a:xfrm>
        </p:spPr>
        <p:txBody>
          <a:bodyPr>
            <a:normAutofit/>
          </a:bodyPr>
          <a:lstStyle/>
          <a:p>
            <a:r>
              <a:rPr lang="ru-RU" b="0" i="0" dirty="0">
                <a:solidFill>
                  <a:srgbClr val="121212"/>
                </a:solidFill>
                <a:effectLst/>
                <a:latin typeface="Lato" panose="020F0502020204030203" pitchFamily="34" charset="0"/>
              </a:rPr>
              <a:t>Налог с продажи квартиры или дома уплачивает именно продавец — как тот, кто получает налогооблагаемый доход.</a:t>
            </a:r>
          </a:p>
          <a:p>
            <a:r>
              <a:rPr lang="ru-RU" b="0" i="0" dirty="0">
                <a:solidFill>
                  <a:srgbClr val="121212"/>
                </a:solidFill>
                <a:effectLst/>
                <a:latin typeface="Lato" panose="020F0502020204030203" pitchFamily="34" charset="0"/>
              </a:rPr>
              <a:t> Ставка налога — 13% цены продажи. Для нерезидентов РФ сумма увеличивается до 30%.</a:t>
            </a:r>
          </a:p>
          <a:p>
            <a:pPr algn="l">
              <a:lnSpc>
                <a:spcPts val="2400"/>
              </a:lnSpc>
              <a:spcBef>
                <a:spcPts val="3000"/>
              </a:spcBef>
              <a:spcAft>
                <a:spcPts val="1200"/>
              </a:spcAft>
              <a:buNone/>
            </a:pPr>
            <a:r>
              <a:rPr lang="ru-RU" b="1" u="none" strike="noStrike" dirty="0">
                <a:solidFill>
                  <a:srgbClr val="262626"/>
                </a:solidFill>
                <a:effectLst/>
                <a:latin typeface="SBSansDisplay"/>
              </a:rPr>
              <a:t>Как рассчитать сумму налога</a:t>
            </a:r>
          </a:p>
          <a:p>
            <a:pPr algn="l">
              <a:lnSpc>
                <a:spcPts val="2100"/>
              </a:lnSpc>
              <a:spcBef>
                <a:spcPts val="1200"/>
              </a:spcBef>
              <a:buNone/>
            </a:pPr>
            <a:r>
              <a:rPr lang="ru-RU" b="0" u="none" strike="noStrike" dirty="0">
                <a:solidFill>
                  <a:srgbClr val="262626"/>
                </a:solidFill>
                <a:effectLst/>
                <a:latin typeface="SBSans"/>
              </a:rPr>
              <a:t>Ставка составляет 13% от суммы в договоре купли-продажи, если сделка осуществляется до истечения минимального срока владения.</a:t>
            </a:r>
          </a:p>
          <a:p>
            <a:pPr algn="l">
              <a:lnSpc>
                <a:spcPts val="2100"/>
              </a:lnSpc>
              <a:spcBef>
                <a:spcPts val="1200"/>
              </a:spcBef>
            </a:pPr>
            <a:r>
              <a:rPr lang="ru-RU" b="0" u="none" strike="noStrike" dirty="0">
                <a:solidFill>
                  <a:srgbClr val="262626"/>
                </a:solidFill>
                <a:effectLst/>
                <a:latin typeface="SBSans"/>
              </a:rPr>
              <a:t>Как рассчитывается налог с продажи недвижимости: сумма налога = стоимость недвижимости х 0,13. Например, продажа за 5 млн рублей квартиры, купленной в 2021 году, обойдется в 650 тыс. рублей налога.</a:t>
            </a:r>
          </a:p>
          <a:p>
            <a:endParaRPr lang="ru-RU" dirty="0"/>
          </a:p>
        </p:txBody>
      </p:sp>
    </p:spTree>
    <p:extLst>
      <p:ext uri="{BB962C8B-B14F-4D97-AF65-F5344CB8AC3E}">
        <p14:creationId xmlns:p14="http://schemas.microsoft.com/office/powerpoint/2010/main" val="31607088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C6C371-B365-602E-2806-645A9D684DED}"/>
              </a:ext>
            </a:extLst>
          </p:cNvPr>
          <p:cNvSpPr>
            <a:spLocks noGrp="1"/>
          </p:cNvSpPr>
          <p:nvPr>
            <p:ph type="title"/>
          </p:nvPr>
        </p:nvSpPr>
        <p:spPr/>
        <p:txBody>
          <a:bodyPr>
            <a:normAutofit fontScale="90000"/>
          </a:bodyPr>
          <a:lstStyle/>
          <a:p>
            <a:r>
              <a:rPr lang="ru-RU" b="1" dirty="0">
                <a:solidFill>
                  <a:srgbClr val="262626"/>
                </a:solidFill>
                <a:latin typeface="SBSansDisplay"/>
              </a:rPr>
              <a:t>Как оплатить налог с продажи с квартиры</a:t>
            </a:r>
            <a:br>
              <a:rPr lang="ru-RU" b="1" dirty="0">
                <a:solidFill>
                  <a:srgbClr val="262626"/>
                </a:solidFill>
                <a:latin typeface="SBSansDisplay"/>
              </a:rPr>
            </a:br>
            <a:endParaRPr lang="ru-RU" dirty="0"/>
          </a:p>
        </p:txBody>
      </p:sp>
      <p:sp>
        <p:nvSpPr>
          <p:cNvPr id="3" name="Объект 2">
            <a:extLst>
              <a:ext uri="{FF2B5EF4-FFF2-40B4-BE49-F238E27FC236}">
                <a16:creationId xmlns:a16="http://schemas.microsoft.com/office/drawing/2014/main" id="{B8E78931-B37D-3EB4-783C-D52813B758DE}"/>
              </a:ext>
            </a:extLst>
          </p:cNvPr>
          <p:cNvSpPr>
            <a:spLocks noGrp="1"/>
          </p:cNvSpPr>
          <p:nvPr>
            <p:ph idx="1"/>
          </p:nvPr>
        </p:nvSpPr>
        <p:spPr>
          <a:xfrm>
            <a:off x="1382233" y="2445488"/>
            <a:ext cx="9601200" cy="3581400"/>
          </a:xfrm>
        </p:spPr>
        <p:txBody>
          <a:bodyPr/>
          <a:lstStyle/>
          <a:p>
            <a:pPr algn="l">
              <a:lnSpc>
                <a:spcPts val="2100"/>
              </a:lnSpc>
              <a:spcBef>
                <a:spcPts val="1200"/>
              </a:spcBef>
              <a:buNone/>
            </a:pPr>
            <a:r>
              <a:rPr lang="ru-RU" b="0" u="none" strike="noStrike" dirty="0">
                <a:solidFill>
                  <a:srgbClr val="262626"/>
                </a:solidFill>
                <a:effectLst/>
                <a:latin typeface="SBSans"/>
              </a:rPr>
              <a:t>Чтобы оплатить НДФЛ, необходимо самостоятельно подать в органы ФНС налоговую декларацию. Это можно сделать в отделении налоговой службы по месту жительства или через личный кабинет налогоплательщика</a:t>
            </a:r>
          </a:p>
          <a:p>
            <a:pPr algn="l">
              <a:lnSpc>
                <a:spcPts val="2100"/>
              </a:lnSpc>
              <a:spcBef>
                <a:spcPts val="1200"/>
              </a:spcBef>
              <a:buNone/>
            </a:pPr>
            <a:r>
              <a:rPr lang="ru-RU" b="0" u="none" strike="noStrike" dirty="0">
                <a:solidFill>
                  <a:srgbClr val="262626"/>
                </a:solidFill>
                <a:effectLst/>
                <a:latin typeface="SBSans"/>
              </a:rPr>
              <a:t>В документе нужно отразить детали сделки, приложить договор купли-продажи недвижимости, а также заявить о своём праве на вычет (если оно есть).</a:t>
            </a:r>
          </a:p>
          <a:p>
            <a:pPr algn="l">
              <a:lnSpc>
                <a:spcPts val="2100"/>
              </a:lnSpc>
              <a:spcBef>
                <a:spcPts val="1200"/>
              </a:spcBef>
            </a:pPr>
            <a:r>
              <a:rPr lang="ru-RU" b="0" u="none" strike="noStrike" dirty="0">
                <a:solidFill>
                  <a:srgbClr val="262626"/>
                </a:solidFill>
                <a:effectLst/>
                <a:latin typeface="SBSans"/>
              </a:rPr>
              <a:t>Декларацию 3-НДФЛ надо подать </a:t>
            </a:r>
            <a:r>
              <a:rPr lang="ru-RU" b="1" u="none" strike="noStrike" dirty="0">
                <a:solidFill>
                  <a:srgbClr val="262626"/>
                </a:solidFill>
                <a:effectLst/>
                <a:latin typeface="SBSans"/>
              </a:rPr>
              <a:t>до 30 апреля</a:t>
            </a:r>
            <a:r>
              <a:rPr lang="ru-RU" b="0" u="none" strike="noStrike" dirty="0">
                <a:solidFill>
                  <a:srgbClr val="262626"/>
                </a:solidFill>
                <a:effectLst/>
                <a:latin typeface="SBSans"/>
              </a:rPr>
              <a:t> года, следующего за годом продажи, а уплатить налог — </a:t>
            </a:r>
            <a:r>
              <a:rPr lang="ru-RU" b="1" u="none" strike="noStrike" dirty="0">
                <a:solidFill>
                  <a:srgbClr val="262626"/>
                </a:solidFill>
                <a:effectLst/>
                <a:latin typeface="SBSans"/>
              </a:rPr>
              <a:t>до 15 июля</a:t>
            </a:r>
            <a:r>
              <a:rPr lang="ru-RU" b="0" u="none" strike="noStrike" dirty="0">
                <a:solidFill>
                  <a:srgbClr val="262626"/>
                </a:solidFill>
                <a:effectLst/>
                <a:latin typeface="SBSans"/>
              </a:rPr>
              <a:t> (того же года).</a:t>
            </a:r>
          </a:p>
          <a:p>
            <a:endParaRPr lang="ru-RU" dirty="0"/>
          </a:p>
        </p:txBody>
      </p:sp>
    </p:spTree>
    <p:extLst>
      <p:ext uri="{BB962C8B-B14F-4D97-AF65-F5344CB8AC3E}">
        <p14:creationId xmlns:p14="http://schemas.microsoft.com/office/powerpoint/2010/main" val="2435510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C1470EE-80F2-3FDC-16DB-71681D40FBD4}"/>
              </a:ext>
            </a:extLst>
          </p:cNvPr>
          <p:cNvSpPr>
            <a:spLocks noGrp="1"/>
          </p:cNvSpPr>
          <p:nvPr>
            <p:ph type="title"/>
          </p:nvPr>
        </p:nvSpPr>
        <p:spPr/>
        <p:txBody>
          <a:bodyPr/>
          <a:lstStyle/>
          <a:p>
            <a:r>
              <a:rPr lang="ru-RU" b="1" dirty="0">
                <a:solidFill>
                  <a:srgbClr val="121212"/>
                </a:solidFill>
                <a:latin typeface="Lato" panose="020F0502020204030203" pitchFamily="34" charset="0"/>
              </a:rPr>
              <a:t>Что произойдет, если не платить </a:t>
            </a:r>
            <a:br>
              <a:rPr lang="ru-RU" b="1" dirty="0">
                <a:solidFill>
                  <a:srgbClr val="121212"/>
                </a:solidFill>
                <a:latin typeface="Lato" panose="020F0502020204030203" pitchFamily="34" charset="0"/>
              </a:rPr>
            </a:br>
            <a:endParaRPr lang="ru-RU" dirty="0"/>
          </a:p>
        </p:txBody>
      </p:sp>
      <p:sp>
        <p:nvSpPr>
          <p:cNvPr id="3" name="Объект 2">
            <a:extLst>
              <a:ext uri="{FF2B5EF4-FFF2-40B4-BE49-F238E27FC236}">
                <a16:creationId xmlns:a16="http://schemas.microsoft.com/office/drawing/2014/main" id="{FF0E1161-A8AD-7DFF-6D59-B4A884B32B67}"/>
              </a:ext>
            </a:extLst>
          </p:cNvPr>
          <p:cNvSpPr>
            <a:spLocks noGrp="1"/>
          </p:cNvSpPr>
          <p:nvPr>
            <p:ph idx="1"/>
          </p:nvPr>
        </p:nvSpPr>
        <p:spPr/>
        <p:txBody>
          <a:bodyPr/>
          <a:lstStyle/>
          <a:p>
            <a:pPr algn="l">
              <a:buNone/>
            </a:pPr>
            <a:r>
              <a:rPr lang="ru-RU" b="0" i="0" dirty="0">
                <a:solidFill>
                  <a:srgbClr val="121212"/>
                </a:solidFill>
                <a:effectLst/>
                <a:latin typeface="Lato" panose="020F0502020204030203" pitchFamily="34" charset="0"/>
              </a:rPr>
              <a:t>Если налогоплательщик не подаст декларацию до 30 апреля следующего за отчетным года, штраф составит 5% неуплаченной суммы налога за каждый месяц просрочки, но не более 30% и не менее 1 тыс. рублей. Это не освобождает от обязанности сдать декларацию и уплатить налог после получения штрафа.</a:t>
            </a:r>
          </a:p>
          <a:p>
            <a:pPr algn="l"/>
            <a:r>
              <a:rPr lang="ru-RU" b="0" i="0" dirty="0">
                <a:solidFill>
                  <a:srgbClr val="121212"/>
                </a:solidFill>
                <a:effectLst/>
                <a:latin typeface="Lato" panose="020F0502020204030203" pitchFamily="34" charset="0"/>
              </a:rPr>
              <a:t>Если долг не погасить до 15 июля, штраф составит 20% неуплаченной суммы налога или 40%, если налоговый орган докажет, что нарушение совершено умышленно. Кроме того, налогоплательщику начислят пени в размере 1/300 ключевой ставки ЦБ РФ за каждый день просрочки.</a:t>
            </a:r>
          </a:p>
          <a:p>
            <a:endParaRPr lang="ru-RU" dirty="0"/>
          </a:p>
        </p:txBody>
      </p:sp>
    </p:spTree>
    <p:extLst>
      <p:ext uri="{BB962C8B-B14F-4D97-AF65-F5344CB8AC3E}">
        <p14:creationId xmlns:p14="http://schemas.microsoft.com/office/powerpoint/2010/main" val="4026519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F5EAAB-1540-38E5-C906-93BDFEF20E79}"/>
              </a:ext>
            </a:extLst>
          </p:cNvPr>
          <p:cNvSpPr>
            <a:spLocks noGrp="1"/>
          </p:cNvSpPr>
          <p:nvPr>
            <p:ph type="title"/>
          </p:nvPr>
        </p:nvSpPr>
        <p:spPr/>
        <p:txBody>
          <a:bodyPr>
            <a:normAutofit fontScale="90000"/>
          </a:bodyPr>
          <a:lstStyle/>
          <a:p>
            <a:r>
              <a:rPr lang="ru-RU" b="1" dirty="0">
                <a:solidFill>
                  <a:srgbClr val="121212"/>
                </a:solidFill>
                <a:latin typeface="Lato" panose="020F0502020204030203" pitchFamily="34" charset="0"/>
              </a:rPr>
              <a:t>Однако есть условия, при которых ничего платить не нужно: </a:t>
            </a:r>
            <a:br>
              <a:rPr lang="ru-RU" b="1" dirty="0">
                <a:solidFill>
                  <a:srgbClr val="121212"/>
                </a:solidFill>
                <a:latin typeface="Lato" panose="020F0502020204030203" pitchFamily="34" charset="0"/>
              </a:rPr>
            </a:br>
            <a:endParaRPr lang="ru-RU" dirty="0"/>
          </a:p>
        </p:txBody>
      </p:sp>
      <p:sp>
        <p:nvSpPr>
          <p:cNvPr id="3" name="Объект 2">
            <a:extLst>
              <a:ext uri="{FF2B5EF4-FFF2-40B4-BE49-F238E27FC236}">
                <a16:creationId xmlns:a16="http://schemas.microsoft.com/office/drawing/2014/main" id="{59A32709-A147-D8D1-D96C-2FFBC3AB512E}"/>
              </a:ext>
            </a:extLst>
          </p:cNvPr>
          <p:cNvSpPr>
            <a:spLocks noGrp="1"/>
          </p:cNvSpPr>
          <p:nvPr>
            <p:ph idx="1"/>
          </p:nvPr>
        </p:nvSpPr>
        <p:spPr/>
        <p:txBody>
          <a:bodyPr>
            <a:normAutofit fontScale="85000" lnSpcReduction="20000"/>
          </a:bodyPr>
          <a:lstStyle/>
          <a:p>
            <a:pPr algn="l">
              <a:buFont typeface="Arial" panose="020B0604020202020204" pitchFamily="34" charset="0"/>
              <a:buChar char="•"/>
            </a:pPr>
            <a:r>
              <a:rPr lang="ru-RU" b="0" i="0" dirty="0">
                <a:solidFill>
                  <a:srgbClr val="121212"/>
                </a:solidFill>
                <a:effectLst/>
                <a:latin typeface="Lato" panose="020F0502020204030203" pitchFamily="34" charset="0"/>
              </a:rPr>
              <a:t>если вы приобрели квартиру более пяти лет назад;</a:t>
            </a:r>
          </a:p>
          <a:p>
            <a:pPr algn="l">
              <a:buFont typeface="Arial" panose="020B0604020202020204" pitchFamily="34" charset="0"/>
              <a:buChar char="•"/>
            </a:pPr>
            <a:r>
              <a:rPr lang="ru-RU" b="0" i="0" dirty="0">
                <a:solidFill>
                  <a:srgbClr val="121212"/>
                </a:solidFill>
                <a:effectLst/>
                <a:latin typeface="Lato" panose="020F0502020204030203" pitchFamily="34" charset="0"/>
              </a:rPr>
              <a:t>если вы получили квартиру по наследству, в результате приватизации, по договору ренты или в дар от членов семьи и близких родственников (в таком случае достаточный срок владения — три года);</a:t>
            </a:r>
          </a:p>
          <a:p>
            <a:pPr algn="l">
              <a:buFont typeface="Arial" panose="020B0604020202020204" pitchFamily="34" charset="0"/>
              <a:buChar char="•"/>
            </a:pPr>
            <a:r>
              <a:rPr lang="ru-RU" b="0" i="0" dirty="0">
                <a:solidFill>
                  <a:srgbClr val="121212"/>
                </a:solidFill>
                <a:effectLst/>
                <a:latin typeface="Lato" panose="020F0502020204030203" pitchFamily="34" charset="0"/>
              </a:rPr>
              <a:t>если проданная квартира была вашим единственным жильем на момент регистрации сделки в Росреестре или продажи;</a:t>
            </a:r>
          </a:p>
          <a:p>
            <a:pPr algn="l">
              <a:buFont typeface="Arial" panose="020B0604020202020204" pitchFamily="34" charset="0"/>
              <a:buChar char="•"/>
            </a:pPr>
            <a:r>
              <a:rPr lang="ru-RU" b="0" i="0" dirty="0">
                <a:solidFill>
                  <a:srgbClr val="121212"/>
                </a:solidFill>
                <a:effectLst/>
                <a:latin typeface="Lato" panose="020F0502020204030203" pitchFamily="34" charset="0"/>
              </a:rPr>
              <a:t>если квартира (доля, комната) стоит менее 1 млн рублей (важно учитывать кадастровую стоимость);</a:t>
            </a:r>
          </a:p>
          <a:p>
            <a:pPr algn="l">
              <a:buFont typeface="Arial" panose="020B0604020202020204" pitchFamily="34" charset="0"/>
              <a:buChar char="•"/>
            </a:pPr>
            <a:r>
              <a:rPr lang="ru-RU" b="0" i="0" dirty="0">
                <a:solidFill>
                  <a:srgbClr val="121212"/>
                </a:solidFill>
                <a:effectLst/>
                <a:latin typeface="Lato" panose="020F0502020204030203" pitchFamily="34" charset="0"/>
              </a:rPr>
              <a:t>если вы продали квартиру по цене приобретения (важно учитывать кадастровую стоимость);</a:t>
            </a:r>
          </a:p>
          <a:p>
            <a:pPr algn="l">
              <a:buFont typeface="Arial" panose="020B0604020202020204" pitchFamily="34" charset="0"/>
              <a:buChar char="•"/>
            </a:pPr>
            <a:r>
              <a:rPr lang="ru-RU" b="0" i="0" dirty="0">
                <a:solidFill>
                  <a:srgbClr val="121212"/>
                </a:solidFill>
                <a:effectLst/>
                <a:latin typeface="Lato" panose="020F0502020204030203" pitchFamily="34" charset="0"/>
              </a:rPr>
              <a:t>независимо от срока владения (но при некоторых дополнительных условиях) — если квартиру продала семья с двумя и более несовершеннолетними детьми (либо студенты очной формы обучения до 24 лет).</a:t>
            </a:r>
          </a:p>
          <a:p>
            <a:endParaRPr lang="ru-RU" dirty="0"/>
          </a:p>
        </p:txBody>
      </p:sp>
    </p:spTree>
    <p:extLst>
      <p:ext uri="{BB962C8B-B14F-4D97-AF65-F5344CB8AC3E}">
        <p14:creationId xmlns:p14="http://schemas.microsoft.com/office/powerpoint/2010/main" val="42135448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6DEA4C-27ED-EDF5-BC3C-C28164473C33}"/>
              </a:ext>
            </a:extLst>
          </p:cNvPr>
          <p:cNvSpPr>
            <a:spLocks noGrp="1"/>
          </p:cNvSpPr>
          <p:nvPr>
            <p:ph type="title"/>
          </p:nvPr>
        </p:nvSpPr>
        <p:spPr/>
        <p:txBody>
          <a:bodyPr/>
          <a:lstStyle/>
          <a:p>
            <a:r>
              <a:rPr lang="ru-RU" dirty="0"/>
              <a:t>НДС</a:t>
            </a:r>
          </a:p>
        </p:txBody>
      </p:sp>
      <p:sp>
        <p:nvSpPr>
          <p:cNvPr id="3" name="Объект 2">
            <a:extLst>
              <a:ext uri="{FF2B5EF4-FFF2-40B4-BE49-F238E27FC236}">
                <a16:creationId xmlns:a16="http://schemas.microsoft.com/office/drawing/2014/main" id="{0F59C827-C90A-274E-4E20-783FA93B1D9D}"/>
              </a:ext>
            </a:extLst>
          </p:cNvPr>
          <p:cNvSpPr>
            <a:spLocks noGrp="1"/>
          </p:cNvSpPr>
          <p:nvPr>
            <p:ph idx="1"/>
          </p:nvPr>
        </p:nvSpPr>
        <p:spPr/>
        <p:txBody>
          <a:bodyPr/>
          <a:lstStyle/>
          <a:p>
            <a:r>
              <a:rPr lang="ru-RU" b="0" i="0" dirty="0">
                <a:solidFill>
                  <a:srgbClr val="000000"/>
                </a:solidFill>
                <a:effectLst/>
                <a:latin typeface="GraphikLCG-Regular"/>
              </a:rPr>
              <a:t>НДС — налог на добавленную стоимость. Добавленная стоимость — сумма, которую добавляют к цене товара или услуги на каждом этапе их производства.</a:t>
            </a:r>
          </a:p>
          <a:p>
            <a:r>
              <a:rPr lang="ru-RU" b="0" i="0" dirty="0">
                <a:solidFill>
                  <a:srgbClr val="000000"/>
                </a:solidFill>
                <a:effectLst/>
                <a:latin typeface="GraphikLCG-Regular"/>
              </a:rPr>
              <a:t>НДС относится к категории косвенных налогов. Это значит, что его не взимают напрямую с доходов компаний и ИП. Компании и предприниматели включают НДС в стоимость товаров или услуг. Дальше этот налог взимается с покупателей, когда они оплачивают эти товары или услуги: он «лежит внутри» цены покупки. Собрав НДС от своих клиентов, компании и предприниматели перечисляют его в налоговую.</a:t>
            </a:r>
            <a:endParaRPr lang="ru-RU" dirty="0"/>
          </a:p>
        </p:txBody>
      </p:sp>
    </p:spTree>
    <p:extLst>
      <p:ext uri="{BB962C8B-B14F-4D97-AF65-F5344CB8AC3E}">
        <p14:creationId xmlns:p14="http://schemas.microsoft.com/office/powerpoint/2010/main" val="84290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A580F8-87DF-C14D-E69A-388DF765511A}"/>
              </a:ext>
            </a:extLst>
          </p:cNvPr>
          <p:cNvSpPr>
            <a:spLocks noGrp="1"/>
          </p:cNvSpPr>
          <p:nvPr>
            <p:ph type="title"/>
          </p:nvPr>
        </p:nvSpPr>
        <p:spPr/>
        <p:txBody>
          <a:bodyPr/>
          <a:lstStyle/>
          <a:p>
            <a:r>
              <a:rPr lang="ru-RU" b="1" dirty="0">
                <a:solidFill>
                  <a:srgbClr val="000000"/>
                </a:solidFill>
                <a:latin typeface="var(--stk-f_family)"/>
              </a:rPr>
              <a:t>По каким ставкам рассчитывают НДС</a:t>
            </a:r>
            <a:br>
              <a:rPr lang="ru-RU" b="1" dirty="0">
                <a:solidFill>
                  <a:srgbClr val="000000"/>
                </a:solidFill>
                <a:latin typeface="var(--stk-f_family)"/>
              </a:rPr>
            </a:br>
            <a:endParaRPr lang="ru-RU" dirty="0"/>
          </a:p>
        </p:txBody>
      </p:sp>
      <p:sp>
        <p:nvSpPr>
          <p:cNvPr id="3" name="Объект 2">
            <a:extLst>
              <a:ext uri="{FF2B5EF4-FFF2-40B4-BE49-F238E27FC236}">
                <a16:creationId xmlns:a16="http://schemas.microsoft.com/office/drawing/2014/main" id="{FA744219-AC5F-6259-1A0D-0BAC31B2E944}"/>
              </a:ext>
            </a:extLst>
          </p:cNvPr>
          <p:cNvSpPr>
            <a:spLocks noGrp="1"/>
          </p:cNvSpPr>
          <p:nvPr>
            <p:ph idx="1"/>
          </p:nvPr>
        </p:nvSpPr>
        <p:spPr/>
        <p:txBody>
          <a:bodyPr>
            <a:normAutofit/>
          </a:bodyPr>
          <a:lstStyle/>
          <a:p>
            <a:pPr algn="l" fontAlgn="base" latinLnBrk="0">
              <a:buNone/>
            </a:pPr>
            <a:r>
              <a:rPr lang="ru-RU" b="0" i="0" u="none" strike="noStrike" dirty="0">
                <a:solidFill>
                  <a:srgbClr val="000000"/>
                </a:solidFill>
                <a:effectLst/>
                <a:latin typeface="var(--stk-f_family)"/>
              </a:rPr>
              <a:t>Есть три ставки НДС: 20%, 10%, 0%. Размер ставки зависит от вида операции. Разберём подробнее.</a:t>
            </a:r>
          </a:p>
          <a:p>
            <a:pPr algn="l" fontAlgn="base" latinLnBrk="0">
              <a:buNone/>
            </a:pPr>
            <a:r>
              <a:rPr lang="ru-RU" b="1" i="0" u="none" strike="noStrike" dirty="0">
                <a:solidFill>
                  <a:srgbClr val="000000"/>
                </a:solidFill>
                <a:effectLst/>
                <a:latin typeface="var(--stk-f--b_family)"/>
              </a:rPr>
              <a:t>Ставка НДС 0%. </a:t>
            </a:r>
            <a:r>
              <a:rPr lang="ru-RU" b="0" i="0" u="none" strike="noStrike" dirty="0">
                <a:solidFill>
                  <a:srgbClr val="000000"/>
                </a:solidFill>
                <a:effectLst/>
                <a:latin typeface="var(--stk-f_family)"/>
              </a:rPr>
              <a:t>Применяют при экспортных операциях и международных грузоперевозках. Например, когда компания поставляет товары за границу.</a:t>
            </a:r>
          </a:p>
          <a:p>
            <a:pPr algn="l" fontAlgn="base" latinLnBrk="0">
              <a:buNone/>
            </a:pPr>
            <a:r>
              <a:rPr lang="ru-RU" b="1" i="0" u="none" strike="noStrike" dirty="0">
                <a:solidFill>
                  <a:srgbClr val="000000"/>
                </a:solidFill>
                <a:effectLst/>
                <a:latin typeface="var(--stk-f--b_family)"/>
              </a:rPr>
              <a:t>Ставка НДС 10%. </a:t>
            </a:r>
            <a:r>
              <a:rPr lang="ru-RU" b="0" i="0" u="none" strike="noStrike" dirty="0">
                <a:solidFill>
                  <a:srgbClr val="000000"/>
                </a:solidFill>
                <a:effectLst/>
                <a:latin typeface="var(--stk-f_family)"/>
              </a:rPr>
              <a:t>Применяют к социально значимым товарам, лекарствам и товарам для детей. Например, крупам, хлебу, овощам, молочным продуктам, детской обуви, игрушкам, подгузникам и так далее. Полный список таких товаров можно посмотреть в </a:t>
            </a:r>
            <a:r>
              <a:rPr lang="ru-RU" b="0" i="0" u="sng" strike="noStrike" dirty="0">
                <a:solidFill>
                  <a:srgbClr val="000000"/>
                </a:solidFill>
                <a:effectLst/>
                <a:latin typeface="var(--stk-f_family)"/>
                <a:hlinkClick r:id="rId2"/>
              </a:rPr>
              <a:t>пункте 2 статьи 164 НК РФ</a:t>
            </a:r>
            <a:endParaRPr lang="ru-RU" b="0" i="0" u="none" strike="noStrike" dirty="0">
              <a:solidFill>
                <a:srgbClr val="000000"/>
              </a:solidFill>
              <a:effectLst/>
              <a:latin typeface="var(--stk-f_family)"/>
            </a:endParaRPr>
          </a:p>
          <a:p>
            <a:pPr algn="l" fontAlgn="base" latinLnBrk="0"/>
            <a:r>
              <a:rPr lang="ru-RU" b="1" i="0" u="none" strike="noStrike" dirty="0">
                <a:solidFill>
                  <a:srgbClr val="000000"/>
                </a:solidFill>
                <a:effectLst/>
                <a:latin typeface="var(--stk-f--b_family)"/>
              </a:rPr>
              <a:t>Ставка НДС 20%.</a:t>
            </a:r>
            <a:r>
              <a:rPr lang="ru-RU" b="0" i="0" u="none" strike="noStrike" dirty="0">
                <a:solidFill>
                  <a:srgbClr val="000000"/>
                </a:solidFill>
                <a:effectLst/>
                <a:latin typeface="var(--stk-f_family)"/>
              </a:rPr>
              <a:t> Это основная ставка НДС. Её применяют в случаях, не перечисленных выше.</a:t>
            </a:r>
          </a:p>
          <a:p>
            <a:endParaRPr lang="ru-RU" dirty="0"/>
          </a:p>
        </p:txBody>
      </p:sp>
    </p:spTree>
    <p:extLst>
      <p:ext uri="{BB962C8B-B14F-4D97-AF65-F5344CB8AC3E}">
        <p14:creationId xmlns:p14="http://schemas.microsoft.com/office/powerpoint/2010/main" val="41153158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Текст 2"/>
          <p:cNvSpPr>
            <a:spLocks noGrp="1"/>
          </p:cNvSpPr>
          <p:nvPr>
            <p:ph type="body" idx="1"/>
          </p:nvPr>
        </p:nvSpPr>
        <p:spPr/>
        <p:txBody>
          <a:bodyPr/>
          <a:lstStyle/>
          <a:p>
            <a:endParaRPr lang="ru-RU"/>
          </a:p>
        </p:txBody>
      </p:sp>
      <p:sp>
        <p:nvSpPr>
          <p:cNvPr id="4" name="Объект 3"/>
          <p:cNvSpPr>
            <a:spLocks noGrp="1"/>
          </p:cNvSpPr>
          <p:nvPr>
            <p:ph sz="half" idx="2"/>
          </p:nvPr>
        </p:nvSpPr>
        <p:spPr/>
        <p:txBody>
          <a:bodyPr/>
          <a:lstStyle/>
          <a:p>
            <a:endParaRPr lang="ru-RU"/>
          </a:p>
        </p:txBody>
      </p:sp>
      <p:sp>
        <p:nvSpPr>
          <p:cNvPr id="5" name="Текст 4"/>
          <p:cNvSpPr>
            <a:spLocks noGrp="1"/>
          </p:cNvSpPr>
          <p:nvPr>
            <p:ph type="body" sz="quarter" idx="3"/>
          </p:nvPr>
        </p:nvSpPr>
        <p:spPr/>
        <p:txBody>
          <a:bodyPr/>
          <a:lstStyle/>
          <a:p>
            <a:endParaRPr lang="ru-RU"/>
          </a:p>
        </p:txBody>
      </p:sp>
      <p:sp>
        <p:nvSpPr>
          <p:cNvPr id="6" name="Объект 5"/>
          <p:cNvSpPr>
            <a:spLocks noGrp="1"/>
          </p:cNvSpPr>
          <p:nvPr>
            <p:ph sz="quarter" idx="4"/>
          </p:nvPr>
        </p:nvSpPr>
        <p:spPr/>
        <p:txBody>
          <a:bodyPr/>
          <a:lstStyle/>
          <a:p>
            <a:endParaRPr lang="ru-RU"/>
          </a:p>
        </p:txBody>
      </p:sp>
      <p:pic>
        <p:nvPicPr>
          <p:cNvPr id="3074" name="Picture 2" descr="https://avatars.dzeninfra.ru/get-zen_doc/1918125/pub_60ccba71ece8c27acf5adbfa_60ccd2ed3f83fa4eb1cfcff2/scale_24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1895" y="246545"/>
            <a:ext cx="10587219" cy="5400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38031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pic>
        <p:nvPicPr>
          <p:cNvPr id="1026" name="Picture 2" descr="https://avatars.dzeninfra.ru/get-zen_doc/3447231/pub_60ccba71ece8c27acf5adbfa_60ccc9d8290f19564094c41e/scale_240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13338" y="478971"/>
            <a:ext cx="9129456" cy="48735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939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pic>
        <p:nvPicPr>
          <p:cNvPr id="2050" name="Picture 2" descr="https://avatars.dzeninfra.ru/get-zen_doc/1708203/pub_60ccba71ece8c27acf5adbfa_60ccc8bf92badd3b0f13f0c1/scale_240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01604" y="804519"/>
            <a:ext cx="9264485" cy="4661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1686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0E12338F-0898-8F63-EEA2-763A53C68B3E}"/>
              </a:ext>
            </a:extLst>
          </p:cNvPr>
          <p:cNvSpPr>
            <a:spLocks noGrp="1"/>
          </p:cNvSpPr>
          <p:nvPr>
            <p:ph type="title"/>
          </p:nvPr>
        </p:nvSpPr>
        <p:spPr/>
        <p:txBody>
          <a:bodyPr/>
          <a:lstStyle/>
          <a:p>
            <a:r>
              <a:rPr lang="ru-RU" dirty="0"/>
              <a:t>Налоговый вычет</a:t>
            </a:r>
          </a:p>
        </p:txBody>
      </p:sp>
      <p:sp>
        <p:nvSpPr>
          <p:cNvPr id="5" name="Объект 4">
            <a:extLst>
              <a:ext uri="{FF2B5EF4-FFF2-40B4-BE49-F238E27FC236}">
                <a16:creationId xmlns:a16="http://schemas.microsoft.com/office/drawing/2014/main" id="{46AF1825-09B1-BBD6-A0A7-1A80413E5A13}"/>
              </a:ext>
            </a:extLst>
          </p:cNvPr>
          <p:cNvSpPr>
            <a:spLocks noGrp="1"/>
          </p:cNvSpPr>
          <p:nvPr>
            <p:ph idx="1"/>
          </p:nvPr>
        </p:nvSpPr>
        <p:spPr/>
        <p:txBody>
          <a:bodyPr/>
          <a:lstStyle/>
          <a:p>
            <a:r>
              <a:rPr lang="ru-RU" sz="2000" dirty="0"/>
              <a:t>Подробнее на сайте fincult.info: https://fincult.info/article/nalogoviy-vychet/</a:t>
            </a:r>
          </a:p>
          <a:p>
            <a:endParaRPr lang="ru-RU" dirty="0"/>
          </a:p>
        </p:txBody>
      </p:sp>
      <p:sp>
        <p:nvSpPr>
          <p:cNvPr id="6" name="Текст 5">
            <a:extLst>
              <a:ext uri="{FF2B5EF4-FFF2-40B4-BE49-F238E27FC236}">
                <a16:creationId xmlns:a16="http://schemas.microsoft.com/office/drawing/2014/main" id="{B7032D08-DC13-7816-3CCE-1C0C58F2CD24}"/>
              </a:ext>
            </a:extLst>
          </p:cNvPr>
          <p:cNvSpPr>
            <a:spLocks noGrp="1"/>
          </p:cNvSpPr>
          <p:nvPr>
            <p:ph type="body" sz="half" idx="2"/>
          </p:nvPr>
        </p:nvSpPr>
        <p:spPr/>
        <p:txBody>
          <a:bodyPr/>
          <a:lstStyle/>
          <a:p>
            <a:endParaRPr lang="ru-RU"/>
          </a:p>
        </p:txBody>
      </p:sp>
    </p:spTree>
    <p:extLst>
      <p:ext uri="{BB962C8B-B14F-4D97-AF65-F5344CB8AC3E}">
        <p14:creationId xmlns:p14="http://schemas.microsoft.com/office/powerpoint/2010/main" val="2528786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9715B836-B4A9-E95F-91CD-E9BC9A92A516}"/>
              </a:ext>
            </a:extLst>
          </p:cNvPr>
          <p:cNvSpPr>
            <a:spLocks noGrp="1"/>
          </p:cNvSpPr>
          <p:nvPr>
            <p:ph type="title"/>
          </p:nvPr>
        </p:nvSpPr>
        <p:spPr/>
        <p:txBody>
          <a:bodyPr/>
          <a:lstStyle/>
          <a:p>
            <a:r>
              <a:rPr lang="ru-RU" b="1" dirty="0"/>
              <a:t>Какие бывают вычеты?</a:t>
            </a:r>
            <a:br>
              <a:rPr lang="ru-RU" b="1" dirty="0"/>
            </a:br>
            <a:endParaRPr lang="ru-RU" dirty="0"/>
          </a:p>
        </p:txBody>
      </p:sp>
      <p:sp>
        <p:nvSpPr>
          <p:cNvPr id="6" name="Объект 5">
            <a:extLst>
              <a:ext uri="{FF2B5EF4-FFF2-40B4-BE49-F238E27FC236}">
                <a16:creationId xmlns:a16="http://schemas.microsoft.com/office/drawing/2014/main" id="{8DD9D591-35C2-7C55-D8C0-3E6A3F366E85}"/>
              </a:ext>
            </a:extLst>
          </p:cNvPr>
          <p:cNvSpPr>
            <a:spLocks noGrp="1"/>
          </p:cNvSpPr>
          <p:nvPr>
            <p:ph idx="1"/>
          </p:nvPr>
        </p:nvSpPr>
        <p:spPr>
          <a:xfrm>
            <a:off x="1295400" y="1531089"/>
            <a:ext cx="9601200" cy="3581400"/>
          </a:xfrm>
        </p:spPr>
        <p:txBody>
          <a:bodyPr>
            <a:noAutofit/>
          </a:bodyPr>
          <a:lstStyle/>
          <a:p>
            <a:pPr>
              <a:buNone/>
            </a:pPr>
            <a:r>
              <a:rPr lang="ru-RU" sz="1400" dirty="0"/>
              <a:t>Налоговый кодекс предусматривает пять видов вычетов:</a:t>
            </a:r>
          </a:p>
          <a:p>
            <a:pPr>
              <a:buFont typeface="+mj-lt"/>
              <a:buAutoNum type="arabicPeriod"/>
            </a:pPr>
            <a:r>
              <a:rPr lang="ru-RU" sz="1400" b="1" dirty="0"/>
              <a:t>Социальные</a:t>
            </a:r>
            <a:br>
              <a:rPr lang="ru-RU" sz="1400" dirty="0"/>
            </a:br>
            <a:r>
              <a:rPr lang="ru-RU" sz="1400" dirty="0"/>
              <a:t>Их можно оформить, когда вы тратите деньги на обучение, лечение, благотворительность, спорт и фитнес. А также если вы купили полис страхования жизни сроком от пяти лет или пенсионного страхования.</a:t>
            </a:r>
          </a:p>
          <a:p>
            <a:pPr>
              <a:buFont typeface="+mj-lt"/>
              <a:buAutoNum type="arabicPeriod"/>
            </a:pPr>
            <a:r>
              <a:rPr lang="ru-RU" sz="1400" b="1" dirty="0"/>
              <a:t>Имущественные</a:t>
            </a:r>
            <a:br>
              <a:rPr lang="ru-RU" sz="1400" dirty="0"/>
            </a:br>
            <a:r>
              <a:rPr lang="ru-RU" sz="1400" dirty="0"/>
              <a:t>Полагается при покупке жилья. Причем на проценты по ипотеке есть отдельный дополнительный вычет. В некоторых случаях удается получить вычет с дохода от продажи имущества — недвижимости, машины и других ценностей.</a:t>
            </a:r>
          </a:p>
          <a:p>
            <a:pPr>
              <a:buFont typeface="+mj-lt"/>
              <a:buAutoNum type="arabicPeriod"/>
            </a:pPr>
            <a:r>
              <a:rPr lang="ru-RU" sz="1400" b="1" dirty="0"/>
              <a:t>Инвестиционные</a:t>
            </a:r>
            <a:br>
              <a:rPr lang="ru-RU" sz="1400" dirty="0"/>
            </a:br>
            <a:r>
              <a:rPr lang="ru-RU" sz="1400" dirty="0"/>
              <a:t>Освобождают от налога взносы на </a:t>
            </a:r>
            <a:r>
              <a:rPr lang="ru-RU" sz="1400" dirty="0">
                <a:hlinkClick r:id="rId2"/>
              </a:rPr>
              <a:t>индивидуальные инвестиционные счета</a:t>
            </a:r>
            <a:r>
              <a:rPr lang="ru-RU" sz="1400" dirty="0"/>
              <a:t> первого типа (ИИС-1), доход по </a:t>
            </a:r>
            <a:r>
              <a:rPr lang="ru-RU" sz="1400" dirty="0" err="1"/>
              <a:t>инвестсчетам</a:t>
            </a:r>
            <a:r>
              <a:rPr lang="ru-RU" sz="1400" dirty="0"/>
              <a:t> второго типа (ИИС-2), а также прибыль от продажи ценных бумаг при их хранении не меньше трех лет.</a:t>
            </a:r>
          </a:p>
          <a:p>
            <a:pPr>
              <a:buFont typeface="+mj-lt"/>
              <a:buAutoNum type="arabicPeriod"/>
            </a:pPr>
            <a:r>
              <a:rPr lang="ru-RU" sz="1400" b="1" dirty="0"/>
              <a:t>На долгосрочные сбережения</a:t>
            </a:r>
            <a:br>
              <a:rPr lang="ru-RU" sz="1400" dirty="0"/>
            </a:br>
            <a:r>
              <a:rPr lang="ru-RU" sz="1400" dirty="0"/>
              <a:t>Позволяют получить двойные налоговые льготы — и на взносы, и на доход, если вы открываете </a:t>
            </a:r>
            <a:r>
              <a:rPr lang="ru-RU" sz="1400" dirty="0">
                <a:hlinkClick r:id="rId3"/>
              </a:rPr>
              <a:t>ИИС третьего типа</a:t>
            </a:r>
            <a:r>
              <a:rPr lang="ru-RU" sz="1400" dirty="0"/>
              <a:t> (ИИС-3) не меньше чем на пять лет. А также когда с помощью НПФ откладываете деньги на </a:t>
            </a:r>
            <a:r>
              <a:rPr lang="ru-RU" sz="1400" dirty="0">
                <a:hlinkClick r:id="rId4"/>
              </a:rPr>
              <a:t>дополнительную пенсию</a:t>
            </a:r>
            <a:r>
              <a:rPr lang="ru-RU" sz="1400" dirty="0"/>
              <a:t> или присоединяетесь к </a:t>
            </a:r>
            <a:r>
              <a:rPr lang="ru-RU" sz="1400" dirty="0">
                <a:hlinkClick r:id="rId5"/>
              </a:rPr>
              <a:t>программе долгосрочных сбережений</a:t>
            </a:r>
            <a:r>
              <a:rPr lang="ru-RU" sz="1400" dirty="0"/>
              <a:t> (ПДС).</a:t>
            </a:r>
          </a:p>
          <a:p>
            <a:pPr>
              <a:buFont typeface="+mj-lt"/>
              <a:buAutoNum type="arabicPeriod"/>
            </a:pPr>
            <a:r>
              <a:rPr lang="ru-RU" sz="1400" b="1" dirty="0"/>
              <a:t>Стандартные</a:t>
            </a:r>
            <a:br>
              <a:rPr lang="ru-RU" sz="1400" dirty="0"/>
            </a:br>
            <a:r>
              <a:rPr lang="ru-RU" sz="1400" dirty="0"/>
              <a:t>Это вычеты для семей с детьми, </a:t>
            </a:r>
            <a:r>
              <a:rPr lang="ru-RU" sz="1400" dirty="0">
                <a:hlinkClick r:id="rId6"/>
              </a:rPr>
              <a:t>льготников</a:t>
            </a:r>
            <a:r>
              <a:rPr lang="ru-RU" sz="1400" dirty="0"/>
              <a:t> («чернобыльцев», инвалидов с детства, родственников погибших военнослужащих) и людей, которые </a:t>
            </a:r>
            <a:r>
              <a:rPr lang="ru-RU" sz="1400" dirty="0">
                <a:hlinkClick r:id="rId7"/>
              </a:rPr>
              <a:t>сдали нормативы ГТО</a:t>
            </a:r>
            <a:r>
              <a:rPr lang="ru-RU" sz="1400" dirty="0"/>
              <a:t>.</a:t>
            </a:r>
          </a:p>
          <a:p>
            <a:pPr>
              <a:buNone/>
            </a:pPr>
            <a:r>
              <a:rPr lang="ru-RU" sz="1400" dirty="0"/>
              <a:t>Вы можете совмещать разные виды вычетов — например, одновременно получать вычет на спорт и на проценты по ипотеке.</a:t>
            </a:r>
          </a:p>
        </p:txBody>
      </p:sp>
    </p:spTree>
    <p:extLst>
      <p:ext uri="{BB962C8B-B14F-4D97-AF65-F5344CB8AC3E}">
        <p14:creationId xmlns:p14="http://schemas.microsoft.com/office/powerpoint/2010/main" val="35318524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5358AC-677D-AF1C-A9EE-5F2DD268B529}"/>
              </a:ext>
            </a:extLst>
          </p:cNvPr>
          <p:cNvSpPr>
            <a:spLocks noGrp="1"/>
          </p:cNvSpPr>
          <p:nvPr>
            <p:ph type="title"/>
          </p:nvPr>
        </p:nvSpPr>
        <p:spPr>
          <a:xfrm>
            <a:off x="1371600" y="249865"/>
            <a:ext cx="9601200" cy="1089837"/>
          </a:xfrm>
        </p:spPr>
        <p:txBody>
          <a:bodyPr>
            <a:normAutofit fontScale="90000"/>
          </a:bodyPr>
          <a:lstStyle/>
          <a:p>
            <a:r>
              <a:rPr lang="ru-RU" b="1" dirty="0"/>
              <a:t>Как узнать размер вычета, который мне полагается?</a:t>
            </a:r>
            <a:br>
              <a:rPr lang="ru-RU" b="1" dirty="0"/>
            </a:br>
            <a:endParaRPr lang="ru-RU" dirty="0"/>
          </a:p>
        </p:txBody>
      </p:sp>
      <p:sp>
        <p:nvSpPr>
          <p:cNvPr id="3" name="Объект 2">
            <a:extLst>
              <a:ext uri="{FF2B5EF4-FFF2-40B4-BE49-F238E27FC236}">
                <a16:creationId xmlns:a16="http://schemas.microsoft.com/office/drawing/2014/main" id="{1C4681A9-B589-AD07-102D-66063104F621}"/>
              </a:ext>
            </a:extLst>
          </p:cNvPr>
          <p:cNvSpPr>
            <a:spLocks noGrp="1"/>
          </p:cNvSpPr>
          <p:nvPr>
            <p:ph idx="1"/>
          </p:nvPr>
        </p:nvSpPr>
        <p:spPr>
          <a:xfrm>
            <a:off x="1295399" y="1499190"/>
            <a:ext cx="10581167" cy="3581400"/>
          </a:xfrm>
        </p:spPr>
        <p:txBody>
          <a:bodyPr>
            <a:noAutofit/>
          </a:bodyPr>
          <a:lstStyle/>
          <a:p>
            <a:pPr>
              <a:buNone/>
            </a:pPr>
            <a:r>
              <a:rPr lang="ru-RU" dirty="0"/>
              <a:t>Для каждого вида вычетов свои лимиты. Скажем, для вычета на ребенка — 1400 рублей в месяц, а на покупку квартиры — 2 млн рублей, но на всю жизнь.</a:t>
            </a:r>
          </a:p>
          <a:p>
            <a:pPr>
              <a:buNone/>
            </a:pPr>
            <a:r>
              <a:rPr lang="ru-RU" dirty="0"/>
              <a:t>Но важно понимать, что лимит — это не сумма, которую получится вернуть, а </a:t>
            </a:r>
            <a:r>
              <a:rPr lang="ru-RU" b="1" dirty="0"/>
              <a:t>часть вашего дохода, которую можно освободить от уплаты НДФЛ.</a:t>
            </a:r>
            <a:endParaRPr lang="ru-RU" dirty="0"/>
          </a:p>
          <a:p>
            <a:pPr>
              <a:buNone/>
            </a:pPr>
            <a:r>
              <a:rPr lang="ru-RU" b="1" dirty="0">
                <a:highlight>
                  <a:srgbClr val="00FF00"/>
                </a:highlight>
              </a:rPr>
              <a:t>Допустим, ваша зарплата составляет 50 000 ₽. После уплаты подоходного налога на руки вы получаете 43 500 = 50 000 – 13%. Если у вас есть ребенок, вы можете освободить от НДФЛ 1400 ₽ своего дохода. Тогда возврат налога составит 182 ₽ = 1400 х 13%. То есть вы будете получать через работодателя 43 682 ₽ = 43 500 ₽ (чистая зарплата за минусом НДФЛ) + 182 ₽ (возврат налога).</a:t>
            </a:r>
          </a:p>
          <a:p>
            <a:pPr>
              <a:buNone/>
            </a:pPr>
            <a:r>
              <a:rPr lang="ru-RU" dirty="0"/>
              <a:t>Сколько денег вам вернется, зависит от ставки, по которой вы платите подоходный налог.</a:t>
            </a:r>
          </a:p>
          <a:p>
            <a:pPr>
              <a:buNone/>
            </a:pPr>
            <a:r>
              <a:rPr lang="ru-RU" b="1" dirty="0"/>
              <a:t>С 2025 года</a:t>
            </a:r>
            <a:r>
              <a:rPr lang="ru-RU" dirty="0"/>
              <a:t> при заработке до 2,4 млн рублей в год НДФЛ равен 13%. Так что возврат считается как 13% от ваших расходов, по которым полагается вычет. Например, трат на образование или покупку жилья.</a:t>
            </a:r>
          </a:p>
        </p:txBody>
      </p:sp>
    </p:spTree>
    <p:extLst>
      <p:ext uri="{BB962C8B-B14F-4D97-AF65-F5344CB8AC3E}">
        <p14:creationId xmlns:p14="http://schemas.microsoft.com/office/powerpoint/2010/main" val="1769515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1B03C4-2BE1-9C6F-3603-480AE3F0A5E6}"/>
              </a:ext>
            </a:extLst>
          </p:cNvPr>
          <p:cNvSpPr>
            <a:spLocks noGrp="1"/>
          </p:cNvSpPr>
          <p:nvPr>
            <p:ph type="title"/>
          </p:nvPr>
        </p:nvSpPr>
        <p:spPr>
          <a:xfrm>
            <a:off x="1371600" y="247650"/>
            <a:ext cx="9601200" cy="1485900"/>
          </a:xfrm>
        </p:spPr>
        <p:txBody>
          <a:bodyPr>
            <a:noAutofit/>
          </a:bodyPr>
          <a:lstStyle/>
          <a:p>
            <a:r>
              <a:rPr lang="ru-RU" sz="3200" dirty="0"/>
              <a:t>Для доходов, которые превысят 2,4 млн рублей за год, применяются повышенные ставки НДФЛ — </a:t>
            </a:r>
            <a:r>
              <a:rPr lang="ru-RU" sz="3200" dirty="0">
                <a:hlinkClick r:id="rId2"/>
              </a:rPr>
              <a:t>от 15 до 22%</a:t>
            </a:r>
            <a:r>
              <a:rPr lang="ru-RU" sz="3200" dirty="0"/>
              <a:t>. В таких случаях и размер вычета тоже может стать больше.</a:t>
            </a:r>
            <a:br>
              <a:rPr lang="ru-RU" sz="3200" dirty="0"/>
            </a:br>
            <a:endParaRPr lang="ru-RU" sz="3200" dirty="0"/>
          </a:p>
        </p:txBody>
      </p:sp>
      <p:sp>
        <p:nvSpPr>
          <p:cNvPr id="3" name="Объект 2">
            <a:extLst>
              <a:ext uri="{FF2B5EF4-FFF2-40B4-BE49-F238E27FC236}">
                <a16:creationId xmlns:a16="http://schemas.microsoft.com/office/drawing/2014/main" id="{47613F61-8263-12FC-4B16-AC54B7C61EED}"/>
              </a:ext>
            </a:extLst>
          </p:cNvPr>
          <p:cNvSpPr>
            <a:spLocks noGrp="1"/>
          </p:cNvSpPr>
          <p:nvPr>
            <p:ph idx="1"/>
          </p:nvPr>
        </p:nvSpPr>
        <p:spPr>
          <a:xfrm>
            <a:off x="1446028" y="2105247"/>
            <a:ext cx="10090298" cy="4505103"/>
          </a:xfrm>
        </p:spPr>
        <p:txBody>
          <a:bodyPr>
            <a:normAutofit fontScale="85000" lnSpcReduction="20000"/>
          </a:bodyPr>
          <a:lstStyle/>
          <a:p>
            <a:pPr>
              <a:buNone/>
            </a:pPr>
            <a:r>
              <a:rPr lang="ru-RU" sz="2000" dirty="0"/>
              <a:t>Прибыль от банковских вкладов, инвестиций, продажи недвижимости и другого имущества учитывается отдельно — как инвестиционные доходы, и для них действуют отдельные налоговые ставки. Для инвестдоходов в пределах 2,4 млн рублей НДФЛ равен 13%, свыше 2,4 млн рублей — 15%. </a:t>
            </a:r>
          </a:p>
          <a:p>
            <a:pPr>
              <a:buNone/>
            </a:pPr>
            <a:r>
              <a:rPr lang="ru-RU" sz="2000" dirty="0"/>
              <a:t>Часть инвестиционных доходов, например по депозитам, освобождается от НДФЛ. Подробнее об этом читайте в статье </a:t>
            </a:r>
            <a:r>
              <a:rPr lang="ru-RU" sz="2000" dirty="0">
                <a:hlinkClick r:id="rId3"/>
              </a:rPr>
              <a:t>«Какие налоги платит инвестор»</a:t>
            </a:r>
            <a:r>
              <a:rPr lang="ru-RU" sz="2000" dirty="0"/>
              <a:t>.</a:t>
            </a:r>
          </a:p>
          <a:p>
            <a:pPr>
              <a:buNone/>
            </a:pPr>
            <a:r>
              <a:rPr lang="ru-RU" sz="2000" b="1" dirty="0"/>
              <a:t>До 2025 года </a:t>
            </a:r>
            <a:r>
              <a:rPr lang="ru-RU" sz="2000" dirty="0"/>
              <a:t>для расчета налога суммировались все доходы человека, к примеру зарплата, проценты по депозитам, прибыль от операций с ценными бумагами. Прибыль до 5 млн рублей в год облагалась по ставке 13%, свыше этой суммы — 15%. Поэтому при расчете налоговых вычетов по расходам 2024 года и предыдущих лет будут использоваться именно эти ставки НДФЛ.</a:t>
            </a:r>
          </a:p>
          <a:p>
            <a:pPr>
              <a:buNone/>
            </a:pPr>
            <a:r>
              <a:rPr lang="ru-RU" sz="2000" dirty="0"/>
              <a:t>Сколько денег удастся вернуть в вашем случае, можно уточнить в </a:t>
            </a:r>
            <a:r>
              <a:rPr lang="ru-RU" sz="2000" dirty="0">
                <a:hlinkClick r:id="rId4"/>
              </a:rPr>
              <a:t>Федеральной налоговой службе</a:t>
            </a:r>
            <a:r>
              <a:rPr lang="ru-RU" sz="2000" dirty="0"/>
              <a:t> (ФНС). Но чтобы не усложнять, дальше в примерах вычет рассчитывается при ставке НДФЛ 13%.</a:t>
            </a:r>
          </a:p>
          <a:p>
            <a:pPr>
              <a:buNone/>
            </a:pPr>
            <a:r>
              <a:rPr lang="ru-RU" sz="2000" dirty="0"/>
              <a:t>Учтите, что все вычеты в сумме не могут превысить размер подоходного налога, который вы уплатили за календарный год.</a:t>
            </a:r>
          </a:p>
          <a:p>
            <a:pPr>
              <a:buNone/>
            </a:pPr>
            <a:r>
              <a:rPr lang="ru-RU" sz="2000" b="1" dirty="0">
                <a:highlight>
                  <a:srgbClr val="00FF00"/>
                </a:highlight>
              </a:rPr>
              <a:t>При зарплате 50 000 ₽ в месяц ваш работодатель за год перечисляет в ФНС: 50 000 х 12 месяцев х 13% = 78 000 ₽. Даже когда вам полагаются разные виды вычетов, удастся вернуть не больше 78 000 ₽ за год. Но если из-за этого ограничения вы используете лимиты положенных вам вычетов не полностью, в некоторых случаях остатки удастся перенести на следующие годы.</a:t>
            </a:r>
          </a:p>
          <a:p>
            <a:endParaRPr lang="ru-RU" dirty="0"/>
          </a:p>
        </p:txBody>
      </p:sp>
    </p:spTree>
    <p:extLst>
      <p:ext uri="{BB962C8B-B14F-4D97-AF65-F5344CB8AC3E}">
        <p14:creationId xmlns:p14="http://schemas.microsoft.com/office/powerpoint/2010/main" val="31056530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57039D-96B4-5CB7-A0BB-7343675B6287}"/>
              </a:ext>
            </a:extLst>
          </p:cNvPr>
          <p:cNvSpPr>
            <a:spLocks noGrp="1"/>
          </p:cNvSpPr>
          <p:nvPr>
            <p:ph type="title"/>
          </p:nvPr>
        </p:nvSpPr>
        <p:spPr/>
        <p:txBody>
          <a:bodyPr>
            <a:normAutofit fontScale="90000"/>
          </a:bodyPr>
          <a:lstStyle/>
          <a:p>
            <a:r>
              <a:rPr lang="ru-RU" b="1" dirty="0"/>
              <a:t>Какие документы нужны для получения вычета?</a:t>
            </a:r>
            <a:br>
              <a:rPr lang="ru-RU" b="1" dirty="0"/>
            </a:br>
            <a:endParaRPr lang="ru-RU" dirty="0"/>
          </a:p>
        </p:txBody>
      </p:sp>
      <p:sp>
        <p:nvSpPr>
          <p:cNvPr id="3" name="Объект 2">
            <a:extLst>
              <a:ext uri="{FF2B5EF4-FFF2-40B4-BE49-F238E27FC236}">
                <a16:creationId xmlns:a16="http://schemas.microsoft.com/office/drawing/2014/main" id="{AFFA082D-BA70-8B44-F69E-1AB7770E2EBE}"/>
              </a:ext>
            </a:extLst>
          </p:cNvPr>
          <p:cNvSpPr>
            <a:spLocks noGrp="1"/>
          </p:cNvSpPr>
          <p:nvPr>
            <p:ph idx="1"/>
          </p:nvPr>
        </p:nvSpPr>
        <p:spPr>
          <a:xfrm>
            <a:off x="1212111" y="2030819"/>
            <a:ext cx="9601200" cy="4017334"/>
          </a:xfrm>
        </p:spPr>
        <p:txBody>
          <a:bodyPr>
            <a:normAutofit fontScale="92500" lnSpcReduction="20000"/>
          </a:bodyPr>
          <a:lstStyle/>
          <a:p>
            <a:pPr>
              <a:buNone/>
            </a:pPr>
            <a:r>
              <a:rPr lang="ru-RU" dirty="0"/>
              <a:t>В большинстве случаев вам понадобятся:</a:t>
            </a:r>
          </a:p>
          <a:p>
            <a:pPr>
              <a:buFont typeface="Arial" panose="020B0604020202020204" pitchFamily="34" charset="0"/>
              <a:buChar char="•"/>
            </a:pPr>
            <a:r>
              <a:rPr lang="ru-RU" dirty="0"/>
              <a:t>заявление на вычет;</a:t>
            </a:r>
          </a:p>
          <a:p>
            <a:pPr>
              <a:buFont typeface="Arial" panose="020B0604020202020204" pitchFamily="34" charset="0"/>
              <a:buChar char="•"/>
            </a:pPr>
            <a:r>
              <a:rPr lang="ru-RU" dirty="0"/>
              <a:t>декларация </a:t>
            </a:r>
            <a:r>
              <a:rPr lang="ru-RU" dirty="0">
                <a:hlinkClick r:id="rId2"/>
              </a:rPr>
              <a:t>3-НДФЛ</a:t>
            </a:r>
            <a:r>
              <a:rPr lang="ru-RU" dirty="0"/>
              <a:t> (чтобы ее заполнить, может понадобиться справка об официальном доходе с места работы); </a:t>
            </a:r>
            <a:r>
              <a:rPr lang="en-US" dirty="0">
                <a:hlinkClick r:id="rId3"/>
              </a:rPr>
              <a:t>https://www.nalog.gov.ru/rn77/taxation/taxes/dec/</a:t>
            </a:r>
            <a:r>
              <a:rPr lang="ru-RU" dirty="0"/>
              <a:t> - сайт налоговой службы</a:t>
            </a:r>
          </a:p>
          <a:p>
            <a:pPr>
              <a:buFont typeface="Arial" panose="020B0604020202020204" pitchFamily="34" charset="0"/>
              <a:buChar char="•"/>
            </a:pPr>
            <a:r>
              <a:rPr lang="ru-RU" dirty="0"/>
              <a:t>документы, подтверждающие ваши расходы, по которым вы запрашиваете вычет (чеки, приходно-кассовые ордера, платежные поручения, банковские выписки);</a:t>
            </a:r>
          </a:p>
          <a:p>
            <a:pPr>
              <a:buFont typeface="Arial" panose="020B0604020202020204" pitchFamily="34" charset="0"/>
              <a:buChar char="•"/>
            </a:pPr>
            <a:r>
              <a:rPr lang="ru-RU" dirty="0"/>
              <a:t>если вычет полагается на членов семьи — документы, подтверждающие родство, опеку или попечительство, заключение брака (например, свидетельство о рождении или о браке, распоряжение об опеке, договор приемной семьи);</a:t>
            </a:r>
          </a:p>
          <a:p>
            <a:pPr>
              <a:buFont typeface="Arial" panose="020B0604020202020204" pitchFamily="34" charset="0"/>
              <a:buChar char="•"/>
            </a:pPr>
            <a:r>
              <a:rPr lang="ru-RU" dirty="0"/>
              <a:t>когда вы хотите возместить часть расходов на детей в возрасте от 18 до 24 лет, потребуется справка о том, что они учатся очно.</a:t>
            </a:r>
          </a:p>
          <a:p>
            <a:pPr>
              <a:buNone/>
            </a:pPr>
            <a:r>
              <a:rPr lang="ru-RU" dirty="0"/>
              <a:t>Для разных видов вычетов потребуются также дополнительные документы. К примеру, для вычета на обучение нужно приложить договор с образовательным учреждением.</a:t>
            </a:r>
          </a:p>
        </p:txBody>
      </p:sp>
    </p:spTree>
    <p:extLst>
      <p:ext uri="{BB962C8B-B14F-4D97-AF65-F5344CB8AC3E}">
        <p14:creationId xmlns:p14="http://schemas.microsoft.com/office/powerpoint/2010/main" val="17033192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8C4004-B429-05CB-4F40-D8458B4EB781}"/>
              </a:ext>
            </a:extLst>
          </p:cNvPr>
          <p:cNvSpPr>
            <a:spLocks noGrp="1"/>
          </p:cNvSpPr>
          <p:nvPr>
            <p:ph type="title"/>
          </p:nvPr>
        </p:nvSpPr>
        <p:spPr/>
        <p:txBody>
          <a:bodyPr>
            <a:normAutofit fontScale="90000"/>
          </a:bodyPr>
          <a:lstStyle/>
          <a:p>
            <a:r>
              <a:rPr lang="ru-RU" b="1" dirty="0"/>
              <a:t>Как получить налоговый вычет?</a:t>
            </a:r>
            <a:br>
              <a:rPr lang="ru-RU" b="1" dirty="0"/>
            </a:br>
            <a:r>
              <a:rPr lang="ru-RU" dirty="0"/>
              <a:t>Есть несколько способов:</a:t>
            </a:r>
            <a:br>
              <a:rPr lang="ru-RU" dirty="0"/>
            </a:br>
            <a:endParaRPr lang="ru-RU" dirty="0"/>
          </a:p>
        </p:txBody>
      </p:sp>
      <p:sp>
        <p:nvSpPr>
          <p:cNvPr id="3" name="Объект 2">
            <a:extLst>
              <a:ext uri="{FF2B5EF4-FFF2-40B4-BE49-F238E27FC236}">
                <a16:creationId xmlns:a16="http://schemas.microsoft.com/office/drawing/2014/main" id="{6216B9D1-50C6-A1FC-2810-20F991B837FF}"/>
              </a:ext>
            </a:extLst>
          </p:cNvPr>
          <p:cNvSpPr>
            <a:spLocks noGrp="1"/>
          </p:cNvSpPr>
          <p:nvPr>
            <p:ph idx="1"/>
          </p:nvPr>
        </p:nvSpPr>
        <p:spPr/>
        <p:txBody>
          <a:bodyPr>
            <a:normAutofit/>
          </a:bodyPr>
          <a:lstStyle/>
          <a:p>
            <a:pPr>
              <a:buNone/>
            </a:pPr>
            <a:r>
              <a:rPr lang="ru-RU" b="1" dirty="0"/>
              <a:t>1. Через ФНС — одной суммой раз в год</a:t>
            </a:r>
          </a:p>
          <a:p>
            <a:pPr>
              <a:buNone/>
            </a:pPr>
            <a:r>
              <a:rPr lang="ru-RU" dirty="0"/>
              <a:t>Этот вариант подходит </a:t>
            </a:r>
            <a:r>
              <a:rPr lang="ru-RU" b="1" dirty="0"/>
              <a:t>для всех видов вычетов</a:t>
            </a:r>
            <a:r>
              <a:rPr lang="ru-RU" dirty="0"/>
              <a:t> и позволяет оформить возврат налога за последние три года (уже завершившиеся). Заявление вместе с документами, подтверждающими право на вычет, нужно подать лично в налоговую по месту регистрации или онлайн через </a:t>
            </a:r>
            <a:r>
              <a:rPr lang="ru-RU" dirty="0">
                <a:hlinkClick r:id="rId2"/>
              </a:rPr>
              <a:t>кабинет налогоплательщика</a:t>
            </a:r>
            <a:r>
              <a:rPr lang="ru-RU" dirty="0"/>
              <a:t> на сайте ФНС.</a:t>
            </a:r>
          </a:p>
          <a:p>
            <a:pPr>
              <a:buNone/>
            </a:pPr>
            <a:r>
              <a:rPr lang="ru-RU" dirty="0"/>
              <a:t>В течение трех месяцев ФНС проверит документы. Обнаружатся ошибки — вам сообщат, что нужно исправить. Если все в порядке, деньги поступят на ваш счет не позже чем через месяц после окончания проверки.</a:t>
            </a:r>
          </a:p>
        </p:txBody>
      </p:sp>
    </p:spTree>
    <p:extLst>
      <p:ext uri="{BB962C8B-B14F-4D97-AF65-F5344CB8AC3E}">
        <p14:creationId xmlns:p14="http://schemas.microsoft.com/office/powerpoint/2010/main" val="21614258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DC6AC8-8346-1E39-D369-15A286F55126}"/>
              </a:ext>
            </a:extLst>
          </p:cNvPr>
          <p:cNvSpPr>
            <a:spLocks noGrp="1"/>
          </p:cNvSpPr>
          <p:nvPr>
            <p:ph type="title"/>
          </p:nvPr>
        </p:nvSpPr>
        <p:spPr/>
        <p:txBody>
          <a:bodyPr>
            <a:normAutofit fontScale="90000"/>
          </a:bodyPr>
          <a:lstStyle/>
          <a:p>
            <a:r>
              <a:rPr lang="ru-RU" b="1" dirty="0"/>
              <a:t>Через работодателя — прибавка к зарплате каждый месяц</a:t>
            </a:r>
            <a:br>
              <a:rPr lang="ru-RU" b="1" dirty="0"/>
            </a:br>
            <a:endParaRPr lang="ru-RU" dirty="0"/>
          </a:p>
        </p:txBody>
      </p:sp>
      <p:sp>
        <p:nvSpPr>
          <p:cNvPr id="3" name="Объект 2">
            <a:extLst>
              <a:ext uri="{FF2B5EF4-FFF2-40B4-BE49-F238E27FC236}">
                <a16:creationId xmlns:a16="http://schemas.microsoft.com/office/drawing/2014/main" id="{2D9723B2-49AE-F5CF-FE6D-FAB4E8AEF59F}"/>
              </a:ext>
            </a:extLst>
          </p:cNvPr>
          <p:cNvSpPr>
            <a:spLocks noGrp="1"/>
          </p:cNvSpPr>
          <p:nvPr>
            <p:ph idx="1"/>
          </p:nvPr>
        </p:nvSpPr>
        <p:spPr>
          <a:xfrm>
            <a:off x="1212110" y="1998921"/>
            <a:ext cx="10249787" cy="4635795"/>
          </a:xfrm>
        </p:spPr>
        <p:txBody>
          <a:bodyPr>
            <a:normAutofit fontScale="70000" lnSpcReduction="20000"/>
          </a:bodyPr>
          <a:lstStyle/>
          <a:p>
            <a:pPr>
              <a:buNone/>
            </a:pPr>
            <a:r>
              <a:rPr lang="ru-RU" dirty="0"/>
              <a:t>Такой способ позволит не дожидаться окончания года, а получать вычет почти сразу, как только у вас появилось на него право. Бухгалтерия просто не станет отчислять в налоговую ваш НДФЛ, а постепенно будет выдавать эти деньги вместе с зарплатой.</a:t>
            </a:r>
          </a:p>
          <a:p>
            <a:pPr>
              <a:buNone/>
            </a:pPr>
            <a:r>
              <a:rPr lang="ru-RU" dirty="0"/>
              <a:t>Но возврат удастся получить только </a:t>
            </a:r>
            <a:r>
              <a:rPr lang="ru-RU" b="1" dirty="0"/>
              <a:t>по стандартным, имущественным и социальным вычетам </a:t>
            </a:r>
            <a:r>
              <a:rPr lang="ru-RU" dirty="0"/>
              <a:t>(кроме благотворительности). К тому же вычет можно запросить лишь по расходам на себя: чтобы освободить от налога траты на членов семьи, придется обращаться в ФНС.</a:t>
            </a:r>
          </a:p>
          <a:p>
            <a:pPr>
              <a:buNone/>
            </a:pPr>
            <a:r>
              <a:rPr lang="ru-RU" b="1" dirty="0">
                <a:highlight>
                  <a:srgbClr val="00FF00"/>
                </a:highlight>
              </a:rPr>
              <a:t>Например, вы купили квартиру за 3 млн ₽, имущественный вычет составит 260 000 ₽. Ваша официальная зарплата 50 000 ₽, а ежемесячный подоходный налог 6500 ₽ = 50 000 х 13%. Если вы запросите возврат налога через работодателя, бухгалтерия не будет удерживать НДФЛ 40 месяцев. За это время вы получите вычет полностью: 260 000 ₽ = 6500 х 40 месяцев.</a:t>
            </a:r>
          </a:p>
          <a:p>
            <a:pPr>
              <a:buNone/>
            </a:pPr>
            <a:r>
              <a:rPr lang="ru-RU" dirty="0"/>
              <a:t>Чтобы оформить возврат НДФЛ через работодателя, сперва нужно обратиться в налоговую с документами, которые подтверждают ваши расходы, и запросить справку о праве на вычет.</a:t>
            </a:r>
          </a:p>
          <a:p>
            <a:pPr>
              <a:buNone/>
            </a:pPr>
            <a:r>
              <a:rPr lang="ru-RU" dirty="0"/>
              <a:t>В течение месяца ФНС пришлет эту справку вашему работодателю — вам останется только подать в бухгалтерию заявление на вычет. Справка также придет в ваш личный кабинет налогоплательщика, а если его нет — заказным письмом по почте.</a:t>
            </a:r>
          </a:p>
          <a:p>
            <a:pPr>
              <a:buNone/>
            </a:pPr>
            <a:r>
              <a:rPr lang="ru-RU" dirty="0"/>
              <a:t>Когда у вас несколько работодателей, вы вправе выбрать, у какого из них хотите оформить вычет. Сообщите его данные ФНС, чтобы справка пришла по адресу.</a:t>
            </a:r>
          </a:p>
          <a:p>
            <a:pPr>
              <a:buNone/>
            </a:pPr>
            <a:r>
              <a:rPr lang="ru-RU" dirty="0"/>
              <a:t>Может оказаться, что вы получили через работодателя не всю сумму положенного вам вычета. Например, если право на вычет появилось только в середине года. Тогда остаток НДФЛ, который вы заплатили за первое полугодие, получится вернуть, обратившись напрямую в ФНС.</a:t>
            </a:r>
          </a:p>
          <a:p>
            <a:pPr>
              <a:buNone/>
            </a:pPr>
            <a:r>
              <a:rPr lang="ru-RU" dirty="0"/>
              <a:t>Возврат денег по имущественным вычетам нередко растягивается на несколько лет. Если вы решите получать их вместе с зарплатой, нужно будет каждый год заново запрашивать в налоговой справку о праве на вычет и подавать заявление работодателю.</a:t>
            </a:r>
          </a:p>
          <a:p>
            <a:pPr>
              <a:buNone/>
            </a:pPr>
            <a:endParaRPr lang="ru-RU" dirty="0"/>
          </a:p>
        </p:txBody>
      </p:sp>
    </p:spTree>
    <p:extLst>
      <p:ext uri="{BB962C8B-B14F-4D97-AF65-F5344CB8AC3E}">
        <p14:creationId xmlns:p14="http://schemas.microsoft.com/office/powerpoint/2010/main" val="11015378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B22346-CAEB-6D28-75E9-846CC9BCDC26}"/>
              </a:ext>
            </a:extLst>
          </p:cNvPr>
          <p:cNvSpPr>
            <a:spLocks noGrp="1"/>
          </p:cNvSpPr>
          <p:nvPr>
            <p:ph type="title"/>
          </p:nvPr>
        </p:nvSpPr>
        <p:spPr/>
        <p:txBody>
          <a:bodyPr>
            <a:normAutofit fontScale="90000"/>
          </a:bodyPr>
          <a:lstStyle/>
          <a:p>
            <a:r>
              <a:rPr lang="ru-RU" b="1" dirty="0"/>
              <a:t>3. Через брокера или доверительного управляющего — при продаже бумаг или закрытии ИИС</a:t>
            </a:r>
            <a:br>
              <a:rPr lang="ru-RU" b="1" dirty="0"/>
            </a:br>
            <a:endParaRPr lang="ru-RU" dirty="0"/>
          </a:p>
        </p:txBody>
      </p:sp>
      <p:sp>
        <p:nvSpPr>
          <p:cNvPr id="3" name="Объект 2">
            <a:extLst>
              <a:ext uri="{FF2B5EF4-FFF2-40B4-BE49-F238E27FC236}">
                <a16:creationId xmlns:a16="http://schemas.microsoft.com/office/drawing/2014/main" id="{8F866F2D-F5C0-5622-BDED-E4CBACA68DF7}"/>
              </a:ext>
            </a:extLst>
          </p:cNvPr>
          <p:cNvSpPr>
            <a:spLocks noGrp="1"/>
          </p:cNvSpPr>
          <p:nvPr>
            <p:ph idx="1"/>
          </p:nvPr>
        </p:nvSpPr>
        <p:spPr>
          <a:xfrm>
            <a:off x="1477925" y="2895601"/>
            <a:ext cx="9601200" cy="3581400"/>
          </a:xfrm>
        </p:spPr>
        <p:txBody>
          <a:bodyPr>
            <a:normAutofit/>
          </a:bodyPr>
          <a:lstStyle/>
          <a:p>
            <a:pPr>
              <a:buNone/>
            </a:pPr>
            <a:r>
              <a:rPr lang="ru-RU" dirty="0"/>
              <a:t>Так можно оформить только </a:t>
            </a:r>
            <a:r>
              <a:rPr lang="ru-RU" b="1" dirty="0"/>
              <a:t>вычеты на инвестиционный доход</a:t>
            </a:r>
            <a:r>
              <a:rPr lang="ru-RU" dirty="0"/>
              <a:t> – за долгое владение ценными бумагами или по ИИС второго и третьего типа.</a:t>
            </a:r>
          </a:p>
          <a:p>
            <a:pPr>
              <a:buNone/>
            </a:pPr>
            <a:r>
              <a:rPr lang="ru-RU" dirty="0"/>
              <a:t>Нужно подать брокеру или управляющему заявление об освобождении от подоходного налога. По ИИС-2 также потребуется справка из ФНС, что вы не получали вычет на взносы по своему </a:t>
            </a:r>
            <a:r>
              <a:rPr lang="ru-RU" dirty="0" err="1"/>
              <a:t>инвестсчету</a:t>
            </a:r>
            <a:r>
              <a:rPr lang="ru-RU" dirty="0"/>
              <a:t>. Посредник сам рассчитает размер вашего вычета и не будет удерживать НДФЛ.</a:t>
            </a:r>
          </a:p>
          <a:p>
            <a:pPr>
              <a:buNone/>
            </a:pPr>
            <a:r>
              <a:rPr lang="ru-RU" dirty="0"/>
              <a:t>Вычет на взносы, которые вы кладете на </a:t>
            </a:r>
            <a:r>
              <a:rPr lang="ru-RU" dirty="0" err="1"/>
              <a:t>инвестсчет</a:t>
            </a:r>
            <a:r>
              <a:rPr lang="ru-RU" dirty="0"/>
              <a:t> первого и третьего типа, удастся получить только через ФНС.</a:t>
            </a:r>
          </a:p>
        </p:txBody>
      </p:sp>
    </p:spTree>
    <p:extLst>
      <p:ext uri="{BB962C8B-B14F-4D97-AF65-F5344CB8AC3E}">
        <p14:creationId xmlns:p14="http://schemas.microsoft.com/office/powerpoint/2010/main" val="34126581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354696-0AEE-7357-287B-CFA3EA72C95F}"/>
              </a:ext>
            </a:extLst>
          </p:cNvPr>
          <p:cNvSpPr>
            <a:spLocks noGrp="1"/>
          </p:cNvSpPr>
          <p:nvPr>
            <p:ph type="title"/>
          </p:nvPr>
        </p:nvSpPr>
        <p:spPr/>
        <p:txBody>
          <a:bodyPr>
            <a:normAutofit fontScale="90000"/>
          </a:bodyPr>
          <a:lstStyle/>
          <a:p>
            <a:r>
              <a:rPr lang="ru-RU" b="1" dirty="0"/>
              <a:t>4. Через личный кабинет налогоплательщика в </a:t>
            </a:r>
            <a:r>
              <a:rPr lang="ru-RU" b="1" dirty="0">
                <a:hlinkClick r:id="rId2"/>
              </a:rPr>
              <a:t>упрощенном порядке</a:t>
            </a:r>
            <a:r>
              <a:rPr lang="ru-RU" b="1" dirty="0"/>
              <a:t> (нужен ИНН)</a:t>
            </a:r>
            <a:br>
              <a:rPr lang="ru-RU" b="1" dirty="0"/>
            </a:br>
            <a:endParaRPr lang="ru-RU" dirty="0"/>
          </a:p>
        </p:txBody>
      </p:sp>
      <p:sp>
        <p:nvSpPr>
          <p:cNvPr id="3" name="Объект 2">
            <a:extLst>
              <a:ext uri="{FF2B5EF4-FFF2-40B4-BE49-F238E27FC236}">
                <a16:creationId xmlns:a16="http://schemas.microsoft.com/office/drawing/2014/main" id="{FBCB8363-865E-EA78-F5C9-21A345B181C5}"/>
              </a:ext>
            </a:extLst>
          </p:cNvPr>
          <p:cNvSpPr>
            <a:spLocks noGrp="1"/>
          </p:cNvSpPr>
          <p:nvPr>
            <p:ph idx="1"/>
          </p:nvPr>
        </p:nvSpPr>
        <p:spPr>
          <a:xfrm>
            <a:off x="1371600" y="2796363"/>
            <a:ext cx="9601200" cy="3581400"/>
          </a:xfrm>
        </p:spPr>
        <p:txBody>
          <a:bodyPr>
            <a:normAutofit fontScale="85000" lnSpcReduction="20000"/>
          </a:bodyPr>
          <a:lstStyle/>
          <a:p>
            <a:pPr>
              <a:buNone/>
            </a:pPr>
            <a:r>
              <a:rPr lang="ru-RU" dirty="0"/>
              <a:t>Это самый удобный и быстрый способ. Он подходит для </a:t>
            </a:r>
            <a:r>
              <a:rPr lang="ru-RU" b="1" dirty="0"/>
              <a:t>инвестиционных вычетов, имущественных вычетов</a:t>
            </a:r>
            <a:r>
              <a:rPr lang="ru-RU" dirty="0"/>
              <a:t> на покупку недвижимости и проценты по ипотеке. Банки, брокеры и доверительные управляющие передают в ФНС данные о клиентах — и налоговая сама рассчитывает вычет.</a:t>
            </a:r>
          </a:p>
          <a:p>
            <a:pPr>
              <a:buNone/>
            </a:pPr>
            <a:r>
              <a:rPr lang="ru-RU" dirty="0"/>
              <a:t>С 2024 года страховые компании, пенсионные фонды, некоторые медицинские, образовательные и спортивные организации тоже начали отправлять информацию о платежах своих клиентов в ФНС. Так что налоговая теперь автоматически оформляет и </a:t>
            </a:r>
            <a:r>
              <a:rPr lang="ru-RU" b="1" dirty="0"/>
              <a:t>социальные вычеты</a:t>
            </a:r>
            <a:r>
              <a:rPr lang="ru-RU" dirty="0"/>
              <a:t>.</a:t>
            </a:r>
          </a:p>
          <a:p>
            <a:pPr>
              <a:buNone/>
            </a:pPr>
            <a:r>
              <a:rPr lang="ru-RU" dirty="0"/>
              <a:t>Лучше заранее уточнить в компании, передает ли она данные о своих продажах в налоговую службу. Если обмен данными налажен, нужно будет просто подождать. До 20 марта ФНС направит вам в личный кабинет уже заполненное заявление на вычет. Останется только проставить согласие — не понадобятся ни подтверждающие документы, ни декларация. После этого ФНС в течение месяца перечислит вам деньги.</a:t>
            </a:r>
          </a:p>
          <a:p>
            <a:pPr>
              <a:buNone/>
            </a:pPr>
            <a:r>
              <a:rPr lang="ru-RU" dirty="0"/>
              <a:t>Если же организация не пересылает информацию о платежах клиентов в налоговую, вам придется самостоятельно подавать заявление и документы на вычет в ФНС.</a:t>
            </a:r>
          </a:p>
          <a:p>
            <a:pPr>
              <a:buNone/>
            </a:pPr>
            <a:r>
              <a:rPr lang="ru-RU" dirty="0"/>
              <a:t>Чтобы получить больше информации о налоговых вычетах, вы можете обратиться </a:t>
            </a:r>
            <a:r>
              <a:rPr lang="ru-RU" dirty="0">
                <a:hlinkClick r:id="rId3"/>
              </a:rPr>
              <a:t>в ФНС</a:t>
            </a:r>
            <a:r>
              <a:rPr lang="ru-RU" dirty="0"/>
              <a:t>.</a:t>
            </a:r>
          </a:p>
        </p:txBody>
      </p:sp>
    </p:spTree>
    <p:extLst>
      <p:ext uri="{BB962C8B-B14F-4D97-AF65-F5344CB8AC3E}">
        <p14:creationId xmlns:p14="http://schemas.microsoft.com/office/powerpoint/2010/main" val="20801851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0532AA-8195-398F-67C1-A6CD83CF793E}"/>
              </a:ext>
            </a:extLst>
          </p:cNvPr>
          <p:cNvSpPr>
            <a:spLocks noGrp="1"/>
          </p:cNvSpPr>
          <p:nvPr>
            <p:ph type="title"/>
          </p:nvPr>
        </p:nvSpPr>
        <p:spPr/>
        <p:txBody>
          <a:bodyPr/>
          <a:lstStyle/>
          <a:p>
            <a:r>
              <a:rPr lang="ru-RU" dirty="0"/>
              <a:t>Налоговый вычет</a:t>
            </a:r>
          </a:p>
        </p:txBody>
      </p:sp>
      <p:sp>
        <p:nvSpPr>
          <p:cNvPr id="3" name="Объект 2">
            <a:extLst>
              <a:ext uri="{FF2B5EF4-FFF2-40B4-BE49-F238E27FC236}">
                <a16:creationId xmlns:a16="http://schemas.microsoft.com/office/drawing/2014/main" id="{B3DCE9FC-11BC-9F8A-E9B6-8B62BA973D57}"/>
              </a:ext>
            </a:extLst>
          </p:cNvPr>
          <p:cNvSpPr>
            <a:spLocks noGrp="1"/>
          </p:cNvSpPr>
          <p:nvPr>
            <p:ph idx="1"/>
          </p:nvPr>
        </p:nvSpPr>
        <p:spPr/>
        <p:txBody>
          <a:bodyPr/>
          <a:lstStyle/>
          <a:p>
            <a:r>
              <a:rPr lang="ru-RU" dirty="0"/>
              <a:t>Видео в папке Налоговый вычет в папке Обществознание</a:t>
            </a:r>
          </a:p>
          <a:p>
            <a:r>
              <a:rPr lang="ru-RU"/>
              <a:t>Источник: </a:t>
            </a:r>
            <a:r>
              <a:rPr lang="en-US"/>
              <a:t>https</a:t>
            </a:r>
            <a:r>
              <a:rPr lang="en-US" dirty="0"/>
              <a:t>://www.youtube.com/@XIIIkopeek</a:t>
            </a:r>
            <a:endParaRPr lang="ru-RU" dirty="0"/>
          </a:p>
        </p:txBody>
      </p:sp>
    </p:spTree>
    <p:extLst>
      <p:ext uri="{BB962C8B-B14F-4D97-AF65-F5344CB8AC3E}">
        <p14:creationId xmlns:p14="http://schemas.microsoft.com/office/powerpoint/2010/main" val="1265586258"/>
      </p:ext>
    </p:extLst>
  </p:cSld>
  <p:clrMapOvr>
    <a:masterClrMapping/>
  </p:clrMapOvr>
</p:sld>
</file>

<file path=ppt/theme/theme1.xml><?xml version="1.0" encoding="utf-8"?>
<a:theme xmlns:a="http://schemas.openxmlformats.org/drawingml/2006/main" name="Уголки">
  <a:themeElements>
    <a:clrScheme name="Crop">
      <a:dk1>
        <a:sysClr val="windowText" lastClr="000000"/>
      </a:dk1>
      <a:lt1>
        <a:sysClr val="window" lastClr="FFFFFF"/>
      </a:lt1>
      <a:dk2>
        <a:srgbClr val="4A2318"/>
      </a:dk2>
      <a:lt2>
        <a:srgbClr val="EDECEB"/>
      </a:lt2>
      <a:accent1>
        <a:srgbClr val="F3C82E"/>
      </a:accent1>
      <a:accent2>
        <a:srgbClr val="A26176"/>
      </a:accent2>
      <a:accent3>
        <a:srgbClr val="74A94E"/>
      </a:accent3>
      <a:accent4>
        <a:srgbClr val="188E8D"/>
      </a:accent4>
      <a:accent5>
        <a:srgbClr val="EE913A"/>
      </a:accent5>
      <a:accent6>
        <a:srgbClr val="DF5D4A"/>
      </a:accent6>
      <a:hlink>
        <a:srgbClr val="188E8D"/>
      </a:hlink>
      <a:folHlink>
        <a:srgbClr val="A26176"/>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D7AA1D6E-F3E9-4763-A3BC-84DF2E02F60F}"/>
    </a:ext>
  </a:extLst>
</a:theme>
</file>

<file path=docProps/app.xml><?xml version="1.0" encoding="utf-8"?>
<Properties xmlns="http://schemas.openxmlformats.org/officeDocument/2006/extended-properties" xmlns:vt="http://schemas.openxmlformats.org/officeDocument/2006/docPropsVTypes">
  <Template>TM10001105[[fn=Уголки]]</Template>
  <TotalTime>66</TotalTime>
  <Words>3991</Words>
  <Application>Microsoft Office PowerPoint</Application>
  <PresentationFormat>Широкоэкранный</PresentationFormat>
  <Paragraphs>182</Paragraphs>
  <Slides>36</Slides>
  <Notes>0</Notes>
  <HiddenSlides>0</HiddenSlides>
  <MMClips>0</MMClips>
  <ScaleCrop>false</ScaleCrop>
  <HeadingPairs>
    <vt:vector size="6" baseType="variant">
      <vt:variant>
        <vt:lpstr>Использованные шрифты</vt:lpstr>
      </vt:variant>
      <vt:variant>
        <vt:i4>11</vt:i4>
      </vt:variant>
      <vt:variant>
        <vt:lpstr>Тема</vt:lpstr>
      </vt:variant>
      <vt:variant>
        <vt:i4>1</vt:i4>
      </vt:variant>
      <vt:variant>
        <vt:lpstr>Заголовки слайдов</vt:lpstr>
      </vt:variant>
      <vt:variant>
        <vt:i4>36</vt:i4>
      </vt:variant>
    </vt:vector>
  </HeadingPairs>
  <TitlesOfParts>
    <vt:vector size="48" baseType="lpstr">
      <vt:lpstr>Arial</vt:lpstr>
      <vt:lpstr>Franklin Gothic Book</vt:lpstr>
      <vt:lpstr>GraphikLCG-Regular</vt:lpstr>
      <vt:lpstr>Lato</vt:lpstr>
      <vt:lpstr>RobotoFlex</vt:lpstr>
      <vt:lpstr>SBSans</vt:lpstr>
      <vt:lpstr>SBSansDisplay</vt:lpstr>
      <vt:lpstr>SBSansText</vt:lpstr>
      <vt:lpstr>var(--stk-f_family)</vt:lpstr>
      <vt:lpstr>var(--stk-f--b_family)</vt:lpstr>
      <vt:lpstr>Wingdings</vt:lpstr>
      <vt:lpstr>Уголки</vt:lpstr>
      <vt:lpstr>Налог в россии</vt:lpstr>
      <vt:lpstr>Презентация PowerPoint</vt:lpstr>
      <vt:lpstr>Презентация PowerPoint</vt:lpstr>
      <vt:lpstr>Презентация PowerPoint</vt:lpstr>
      <vt:lpstr>Презентация PowerPoint</vt:lpstr>
      <vt:lpstr>Налог на доходы физических лиц НДФЛ (с сайта госуслуги)</vt:lpstr>
      <vt:lpstr>Презентация PowerPoint</vt:lpstr>
      <vt:lpstr>часть, которую за работника выплачивает работодатель, включающая следующие  выплаты:  </vt:lpstr>
      <vt:lpstr>например</vt:lpstr>
      <vt:lpstr>Презентация PowerPoint</vt:lpstr>
      <vt:lpstr>Что еще считается доходом физических лиц и облагается налогом</vt:lpstr>
      <vt:lpstr>Налог на процентные доходы по вкладам и счетам </vt:lpstr>
      <vt:lpstr>Важно понимать </vt:lpstr>
      <vt:lpstr>Сколько платить </vt:lpstr>
      <vt:lpstr>Пример </vt:lpstr>
      <vt:lpstr>Когда платить </vt:lpstr>
      <vt:lpstr>Налог на имущество </vt:lpstr>
      <vt:lpstr>Налог на продажу недвижимости</vt:lpstr>
      <vt:lpstr>Как оплатить налог с продажи с квартиры </vt:lpstr>
      <vt:lpstr>Что произойдет, если не платить  </vt:lpstr>
      <vt:lpstr>Однако есть условия, при которых ничего платить не нужно:  </vt:lpstr>
      <vt:lpstr>НДС</vt:lpstr>
      <vt:lpstr>По каким ставкам рассчитывают НДС </vt:lpstr>
      <vt:lpstr>Презентация PowerPoint</vt:lpstr>
      <vt:lpstr>Презентация PowerPoint</vt:lpstr>
      <vt:lpstr>Презентация PowerPoint</vt:lpstr>
      <vt:lpstr>Налоговый вычет</vt:lpstr>
      <vt:lpstr>Какие бывают вычеты? </vt:lpstr>
      <vt:lpstr>Как узнать размер вычета, который мне полагается? </vt:lpstr>
      <vt:lpstr>Для доходов, которые превысят 2,4 млн рублей за год, применяются повышенные ставки НДФЛ — от 15 до 22%. В таких случаях и размер вычета тоже может стать больше. </vt:lpstr>
      <vt:lpstr>Какие документы нужны для получения вычета? </vt:lpstr>
      <vt:lpstr>Как получить налоговый вычет? Есть несколько способов: </vt:lpstr>
      <vt:lpstr>Через работодателя — прибавка к зарплате каждый месяц </vt:lpstr>
      <vt:lpstr>3. Через брокера или доверительного управляющего — при продаже бумаг или закрытии ИИС </vt:lpstr>
      <vt:lpstr>4. Через личный кабинет налогоплательщика в упрощенном порядке (нужен ИНН) </vt:lpstr>
      <vt:lpstr>Налоговый вычет</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Полина Шумилова</dc:creator>
  <cp:lastModifiedBy>Полина Шумилова</cp:lastModifiedBy>
  <cp:revision>19</cp:revision>
  <dcterms:created xsi:type="dcterms:W3CDTF">2025-03-01T19:18:08Z</dcterms:created>
  <dcterms:modified xsi:type="dcterms:W3CDTF">2025-03-02T11:26:12Z</dcterms:modified>
</cp:coreProperties>
</file>